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09" r:id="rId6"/>
    <p:sldId id="257" r:id="rId7"/>
    <p:sldId id="310" r:id="rId8"/>
    <p:sldId id="324" r:id="rId9"/>
    <p:sldId id="276" r:id="rId10"/>
    <p:sldId id="279" r:id="rId11"/>
    <p:sldId id="273" r:id="rId12"/>
    <p:sldId id="308" r:id="rId13"/>
    <p:sldId id="334" r:id="rId14"/>
    <p:sldId id="259" r:id="rId15"/>
    <p:sldId id="335" r:id="rId16"/>
    <p:sldId id="286" r:id="rId17"/>
    <p:sldId id="336" r:id="rId18"/>
    <p:sldId id="325" r:id="rId19"/>
    <p:sldId id="321" r:id="rId20"/>
    <p:sldId id="320" r:id="rId21"/>
    <p:sldId id="318" r:id="rId22"/>
    <p:sldId id="337" r:id="rId23"/>
    <p:sldId id="300" r:id="rId24"/>
    <p:sldId id="299" r:id="rId25"/>
    <p:sldId id="338" r:id="rId26"/>
    <p:sldId id="326" r:id="rId27"/>
    <p:sldId id="327" r:id="rId28"/>
    <p:sldId id="328" r:id="rId29"/>
    <p:sldId id="302" r:id="rId30"/>
    <p:sldId id="319" r:id="rId31"/>
    <p:sldId id="289" r:id="rId32"/>
    <p:sldId id="339" r:id="rId33"/>
    <p:sldId id="341" r:id="rId34"/>
    <p:sldId id="331" r:id="rId35"/>
    <p:sldId id="340" r:id="rId36"/>
    <p:sldId id="291" r:id="rId37"/>
    <p:sldId id="332" r:id="rId38"/>
    <p:sldId id="303" r:id="rId39"/>
    <p:sldId id="343" r:id="rId40"/>
    <p:sldId id="287" r:id="rId41"/>
    <p:sldId id="344" r:id="rId42"/>
    <p:sldId id="345" r:id="rId43"/>
    <p:sldId id="263" r:id="rId44"/>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22BC74F-CC26-4F29-8135-1B2A28B356C1}">
          <p14:sldIdLst>
            <p14:sldId id="256"/>
            <p14:sldId id="309"/>
            <p14:sldId id="257"/>
            <p14:sldId id="310"/>
          </p14:sldIdLst>
        </p14:section>
        <p14:section name="Chapter 1" id="{8C9026FA-C948-444B-88B2-721BD7CACD75}">
          <p14:sldIdLst>
            <p14:sldId id="324"/>
            <p14:sldId id="276"/>
            <p14:sldId id="279"/>
            <p14:sldId id="273"/>
            <p14:sldId id="308"/>
            <p14:sldId id="334"/>
            <p14:sldId id="259"/>
            <p14:sldId id="335"/>
            <p14:sldId id="286"/>
            <p14:sldId id="336"/>
          </p14:sldIdLst>
        </p14:section>
        <p14:section name="Chapter 2" id="{49C43FCA-2253-41DF-ADE4-D36899E7D8FE}">
          <p14:sldIdLst>
            <p14:sldId id="325"/>
            <p14:sldId id="321"/>
            <p14:sldId id="320"/>
            <p14:sldId id="318"/>
            <p14:sldId id="337"/>
            <p14:sldId id="300"/>
            <p14:sldId id="299"/>
            <p14:sldId id="338"/>
            <p14:sldId id="326"/>
          </p14:sldIdLst>
        </p14:section>
        <p14:section name="Chapter 3" id="{F033F64D-E05B-40C9-9DC0-06F07C74ED24}">
          <p14:sldIdLst>
            <p14:sldId id="327"/>
            <p14:sldId id="328"/>
            <p14:sldId id="302"/>
            <p14:sldId id="319"/>
            <p14:sldId id="289"/>
            <p14:sldId id="339"/>
            <p14:sldId id="341"/>
            <p14:sldId id="331"/>
            <p14:sldId id="340"/>
            <p14:sldId id="291"/>
          </p14:sldIdLst>
        </p14:section>
        <p14:section name="Chapter 4 and final" id="{AD73E9FE-E3D7-43AF-A8B6-CBB8214A604C}">
          <p14:sldIdLst>
            <p14:sldId id="332"/>
            <p14:sldId id="303"/>
            <p14:sldId id="343"/>
            <p14:sldId id="287"/>
            <p14:sldId id="344"/>
            <p14:sldId id="345"/>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52" autoAdjust="0"/>
    <p:restoredTop sz="94660"/>
  </p:normalViewPr>
  <p:slideViewPr>
    <p:cSldViewPr snapToGrid="0">
      <p:cViewPr varScale="1">
        <p:scale>
          <a:sx n="63" d="100"/>
          <a:sy n="63" d="100"/>
        </p:scale>
        <p:origin x="9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 Clarke" userId="9d7dc064-1a81-40bd-8dd3-d1cb9e1b54e0" providerId="ADAL" clId="{FECEB87C-A875-4449-9783-CC8BF20FB3D4}"/>
    <pc:docChg chg="undo custSel modSld">
      <pc:chgData name="Liz Clarke" userId="9d7dc064-1a81-40bd-8dd3-d1cb9e1b54e0" providerId="ADAL" clId="{FECEB87C-A875-4449-9783-CC8BF20FB3D4}" dt="2023-06-13T11:07:47.548" v="8" actId="20577"/>
      <pc:docMkLst>
        <pc:docMk/>
      </pc:docMkLst>
      <pc:sldChg chg="modSp mod">
        <pc:chgData name="Liz Clarke" userId="9d7dc064-1a81-40bd-8dd3-d1cb9e1b54e0" providerId="ADAL" clId="{FECEB87C-A875-4449-9783-CC8BF20FB3D4}" dt="2023-06-13T10:56:11.774" v="0" actId="20577"/>
        <pc:sldMkLst>
          <pc:docMk/>
          <pc:sldMk cId="644780632" sldId="279"/>
        </pc:sldMkLst>
        <pc:spChg chg="mod">
          <ac:chgData name="Liz Clarke" userId="9d7dc064-1a81-40bd-8dd3-d1cb9e1b54e0" providerId="ADAL" clId="{FECEB87C-A875-4449-9783-CC8BF20FB3D4}" dt="2023-06-13T10:56:11.774" v="0" actId="20577"/>
          <ac:spMkLst>
            <pc:docMk/>
            <pc:sldMk cId="644780632" sldId="279"/>
            <ac:spMk id="3" creationId="{00000000-0000-0000-0000-000000000000}"/>
          </ac:spMkLst>
        </pc:spChg>
      </pc:sldChg>
      <pc:sldChg chg="modSp mod">
        <pc:chgData name="Liz Clarke" userId="9d7dc064-1a81-40bd-8dd3-d1cb9e1b54e0" providerId="ADAL" clId="{FECEB87C-A875-4449-9783-CC8BF20FB3D4}" dt="2023-06-13T11:02:26.995" v="2" actId="1076"/>
        <pc:sldMkLst>
          <pc:docMk/>
          <pc:sldMk cId="2856830012" sldId="344"/>
        </pc:sldMkLst>
        <pc:picChg chg="mod">
          <ac:chgData name="Liz Clarke" userId="9d7dc064-1a81-40bd-8dd3-d1cb9e1b54e0" providerId="ADAL" clId="{FECEB87C-A875-4449-9783-CC8BF20FB3D4}" dt="2023-06-13T11:02:26.995" v="2" actId="1076"/>
          <ac:picMkLst>
            <pc:docMk/>
            <pc:sldMk cId="2856830012" sldId="344"/>
            <ac:picMk id="5" creationId="{00000000-0000-0000-0000-000000000000}"/>
          </ac:picMkLst>
        </pc:picChg>
      </pc:sldChg>
      <pc:sldChg chg="modSp mod">
        <pc:chgData name="Liz Clarke" userId="9d7dc064-1a81-40bd-8dd3-d1cb9e1b54e0" providerId="ADAL" clId="{FECEB87C-A875-4449-9783-CC8BF20FB3D4}" dt="2023-06-13T11:07:47.548" v="8" actId="20577"/>
        <pc:sldMkLst>
          <pc:docMk/>
          <pc:sldMk cId="2634983121" sldId="345"/>
        </pc:sldMkLst>
        <pc:spChg chg="mod">
          <ac:chgData name="Liz Clarke" userId="9d7dc064-1a81-40bd-8dd3-d1cb9e1b54e0" providerId="ADAL" clId="{FECEB87C-A875-4449-9783-CC8BF20FB3D4}" dt="2023-06-13T11:07:47.548" v="8" actId="20577"/>
          <ac:spMkLst>
            <pc:docMk/>
            <pc:sldMk cId="2634983121" sldId="345"/>
            <ac:spMk id="3" creationId="{00000000-0000-0000-0000-000000000000}"/>
          </ac:spMkLst>
        </pc:spChg>
      </pc:sldChg>
    </pc:docChg>
  </pc:docChgLst>
  <pc:docChgLst>
    <pc:chgData name="Liz Clarke" userId="9d7dc064-1a81-40bd-8dd3-d1cb9e1b54e0" providerId="ADAL" clId="{463CE67D-87F0-4A93-88C9-24314868CAE5}"/>
    <pc:docChg chg="modSld">
      <pc:chgData name="Liz Clarke" userId="9d7dc064-1a81-40bd-8dd3-d1cb9e1b54e0" providerId="ADAL" clId="{463CE67D-87F0-4A93-88C9-24314868CAE5}" dt="2024-09-24T10:57:47.654" v="15" actId="20577"/>
      <pc:docMkLst>
        <pc:docMk/>
      </pc:docMkLst>
      <pc:sldChg chg="modSp mod">
        <pc:chgData name="Liz Clarke" userId="9d7dc064-1a81-40bd-8dd3-d1cb9e1b54e0" providerId="ADAL" clId="{463CE67D-87F0-4A93-88C9-24314868CAE5}" dt="2024-09-24T10:57:47.654" v="15" actId="20577"/>
        <pc:sldMkLst>
          <pc:docMk/>
          <pc:sldMk cId="241828008" sldId="256"/>
        </pc:sldMkLst>
        <pc:spChg chg="mod">
          <ac:chgData name="Liz Clarke" userId="9d7dc064-1a81-40bd-8dd3-d1cb9e1b54e0" providerId="ADAL" clId="{463CE67D-87F0-4A93-88C9-24314868CAE5}" dt="2024-09-24T10:57:47.654" v="15" actId="20577"/>
          <ac:spMkLst>
            <pc:docMk/>
            <pc:sldMk cId="241828008" sldId="256"/>
            <ac:spMk id="9" creationId="{00000000-0000-0000-0000-000000000000}"/>
          </ac:spMkLst>
        </pc:spChg>
      </pc:sldChg>
      <pc:sldChg chg="modSp mod">
        <pc:chgData name="Liz Clarke" userId="9d7dc064-1a81-40bd-8dd3-d1cb9e1b54e0" providerId="ADAL" clId="{463CE67D-87F0-4A93-88C9-24314868CAE5}" dt="2024-09-24T10:57:34.632" v="6" actId="20577"/>
        <pc:sldMkLst>
          <pc:docMk/>
          <pc:sldMk cId="998743138" sldId="309"/>
        </pc:sldMkLst>
        <pc:spChg chg="mod">
          <ac:chgData name="Liz Clarke" userId="9d7dc064-1a81-40bd-8dd3-d1cb9e1b54e0" providerId="ADAL" clId="{463CE67D-87F0-4A93-88C9-24314868CAE5}" dt="2024-09-24T10:57:34.632" v="6" actId="20577"/>
          <ac:spMkLst>
            <pc:docMk/>
            <pc:sldMk cId="998743138" sldId="309"/>
            <ac:spMk id="3" creationId="{00000000-0000-0000-0000-000000000000}"/>
          </ac:spMkLst>
        </pc:spChg>
      </pc:sldChg>
      <pc:sldChg chg="modSp mod">
        <pc:chgData name="Liz Clarke" userId="9d7dc064-1a81-40bd-8dd3-d1cb9e1b54e0" providerId="ADAL" clId="{463CE67D-87F0-4A93-88C9-24314868CAE5}" dt="2024-09-24T10:42:50.880" v="1" actId="1036"/>
        <pc:sldMkLst>
          <pc:docMk/>
          <pc:sldMk cId="1215064181" sldId="335"/>
        </pc:sldMkLst>
        <pc:spChg chg="mod">
          <ac:chgData name="Liz Clarke" userId="9d7dc064-1a81-40bd-8dd3-d1cb9e1b54e0" providerId="ADAL" clId="{463CE67D-87F0-4A93-88C9-24314868CAE5}" dt="2024-09-24T10:42:04.545" v="0" actId="20577"/>
          <ac:spMkLst>
            <pc:docMk/>
            <pc:sldMk cId="1215064181" sldId="335"/>
            <ac:spMk id="3" creationId="{00000000-0000-0000-0000-000000000000}"/>
          </ac:spMkLst>
        </pc:spChg>
        <pc:spChg chg="mod">
          <ac:chgData name="Liz Clarke" userId="9d7dc064-1a81-40bd-8dd3-d1cb9e1b54e0" providerId="ADAL" clId="{463CE67D-87F0-4A93-88C9-24314868CAE5}" dt="2024-09-24T10:42:50.880" v="1" actId="1036"/>
          <ac:spMkLst>
            <pc:docMk/>
            <pc:sldMk cId="1215064181" sldId="335"/>
            <ac:spMk id="5" creationId="{00000000-0000-0000-0000-000000000000}"/>
          </ac:spMkLst>
        </pc:spChg>
      </pc:sldChg>
      <pc:sldChg chg="modSp mod">
        <pc:chgData name="Liz Clarke" userId="9d7dc064-1a81-40bd-8dd3-d1cb9e1b54e0" providerId="ADAL" clId="{463CE67D-87F0-4A93-88C9-24314868CAE5}" dt="2024-09-24T10:57:20.001" v="4" actId="20577"/>
        <pc:sldMkLst>
          <pc:docMk/>
          <pc:sldMk cId="48085256" sldId="343"/>
        </pc:sldMkLst>
        <pc:spChg chg="mod">
          <ac:chgData name="Liz Clarke" userId="9d7dc064-1a81-40bd-8dd3-d1cb9e1b54e0" providerId="ADAL" clId="{463CE67D-87F0-4A93-88C9-24314868CAE5}" dt="2024-09-24T10:57:20.001" v="4" actId="20577"/>
          <ac:spMkLst>
            <pc:docMk/>
            <pc:sldMk cId="48085256" sldId="343"/>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v-S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p:cNvSpPr>
            <a:spLocks noGrp="1"/>
          </p:cNvSpPr>
          <p:nvPr>
            <p:ph type="dt" sz="half" idx="10"/>
          </p:nvPr>
        </p:nvSpPr>
        <p:spPr/>
        <p:txBody>
          <a:bodyPr/>
          <a:lstStyle/>
          <a:p>
            <a:fld id="{EB2F1CA2-AE60-4AFA-9605-B125A622B00A}" type="datetimeFigureOut">
              <a:rPr lang="sv-SE" smtClean="0"/>
              <a:t>2024-09-24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2669738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EB2F1CA2-AE60-4AFA-9605-B125A622B00A}" type="datetimeFigureOut">
              <a:rPr lang="sv-SE" smtClean="0"/>
              <a:t>2024-09-24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478385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v-S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2F1CA2-AE60-4AFA-9605-B125A622B00A}" type="datetimeFigureOut">
              <a:rPr lang="sv-SE" smtClean="0"/>
              <a:t>2024-09-24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892148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p:cNvSpPr>
            <a:spLocks noGrp="1"/>
          </p:cNvSpPr>
          <p:nvPr>
            <p:ph type="dt" sz="half" idx="10"/>
          </p:nvPr>
        </p:nvSpPr>
        <p:spPr/>
        <p:txBody>
          <a:bodyPr/>
          <a:lstStyle/>
          <a:p>
            <a:fld id="{EB2F1CA2-AE60-4AFA-9605-B125A622B00A}" type="datetimeFigureOut">
              <a:rPr lang="sv-SE" smtClean="0"/>
              <a:t>2024-09-24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460659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v-S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p:cNvSpPr>
            <a:spLocks noGrp="1"/>
          </p:cNvSpPr>
          <p:nvPr>
            <p:ph type="dt" sz="half" idx="10"/>
          </p:nvPr>
        </p:nvSpPr>
        <p:spPr/>
        <p:txBody>
          <a:bodyPr/>
          <a:lstStyle/>
          <a:p>
            <a:fld id="{EB2F1CA2-AE60-4AFA-9605-B125A622B00A}" type="datetimeFigureOut">
              <a:rPr lang="sv-SE" smtClean="0"/>
              <a:t>2024-09-24</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33697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Date Placeholder 2"/>
          <p:cNvSpPr>
            <a:spLocks noGrp="1"/>
          </p:cNvSpPr>
          <p:nvPr>
            <p:ph type="dt" sz="half" idx="10"/>
          </p:nvPr>
        </p:nvSpPr>
        <p:spPr/>
        <p:txBody>
          <a:bodyPr/>
          <a:lstStyle/>
          <a:p>
            <a:fld id="{EB2F1CA2-AE60-4AFA-9605-B125A622B00A}" type="datetimeFigureOut">
              <a:rPr lang="sv-SE" smtClean="0"/>
              <a:t>2024-09-24</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2703171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2F1CA2-AE60-4AFA-9605-B125A622B00A}" type="datetimeFigureOut">
              <a:rPr lang="sv-SE" smtClean="0"/>
              <a:t>2024-09-24</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37772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2F1CA2-AE60-4AFA-9605-B125A622B00A}" type="datetimeFigureOut">
              <a:rPr lang="sv-SE" smtClean="0"/>
              <a:t>2024-09-24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209430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2F1CA2-AE60-4AFA-9605-B125A622B00A}" type="datetimeFigureOut">
              <a:rPr lang="sv-SE" smtClean="0"/>
              <a:t>2024-09-24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3288950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EB2F1CA2-AE60-4AFA-9605-B125A622B00A}" type="datetimeFigureOut">
              <a:rPr lang="sv-SE" smtClean="0"/>
              <a:t>2024-09-24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2388573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v-S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EB2F1CA2-AE60-4AFA-9605-B125A622B00A}" type="datetimeFigureOut">
              <a:rPr lang="sv-SE" smtClean="0"/>
              <a:t>2024-09-24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97E817B-5213-467F-A0D1-7546EB28A291}" type="slidenum">
              <a:rPr lang="sv-SE" smtClean="0"/>
              <a:t>‹#›</a:t>
            </a:fld>
            <a:endParaRPr lang="sv-SE"/>
          </a:p>
        </p:txBody>
      </p:sp>
    </p:spTree>
    <p:extLst>
      <p:ext uri="{BB962C8B-B14F-4D97-AF65-F5344CB8AC3E}">
        <p14:creationId xmlns:p14="http://schemas.microsoft.com/office/powerpoint/2010/main" val="163440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2F1CA2-AE60-4AFA-9605-B125A622B00A}" type="datetimeFigureOut">
              <a:rPr lang="sv-SE" smtClean="0"/>
              <a:t>2024-09-24</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7E817B-5213-467F-A0D1-7546EB28A291}" type="slidenum">
              <a:rPr lang="sv-SE" smtClean="0"/>
              <a:t>‹#›</a:t>
            </a:fld>
            <a:endParaRPr lang="sv-SE"/>
          </a:p>
        </p:txBody>
      </p:sp>
    </p:spTree>
    <p:extLst>
      <p:ext uri="{BB962C8B-B14F-4D97-AF65-F5344CB8AC3E}">
        <p14:creationId xmlns:p14="http://schemas.microsoft.com/office/powerpoint/2010/main" val="1873642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True Zeros, Missing Values and by-catch in the RDBES</a:t>
            </a:r>
            <a:br>
              <a:rPr lang="en-US" dirty="0"/>
            </a:br>
            <a:r>
              <a:rPr lang="en-US" sz="1800" dirty="0"/>
              <a:t>(an intro to tables SL and </a:t>
            </a:r>
            <a:r>
              <a:rPr lang="en-US" sz="1800" dirty="0" err="1"/>
              <a:t>SLDetails</a:t>
            </a:r>
            <a:r>
              <a:rPr lang="en-US" sz="1800" dirty="0"/>
              <a:t>, and to “stratification” variables in all selection tables)</a:t>
            </a:r>
            <a:endParaRPr lang="sv-SE" sz="1800" dirty="0"/>
          </a:p>
        </p:txBody>
      </p:sp>
      <p:sp>
        <p:nvSpPr>
          <p:cNvPr id="3" name="Subtitle 2"/>
          <p:cNvSpPr>
            <a:spLocks noGrp="1"/>
          </p:cNvSpPr>
          <p:nvPr>
            <p:ph type="subTitle" idx="1"/>
          </p:nvPr>
        </p:nvSpPr>
        <p:spPr>
          <a:xfrm>
            <a:off x="1524000" y="3602037"/>
            <a:ext cx="9144000" cy="2117275"/>
          </a:xfrm>
        </p:spPr>
        <p:txBody>
          <a:bodyPr>
            <a:normAutofit/>
          </a:bodyPr>
          <a:lstStyle/>
          <a:p>
            <a:endParaRPr lang="en-US" dirty="0"/>
          </a:p>
          <a:p>
            <a:r>
              <a:rPr lang="en-US" dirty="0"/>
              <a:t>Nuno Prista, </a:t>
            </a:r>
            <a:br>
              <a:rPr lang="en-US" dirty="0"/>
            </a:br>
            <a:r>
              <a:rPr lang="en-US" dirty="0"/>
              <a:t>Department of Aquatic Resources, SLU, Sweden</a:t>
            </a:r>
            <a:br>
              <a:rPr lang="en-US" dirty="0"/>
            </a:br>
            <a:endParaRPr lang="en-US" sz="1900" dirty="0"/>
          </a:p>
        </p:txBody>
      </p:sp>
      <p:sp>
        <p:nvSpPr>
          <p:cNvPr id="4" name="Rectangle 3"/>
          <p:cNvSpPr/>
          <p:nvPr/>
        </p:nvSpPr>
        <p:spPr>
          <a:xfrm>
            <a:off x="353683" y="6176513"/>
            <a:ext cx="11481759" cy="1811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5" name="Picture 4"/>
          <p:cNvPicPr>
            <a:picLocks noChangeAspect="1"/>
          </p:cNvPicPr>
          <p:nvPr/>
        </p:nvPicPr>
        <p:blipFill>
          <a:blip r:embed="rId2"/>
          <a:stretch>
            <a:fillRect/>
          </a:stretch>
        </p:blipFill>
        <p:spPr>
          <a:xfrm>
            <a:off x="11563941" y="42144"/>
            <a:ext cx="543001" cy="562053"/>
          </a:xfrm>
          <a:prstGeom prst="rect">
            <a:avLst/>
          </a:prstGeom>
        </p:spPr>
      </p:pic>
      <p:pic>
        <p:nvPicPr>
          <p:cNvPr id="6" name="Picture 5"/>
          <p:cNvPicPr>
            <a:picLocks noChangeAspect="1"/>
          </p:cNvPicPr>
          <p:nvPr/>
        </p:nvPicPr>
        <p:blipFill>
          <a:blip r:embed="rId3"/>
          <a:stretch>
            <a:fillRect/>
          </a:stretch>
        </p:blipFill>
        <p:spPr>
          <a:xfrm>
            <a:off x="128302" y="93561"/>
            <a:ext cx="863735" cy="510636"/>
          </a:xfrm>
          <a:prstGeom prst="rect">
            <a:avLst/>
          </a:prstGeom>
        </p:spPr>
      </p:pic>
      <p:sp>
        <p:nvSpPr>
          <p:cNvPr id="9" name="Rectangle 8"/>
          <p:cNvSpPr/>
          <p:nvPr/>
        </p:nvSpPr>
        <p:spPr>
          <a:xfrm>
            <a:off x="8469998" y="5799658"/>
            <a:ext cx="3576300" cy="369332"/>
          </a:xfrm>
          <a:prstGeom prst="rect">
            <a:avLst/>
          </a:prstGeom>
        </p:spPr>
        <p:txBody>
          <a:bodyPr wrap="none">
            <a:spAutoFit/>
          </a:bodyPr>
          <a:lstStyle/>
          <a:p>
            <a:r>
              <a:rPr lang="en-US" dirty="0"/>
              <a:t>ICES </a:t>
            </a:r>
            <a:r>
              <a:rPr lang="en-US" dirty="0" err="1"/>
              <a:t>WKRDBES-INTRO3</a:t>
            </a:r>
            <a:r>
              <a:rPr lang="en-US"/>
              <a:t>, 24/09/2024</a:t>
            </a:r>
            <a:endParaRPr lang="sv-SE" dirty="0"/>
          </a:p>
        </p:txBody>
      </p:sp>
    </p:spTree>
    <p:extLst>
      <p:ext uri="{BB962C8B-B14F-4D97-AF65-F5344CB8AC3E}">
        <p14:creationId xmlns:p14="http://schemas.microsoft.com/office/powerpoint/2010/main" val="24182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838200" y="1825625"/>
            <a:ext cx="10515600" cy="3879850"/>
          </a:xfrm>
        </p:spPr>
        <p:txBody>
          <a:bodyPr>
            <a:normAutofit fontScale="77500" lnSpcReduction="20000"/>
          </a:bodyPr>
          <a:lstStyle/>
          <a:p>
            <a:pPr>
              <a:spcAft>
                <a:spcPts val="600"/>
              </a:spcAft>
            </a:pPr>
            <a:r>
              <a:rPr lang="en-US" dirty="0"/>
              <a:t>Short intro to true zeros and missing values</a:t>
            </a:r>
          </a:p>
          <a:p>
            <a:pPr>
              <a:spcAft>
                <a:spcPts val="600"/>
              </a:spcAft>
            </a:pPr>
            <a:r>
              <a:rPr lang="en-US" dirty="0"/>
              <a:t>1. The role of SL in differentiating true zeros and missing values </a:t>
            </a:r>
          </a:p>
          <a:p>
            <a:pPr lvl="1">
              <a:spcAft>
                <a:spcPts val="600"/>
              </a:spcAft>
            </a:pPr>
            <a:r>
              <a:rPr lang="en-US" dirty="0"/>
              <a:t>in regular samples</a:t>
            </a:r>
          </a:p>
          <a:p>
            <a:pPr lvl="1">
              <a:spcAft>
                <a:spcPts val="600"/>
              </a:spcAft>
            </a:pPr>
            <a:r>
              <a:rPr lang="en-US" dirty="0"/>
              <a:t>When species are mixed under a commercial names (e.g., in markets)</a:t>
            </a:r>
          </a:p>
          <a:p>
            <a:pPr>
              <a:spcAft>
                <a:spcPts val="600"/>
              </a:spcAft>
            </a:pPr>
            <a:r>
              <a:rPr lang="en-US" dirty="0"/>
              <a:t>2. The role of SL, SS and FO combined in differentiating true zeros from missing values in different areas of the vessel</a:t>
            </a:r>
          </a:p>
          <a:p>
            <a:pPr>
              <a:spcAft>
                <a:spcPts val="600"/>
              </a:spcAft>
            </a:pPr>
            <a:r>
              <a:rPr lang="en-US" dirty="0"/>
              <a:t>3. The role of stratification in differentiating true zeros from missing values in selection-related samples</a:t>
            </a:r>
          </a:p>
          <a:p>
            <a:pPr>
              <a:spcAft>
                <a:spcPts val="600"/>
              </a:spcAft>
            </a:pPr>
            <a:r>
              <a:rPr lang="en-US" dirty="0"/>
              <a:t>4. Other types of non-response, failed sampling and refusals in RDBES</a:t>
            </a:r>
          </a:p>
          <a:p>
            <a:pPr>
              <a:spcAft>
                <a:spcPts val="600"/>
              </a:spcAft>
            </a:pPr>
            <a:r>
              <a:rPr lang="en-US" dirty="0"/>
              <a:t>5. Features of RDBES related to by-catches</a:t>
            </a:r>
          </a:p>
          <a:p>
            <a:pPr lvl="1">
              <a:spcAft>
                <a:spcPts val="600"/>
              </a:spcAft>
            </a:pPr>
            <a:endParaRPr lang="en-US" dirty="0"/>
          </a:p>
          <a:p>
            <a:pPr>
              <a:spcAft>
                <a:spcPts val="600"/>
              </a:spcAft>
            </a:pPr>
            <a:endParaRPr lang="en-US" dirty="0"/>
          </a:p>
        </p:txBody>
      </p:sp>
      <p:sp>
        <p:nvSpPr>
          <p:cNvPr id="4" name="TextBox 3"/>
          <p:cNvSpPr txBox="1"/>
          <p:nvPr/>
        </p:nvSpPr>
        <p:spPr>
          <a:xfrm>
            <a:off x="3352800" y="5988734"/>
            <a:ext cx="8455776" cy="646331"/>
          </a:xfrm>
          <a:prstGeom prst="rect">
            <a:avLst/>
          </a:prstGeom>
          <a:solidFill>
            <a:schemeClr val="accent6">
              <a:lumMod val="40000"/>
              <a:lumOff val="60000"/>
            </a:schemeClr>
          </a:solidFill>
          <a:ln>
            <a:solidFill>
              <a:schemeClr val="tx1"/>
            </a:solidFill>
          </a:ln>
        </p:spPr>
        <p:txBody>
          <a:bodyPr wrap="none" rtlCol="0">
            <a:spAutoFit/>
          </a:bodyPr>
          <a:lstStyle/>
          <a:p>
            <a:r>
              <a:rPr lang="en-US" dirty="0"/>
              <a:t>My objective will be to show the structure and functioning so you can more easily make </a:t>
            </a:r>
            <a:br>
              <a:rPr lang="en-US" dirty="0"/>
            </a:br>
            <a:r>
              <a:rPr lang="en-US" dirty="0"/>
              <a:t>decisions on how to populate the SS table of RDBES</a:t>
            </a:r>
          </a:p>
        </p:txBody>
      </p:sp>
    </p:spTree>
    <p:extLst>
      <p:ext uri="{BB962C8B-B14F-4D97-AF65-F5344CB8AC3E}">
        <p14:creationId xmlns:p14="http://schemas.microsoft.com/office/powerpoint/2010/main" val="99874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True Zeros vs. Missing Values</a:t>
            </a:r>
            <a:endParaRPr lang="sv-SE" dirty="0"/>
          </a:p>
        </p:txBody>
      </p:sp>
      <p:sp>
        <p:nvSpPr>
          <p:cNvPr id="3" name="Content Placeholder 2"/>
          <p:cNvSpPr>
            <a:spLocks noGrp="1"/>
          </p:cNvSpPr>
          <p:nvPr>
            <p:ph idx="1"/>
          </p:nvPr>
        </p:nvSpPr>
        <p:spPr>
          <a:xfrm>
            <a:off x="838200" y="1995055"/>
            <a:ext cx="10515600" cy="4543768"/>
          </a:xfrm>
        </p:spPr>
        <p:txBody>
          <a:bodyPr>
            <a:normAutofit/>
          </a:bodyPr>
          <a:lstStyle/>
          <a:p>
            <a:pPr>
              <a:lnSpc>
                <a:spcPct val="110000"/>
              </a:lnSpc>
              <a:spcBef>
                <a:spcPts val="0"/>
              </a:spcBef>
              <a:spcAft>
                <a:spcPts val="600"/>
              </a:spcAft>
            </a:pPr>
            <a:r>
              <a:rPr lang="sv-SE" sz="2400" dirty="0"/>
              <a:t>In the present RDB [and </a:t>
            </a:r>
            <a:r>
              <a:rPr lang="sv-SE" sz="2400" dirty="0" err="1"/>
              <a:t>most</a:t>
            </a:r>
            <a:r>
              <a:rPr lang="sv-SE" sz="2400" dirty="0"/>
              <a:t> national </a:t>
            </a:r>
            <a:r>
              <a:rPr lang="sv-SE" sz="2400" dirty="0" err="1"/>
              <a:t>databases</a:t>
            </a:r>
            <a:r>
              <a:rPr lang="sv-SE" sz="2400" dirty="0"/>
              <a:t>!] </a:t>
            </a:r>
            <a:r>
              <a:rPr lang="sv-SE" sz="2400" dirty="0" err="1"/>
              <a:t>only</a:t>
            </a:r>
            <a:r>
              <a:rPr lang="sv-SE" sz="2400" dirty="0"/>
              <a:t> </a:t>
            </a:r>
            <a:r>
              <a:rPr lang="en-GB" sz="2400" dirty="0"/>
              <a:t>positive events are generally recorded.</a:t>
            </a:r>
          </a:p>
          <a:p>
            <a:pPr lvl="1">
              <a:lnSpc>
                <a:spcPct val="110000"/>
              </a:lnSpc>
              <a:spcBef>
                <a:spcPts val="0"/>
              </a:spcBef>
              <a:spcAft>
                <a:spcPts val="600"/>
              </a:spcAft>
            </a:pPr>
            <a:r>
              <a:rPr lang="en-GB" sz="1800" dirty="0"/>
              <a:t>i.e., if a taxon is not in the sample, it is not show up in DB records</a:t>
            </a:r>
          </a:p>
          <a:p>
            <a:pPr>
              <a:lnSpc>
                <a:spcPct val="110000"/>
              </a:lnSpc>
              <a:spcBef>
                <a:spcPts val="0"/>
              </a:spcBef>
              <a:spcAft>
                <a:spcPts val="600"/>
              </a:spcAft>
            </a:pPr>
            <a:endParaRPr lang="en-GB" sz="3300" dirty="0"/>
          </a:p>
          <a:p>
            <a:pPr>
              <a:lnSpc>
                <a:spcPct val="110000"/>
              </a:lnSpc>
              <a:spcBef>
                <a:spcPts val="0"/>
              </a:spcBef>
              <a:spcAft>
                <a:spcPts val="600"/>
              </a:spcAft>
            </a:pPr>
            <a:r>
              <a:rPr lang="en-GB" sz="2400" dirty="0"/>
              <a:t>Also, generally there is no </a:t>
            </a:r>
            <a:r>
              <a:rPr lang="en-GB" sz="2400" u="sng" dirty="0"/>
              <a:t>easily</a:t>
            </a:r>
            <a:r>
              <a:rPr lang="en-GB" sz="2400" dirty="0"/>
              <a:t> accessible information on sampling objectives themselves, e.g.,</a:t>
            </a:r>
          </a:p>
          <a:p>
            <a:pPr lvl="1">
              <a:lnSpc>
                <a:spcPct val="110000"/>
              </a:lnSpc>
              <a:spcBef>
                <a:spcPts val="0"/>
              </a:spcBef>
              <a:spcAft>
                <a:spcPts val="600"/>
              </a:spcAft>
            </a:pPr>
            <a:r>
              <a:rPr lang="en-GB" sz="1800" dirty="0"/>
              <a:t>It is frequently not readily known to data users which taxa/size-categories are targeted by observers during the sampling (and which ones are not) </a:t>
            </a:r>
          </a:p>
        </p:txBody>
      </p:sp>
    </p:spTree>
    <p:extLst>
      <p:ext uri="{BB962C8B-B14F-4D97-AF65-F5344CB8AC3E}">
        <p14:creationId xmlns:p14="http://schemas.microsoft.com/office/powerpoint/2010/main" val="3633796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True Zeros vs. Missing Values</a:t>
            </a:r>
          </a:p>
        </p:txBody>
      </p:sp>
      <p:sp>
        <p:nvSpPr>
          <p:cNvPr id="3" name="Content Placeholder 2"/>
          <p:cNvSpPr>
            <a:spLocks noGrp="1"/>
          </p:cNvSpPr>
          <p:nvPr>
            <p:ph idx="1"/>
          </p:nvPr>
        </p:nvSpPr>
        <p:spPr>
          <a:xfrm>
            <a:off x="838200" y="1825624"/>
            <a:ext cx="10515600" cy="4662261"/>
          </a:xfrm>
        </p:spPr>
        <p:txBody>
          <a:bodyPr>
            <a:normAutofit fontScale="62500" lnSpcReduction="20000"/>
          </a:bodyPr>
          <a:lstStyle/>
          <a:p>
            <a:pPr>
              <a:lnSpc>
                <a:spcPct val="110000"/>
              </a:lnSpc>
              <a:spcBef>
                <a:spcPts val="0"/>
              </a:spcBef>
              <a:spcAft>
                <a:spcPts val="600"/>
              </a:spcAft>
            </a:pPr>
            <a:r>
              <a:rPr lang="en-GB" sz="3400" dirty="0"/>
              <a:t>Consequently, during data analysis and estimation it is generally impossible to distinguish between </a:t>
            </a:r>
          </a:p>
          <a:p>
            <a:pPr lvl="1">
              <a:lnSpc>
                <a:spcPct val="110000"/>
              </a:lnSpc>
              <a:spcBef>
                <a:spcPts val="0"/>
              </a:spcBef>
              <a:spcAft>
                <a:spcPts val="600"/>
              </a:spcAft>
            </a:pPr>
            <a:r>
              <a:rPr lang="en-GB" sz="2600" dirty="0"/>
              <a:t>Samples with no record from a taxon/size-category but where a check for it was made: true absences (aka true zeros)</a:t>
            </a:r>
          </a:p>
          <a:p>
            <a:pPr lvl="1">
              <a:lnSpc>
                <a:spcPct val="110000"/>
              </a:lnSpc>
              <a:spcBef>
                <a:spcPts val="0"/>
              </a:spcBef>
              <a:spcAft>
                <a:spcPts val="600"/>
              </a:spcAft>
            </a:pPr>
            <a:r>
              <a:rPr lang="en-GB" sz="2600" dirty="0"/>
              <a:t>Samples with no record from a taxon/size-category but where no check was made for it: presence is not unknown (aka missing values)</a:t>
            </a:r>
          </a:p>
          <a:p>
            <a:pPr>
              <a:lnSpc>
                <a:spcPct val="110000"/>
              </a:lnSpc>
              <a:spcBef>
                <a:spcPts val="0"/>
              </a:spcBef>
              <a:spcAft>
                <a:spcPts val="600"/>
              </a:spcAft>
            </a:pPr>
            <a:endParaRPr lang="en-GB" sz="3400" dirty="0"/>
          </a:p>
          <a:p>
            <a:pPr>
              <a:lnSpc>
                <a:spcPct val="110000"/>
              </a:lnSpc>
              <a:spcBef>
                <a:spcPts val="0"/>
              </a:spcBef>
              <a:spcAft>
                <a:spcPts val="600"/>
              </a:spcAft>
            </a:pPr>
            <a:r>
              <a:rPr lang="en-GB" sz="3400" dirty="0"/>
              <a:t>This ambiguity directly biases:</a:t>
            </a:r>
          </a:p>
          <a:p>
            <a:pPr lvl="1">
              <a:lnSpc>
                <a:spcPct val="110000"/>
              </a:lnSpc>
              <a:spcBef>
                <a:spcPts val="0"/>
              </a:spcBef>
              <a:spcAft>
                <a:spcPts val="600"/>
              </a:spcAft>
            </a:pPr>
            <a:r>
              <a:rPr lang="en-GB" sz="2600" dirty="0"/>
              <a:t>Estimates of frequent species and incidental </a:t>
            </a:r>
            <a:r>
              <a:rPr lang="sv-SE" sz="2600" dirty="0" err="1"/>
              <a:t>bycatches</a:t>
            </a:r>
            <a:endParaRPr lang="sv-SE" sz="2600" dirty="0"/>
          </a:p>
          <a:p>
            <a:pPr lvl="1">
              <a:lnSpc>
                <a:spcPct val="110000"/>
              </a:lnSpc>
              <a:spcBef>
                <a:spcPts val="0"/>
              </a:spcBef>
              <a:spcAft>
                <a:spcPts val="600"/>
              </a:spcAft>
            </a:pPr>
            <a:r>
              <a:rPr lang="sv-SE" sz="2600" dirty="0"/>
              <a:t>Estimates </a:t>
            </a:r>
            <a:r>
              <a:rPr lang="sv-SE" sz="2600" dirty="0" err="1"/>
              <a:t>of</a:t>
            </a:r>
            <a:r>
              <a:rPr lang="sv-SE" sz="2600" dirty="0"/>
              <a:t> species </a:t>
            </a:r>
            <a:r>
              <a:rPr lang="sv-SE" sz="2600" dirty="0" err="1"/>
              <a:t>composition</a:t>
            </a:r>
            <a:r>
              <a:rPr lang="sv-SE" sz="2600" dirty="0"/>
              <a:t> </a:t>
            </a:r>
            <a:r>
              <a:rPr lang="sv-SE" sz="2600" dirty="0" err="1"/>
              <a:t>of</a:t>
            </a:r>
            <a:r>
              <a:rPr lang="sv-SE" sz="2600" dirty="0"/>
              <a:t> national </a:t>
            </a:r>
            <a:r>
              <a:rPr lang="sv-SE" sz="2600" dirty="0" err="1"/>
              <a:t>statistics</a:t>
            </a:r>
            <a:endParaRPr lang="sv-SE" sz="2600" dirty="0"/>
          </a:p>
          <a:p>
            <a:pPr lvl="1">
              <a:lnSpc>
                <a:spcPct val="110000"/>
              </a:lnSpc>
              <a:spcBef>
                <a:spcPts val="0"/>
              </a:spcBef>
              <a:spcAft>
                <a:spcPts val="600"/>
              </a:spcAft>
            </a:pPr>
            <a:r>
              <a:rPr lang="en-US" sz="2600" dirty="0"/>
              <a:t>Length composition of size-sorted stocks, discards of size-stratified fleets, etc. </a:t>
            </a:r>
          </a:p>
          <a:p>
            <a:pPr>
              <a:lnSpc>
                <a:spcPct val="110000"/>
              </a:lnSpc>
              <a:spcBef>
                <a:spcPts val="0"/>
              </a:spcBef>
              <a:spcAft>
                <a:spcPts val="600"/>
              </a:spcAft>
            </a:pPr>
            <a:endParaRPr lang="sv-SE" sz="3400" dirty="0"/>
          </a:p>
          <a:p>
            <a:pPr>
              <a:lnSpc>
                <a:spcPct val="110000"/>
              </a:lnSpc>
              <a:spcBef>
                <a:spcPts val="0"/>
              </a:spcBef>
              <a:spcAft>
                <a:spcPts val="600"/>
              </a:spcAft>
            </a:pPr>
            <a:r>
              <a:rPr lang="sv-SE" sz="3400" dirty="0"/>
              <a:t>The RDBES </a:t>
            </a:r>
            <a:r>
              <a:rPr lang="sv-SE" sz="3400" dirty="0" err="1"/>
              <a:t>handles</a:t>
            </a:r>
            <a:r>
              <a:rPr lang="sv-SE" sz="3400" dirty="0"/>
              <a:t> the </a:t>
            </a:r>
            <a:r>
              <a:rPr lang="sv-SE" sz="3400" dirty="0" err="1"/>
              <a:t>above</a:t>
            </a:r>
            <a:r>
              <a:rPr lang="sv-SE" sz="3400" dirty="0"/>
              <a:t> </a:t>
            </a:r>
            <a:r>
              <a:rPr lang="sv-SE" sz="3400" dirty="0" err="1"/>
              <a:t>through</a:t>
            </a:r>
            <a:r>
              <a:rPr lang="sv-SE" sz="3400" dirty="0"/>
              <a:t> </a:t>
            </a:r>
            <a:r>
              <a:rPr lang="sv-SE" sz="3400" dirty="0" err="1"/>
              <a:t>specifications</a:t>
            </a:r>
            <a:r>
              <a:rPr lang="sv-SE" sz="3400" dirty="0"/>
              <a:t> </a:t>
            </a:r>
            <a:r>
              <a:rPr lang="sv-SE" sz="3400" dirty="0" err="1"/>
              <a:t>of</a:t>
            </a:r>
            <a:r>
              <a:rPr lang="sv-SE" sz="3400" dirty="0"/>
              <a:t> </a:t>
            </a:r>
            <a:r>
              <a:rPr lang="sv-SE" sz="3400" b="1" dirty="0"/>
              <a:t>Species Lists (SL table), </a:t>
            </a:r>
            <a:r>
              <a:rPr lang="sv-SE" sz="3400" b="1" dirty="0" err="1"/>
              <a:t>FOobservationCode</a:t>
            </a:r>
            <a:r>
              <a:rPr lang="sv-SE" sz="3400" b="1" dirty="0"/>
              <a:t> (FO table), SS</a:t>
            </a:r>
            <a:r>
              <a:rPr lang="en-US" sz="3400" b="1" dirty="0" err="1"/>
              <a:t>observationActivityType</a:t>
            </a:r>
            <a:r>
              <a:rPr lang="en-US" sz="3400" dirty="0"/>
              <a:t> (</a:t>
            </a:r>
            <a:r>
              <a:rPr lang="en-US" sz="3400" b="1" dirty="0"/>
              <a:t>SS table</a:t>
            </a:r>
            <a:r>
              <a:rPr lang="en-US" sz="3400" dirty="0"/>
              <a:t>), </a:t>
            </a:r>
            <a:r>
              <a:rPr lang="en-US" sz="3400" b="1" dirty="0"/>
              <a:t>Stratification</a:t>
            </a:r>
            <a:r>
              <a:rPr lang="en-US" sz="3400" dirty="0"/>
              <a:t> and </a:t>
            </a:r>
            <a:r>
              <a:rPr lang="en-US" sz="3400" b="1" dirty="0" err="1"/>
              <a:t>NAreason</a:t>
            </a:r>
            <a:r>
              <a:rPr lang="en-US" sz="3400" b="1" dirty="0"/>
              <a:t> </a:t>
            </a:r>
            <a:r>
              <a:rPr lang="en-US" sz="3400" dirty="0"/>
              <a:t>(in </a:t>
            </a:r>
            <a:r>
              <a:rPr lang="en-US" sz="3400" b="1" dirty="0"/>
              <a:t>all selection-related tables</a:t>
            </a:r>
            <a:r>
              <a:rPr lang="en-US" sz="3400" dirty="0"/>
              <a:t>) </a:t>
            </a:r>
          </a:p>
          <a:p>
            <a:endParaRPr lang="en-US" dirty="0"/>
          </a:p>
        </p:txBody>
      </p:sp>
    </p:spTree>
    <p:extLst>
      <p:ext uri="{BB962C8B-B14F-4D97-AF65-F5344CB8AC3E}">
        <p14:creationId xmlns:p14="http://schemas.microsoft.com/office/powerpoint/2010/main" val="3368178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p>
        </p:txBody>
      </p:sp>
      <p:sp>
        <p:nvSpPr>
          <p:cNvPr id="3" name="Content Placeholder 2"/>
          <p:cNvSpPr>
            <a:spLocks noGrp="1"/>
          </p:cNvSpPr>
          <p:nvPr>
            <p:ph idx="1"/>
          </p:nvPr>
        </p:nvSpPr>
        <p:spPr/>
        <p:txBody>
          <a:bodyPr/>
          <a:lstStyle/>
          <a:p>
            <a:r>
              <a:rPr lang="en-US" dirty="0"/>
              <a:t>The role of SL in differentiating true zeros and missing values </a:t>
            </a:r>
          </a:p>
          <a:p>
            <a:pPr lvl="1"/>
            <a:r>
              <a:rPr lang="en-US" dirty="0"/>
              <a:t>in regular samples</a:t>
            </a:r>
          </a:p>
          <a:p>
            <a:pPr lvl="1"/>
            <a:r>
              <a:rPr lang="en-US" dirty="0"/>
              <a:t>When species are mixed under a commercial names (e.g., in markets)</a:t>
            </a:r>
          </a:p>
        </p:txBody>
      </p:sp>
    </p:spTree>
    <p:extLst>
      <p:ext uri="{BB962C8B-B14F-4D97-AF65-F5344CB8AC3E}">
        <p14:creationId xmlns:p14="http://schemas.microsoft.com/office/powerpoint/2010/main" val="73397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example 1</a:t>
            </a:r>
            <a:endParaRPr lang="sv-SE" dirty="0"/>
          </a:p>
        </p:txBody>
      </p:sp>
      <p:sp>
        <p:nvSpPr>
          <p:cNvPr id="3" name="Content Placeholder 2"/>
          <p:cNvSpPr>
            <a:spLocks noGrp="1"/>
          </p:cNvSpPr>
          <p:nvPr>
            <p:ph idx="1"/>
          </p:nvPr>
        </p:nvSpPr>
        <p:spPr/>
        <p:txBody>
          <a:bodyPr/>
          <a:lstStyle/>
          <a:p>
            <a:pPr lvl="1"/>
            <a:r>
              <a:rPr lang="en-US" dirty="0"/>
              <a:t>In country A observers sampled a taxon (e.g., cod) at-sea or onshore. </a:t>
            </a:r>
          </a:p>
          <a:p>
            <a:pPr marL="457200" lvl="1" indent="0">
              <a:buNone/>
            </a:pP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678908229"/>
              </p:ext>
            </p:extLst>
          </p:nvPr>
        </p:nvGraphicFramePr>
        <p:xfrm>
          <a:off x="2986883" y="3330734"/>
          <a:ext cx="4018167" cy="670560"/>
        </p:xfrm>
        <a:graphic>
          <a:graphicData uri="http://schemas.openxmlformats.org/drawingml/2006/table">
            <a:tbl>
              <a:tblPr firstRow="1" bandRow="1">
                <a:tableStyleId>{5940675A-B579-460E-94D1-54222C63F5DA}</a:tableStyleId>
              </a:tblPr>
              <a:tblGrid>
                <a:gridCol w="2100105">
                  <a:extLst>
                    <a:ext uri="{9D8B030D-6E8A-4147-A177-3AD203B41FA5}">
                      <a16:colId xmlns:a16="http://schemas.microsoft.com/office/drawing/2014/main" val="2815465670"/>
                    </a:ext>
                  </a:extLst>
                </a:gridCol>
                <a:gridCol w="778762">
                  <a:extLst>
                    <a:ext uri="{9D8B030D-6E8A-4147-A177-3AD203B41FA5}">
                      <a16:colId xmlns:a16="http://schemas.microsoft.com/office/drawing/2014/main" val="3307169097"/>
                    </a:ext>
                  </a:extLst>
                </a:gridCol>
                <a:gridCol w="113930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bg2">
                        <a:lumMod val="90000"/>
                      </a:schemeClr>
                    </a:solidFill>
                  </a:tcPr>
                </a:tc>
                <a:tc>
                  <a:txBody>
                    <a:bodyPr/>
                    <a:lstStyle/>
                    <a:p>
                      <a:pPr algn="ctr"/>
                      <a:r>
                        <a:rPr lang="sv-SE" sz="1600" b="1" dirty="0"/>
                        <a:t>Kg</a:t>
                      </a:r>
                      <a:endParaRPr lang="en-GB" sz="1600" b="1" dirty="0"/>
                    </a:p>
                  </a:txBody>
                  <a:tcPr>
                    <a:solidFill>
                      <a:schemeClr val="bg2">
                        <a:lumMod val="90000"/>
                      </a:schemeClr>
                    </a:solidFill>
                  </a:tcPr>
                </a:tc>
                <a:tc>
                  <a:txBody>
                    <a:bodyPr/>
                    <a:lstStyle/>
                    <a:p>
                      <a:pPr algn="ctr"/>
                      <a:r>
                        <a:rPr lang="sv-SE" sz="1600" b="1" dirty="0" err="1"/>
                        <a:t>Number</a:t>
                      </a:r>
                      <a:endParaRPr lang="en-GB" sz="1600" b="1" dirty="0"/>
                    </a:p>
                  </a:txBody>
                  <a:tcPr>
                    <a:solidFill>
                      <a:schemeClr val="bg2">
                        <a:lumMod val="90000"/>
                      </a:schemeClr>
                    </a:solidFill>
                  </a:tcPr>
                </a:tc>
                <a:extLst>
                  <a:ext uri="{0D108BD9-81ED-4DB2-BD59-A6C34878D82A}">
                    <a16:rowId xmlns:a16="http://schemas.microsoft.com/office/drawing/2014/main" val="3362119261"/>
                  </a:ext>
                </a:extLst>
              </a:tr>
              <a:tr h="192881">
                <a:tc>
                  <a:txBody>
                    <a:bodyPr/>
                    <a:lstStyle/>
                    <a:p>
                      <a:r>
                        <a:rPr lang="sv-SE" sz="1600" dirty="0" err="1"/>
                        <a:t>Cod</a:t>
                      </a:r>
                      <a:endParaRPr lang="en-GB" sz="1600" dirty="0"/>
                    </a:p>
                  </a:txBody>
                  <a:tcPr/>
                </a:tc>
                <a:tc>
                  <a:txBody>
                    <a:bodyPr/>
                    <a:lstStyle/>
                    <a:p>
                      <a:pPr algn="ctr"/>
                      <a:r>
                        <a:rPr lang="sv-SE" sz="1600" dirty="0"/>
                        <a:t>200</a:t>
                      </a:r>
                      <a:endParaRPr lang="en-GB" sz="1600" dirty="0"/>
                    </a:p>
                  </a:txBody>
                  <a:tcPr/>
                </a:tc>
                <a:tc>
                  <a:txBody>
                    <a:bodyPr/>
                    <a:lstStyle/>
                    <a:p>
                      <a:pPr algn="ctr"/>
                      <a:r>
                        <a:rPr lang="en-GB" sz="1600" dirty="0"/>
                        <a:t>420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5261804" y="4976634"/>
            <a:ext cx="4801764" cy="1200329"/>
          </a:xfrm>
          <a:prstGeom prst="rect">
            <a:avLst/>
          </a:prstGeom>
          <a:solidFill>
            <a:srgbClr val="FFC000"/>
          </a:solidFill>
          <a:ln>
            <a:solidFill>
              <a:schemeClr val="tx1"/>
            </a:solidFill>
          </a:ln>
        </p:spPr>
        <p:txBody>
          <a:bodyPr wrap="none" rtlCol="0">
            <a:spAutoFit/>
          </a:bodyPr>
          <a:lstStyle/>
          <a:p>
            <a:r>
              <a:rPr lang="en-US" dirty="0"/>
              <a:t>Typical questions from data users: </a:t>
            </a:r>
          </a:p>
          <a:p>
            <a:pPr marL="285750" indent="-285750">
              <a:buFontTx/>
              <a:buChar char="-"/>
            </a:pPr>
            <a:r>
              <a:rPr lang="en-US" dirty="0"/>
              <a:t>Was cod the only target species?</a:t>
            </a:r>
            <a:endParaRPr lang="sv-SE" dirty="0"/>
          </a:p>
          <a:p>
            <a:pPr marL="285750" indent="-285750">
              <a:buFontTx/>
              <a:buChar char="-"/>
            </a:pPr>
            <a:r>
              <a:rPr lang="en-US" dirty="0"/>
              <a:t>Were there any other species in the landing? </a:t>
            </a:r>
          </a:p>
          <a:p>
            <a:pPr marL="285750" indent="-285750">
              <a:buFontTx/>
              <a:buChar char="-"/>
            </a:pPr>
            <a:r>
              <a:rPr lang="en-US" dirty="0"/>
              <a:t>Are other not recorded taxa </a:t>
            </a:r>
            <a:r>
              <a:rPr lang="en-US" b="1" dirty="0"/>
              <a:t>0s</a:t>
            </a:r>
            <a:r>
              <a:rPr lang="en-US" dirty="0"/>
              <a:t> or </a:t>
            </a:r>
            <a:r>
              <a:rPr lang="en-US" b="1" dirty="0"/>
              <a:t>NAs</a:t>
            </a:r>
            <a:r>
              <a:rPr lang="en-US" dirty="0"/>
              <a:t>?!</a:t>
            </a:r>
          </a:p>
        </p:txBody>
      </p:sp>
      <p:sp>
        <p:nvSpPr>
          <p:cNvPr id="6" name="TextBox 5"/>
          <p:cNvSpPr txBox="1"/>
          <p:nvPr/>
        </p:nvSpPr>
        <p:spPr>
          <a:xfrm>
            <a:off x="2862943" y="3022160"/>
            <a:ext cx="4479734"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883719" y="3022160"/>
            <a:ext cx="4398823"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976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example 2</a:t>
            </a:r>
            <a:endParaRPr lang="sv-SE" dirty="0"/>
          </a:p>
        </p:txBody>
      </p:sp>
      <p:sp>
        <p:nvSpPr>
          <p:cNvPr id="3" name="Content Placeholder 2"/>
          <p:cNvSpPr>
            <a:spLocks noGrp="1"/>
          </p:cNvSpPr>
          <p:nvPr>
            <p:ph idx="1"/>
          </p:nvPr>
        </p:nvSpPr>
        <p:spPr/>
        <p:txBody>
          <a:bodyPr/>
          <a:lstStyle/>
          <a:p>
            <a:pPr lvl="1"/>
            <a:r>
              <a:rPr lang="en-US" dirty="0"/>
              <a:t>In country A observers go to a market and sampled one landing. Scientific taxa are sorted into boxes with commercial names. </a:t>
            </a: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3959639088"/>
              </p:ext>
            </p:extLst>
          </p:nvPr>
        </p:nvGraphicFramePr>
        <p:xfrm>
          <a:off x="2284238" y="3288159"/>
          <a:ext cx="7025947" cy="670560"/>
        </p:xfrm>
        <a:graphic>
          <a:graphicData uri="http://schemas.openxmlformats.org/drawingml/2006/table">
            <a:tbl>
              <a:tblPr firstRow="1" bandRow="1">
                <a:tableStyleId>{5940675A-B579-460E-94D1-54222C63F5DA}</a:tableStyleId>
              </a:tblPr>
              <a:tblGrid>
                <a:gridCol w="1813878">
                  <a:extLst>
                    <a:ext uri="{9D8B030D-6E8A-4147-A177-3AD203B41FA5}">
                      <a16:colId xmlns:a16="http://schemas.microsoft.com/office/drawing/2014/main" val="2815465670"/>
                    </a:ext>
                  </a:extLst>
                </a:gridCol>
                <a:gridCol w="1228511">
                  <a:extLst>
                    <a:ext uri="{9D8B030D-6E8A-4147-A177-3AD203B41FA5}">
                      <a16:colId xmlns:a16="http://schemas.microsoft.com/office/drawing/2014/main" val="3151269377"/>
                    </a:ext>
                  </a:extLst>
                </a:gridCol>
                <a:gridCol w="1674409">
                  <a:extLst>
                    <a:ext uri="{9D8B030D-6E8A-4147-A177-3AD203B41FA5}">
                      <a16:colId xmlns:a16="http://schemas.microsoft.com/office/drawing/2014/main" val="3307169097"/>
                    </a:ext>
                  </a:extLst>
                </a:gridCol>
                <a:gridCol w="2309149">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err="1"/>
                        <a:t>CatchCateg</a:t>
                      </a:r>
                      <a:endParaRPr lang="en-GB" sz="1600" b="1" dirty="0"/>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i="1" dirty="0" err="1"/>
                        <a:t>Lophius</a:t>
                      </a:r>
                      <a:r>
                        <a:rPr lang="en-US" sz="1600" i="1" baseline="0" dirty="0"/>
                        <a:t> </a:t>
                      </a:r>
                      <a:r>
                        <a:rPr lang="en-US" sz="1600" i="1" baseline="0" dirty="0" err="1"/>
                        <a:t>piscatorius</a:t>
                      </a:r>
                      <a:endParaRPr lang="en-GB" sz="1600" dirty="0"/>
                    </a:p>
                  </a:txBody>
                  <a:tcPr/>
                </a:tc>
                <a:tc>
                  <a:txBody>
                    <a:bodyPr/>
                    <a:lstStyle/>
                    <a:p>
                      <a:pPr algn="ctr"/>
                      <a:r>
                        <a:rPr lang="en-GB" sz="1600" dirty="0"/>
                        <a:t>Lan</a:t>
                      </a:r>
                    </a:p>
                  </a:txBody>
                  <a:tcPr/>
                </a:tc>
                <a:tc>
                  <a:txBody>
                    <a:bodyPr/>
                    <a:lstStyle/>
                    <a:p>
                      <a:pPr algn="ctr"/>
                      <a:r>
                        <a:rPr lang="sv-SE" sz="1600" dirty="0"/>
                        <a:t>100</a:t>
                      </a:r>
                      <a:endParaRPr lang="en-GB" sz="1600" dirty="0"/>
                    </a:p>
                  </a:txBody>
                  <a:tcPr/>
                </a:tc>
                <a:tc>
                  <a:txBody>
                    <a:bodyPr/>
                    <a:lstStyle/>
                    <a:p>
                      <a:pPr algn="ctr"/>
                      <a:r>
                        <a:rPr lang="en-GB" sz="1600" dirty="0"/>
                        <a:t>100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4303044" y="4740687"/>
            <a:ext cx="7206012" cy="1477328"/>
          </a:xfrm>
          <a:prstGeom prst="rect">
            <a:avLst/>
          </a:prstGeom>
          <a:solidFill>
            <a:srgbClr val="FFC000"/>
          </a:solidFill>
          <a:ln>
            <a:solidFill>
              <a:schemeClr val="tx1"/>
            </a:solidFill>
          </a:ln>
        </p:spPr>
        <p:txBody>
          <a:bodyPr wrap="none" rtlCol="0">
            <a:spAutoFit/>
          </a:bodyPr>
          <a:lstStyle/>
          <a:p>
            <a:r>
              <a:rPr lang="en-US" dirty="0"/>
              <a:t>Typical questions from data users: </a:t>
            </a:r>
          </a:p>
          <a:p>
            <a:pPr marL="285750" indent="-285750">
              <a:buFontTx/>
              <a:buChar char="-"/>
            </a:pPr>
            <a:r>
              <a:rPr lang="en-US" dirty="0"/>
              <a:t>Are we sure there was no </a:t>
            </a:r>
            <a:r>
              <a:rPr lang="en-US" i="1" dirty="0" err="1"/>
              <a:t>Lophius</a:t>
            </a:r>
            <a:r>
              <a:rPr lang="en-US" i="1" dirty="0"/>
              <a:t> </a:t>
            </a:r>
            <a:r>
              <a:rPr lang="en-US" i="1" dirty="0" err="1"/>
              <a:t>budegassa</a:t>
            </a:r>
            <a:r>
              <a:rPr lang="en-US" i="1" dirty="0"/>
              <a:t> </a:t>
            </a:r>
            <a:r>
              <a:rPr lang="en-US" dirty="0"/>
              <a:t>in the  landing? </a:t>
            </a:r>
          </a:p>
          <a:p>
            <a:pPr marL="742950" lvl="1" indent="-285750">
              <a:buFontTx/>
              <a:buChar char="-"/>
            </a:pPr>
            <a:r>
              <a:rPr lang="en-US" dirty="0"/>
              <a:t>i.e., </a:t>
            </a:r>
            <a:r>
              <a:rPr lang="en-US" i="1" dirty="0" err="1"/>
              <a:t>Lophius</a:t>
            </a:r>
            <a:r>
              <a:rPr lang="en-US" i="1" dirty="0"/>
              <a:t> </a:t>
            </a:r>
            <a:r>
              <a:rPr lang="en-US" i="1" dirty="0" err="1"/>
              <a:t>budegassa</a:t>
            </a:r>
            <a:r>
              <a:rPr lang="en-US" i="1" dirty="0"/>
              <a:t> == 0 kg</a:t>
            </a:r>
            <a:r>
              <a:rPr lang="en-US" dirty="0"/>
              <a:t> </a:t>
            </a:r>
          </a:p>
          <a:p>
            <a:pPr marL="285750" indent="-285750">
              <a:buFontTx/>
              <a:buChar char="-"/>
            </a:pPr>
            <a:r>
              <a:rPr lang="en-US" dirty="0"/>
              <a:t>Or could it be that observers only aimed to sample </a:t>
            </a:r>
            <a:r>
              <a:rPr lang="en-US" i="1" dirty="0" err="1"/>
              <a:t>Lophius</a:t>
            </a:r>
            <a:r>
              <a:rPr lang="en-US" i="1" dirty="0"/>
              <a:t> </a:t>
            </a:r>
            <a:r>
              <a:rPr lang="en-US" i="1" dirty="0" err="1"/>
              <a:t>piscatorius</a:t>
            </a:r>
            <a:r>
              <a:rPr lang="en-US" i="1" dirty="0"/>
              <a:t>? </a:t>
            </a:r>
          </a:p>
          <a:p>
            <a:pPr marL="742950" lvl="1" indent="-285750">
              <a:buFontTx/>
              <a:buChar char="-"/>
            </a:pPr>
            <a:r>
              <a:rPr lang="en-US" dirty="0"/>
              <a:t>i.e., </a:t>
            </a:r>
            <a:r>
              <a:rPr lang="en-US" i="1" dirty="0" err="1"/>
              <a:t>Lophius</a:t>
            </a:r>
            <a:r>
              <a:rPr lang="en-US" i="1" dirty="0"/>
              <a:t> </a:t>
            </a:r>
            <a:r>
              <a:rPr lang="en-US" i="1" dirty="0" err="1"/>
              <a:t>budegassa</a:t>
            </a:r>
            <a:r>
              <a:rPr lang="en-US" i="1" dirty="0"/>
              <a:t> == NA kg</a:t>
            </a:r>
            <a:r>
              <a:rPr lang="en-US" dirty="0"/>
              <a:t> </a:t>
            </a:r>
            <a:endParaRPr lang="en-GB" dirty="0"/>
          </a:p>
        </p:txBody>
      </p:sp>
      <p:sp>
        <p:nvSpPr>
          <p:cNvPr id="6" name="TextBox 5"/>
          <p:cNvSpPr txBox="1"/>
          <p:nvPr/>
        </p:nvSpPr>
        <p:spPr>
          <a:xfrm>
            <a:off x="2155371" y="2935074"/>
            <a:ext cx="7450768"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176147" y="2935074"/>
            <a:ext cx="7316195"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4780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sz="3600" dirty="0" err="1"/>
              <a:t>How</a:t>
            </a:r>
            <a:r>
              <a:rPr lang="sv-SE" sz="3600" dirty="0"/>
              <a:t> </a:t>
            </a:r>
            <a:r>
              <a:rPr lang="sv-SE" sz="3600" dirty="0" err="1"/>
              <a:t>are</a:t>
            </a:r>
            <a:r>
              <a:rPr lang="sv-SE" sz="3600" dirty="0"/>
              <a:t> </a:t>
            </a:r>
            <a:r>
              <a:rPr lang="sv-SE" sz="3600" dirty="0" err="1"/>
              <a:t>these</a:t>
            </a:r>
            <a:r>
              <a:rPr lang="sv-SE" sz="3600" dirty="0"/>
              <a:t> </a:t>
            </a:r>
            <a:r>
              <a:rPr lang="sv-SE" sz="3600" dirty="0" err="1"/>
              <a:t>examples</a:t>
            </a:r>
            <a:r>
              <a:rPr lang="sv-SE" sz="3600" dirty="0"/>
              <a:t> handled in RDBES</a:t>
            </a:r>
          </a:p>
        </p:txBody>
      </p:sp>
      <p:sp>
        <p:nvSpPr>
          <p:cNvPr id="3" name="Content Placeholder 2"/>
          <p:cNvSpPr>
            <a:spLocks noGrp="1"/>
          </p:cNvSpPr>
          <p:nvPr>
            <p:ph idx="1"/>
          </p:nvPr>
        </p:nvSpPr>
        <p:spPr>
          <a:xfrm>
            <a:off x="620486" y="2026760"/>
            <a:ext cx="10515600" cy="4045685"/>
          </a:xfrm>
        </p:spPr>
        <p:txBody>
          <a:bodyPr>
            <a:normAutofit/>
          </a:bodyPr>
          <a:lstStyle/>
          <a:p>
            <a:pPr lvl="1"/>
            <a:r>
              <a:rPr lang="en-GB" dirty="0"/>
              <a:t>At-sea sampling: </a:t>
            </a:r>
          </a:p>
          <a:p>
            <a:pPr lvl="2"/>
            <a:r>
              <a:rPr lang="en-GB" dirty="0"/>
              <a:t>what taxa did observers look for in the samples</a:t>
            </a:r>
          </a:p>
          <a:p>
            <a:pPr lvl="3"/>
            <a:r>
              <a:rPr lang="en-GB" dirty="0"/>
              <a:t>All species? </a:t>
            </a:r>
          </a:p>
          <a:p>
            <a:pPr lvl="3"/>
            <a:r>
              <a:rPr lang="en-GB" dirty="0"/>
              <a:t>Just the commercial species? </a:t>
            </a:r>
          </a:p>
          <a:p>
            <a:pPr lvl="3"/>
            <a:r>
              <a:rPr lang="en-GB" dirty="0"/>
              <a:t>Everything but invertebrates?</a:t>
            </a:r>
          </a:p>
          <a:p>
            <a:pPr marL="1371600" lvl="3" indent="0">
              <a:buNone/>
            </a:pPr>
            <a:endParaRPr lang="en-GB" dirty="0"/>
          </a:p>
          <a:p>
            <a:pPr lvl="1"/>
            <a:r>
              <a:rPr lang="en-GB" dirty="0"/>
              <a:t>At-market sampling: </a:t>
            </a:r>
          </a:p>
          <a:p>
            <a:pPr lvl="2"/>
            <a:r>
              <a:rPr lang="en-GB" dirty="0"/>
              <a:t>what taxa did the observers look for in the samples</a:t>
            </a:r>
          </a:p>
          <a:p>
            <a:pPr lvl="3"/>
            <a:r>
              <a:rPr lang="en-GB" dirty="0"/>
              <a:t>All species? </a:t>
            </a:r>
          </a:p>
          <a:p>
            <a:pPr lvl="3"/>
            <a:r>
              <a:rPr lang="en-GB" dirty="0"/>
              <a:t>Just the commercial species? </a:t>
            </a:r>
          </a:p>
          <a:p>
            <a:pPr lvl="3"/>
            <a:r>
              <a:rPr lang="en-GB" dirty="0"/>
              <a:t>Everything but invertebrates?</a:t>
            </a:r>
          </a:p>
          <a:p>
            <a:pPr lvl="2"/>
            <a:r>
              <a:rPr lang="en-GB" dirty="0"/>
              <a:t>Were the taxa or commercial names what was sampled?</a:t>
            </a:r>
          </a:p>
          <a:p>
            <a:pPr lvl="1"/>
            <a:endParaRPr lang="en-GB" dirty="0"/>
          </a:p>
        </p:txBody>
      </p:sp>
      <p:sp>
        <p:nvSpPr>
          <p:cNvPr id="4" name="Right Brace 3"/>
          <p:cNvSpPr/>
          <p:nvPr/>
        </p:nvSpPr>
        <p:spPr>
          <a:xfrm>
            <a:off x="8081389" y="2026761"/>
            <a:ext cx="496554" cy="4045684"/>
          </a:xfrm>
          <a:prstGeom prst="rightBrace">
            <a:avLst>
              <a:gd name="adj1" fmla="val 8333"/>
              <a:gd name="adj2" fmla="val 3556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5" name="TextBox 4"/>
          <p:cNvSpPr txBox="1"/>
          <p:nvPr/>
        </p:nvSpPr>
        <p:spPr>
          <a:xfrm>
            <a:off x="8775632" y="2857304"/>
            <a:ext cx="3124189" cy="1323439"/>
          </a:xfrm>
          <a:prstGeom prst="rect">
            <a:avLst/>
          </a:prstGeom>
          <a:noFill/>
        </p:spPr>
        <p:txBody>
          <a:bodyPr wrap="none" rtlCol="0">
            <a:spAutoFit/>
          </a:bodyPr>
          <a:lstStyle/>
          <a:p>
            <a:r>
              <a:rPr lang="en-US" sz="1600" dirty="0"/>
              <a:t>The RDBES handles this issue using </a:t>
            </a:r>
            <a:br>
              <a:rPr lang="en-US" sz="1600" dirty="0"/>
            </a:br>
            <a:r>
              <a:rPr lang="en-US" sz="1600" dirty="0"/>
              <a:t>two tables</a:t>
            </a:r>
            <a:br>
              <a:rPr lang="en-US" sz="1600" dirty="0"/>
            </a:br>
            <a:r>
              <a:rPr lang="en-US" sz="1600" dirty="0"/>
              <a:t>- “</a:t>
            </a:r>
            <a:r>
              <a:rPr lang="en-US" sz="1600" b="1" dirty="0"/>
              <a:t>Species Selection</a:t>
            </a:r>
            <a:r>
              <a:rPr lang="en-US" sz="1600" dirty="0"/>
              <a:t>” (SS)</a:t>
            </a:r>
            <a:br>
              <a:rPr lang="en-US" sz="1600" dirty="0"/>
            </a:br>
            <a:r>
              <a:rPr lang="en-US" sz="1600" dirty="0"/>
              <a:t>- “</a:t>
            </a:r>
            <a:r>
              <a:rPr lang="en-US" sz="1600" b="1" dirty="0"/>
              <a:t>Species List Details </a:t>
            </a:r>
            <a:r>
              <a:rPr lang="en-US" sz="1600" dirty="0"/>
              <a:t>”(SL)</a:t>
            </a:r>
          </a:p>
          <a:p>
            <a:r>
              <a:rPr lang="en-US" sz="1600" dirty="0"/>
              <a:t>Combined with Sample table (SA)</a:t>
            </a:r>
            <a:endParaRPr lang="sv-SE" sz="1600" dirty="0"/>
          </a:p>
        </p:txBody>
      </p:sp>
      <p:sp>
        <p:nvSpPr>
          <p:cNvPr id="13" name="TextBox 12"/>
          <p:cNvSpPr txBox="1"/>
          <p:nvPr/>
        </p:nvSpPr>
        <p:spPr>
          <a:xfrm>
            <a:off x="8718698" y="4772543"/>
            <a:ext cx="2926057" cy="307777"/>
          </a:xfrm>
          <a:prstGeom prst="rect">
            <a:avLst/>
          </a:prstGeom>
          <a:noFill/>
        </p:spPr>
        <p:txBody>
          <a:bodyPr wrap="none" rtlCol="0">
            <a:spAutoFit/>
          </a:bodyPr>
          <a:lstStyle/>
          <a:p>
            <a:r>
              <a:rPr lang="en-US" sz="1400" i="1" dirty="0"/>
              <a:t>RDBES Data Model CS.xlsx </a:t>
            </a:r>
            <a:r>
              <a:rPr lang="en-US" sz="1400" dirty="0"/>
              <a:t>[in GitHub]</a:t>
            </a:r>
          </a:p>
        </p:txBody>
      </p:sp>
      <p:pic>
        <p:nvPicPr>
          <p:cNvPr id="14" name="Picture 13"/>
          <p:cNvPicPr>
            <a:picLocks noChangeAspect="1"/>
          </p:cNvPicPr>
          <p:nvPr/>
        </p:nvPicPr>
        <p:blipFill>
          <a:blip r:embed="rId2"/>
          <a:stretch>
            <a:fillRect/>
          </a:stretch>
        </p:blipFill>
        <p:spPr>
          <a:xfrm>
            <a:off x="8786663" y="5975631"/>
            <a:ext cx="2448267" cy="342948"/>
          </a:xfrm>
          <a:prstGeom prst="rect">
            <a:avLst/>
          </a:prstGeom>
        </p:spPr>
      </p:pic>
      <p:sp>
        <p:nvSpPr>
          <p:cNvPr id="15" name="TextBox 14"/>
          <p:cNvSpPr txBox="1"/>
          <p:nvPr/>
        </p:nvSpPr>
        <p:spPr>
          <a:xfrm>
            <a:off x="8694821" y="5733847"/>
            <a:ext cx="3164905" cy="307777"/>
          </a:xfrm>
          <a:prstGeom prst="rect">
            <a:avLst/>
          </a:prstGeom>
          <a:noFill/>
        </p:spPr>
        <p:txBody>
          <a:bodyPr wrap="none" rtlCol="0">
            <a:spAutoFit/>
          </a:bodyPr>
          <a:lstStyle/>
          <a:p>
            <a:r>
              <a:rPr lang="en-US" sz="1400" i="1" dirty="0"/>
              <a:t>RDBES Data Model VD SL.xlsx </a:t>
            </a:r>
            <a:r>
              <a:rPr lang="en-US" sz="1400" dirty="0"/>
              <a:t>[in GitHub]</a:t>
            </a:r>
            <a:endParaRPr lang="en-US" sz="1400" i="1" dirty="0"/>
          </a:p>
        </p:txBody>
      </p:sp>
      <p:pic>
        <p:nvPicPr>
          <p:cNvPr id="19" name="Picture 18"/>
          <p:cNvPicPr>
            <a:picLocks noChangeAspect="1"/>
          </p:cNvPicPr>
          <p:nvPr/>
        </p:nvPicPr>
        <p:blipFill>
          <a:blip r:embed="rId3"/>
          <a:stretch>
            <a:fillRect/>
          </a:stretch>
        </p:blipFill>
        <p:spPr>
          <a:xfrm>
            <a:off x="8795929" y="5188735"/>
            <a:ext cx="2962688" cy="266737"/>
          </a:xfrm>
          <a:prstGeom prst="rect">
            <a:avLst/>
          </a:prstGeom>
        </p:spPr>
      </p:pic>
    </p:spTree>
    <p:extLst>
      <p:ext uri="{BB962C8B-B14F-4D97-AF65-F5344CB8AC3E}">
        <p14:creationId xmlns:p14="http://schemas.microsoft.com/office/powerpoint/2010/main" val="1985147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796030"/>
            <a:ext cx="5587787" cy="2743312"/>
          </a:xfrm>
          <a:prstGeom prst="rect">
            <a:avLst/>
          </a:prstGeom>
        </p:spPr>
      </p:pic>
      <p:pic>
        <p:nvPicPr>
          <p:cNvPr id="8" name="Picture 7"/>
          <p:cNvPicPr>
            <a:picLocks noChangeAspect="1"/>
          </p:cNvPicPr>
          <p:nvPr/>
        </p:nvPicPr>
        <p:blipFill>
          <a:blip r:embed="rId3"/>
          <a:stretch>
            <a:fillRect/>
          </a:stretch>
        </p:blipFill>
        <p:spPr>
          <a:xfrm>
            <a:off x="6150540" y="1909573"/>
            <a:ext cx="5735790" cy="2704015"/>
          </a:xfrm>
          <a:prstGeom prst="rect">
            <a:avLst/>
          </a:prstGeom>
        </p:spPr>
      </p:pic>
      <p:sp>
        <p:nvSpPr>
          <p:cNvPr id="5" name="Right Arrow 4"/>
          <p:cNvSpPr/>
          <p:nvPr/>
        </p:nvSpPr>
        <p:spPr>
          <a:xfrm rot="8273739">
            <a:off x="5028398" y="2976458"/>
            <a:ext cx="421705" cy="66076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Rectangle 3"/>
          <p:cNvSpPr/>
          <p:nvPr/>
        </p:nvSpPr>
        <p:spPr>
          <a:xfrm>
            <a:off x="1658541" y="1108078"/>
            <a:ext cx="1702004" cy="369332"/>
          </a:xfrm>
          <a:prstGeom prst="rect">
            <a:avLst/>
          </a:prstGeom>
        </p:spPr>
        <p:txBody>
          <a:bodyPr wrap="none">
            <a:spAutoFit/>
          </a:bodyPr>
          <a:lstStyle/>
          <a:p>
            <a:r>
              <a:rPr lang="en-GB" b="1" dirty="0"/>
              <a:t>At-sea sampling</a:t>
            </a:r>
            <a:endParaRPr lang="en-US" b="1" dirty="0"/>
          </a:p>
        </p:txBody>
      </p:sp>
      <p:sp>
        <p:nvSpPr>
          <p:cNvPr id="7" name="Right Arrow 6"/>
          <p:cNvSpPr/>
          <p:nvPr/>
        </p:nvSpPr>
        <p:spPr>
          <a:xfrm rot="8273739">
            <a:off x="4292115" y="2848188"/>
            <a:ext cx="443447" cy="66076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ight Arrow 8"/>
          <p:cNvSpPr/>
          <p:nvPr/>
        </p:nvSpPr>
        <p:spPr>
          <a:xfrm rot="8273739">
            <a:off x="11556127" y="2837302"/>
            <a:ext cx="421705" cy="66076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ight Arrow 9"/>
          <p:cNvSpPr/>
          <p:nvPr/>
        </p:nvSpPr>
        <p:spPr>
          <a:xfrm rot="8273739">
            <a:off x="10699049" y="2698947"/>
            <a:ext cx="443447" cy="660767"/>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p:cNvSpPr/>
          <p:nvPr/>
        </p:nvSpPr>
        <p:spPr>
          <a:xfrm>
            <a:off x="8026684" y="1137688"/>
            <a:ext cx="1910138" cy="369332"/>
          </a:xfrm>
          <a:prstGeom prst="rect">
            <a:avLst/>
          </a:prstGeom>
        </p:spPr>
        <p:txBody>
          <a:bodyPr wrap="none">
            <a:spAutoFit/>
          </a:bodyPr>
          <a:lstStyle/>
          <a:p>
            <a:r>
              <a:rPr lang="en-GB" b="1" dirty="0"/>
              <a:t>Onshore sampling</a:t>
            </a:r>
            <a:endParaRPr lang="en-US" b="1" dirty="0"/>
          </a:p>
        </p:txBody>
      </p:sp>
      <p:cxnSp>
        <p:nvCxnSpPr>
          <p:cNvPr id="13" name="Straight Connector 12"/>
          <p:cNvCxnSpPr/>
          <p:nvPr/>
        </p:nvCxnSpPr>
        <p:spPr>
          <a:xfrm>
            <a:off x="5875806" y="718457"/>
            <a:ext cx="16132" cy="5932714"/>
          </a:xfrm>
          <a:prstGeom prst="line">
            <a:avLst/>
          </a:prstGeom>
          <a:ln w="3175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254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Motivation example 1</a:t>
            </a:r>
            <a:endParaRPr lang="sv-SE" dirty="0"/>
          </a:p>
        </p:txBody>
      </p:sp>
      <p:sp>
        <p:nvSpPr>
          <p:cNvPr id="3" name="Content Placeholder 2"/>
          <p:cNvSpPr>
            <a:spLocks noGrp="1"/>
          </p:cNvSpPr>
          <p:nvPr>
            <p:ph idx="1"/>
          </p:nvPr>
        </p:nvSpPr>
        <p:spPr/>
        <p:txBody>
          <a:bodyPr/>
          <a:lstStyle/>
          <a:p>
            <a:pPr lvl="1"/>
            <a:r>
              <a:rPr lang="en-US" dirty="0"/>
              <a:t>In country A observers sampled a taxon (e.g., cod) at-sea or onshore. </a:t>
            </a:r>
          </a:p>
          <a:p>
            <a:pPr marL="457200" lvl="1" indent="0">
              <a:buNone/>
            </a:pP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4036083743"/>
              </p:ext>
            </p:extLst>
          </p:nvPr>
        </p:nvGraphicFramePr>
        <p:xfrm>
          <a:off x="2986883" y="3330734"/>
          <a:ext cx="4018167" cy="670560"/>
        </p:xfrm>
        <a:graphic>
          <a:graphicData uri="http://schemas.openxmlformats.org/drawingml/2006/table">
            <a:tbl>
              <a:tblPr firstRow="1" bandRow="1">
                <a:tableStyleId>{5940675A-B579-460E-94D1-54222C63F5DA}</a:tableStyleId>
              </a:tblPr>
              <a:tblGrid>
                <a:gridCol w="2100105">
                  <a:extLst>
                    <a:ext uri="{9D8B030D-6E8A-4147-A177-3AD203B41FA5}">
                      <a16:colId xmlns:a16="http://schemas.microsoft.com/office/drawing/2014/main" val="2815465670"/>
                    </a:ext>
                  </a:extLst>
                </a:gridCol>
                <a:gridCol w="778762">
                  <a:extLst>
                    <a:ext uri="{9D8B030D-6E8A-4147-A177-3AD203B41FA5}">
                      <a16:colId xmlns:a16="http://schemas.microsoft.com/office/drawing/2014/main" val="3307169097"/>
                    </a:ext>
                  </a:extLst>
                </a:gridCol>
                <a:gridCol w="113930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bg2">
                        <a:lumMod val="90000"/>
                      </a:schemeClr>
                    </a:solidFill>
                  </a:tcPr>
                </a:tc>
                <a:tc>
                  <a:txBody>
                    <a:bodyPr/>
                    <a:lstStyle/>
                    <a:p>
                      <a:pPr algn="ctr"/>
                      <a:r>
                        <a:rPr lang="sv-SE" sz="1600" b="1" dirty="0"/>
                        <a:t>Kg</a:t>
                      </a:r>
                      <a:endParaRPr lang="en-GB" sz="1600" b="1" dirty="0"/>
                    </a:p>
                  </a:txBody>
                  <a:tcPr>
                    <a:solidFill>
                      <a:schemeClr val="bg2">
                        <a:lumMod val="90000"/>
                      </a:schemeClr>
                    </a:solidFill>
                  </a:tcPr>
                </a:tc>
                <a:tc>
                  <a:txBody>
                    <a:bodyPr/>
                    <a:lstStyle/>
                    <a:p>
                      <a:pPr algn="ctr"/>
                      <a:r>
                        <a:rPr lang="sv-SE" sz="1600" b="1" dirty="0" err="1"/>
                        <a:t>Number</a:t>
                      </a:r>
                      <a:endParaRPr lang="en-GB" sz="1600" b="1" dirty="0"/>
                    </a:p>
                  </a:txBody>
                  <a:tcPr>
                    <a:solidFill>
                      <a:schemeClr val="bg2">
                        <a:lumMod val="90000"/>
                      </a:schemeClr>
                    </a:solidFill>
                  </a:tcPr>
                </a:tc>
                <a:extLst>
                  <a:ext uri="{0D108BD9-81ED-4DB2-BD59-A6C34878D82A}">
                    <a16:rowId xmlns:a16="http://schemas.microsoft.com/office/drawing/2014/main" val="3362119261"/>
                  </a:ext>
                </a:extLst>
              </a:tr>
              <a:tr h="192881">
                <a:tc>
                  <a:txBody>
                    <a:bodyPr/>
                    <a:lstStyle/>
                    <a:p>
                      <a:r>
                        <a:rPr lang="sv-SE" sz="1600" dirty="0" err="1"/>
                        <a:t>Cod</a:t>
                      </a:r>
                      <a:endParaRPr lang="en-GB" sz="1600" dirty="0"/>
                    </a:p>
                  </a:txBody>
                  <a:tcPr/>
                </a:tc>
                <a:tc>
                  <a:txBody>
                    <a:bodyPr/>
                    <a:lstStyle/>
                    <a:p>
                      <a:pPr algn="ctr"/>
                      <a:r>
                        <a:rPr lang="sv-SE" sz="1600" dirty="0"/>
                        <a:t>200</a:t>
                      </a:r>
                      <a:endParaRPr lang="en-GB" sz="1600" dirty="0"/>
                    </a:p>
                  </a:txBody>
                  <a:tcPr/>
                </a:tc>
                <a:tc>
                  <a:txBody>
                    <a:bodyPr/>
                    <a:lstStyle/>
                    <a:p>
                      <a:pPr algn="ctr"/>
                      <a:r>
                        <a:rPr lang="en-GB" sz="1600" dirty="0"/>
                        <a:t>420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5261804" y="4976634"/>
            <a:ext cx="4801764" cy="1200329"/>
          </a:xfrm>
          <a:prstGeom prst="rect">
            <a:avLst/>
          </a:prstGeom>
          <a:solidFill>
            <a:srgbClr val="FFC000"/>
          </a:solidFill>
          <a:ln>
            <a:solidFill>
              <a:schemeClr val="tx1"/>
            </a:solidFill>
          </a:ln>
        </p:spPr>
        <p:txBody>
          <a:bodyPr wrap="none" rtlCol="0">
            <a:spAutoFit/>
          </a:bodyPr>
          <a:lstStyle/>
          <a:p>
            <a:r>
              <a:rPr lang="en-US" dirty="0"/>
              <a:t>Typical questions from data users: </a:t>
            </a:r>
          </a:p>
          <a:p>
            <a:pPr marL="285750" indent="-285750">
              <a:buFontTx/>
              <a:buChar char="-"/>
            </a:pPr>
            <a:r>
              <a:rPr lang="en-US" dirty="0"/>
              <a:t>Was cod the only target species?</a:t>
            </a:r>
            <a:endParaRPr lang="sv-SE" dirty="0"/>
          </a:p>
          <a:p>
            <a:pPr marL="285750" indent="-285750">
              <a:buFontTx/>
              <a:buChar char="-"/>
            </a:pPr>
            <a:r>
              <a:rPr lang="en-US" dirty="0"/>
              <a:t>Were there any other species in the landing? </a:t>
            </a:r>
          </a:p>
          <a:p>
            <a:pPr marL="285750" indent="-285750">
              <a:buFontTx/>
              <a:buChar char="-"/>
            </a:pPr>
            <a:r>
              <a:rPr lang="en-US" dirty="0"/>
              <a:t>Are other not recorded taxa </a:t>
            </a:r>
            <a:r>
              <a:rPr lang="en-US" b="1" dirty="0"/>
              <a:t>0s</a:t>
            </a:r>
            <a:r>
              <a:rPr lang="en-US" dirty="0"/>
              <a:t> or </a:t>
            </a:r>
            <a:r>
              <a:rPr lang="en-US" b="1" dirty="0"/>
              <a:t>NAs</a:t>
            </a:r>
            <a:r>
              <a:rPr lang="en-US" dirty="0"/>
              <a:t>?!</a:t>
            </a:r>
          </a:p>
        </p:txBody>
      </p:sp>
      <p:sp>
        <p:nvSpPr>
          <p:cNvPr id="6" name="TextBox 5"/>
          <p:cNvSpPr txBox="1"/>
          <p:nvPr/>
        </p:nvSpPr>
        <p:spPr>
          <a:xfrm>
            <a:off x="2862943" y="3022160"/>
            <a:ext cx="4479734"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883719" y="3022160"/>
            <a:ext cx="4398823"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2994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3012590" y="3318690"/>
            <a:ext cx="3083410" cy="338403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sv-SE" dirty="0" err="1"/>
              <a:t>How</a:t>
            </a:r>
            <a:r>
              <a:rPr lang="sv-SE" dirty="0"/>
              <a:t> RDBES </a:t>
            </a:r>
            <a:r>
              <a:rPr lang="sv-SE" dirty="0" err="1"/>
              <a:t>will</a:t>
            </a:r>
            <a:r>
              <a:rPr lang="sv-SE" dirty="0"/>
              <a:t> </a:t>
            </a:r>
            <a:r>
              <a:rPr lang="sv-SE" dirty="0" err="1"/>
              <a:t>differentiate</a:t>
            </a:r>
            <a:r>
              <a:rPr lang="sv-SE" dirty="0"/>
              <a:t> </a:t>
            </a:r>
            <a:r>
              <a:rPr lang="sv-SE" dirty="0" err="1"/>
              <a:t>true</a:t>
            </a:r>
            <a:r>
              <a:rPr lang="sv-SE" dirty="0"/>
              <a:t> 0s and NAs</a:t>
            </a:r>
          </a:p>
        </p:txBody>
      </p:sp>
      <p:graphicFrame>
        <p:nvGraphicFramePr>
          <p:cNvPr id="5" name="Table 4"/>
          <p:cNvGraphicFramePr>
            <a:graphicFrameLocks noGrp="1"/>
          </p:cNvGraphicFramePr>
          <p:nvPr>
            <p:extLst>
              <p:ext uri="{D42A27DB-BD31-4B8C-83A1-F6EECF244321}">
                <p14:modId xmlns:p14="http://schemas.microsoft.com/office/powerpoint/2010/main" val="3407635812"/>
              </p:ext>
            </p:extLst>
          </p:nvPr>
        </p:nvGraphicFramePr>
        <p:xfrm>
          <a:off x="6858287" y="3919514"/>
          <a:ext cx="3445756" cy="2346960"/>
        </p:xfrm>
        <a:graphic>
          <a:graphicData uri="http://schemas.openxmlformats.org/drawingml/2006/table">
            <a:tbl>
              <a:tblPr firstRow="1" bandRow="1">
                <a:tableStyleId>{5940675A-B579-460E-94D1-54222C63F5DA}</a:tableStyleId>
              </a:tblPr>
              <a:tblGrid>
                <a:gridCol w="1680202">
                  <a:extLst>
                    <a:ext uri="{9D8B030D-6E8A-4147-A177-3AD203B41FA5}">
                      <a16:colId xmlns:a16="http://schemas.microsoft.com/office/drawing/2014/main" val="20000"/>
                    </a:ext>
                  </a:extLst>
                </a:gridCol>
                <a:gridCol w="882777">
                  <a:extLst>
                    <a:ext uri="{9D8B030D-6E8A-4147-A177-3AD203B41FA5}">
                      <a16:colId xmlns:a16="http://schemas.microsoft.com/office/drawing/2014/main" val="20001"/>
                    </a:ext>
                  </a:extLst>
                </a:gridCol>
                <a:gridCol w="882777">
                  <a:extLst>
                    <a:ext uri="{9D8B030D-6E8A-4147-A177-3AD203B41FA5}">
                      <a16:colId xmlns:a16="http://schemas.microsoft.com/office/drawing/2014/main" val="1707809087"/>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sv-SE" sz="1600" b="1" dirty="0"/>
                        <a:t>Kg</a:t>
                      </a:r>
                      <a:endParaRPr lang="en-GB" sz="1600" b="1" dirty="0"/>
                    </a:p>
                  </a:txBody>
                  <a:tcPr>
                    <a:solidFill>
                      <a:schemeClr val="accent1">
                        <a:lumMod val="60000"/>
                        <a:lumOff val="40000"/>
                      </a:schemeClr>
                    </a:solidFill>
                  </a:tcPr>
                </a:tc>
                <a:tc>
                  <a:txBody>
                    <a:bodyPr/>
                    <a:lstStyle/>
                    <a:p>
                      <a:pPr algn="ctr"/>
                      <a:r>
                        <a:rPr lang="en-GB" sz="1600" b="1" dirty="0"/>
                        <a:t>Number</a:t>
                      </a:r>
                    </a:p>
                  </a:txBody>
                  <a:tcPr>
                    <a:solidFill>
                      <a:schemeClr val="accent1">
                        <a:lumMod val="60000"/>
                        <a:lumOff val="40000"/>
                      </a:schemeClr>
                    </a:solidFill>
                  </a:tcPr>
                </a:tc>
                <a:extLst>
                  <a:ext uri="{0D108BD9-81ED-4DB2-BD59-A6C34878D82A}">
                    <a16:rowId xmlns:a16="http://schemas.microsoft.com/office/drawing/2014/main" val="10000"/>
                  </a:ext>
                </a:extLst>
              </a:tr>
              <a:tr h="192881">
                <a:tc>
                  <a:txBody>
                    <a:bodyPr/>
                    <a:lstStyle/>
                    <a:p>
                      <a:r>
                        <a:rPr lang="sv-SE" sz="1600" dirty="0" err="1"/>
                        <a:t>Cod</a:t>
                      </a:r>
                      <a:endParaRPr lang="en-GB" sz="1600" dirty="0"/>
                    </a:p>
                  </a:txBody>
                  <a:tcPr/>
                </a:tc>
                <a:tc>
                  <a:txBody>
                    <a:bodyPr/>
                    <a:lstStyle/>
                    <a:p>
                      <a:pPr algn="ctr"/>
                      <a:r>
                        <a:rPr lang="sv-SE" sz="1600" dirty="0"/>
                        <a:t>200</a:t>
                      </a:r>
                      <a:endParaRPr lang="en-GB" sz="1600" dirty="0"/>
                    </a:p>
                  </a:txBody>
                  <a:tcPr/>
                </a:tc>
                <a:tc>
                  <a:txBody>
                    <a:bodyPr/>
                    <a:lstStyle/>
                    <a:p>
                      <a:pPr algn="ctr"/>
                      <a:r>
                        <a:rPr lang="en-GB" sz="1600" dirty="0"/>
                        <a:t>420</a:t>
                      </a:r>
                    </a:p>
                  </a:txBody>
                  <a:tcPr/>
                </a:tc>
                <a:extLst>
                  <a:ext uri="{0D108BD9-81ED-4DB2-BD59-A6C34878D82A}">
                    <a16:rowId xmlns:a16="http://schemas.microsoft.com/office/drawing/2014/main" val="10001"/>
                  </a:ext>
                </a:extLst>
              </a:tr>
              <a:tr h="192881">
                <a:tc>
                  <a:txBody>
                    <a:bodyPr/>
                    <a:lstStyle/>
                    <a:p>
                      <a:r>
                        <a:rPr lang="sv-SE" sz="1600" dirty="0" err="1">
                          <a:solidFill>
                            <a:schemeClr val="bg2">
                              <a:lumMod val="50000"/>
                            </a:schemeClr>
                          </a:solidFill>
                        </a:rPr>
                        <a:t>Plaice</a:t>
                      </a:r>
                      <a:endParaRPr lang="en-GB" sz="1600" dirty="0">
                        <a:solidFill>
                          <a:schemeClr val="bg2">
                            <a:lumMod val="50000"/>
                          </a:schemeClr>
                        </a:solidFill>
                      </a:endParaRPr>
                    </a:p>
                  </a:txBody>
                  <a:tcPr/>
                </a:tc>
                <a:tc>
                  <a:txBody>
                    <a:bodyPr/>
                    <a:lstStyle/>
                    <a:p>
                      <a:pPr algn="ctr"/>
                      <a:r>
                        <a:rPr lang="en-GB" sz="1600" dirty="0">
                          <a:solidFill>
                            <a:schemeClr val="bg2">
                              <a:lumMod val="50000"/>
                            </a:schemeClr>
                          </a:solidFill>
                        </a:rPr>
                        <a:t>0</a:t>
                      </a:r>
                    </a:p>
                  </a:txBody>
                  <a:tcPr/>
                </a:tc>
                <a:tc>
                  <a:txBody>
                    <a:bodyPr/>
                    <a:lstStyle/>
                    <a:p>
                      <a:pPr algn="ctr"/>
                      <a:r>
                        <a:rPr lang="en-GB" sz="1600" dirty="0">
                          <a:solidFill>
                            <a:schemeClr val="bg2">
                              <a:lumMod val="50000"/>
                            </a:schemeClr>
                          </a:solidFill>
                        </a:rPr>
                        <a:t>0</a:t>
                      </a:r>
                    </a:p>
                  </a:txBody>
                  <a:tcPr/>
                </a:tc>
                <a:extLst>
                  <a:ext uri="{0D108BD9-81ED-4DB2-BD59-A6C34878D82A}">
                    <a16:rowId xmlns:a16="http://schemas.microsoft.com/office/drawing/2014/main" val="10002"/>
                  </a:ext>
                </a:extLst>
              </a:tr>
              <a:tr h="192881">
                <a:tc>
                  <a:txBody>
                    <a:bodyPr/>
                    <a:lstStyle/>
                    <a:p>
                      <a:r>
                        <a:rPr lang="sv-SE" sz="1600" dirty="0" err="1">
                          <a:solidFill>
                            <a:schemeClr val="bg2">
                              <a:lumMod val="50000"/>
                            </a:schemeClr>
                          </a:solidFill>
                        </a:rPr>
                        <a:t>Undulate</a:t>
                      </a:r>
                      <a:r>
                        <a:rPr lang="sv-SE" sz="1600" baseline="0" dirty="0">
                          <a:solidFill>
                            <a:schemeClr val="bg2">
                              <a:lumMod val="50000"/>
                            </a:schemeClr>
                          </a:solidFill>
                        </a:rPr>
                        <a:t> </a:t>
                      </a:r>
                      <a:r>
                        <a:rPr lang="sv-SE" sz="1600" baseline="0" dirty="0" err="1">
                          <a:solidFill>
                            <a:schemeClr val="bg2">
                              <a:lumMod val="50000"/>
                            </a:schemeClr>
                          </a:solidFill>
                        </a:rPr>
                        <a:t>ray</a:t>
                      </a:r>
                      <a:endParaRPr lang="en-GB" sz="1600" dirty="0">
                        <a:solidFill>
                          <a:schemeClr val="bg2">
                            <a:lumMod val="50000"/>
                          </a:schemeClr>
                        </a:solidFill>
                      </a:endParaRPr>
                    </a:p>
                  </a:txBody>
                  <a:tcPr/>
                </a:tc>
                <a:tc>
                  <a:txBody>
                    <a:bodyPr/>
                    <a:lstStyle/>
                    <a:p>
                      <a:pPr algn="ctr"/>
                      <a:r>
                        <a:rPr lang="sv-SE" sz="1600" dirty="0">
                          <a:solidFill>
                            <a:schemeClr val="bg2">
                              <a:lumMod val="50000"/>
                            </a:schemeClr>
                          </a:solidFill>
                        </a:rPr>
                        <a:t>0</a:t>
                      </a:r>
                      <a:endParaRPr lang="en-GB" sz="1600" dirty="0">
                        <a:solidFill>
                          <a:schemeClr val="bg2">
                            <a:lumMod val="50000"/>
                          </a:schemeClr>
                        </a:solidFill>
                      </a:endParaRPr>
                    </a:p>
                  </a:txBody>
                  <a:tcPr/>
                </a:tc>
                <a:tc>
                  <a:txBody>
                    <a:bodyPr/>
                    <a:lstStyle/>
                    <a:p>
                      <a:pPr algn="ctr"/>
                      <a:r>
                        <a:rPr lang="en-GB" sz="1600" dirty="0">
                          <a:solidFill>
                            <a:schemeClr val="bg2">
                              <a:lumMod val="50000"/>
                            </a:schemeClr>
                          </a:solidFill>
                        </a:rPr>
                        <a:t>0</a:t>
                      </a:r>
                    </a:p>
                  </a:txBody>
                  <a:tcPr/>
                </a:tc>
                <a:extLst>
                  <a:ext uri="{0D108BD9-81ED-4DB2-BD59-A6C34878D82A}">
                    <a16:rowId xmlns:a16="http://schemas.microsoft.com/office/drawing/2014/main" val="10003"/>
                  </a:ext>
                </a:extLst>
              </a:tr>
              <a:tr h="192881">
                <a:tc>
                  <a:txBody>
                    <a:bodyPr/>
                    <a:lstStyle/>
                    <a:p>
                      <a:r>
                        <a:rPr lang="sv-SE" sz="1600" dirty="0">
                          <a:solidFill>
                            <a:schemeClr val="bg2">
                              <a:lumMod val="50000"/>
                            </a:schemeClr>
                          </a:solidFill>
                        </a:rPr>
                        <a:t>Thornback</a:t>
                      </a:r>
                      <a:r>
                        <a:rPr lang="sv-SE" sz="1600" baseline="0" dirty="0">
                          <a:solidFill>
                            <a:schemeClr val="bg2">
                              <a:lumMod val="50000"/>
                            </a:schemeClr>
                          </a:solidFill>
                        </a:rPr>
                        <a:t> </a:t>
                      </a:r>
                      <a:r>
                        <a:rPr lang="sv-SE" sz="1600" baseline="0" dirty="0" err="1">
                          <a:solidFill>
                            <a:schemeClr val="bg2">
                              <a:lumMod val="50000"/>
                            </a:schemeClr>
                          </a:solidFill>
                        </a:rPr>
                        <a:t>ray</a:t>
                      </a:r>
                      <a:endParaRPr lang="en-GB" sz="1600" dirty="0">
                        <a:solidFill>
                          <a:schemeClr val="bg2">
                            <a:lumMod val="50000"/>
                          </a:schemeClr>
                        </a:solidFill>
                      </a:endParaRPr>
                    </a:p>
                  </a:txBody>
                  <a:tcPr/>
                </a:tc>
                <a:tc>
                  <a:txBody>
                    <a:bodyPr/>
                    <a:lstStyle/>
                    <a:p>
                      <a:pPr algn="ctr"/>
                      <a:r>
                        <a:rPr lang="en-GB" sz="1600" dirty="0">
                          <a:solidFill>
                            <a:schemeClr val="bg2">
                              <a:lumMod val="50000"/>
                            </a:schemeClr>
                          </a:solidFill>
                        </a:rPr>
                        <a:t>0</a:t>
                      </a:r>
                    </a:p>
                  </a:txBody>
                  <a:tcPr/>
                </a:tc>
                <a:tc>
                  <a:txBody>
                    <a:bodyPr/>
                    <a:lstStyle/>
                    <a:p>
                      <a:pPr algn="ctr"/>
                      <a:r>
                        <a:rPr lang="en-GB" sz="1600" dirty="0">
                          <a:solidFill>
                            <a:schemeClr val="bg2">
                              <a:lumMod val="50000"/>
                            </a:schemeClr>
                          </a:solidFill>
                        </a:rPr>
                        <a:t>0</a:t>
                      </a:r>
                    </a:p>
                  </a:txBody>
                  <a:tcPr/>
                </a:tc>
                <a:extLst>
                  <a:ext uri="{0D108BD9-81ED-4DB2-BD59-A6C34878D82A}">
                    <a16:rowId xmlns:a16="http://schemas.microsoft.com/office/drawing/2014/main" val="10004"/>
                  </a:ext>
                </a:extLst>
              </a:tr>
              <a:tr h="19288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sv-SE" sz="1600" dirty="0">
                          <a:solidFill>
                            <a:schemeClr val="bg2">
                              <a:lumMod val="50000"/>
                            </a:schemeClr>
                          </a:solidFill>
                        </a:rPr>
                        <a:t>Black-</a:t>
                      </a:r>
                      <a:r>
                        <a:rPr lang="sv-SE" sz="1600" dirty="0" err="1">
                          <a:solidFill>
                            <a:schemeClr val="bg2">
                              <a:lumMod val="50000"/>
                            </a:schemeClr>
                          </a:solidFill>
                        </a:rPr>
                        <a:t>headed</a:t>
                      </a:r>
                      <a:r>
                        <a:rPr lang="sv-SE" sz="1600" dirty="0">
                          <a:solidFill>
                            <a:schemeClr val="bg2">
                              <a:lumMod val="50000"/>
                            </a:schemeClr>
                          </a:solidFill>
                        </a:rPr>
                        <a:t> gull</a:t>
                      </a:r>
                      <a:endParaRPr lang="en-GB" sz="1600" dirty="0">
                        <a:solidFill>
                          <a:schemeClr val="bg2">
                            <a:lumMod val="50000"/>
                          </a:schemeClr>
                        </a:solidFill>
                      </a:endParaRPr>
                    </a:p>
                  </a:txBody>
                  <a:tcPr/>
                </a:tc>
                <a:tc>
                  <a:txBody>
                    <a:bodyPr/>
                    <a:lstStyle/>
                    <a:p>
                      <a:pPr algn="ctr"/>
                      <a:r>
                        <a:rPr lang="en-GB" sz="1600" dirty="0">
                          <a:solidFill>
                            <a:schemeClr val="bg2">
                              <a:lumMod val="50000"/>
                            </a:schemeClr>
                          </a:solidFill>
                        </a:rPr>
                        <a:t>NA</a:t>
                      </a:r>
                    </a:p>
                  </a:txBody>
                  <a:tcPr/>
                </a:tc>
                <a:tc>
                  <a:txBody>
                    <a:bodyPr/>
                    <a:lstStyle/>
                    <a:p>
                      <a:pPr algn="ctr"/>
                      <a:r>
                        <a:rPr lang="en-GB" sz="1600" dirty="0">
                          <a:solidFill>
                            <a:schemeClr val="bg2">
                              <a:lumMod val="50000"/>
                            </a:schemeClr>
                          </a:solidFill>
                        </a:rPr>
                        <a:t>NA</a:t>
                      </a:r>
                    </a:p>
                  </a:txBody>
                  <a:tcPr/>
                </a:tc>
                <a:extLst>
                  <a:ext uri="{0D108BD9-81ED-4DB2-BD59-A6C34878D82A}">
                    <a16:rowId xmlns:a16="http://schemas.microsoft.com/office/drawing/2014/main" val="10005"/>
                  </a:ext>
                </a:extLst>
              </a:tr>
              <a:tr h="192881">
                <a:tc>
                  <a:txBody>
                    <a:bodyPr/>
                    <a:lstStyle/>
                    <a:p>
                      <a:r>
                        <a:rPr lang="sv-SE" sz="1600" dirty="0" err="1">
                          <a:solidFill>
                            <a:schemeClr val="bg2">
                              <a:lumMod val="50000"/>
                            </a:schemeClr>
                          </a:solidFill>
                        </a:rPr>
                        <a:t>Harbour</a:t>
                      </a:r>
                      <a:r>
                        <a:rPr lang="sv-SE" sz="1600" dirty="0">
                          <a:solidFill>
                            <a:schemeClr val="bg2">
                              <a:lumMod val="50000"/>
                            </a:schemeClr>
                          </a:solidFill>
                        </a:rPr>
                        <a:t> </a:t>
                      </a:r>
                      <a:r>
                        <a:rPr lang="sv-SE" sz="1600" dirty="0" err="1">
                          <a:solidFill>
                            <a:schemeClr val="bg2">
                              <a:lumMod val="50000"/>
                            </a:schemeClr>
                          </a:solidFill>
                        </a:rPr>
                        <a:t>porpoise</a:t>
                      </a:r>
                      <a:endParaRPr lang="en-GB" sz="1600" dirty="0">
                        <a:solidFill>
                          <a:schemeClr val="bg2">
                            <a:lumMod val="50000"/>
                          </a:schemeClr>
                        </a:solidFill>
                      </a:endParaRPr>
                    </a:p>
                  </a:txBody>
                  <a:tcPr/>
                </a:tc>
                <a:tc>
                  <a:txBody>
                    <a:bodyPr/>
                    <a:lstStyle/>
                    <a:p>
                      <a:pPr algn="ctr"/>
                      <a:r>
                        <a:rPr lang="sv-SE" sz="1600" dirty="0">
                          <a:solidFill>
                            <a:schemeClr val="bg2">
                              <a:lumMod val="50000"/>
                            </a:schemeClr>
                          </a:solidFill>
                        </a:rPr>
                        <a:t>NA</a:t>
                      </a:r>
                      <a:endParaRPr lang="en-GB" sz="1600" dirty="0">
                        <a:solidFill>
                          <a:schemeClr val="bg2">
                            <a:lumMod val="50000"/>
                          </a:schemeClr>
                        </a:solidFill>
                      </a:endParaRPr>
                    </a:p>
                  </a:txBody>
                  <a:tcPr/>
                </a:tc>
                <a:tc>
                  <a:txBody>
                    <a:bodyPr/>
                    <a:lstStyle/>
                    <a:p>
                      <a:pPr algn="ctr"/>
                      <a:r>
                        <a:rPr lang="en-GB" sz="1600" dirty="0">
                          <a:solidFill>
                            <a:schemeClr val="bg2">
                              <a:lumMod val="50000"/>
                            </a:schemeClr>
                          </a:solidFill>
                        </a:rPr>
                        <a:t>NA</a:t>
                      </a:r>
                    </a:p>
                  </a:txBody>
                  <a:tcPr/>
                </a:tc>
                <a:extLst>
                  <a:ext uri="{0D108BD9-81ED-4DB2-BD59-A6C34878D82A}">
                    <a16:rowId xmlns:a16="http://schemas.microsoft.com/office/drawing/2014/main" val="136231539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21916555"/>
              </p:ext>
            </p:extLst>
          </p:nvPr>
        </p:nvGraphicFramePr>
        <p:xfrm>
          <a:off x="3860737" y="4830492"/>
          <a:ext cx="1778063" cy="1676400"/>
        </p:xfrm>
        <a:graphic>
          <a:graphicData uri="http://schemas.openxmlformats.org/drawingml/2006/table">
            <a:tbl>
              <a:tblPr firstRow="1" bandRow="1">
                <a:tableStyleId>{5940675A-B579-460E-94D1-54222C63F5DA}</a:tableStyleId>
              </a:tblPr>
              <a:tblGrid>
                <a:gridCol w="1778063">
                  <a:extLst>
                    <a:ext uri="{9D8B030D-6E8A-4147-A177-3AD203B41FA5}">
                      <a16:colId xmlns:a16="http://schemas.microsoft.com/office/drawing/2014/main" val="20000"/>
                    </a:ext>
                  </a:extLst>
                </a:gridCol>
              </a:tblGrid>
              <a:tr h="192881">
                <a:tc>
                  <a:txBody>
                    <a:bodyPr/>
                    <a:lstStyle/>
                    <a:p>
                      <a:r>
                        <a:rPr lang="sv-SE" sz="1600" b="1" dirty="0" err="1"/>
                        <a:t>Spp</a:t>
                      </a:r>
                      <a:r>
                        <a:rPr lang="sv-SE" sz="1600" b="1" dirty="0"/>
                        <a:t> List (SL via SS)</a:t>
                      </a:r>
                      <a:endParaRPr lang="en-GB" sz="1600" b="1" dirty="0"/>
                    </a:p>
                  </a:txBody>
                  <a:tcPr>
                    <a:solidFill>
                      <a:schemeClr val="accent5">
                        <a:lumMod val="60000"/>
                        <a:lumOff val="40000"/>
                      </a:schemeClr>
                    </a:solidFill>
                  </a:tcPr>
                </a:tc>
                <a:extLst>
                  <a:ext uri="{0D108BD9-81ED-4DB2-BD59-A6C34878D82A}">
                    <a16:rowId xmlns:a16="http://schemas.microsoft.com/office/drawing/2014/main" val="10000"/>
                  </a:ext>
                </a:extLst>
              </a:tr>
              <a:tr h="192881">
                <a:tc>
                  <a:txBody>
                    <a:bodyPr/>
                    <a:lstStyle/>
                    <a:p>
                      <a:r>
                        <a:rPr lang="sv-SE" sz="1600" dirty="0" err="1"/>
                        <a:t>Cod</a:t>
                      </a:r>
                      <a:endParaRPr lang="en-GB" sz="1600" dirty="0"/>
                    </a:p>
                  </a:txBody>
                  <a:tcPr>
                    <a:solidFill>
                      <a:schemeClr val="bg1"/>
                    </a:solidFill>
                  </a:tcPr>
                </a:tc>
                <a:extLst>
                  <a:ext uri="{0D108BD9-81ED-4DB2-BD59-A6C34878D82A}">
                    <a16:rowId xmlns:a16="http://schemas.microsoft.com/office/drawing/2014/main" val="10001"/>
                  </a:ext>
                </a:extLst>
              </a:tr>
              <a:tr h="192881">
                <a:tc>
                  <a:txBody>
                    <a:bodyPr/>
                    <a:lstStyle/>
                    <a:p>
                      <a:r>
                        <a:rPr lang="sv-SE" sz="1600" dirty="0" err="1"/>
                        <a:t>Plaice</a:t>
                      </a:r>
                      <a:endParaRPr lang="en-GB" sz="1600" dirty="0"/>
                    </a:p>
                  </a:txBody>
                  <a:tcPr>
                    <a:solidFill>
                      <a:schemeClr val="bg1"/>
                    </a:solidFill>
                  </a:tcPr>
                </a:tc>
                <a:extLst>
                  <a:ext uri="{0D108BD9-81ED-4DB2-BD59-A6C34878D82A}">
                    <a16:rowId xmlns:a16="http://schemas.microsoft.com/office/drawing/2014/main" val="10002"/>
                  </a:ext>
                </a:extLst>
              </a:tr>
              <a:tr h="192881">
                <a:tc>
                  <a:txBody>
                    <a:bodyPr/>
                    <a:lstStyle/>
                    <a:p>
                      <a:r>
                        <a:rPr lang="sv-SE" sz="1600" dirty="0" err="1"/>
                        <a:t>Undulate</a:t>
                      </a:r>
                      <a:r>
                        <a:rPr lang="sv-SE" sz="1600" baseline="0" dirty="0"/>
                        <a:t> </a:t>
                      </a:r>
                      <a:r>
                        <a:rPr lang="sv-SE" sz="1600" baseline="0" dirty="0" err="1"/>
                        <a:t>ray</a:t>
                      </a:r>
                      <a:endParaRPr lang="en-GB" sz="1600" dirty="0"/>
                    </a:p>
                  </a:txBody>
                  <a:tcPr>
                    <a:solidFill>
                      <a:schemeClr val="bg1"/>
                    </a:solidFill>
                  </a:tcPr>
                </a:tc>
                <a:extLst>
                  <a:ext uri="{0D108BD9-81ED-4DB2-BD59-A6C34878D82A}">
                    <a16:rowId xmlns:a16="http://schemas.microsoft.com/office/drawing/2014/main" val="10003"/>
                  </a:ext>
                </a:extLst>
              </a:tr>
              <a:tr h="192881">
                <a:tc>
                  <a:txBody>
                    <a:bodyPr/>
                    <a:lstStyle/>
                    <a:p>
                      <a:r>
                        <a:rPr lang="sv-SE" sz="1600" dirty="0"/>
                        <a:t>Thornback</a:t>
                      </a:r>
                      <a:r>
                        <a:rPr lang="sv-SE" sz="1600" baseline="0" dirty="0"/>
                        <a:t> </a:t>
                      </a:r>
                      <a:r>
                        <a:rPr lang="sv-SE" sz="1600" baseline="0" dirty="0" err="1"/>
                        <a:t>ray</a:t>
                      </a:r>
                      <a:endParaRPr lang="en-GB" sz="1600" dirty="0"/>
                    </a:p>
                  </a:txBody>
                  <a:tcPr>
                    <a:solidFill>
                      <a:schemeClr val="bg1"/>
                    </a:solidFill>
                  </a:tcPr>
                </a:tc>
                <a:extLst>
                  <a:ext uri="{0D108BD9-81ED-4DB2-BD59-A6C34878D82A}">
                    <a16:rowId xmlns:a16="http://schemas.microsoft.com/office/drawing/2014/main" val="10004"/>
                  </a:ext>
                </a:extLst>
              </a:tr>
            </a:tbl>
          </a:graphicData>
        </a:graphic>
      </p:graphicFrame>
      <p:cxnSp>
        <p:nvCxnSpPr>
          <p:cNvPr id="8" name="Straight Arrow Connector 7"/>
          <p:cNvCxnSpPr/>
          <p:nvPr/>
        </p:nvCxnSpPr>
        <p:spPr>
          <a:xfrm flipH="1">
            <a:off x="10598727" y="5179618"/>
            <a:ext cx="857073" cy="2224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28797" y="4961589"/>
            <a:ext cx="784317" cy="338554"/>
          </a:xfrm>
          <a:prstGeom prst="rect">
            <a:avLst/>
          </a:prstGeom>
          <a:noFill/>
        </p:spPr>
        <p:txBody>
          <a:bodyPr wrap="none" rtlCol="0">
            <a:spAutoFit/>
          </a:bodyPr>
          <a:lstStyle/>
          <a:p>
            <a:r>
              <a:rPr lang="sv-SE" sz="1600" dirty="0" err="1"/>
              <a:t>True</a:t>
            </a:r>
            <a:r>
              <a:rPr lang="sv-SE" sz="1600" dirty="0"/>
              <a:t> 0s</a:t>
            </a:r>
            <a:endParaRPr lang="en-GB" sz="1600" dirty="0"/>
          </a:p>
        </p:txBody>
      </p:sp>
      <p:sp>
        <p:nvSpPr>
          <p:cNvPr id="10" name="TextBox 9"/>
          <p:cNvSpPr txBox="1"/>
          <p:nvPr/>
        </p:nvSpPr>
        <p:spPr>
          <a:xfrm>
            <a:off x="11466938" y="6085434"/>
            <a:ext cx="524503" cy="338554"/>
          </a:xfrm>
          <a:prstGeom prst="rect">
            <a:avLst/>
          </a:prstGeom>
          <a:noFill/>
        </p:spPr>
        <p:txBody>
          <a:bodyPr wrap="square" rtlCol="0">
            <a:spAutoFit/>
          </a:bodyPr>
          <a:lstStyle/>
          <a:p>
            <a:r>
              <a:rPr lang="sv-SE" sz="1600" dirty="0"/>
              <a:t>NAs</a:t>
            </a:r>
            <a:endParaRPr lang="en-GB" sz="1600" dirty="0"/>
          </a:p>
        </p:txBody>
      </p:sp>
      <p:cxnSp>
        <p:nvCxnSpPr>
          <p:cNvPr id="11" name="Straight Arrow Connector 10"/>
          <p:cNvCxnSpPr/>
          <p:nvPr/>
        </p:nvCxnSpPr>
        <p:spPr>
          <a:xfrm flipH="1" flipV="1">
            <a:off x="10487891" y="5756145"/>
            <a:ext cx="876800" cy="4217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6113480" y="4169229"/>
            <a:ext cx="487243" cy="489035"/>
          </a:xfrm>
          <a:prstGeom prst="straightConnector1">
            <a:avLst/>
          </a:prstGeom>
          <a:ln w="3492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flipV="1">
            <a:off x="10487891" y="4810316"/>
            <a:ext cx="973786" cy="3298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223451" y="3161692"/>
            <a:ext cx="640188" cy="515061"/>
          </a:xfrm>
          <a:prstGeom prst="straightConnector1">
            <a:avLst/>
          </a:prstGeom>
          <a:ln w="34925">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10487891" y="6177879"/>
            <a:ext cx="872836" cy="566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2" name="Table 21"/>
          <p:cNvGraphicFramePr>
            <a:graphicFrameLocks noGrp="1"/>
          </p:cNvGraphicFramePr>
          <p:nvPr>
            <p:extLst>
              <p:ext uri="{D42A27DB-BD31-4B8C-83A1-F6EECF244321}">
                <p14:modId xmlns:p14="http://schemas.microsoft.com/office/powerpoint/2010/main" val="1098992371"/>
              </p:ext>
            </p:extLst>
          </p:nvPr>
        </p:nvGraphicFramePr>
        <p:xfrm>
          <a:off x="904911" y="2244662"/>
          <a:ext cx="2862876" cy="670560"/>
        </p:xfrm>
        <a:graphic>
          <a:graphicData uri="http://schemas.openxmlformats.org/drawingml/2006/table">
            <a:tbl>
              <a:tblPr firstRow="1" bandRow="1">
                <a:tableStyleId>{5940675A-B579-460E-94D1-54222C63F5DA}</a:tableStyleId>
              </a:tblPr>
              <a:tblGrid>
                <a:gridCol w="1042702">
                  <a:extLst>
                    <a:ext uri="{9D8B030D-6E8A-4147-A177-3AD203B41FA5}">
                      <a16:colId xmlns:a16="http://schemas.microsoft.com/office/drawing/2014/main" val="2815465670"/>
                    </a:ext>
                  </a:extLst>
                </a:gridCol>
                <a:gridCol w="733245">
                  <a:extLst>
                    <a:ext uri="{9D8B030D-6E8A-4147-A177-3AD203B41FA5}">
                      <a16:colId xmlns:a16="http://schemas.microsoft.com/office/drawing/2014/main" val="3307169097"/>
                    </a:ext>
                  </a:extLst>
                </a:gridCol>
                <a:gridCol w="1086929">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bg1">
                        <a:lumMod val="75000"/>
                      </a:schemeClr>
                    </a:solidFill>
                  </a:tcPr>
                </a:tc>
                <a:tc>
                  <a:txBody>
                    <a:bodyPr/>
                    <a:lstStyle/>
                    <a:p>
                      <a:pPr algn="ctr"/>
                      <a:r>
                        <a:rPr lang="sv-SE" sz="1600" b="1" dirty="0"/>
                        <a:t>Kg</a:t>
                      </a:r>
                      <a:endParaRPr lang="en-GB" sz="1600" b="1" dirty="0"/>
                    </a:p>
                  </a:txBody>
                  <a:tcPr>
                    <a:solidFill>
                      <a:schemeClr val="bg1">
                        <a:lumMod val="75000"/>
                      </a:schemeClr>
                    </a:solidFill>
                  </a:tcPr>
                </a:tc>
                <a:tc>
                  <a:txBody>
                    <a:bodyPr/>
                    <a:lstStyle/>
                    <a:p>
                      <a:pPr algn="ctr"/>
                      <a:r>
                        <a:rPr lang="sv-SE" sz="1600" b="1" dirty="0" err="1"/>
                        <a:t>Number</a:t>
                      </a:r>
                      <a:endParaRPr lang="en-GB" sz="1600" b="1" dirty="0"/>
                    </a:p>
                  </a:txBody>
                  <a:tcPr>
                    <a:solidFill>
                      <a:schemeClr val="bg1">
                        <a:lumMod val="75000"/>
                      </a:schemeClr>
                    </a:solidFill>
                  </a:tcPr>
                </a:tc>
                <a:extLst>
                  <a:ext uri="{0D108BD9-81ED-4DB2-BD59-A6C34878D82A}">
                    <a16:rowId xmlns:a16="http://schemas.microsoft.com/office/drawing/2014/main" val="3362119261"/>
                  </a:ext>
                </a:extLst>
              </a:tr>
              <a:tr h="192881">
                <a:tc>
                  <a:txBody>
                    <a:bodyPr/>
                    <a:lstStyle/>
                    <a:p>
                      <a:r>
                        <a:rPr lang="sv-SE" sz="1600" dirty="0" err="1"/>
                        <a:t>Cod</a:t>
                      </a:r>
                      <a:endParaRPr lang="en-GB" sz="1600" dirty="0"/>
                    </a:p>
                  </a:txBody>
                  <a:tcPr/>
                </a:tc>
                <a:tc>
                  <a:txBody>
                    <a:bodyPr/>
                    <a:lstStyle/>
                    <a:p>
                      <a:pPr algn="ctr"/>
                      <a:r>
                        <a:rPr lang="sv-SE" sz="1600" dirty="0"/>
                        <a:t>200</a:t>
                      </a:r>
                      <a:endParaRPr lang="en-GB" sz="1600" dirty="0"/>
                    </a:p>
                  </a:txBody>
                  <a:tcPr/>
                </a:tc>
                <a:tc>
                  <a:txBody>
                    <a:bodyPr/>
                    <a:lstStyle/>
                    <a:p>
                      <a:pPr algn="ctr"/>
                      <a:r>
                        <a:rPr lang="en-GB" sz="1600" dirty="0"/>
                        <a:t>420</a:t>
                      </a:r>
                    </a:p>
                  </a:txBody>
                  <a:tcPr/>
                </a:tc>
                <a:extLst>
                  <a:ext uri="{0D108BD9-81ED-4DB2-BD59-A6C34878D82A}">
                    <a16:rowId xmlns:a16="http://schemas.microsoft.com/office/drawing/2014/main" val="3375731275"/>
                  </a:ext>
                </a:extLst>
              </a:tr>
            </a:tbl>
          </a:graphicData>
        </a:graphic>
      </p:graphicFrame>
      <p:sp>
        <p:nvSpPr>
          <p:cNvPr id="24" name="TextBox 23"/>
          <p:cNvSpPr txBox="1"/>
          <p:nvPr/>
        </p:nvSpPr>
        <p:spPr>
          <a:xfrm>
            <a:off x="838200" y="1860109"/>
            <a:ext cx="4000711" cy="369332"/>
          </a:xfrm>
          <a:prstGeom prst="rect">
            <a:avLst/>
          </a:prstGeom>
          <a:noFill/>
        </p:spPr>
        <p:txBody>
          <a:bodyPr wrap="none" rtlCol="0">
            <a:spAutoFit/>
          </a:bodyPr>
          <a:lstStyle/>
          <a:p>
            <a:r>
              <a:rPr lang="en-US" dirty="0"/>
              <a:t>Field records and national database/RDB</a:t>
            </a:r>
          </a:p>
        </p:txBody>
      </p:sp>
      <p:cxnSp>
        <p:nvCxnSpPr>
          <p:cNvPr id="25" name="Straight Arrow Connector 24"/>
          <p:cNvCxnSpPr/>
          <p:nvPr/>
        </p:nvCxnSpPr>
        <p:spPr>
          <a:xfrm flipH="1" flipV="1">
            <a:off x="10561607" y="5118689"/>
            <a:ext cx="894193" cy="411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30" name="Table 29"/>
          <p:cNvGraphicFramePr>
            <a:graphicFrameLocks noGrp="1"/>
          </p:cNvGraphicFramePr>
          <p:nvPr>
            <p:extLst>
              <p:ext uri="{D42A27DB-BD31-4B8C-83A1-F6EECF244321}">
                <p14:modId xmlns:p14="http://schemas.microsoft.com/office/powerpoint/2010/main" val="3685596200"/>
              </p:ext>
            </p:extLst>
          </p:nvPr>
        </p:nvGraphicFramePr>
        <p:xfrm>
          <a:off x="3131597" y="3632099"/>
          <a:ext cx="2862876" cy="670560"/>
        </p:xfrm>
        <a:graphic>
          <a:graphicData uri="http://schemas.openxmlformats.org/drawingml/2006/table">
            <a:tbl>
              <a:tblPr firstRow="1" bandRow="1">
                <a:tableStyleId>{5940675A-B579-460E-94D1-54222C63F5DA}</a:tableStyleId>
              </a:tblPr>
              <a:tblGrid>
                <a:gridCol w="1042702">
                  <a:extLst>
                    <a:ext uri="{9D8B030D-6E8A-4147-A177-3AD203B41FA5}">
                      <a16:colId xmlns:a16="http://schemas.microsoft.com/office/drawing/2014/main" val="2815465670"/>
                    </a:ext>
                  </a:extLst>
                </a:gridCol>
                <a:gridCol w="733245">
                  <a:extLst>
                    <a:ext uri="{9D8B030D-6E8A-4147-A177-3AD203B41FA5}">
                      <a16:colId xmlns:a16="http://schemas.microsoft.com/office/drawing/2014/main" val="3307169097"/>
                    </a:ext>
                  </a:extLst>
                </a:gridCol>
                <a:gridCol w="1086929">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sv-SE" sz="1600" b="1" dirty="0"/>
                        <a:t>Kg</a:t>
                      </a:r>
                      <a:endParaRPr lang="en-GB" sz="1600" b="1" dirty="0"/>
                    </a:p>
                  </a:txBody>
                  <a:tcPr>
                    <a:solidFill>
                      <a:schemeClr val="accent1">
                        <a:lumMod val="60000"/>
                        <a:lumOff val="40000"/>
                      </a:schemeClr>
                    </a:solidFill>
                  </a:tcPr>
                </a:tc>
                <a:tc>
                  <a:txBody>
                    <a:bodyPr/>
                    <a:lstStyle/>
                    <a:p>
                      <a:pPr algn="ctr"/>
                      <a:r>
                        <a:rPr lang="sv-SE" sz="1600" b="1" dirty="0" err="1"/>
                        <a:t>Number</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sv-SE" sz="1600" dirty="0" err="1"/>
                        <a:t>Cod</a:t>
                      </a:r>
                      <a:endParaRPr lang="en-GB" sz="1600" dirty="0"/>
                    </a:p>
                  </a:txBody>
                  <a:tcPr/>
                </a:tc>
                <a:tc>
                  <a:txBody>
                    <a:bodyPr/>
                    <a:lstStyle/>
                    <a:p>
                      <a:pPr algn="ctr"/>
                      <a:r>
                        <a:rPr lang="sv-SE" sz="1600" dirty="0"/>
                        <a:t>200</a:t>
                      </a:r>
                      <a:endParaRPr lang="en-GB" sz="1600" dirty="0"/>
                    </a:p>
                  </a:txBody>
                  <a:tcPr/>
                </a:tc>
                <a:tc>
                  <a:txBody>
                    <a:bodyPr/>
                    <a:lstStyle/>
                    <a:p>
                      <a:pPr algn="ctr"/>
                      <a:r>
                        <a:rPr lang="en-GB" sz="1600" dirty="0"/>
                        <a:t>420</a:t>
                      </a:r>
                    </a:p>
                  </a:txBody>
                  <a:tcPr/>
                </a:tc>
                <a:extLst>
                  <a:ext uri="{0D108BD9-81ED-4DB2-BD59-A6C34878D82A}">
                    <a16:rowId xmlns:a16="http://schemas.microsoft.com/office/drawing/2014/main" val="3375731275"/>
                  </a:ext>
                </a:extLst>
              </a:tr>
            </a:tbl>
          </a:graphicData>
        </a:graphic>
      </p:graphicFrame>
      <p:sp>
        <p:nvSpPr>
          <p:cNvPr id="31" name="TextBox 30"/>
          <p:cNvSpPr txBox="1"/>
          <p:nvPr/>
        </p:nvSpPr>
        <p:spPr>
          <a:xfrm>
            <a:off x="3012590" y="3262767"/>
            <a:ext cx="1791581" cy="369332"/>
          </a:xfrm>
          <a:prstGeom prst="rect">
            <a:avLst/>
          </a:prstGeom>
          <a:noFill/>
        </p:spPr>
        <p:txBody>
          <a:bodyPr wrap="none" rtlCol="0">
            <a:spAutoFit/>
          </a:bodyPr>
          <a:lstStyle/>
          <a:p>
            <a:r>
              <a:rPr lang="en-US" b="1" dirty="0"/>
              <a:t>RDBES (SA table)</a:t>
            </a:r>
          </a:p>
        </p:txBody>
      </p:sp>
      <p:sp>
        <p:nvSpPr>
          <p:cNvPr id="33" name="TextBox 32"/>
          <p:cNvSpPr txBox="1"/>
          <p:nvPr/>
        </p:nvSpPr>
        <p:spPr>
          <a:xfrm>
            <a:off x="4448875" y="4335743"/>
            <a:ext cx="338554" cy="461665"/>
          </a:xfrm>
          <a:prstGeom prst="rect">
            <a:avLst/>
          </a:prstGeom>
          <a:noFill/>
        </p:spPr>
        <p:txBody>
          <a:bodyPr wrap="none" rtlCol="0">
            <a:spAutoFit/>
          </a:bodyPr>
          <a:lstStyle/>
          <a:p>
            <a:r>
              <a:rPr lang="en-US" sz="2400" b="1" dirty="0"/>
              <a:t>+</a:t>
            </a:r>
          </a:p>
        </p:txBody>
      </p:sp>
      <p:cxnSp>
        <p:nvCxnSpPr>
          <p:cNvPr id="36" name="Straight Arrow Connector 35"/>
          <p:cNvCxnSpPr/>
          <p:nvPr/>
        </p:nvCxnSpPr>
        <p:spPr>
          <a:xfrm flipV="1">
            <a:off x="6096000" y="5092995"/>
            <a:ext cx="467603" cy="562966"/>
          </a:xfrm>
          <a:prstGeom prst="straightConnector1">
            <a:avLst/>
          </a:prstGeom>
          <a:ln w="34925">
            <a:tailEnd type="triangle"/>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6707908" y="3320067"/>
            <a:ext cx="3774106" cy="338403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6753910" y="3318690"/>
            <a:ext cx="2699265" cy="369332"/>
          </a:xfrm>
          <a:prstGeom prst="rect">
            <a:avLst/>
          </a:prstGeom>
          <a:noFill/>
        </p:spPr>
        <p:txBody>
          <a:bodyPr wrap="none" rtlCol="0">
            <a:spAutoFit/>
          </a:bodyPr>
          <a:lstStyle/>
          <a:p>
            <a:r>
              <a:rPr lang="en-US" b="1" dirty="0"/>
              <a:t>RDBES (during estimation)</a:t>
            </a:r>
          </a:p>
        </p:txBody>
      </p:sp>
      <p:sp>
        <p:nvSpPr>
          <p:cNvPr id="45" name="Rectangle 44"/>
          <p:cNvSpPr/>
          <p:nvPr/>
        </p:nvSpPr>
        <p:spPr>
          <a:xfrm>
            <a:off x="858977" y="1860109"/>
            <a:ext cx="3928452"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8517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Motivation example 2</a:t>
            </a:r>
            <a:endParaRPr lang="sv-SE" dirty="0"/>
          </a:p>
        </p:txBody>
      </p:sp>
      <p:sp>
        <p:nvSpPr>
          <p:cNvPr id="3" name="Content Placeholder 2"/>
          <p:cNvSpPr>
            <a:spLocks noGrp="1"/>
          </p:cNvSpPr>
          <p:nvPr>
            <p:ph idx="1"/>
          </p:nvPr>
        </p:nvSpPr>
        <p:spPr/>
        <p:txBody>
          <a:bodyPr/>
          <a:lstStyle/>
          <a:p>
            <a:pPr lvl="1"/>
            <a:r>
              <a:rPr lang="en-US" dirty="0"/>
              <a:t>In country A observers go to a market and sampled one landing. Scientific taxa are sorted into boxes with commercial names. </a:t>
            </a:r>
            <a:endParaRPr lang="sv-SE" dirty="0"/>
          </a:p>
        </p:txBody>
      </p:sp>
      <p:graphicFrame>
        <p:nvGraphicFramePr>
          <p:cNvPr id="4" name="Table 3"/>
          <p:cNvGraphicFramePr>
            <a:graphicFrameLocks noGrp="1"/>
          </p:cNvGraphicFramePr>
          <p:nvPr/>
        </p:nvGraphicFramePr>
        <p:xfrm>
          <a:off x="2284238" y="3288159"/>
          <a:ext cx="7025947" cy="670560"/>
        </p:xfrm>
        <a:graphic>
          <a:graphicData uri="http://schemas.openxmlformats.org/drawingml/2006/table">
            <a:tbl>
              <a:tblPr firstRow="1" bandRow="1">
                <a:tableStyleId>{5940675A-B579-460E-94D1-54222C63F5DA}</a:tableStyleId>
              </a:tblPr>
              <a:tblGrid>
                <a:gridCol w="1813878">
                  <a:extLst>
                    <a:ext uri="{9D8B030D-6E8A-4147-A177-3AD203B41FA5}">
                      <a16:colId xmlns:a16="http://schemas.microsoft.com/office/drawing/2014/main" val="2815465670"/>
                    </a:ext>
                  </a:extLst>
                </a:gridCol>
                <a:gridCol w="1228511">
                  <a:extLst>
                    <a:ext uri="{9D8B030D-6E8A-4147-A177-3AD203B41FA5}">
                      <a16:colId xmlns:a16="http://schemas.microsoft.com/office/drawing/2014/main" val="3151269377"/>
                    </a:ext>
                  </a:extLst>
                </a:gridCol>
                <a:gridCol w="1674409">
                  <a:extLst>
                    <a:ext uri="{9D8B030D-6E8A-4147-A177-3AD203B41FA5}">
                      <a16:colId xmlns:a16="http://schemas.microsoft.com/office/drawing/2014/main" val="3307169097"/>
                    </a:ext>
                  </a:extLst>
                </a:gridCol>
                <a:gridCol w="2309149">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err="1"/>
                        <a:t>CatchCateg</a:t>
                      </a:r>
                      <a:endParaRPr lang="en-GB" sz="1600" b="1" dirty="0"/>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i="1" dirty="0" err="1"/>
                        <a:t>Lophius</a:t>
                      </a:r>
                      <a:r>
                        <a:rPr lang="en-US" sz="1600" i="1" baseline="0" dirty="0"/>
                        <a:t> </a:t>
                      </a:r>
                      <a:r>
                        <a:rPr lang="en-US" sz="1600" i="1" baseline="0" dirty="0" err="1"/>
                        <a:t>piscatorius</a:t>
                      </a:r>
                      <a:endParaRPr lang="en-GB" sz="1600" dirty="0"/>
                    </a:p>
                  </a:txBody>
                  <a:tcPr/>
                </a:tc>
                <a:tc>
                  <a:txBody>
                    <a:bodyPr/>
                    <a:lstStyle/>
                    <a:p>
                      <a:pPr algn="ctr"/>
                      <a:r>
                        <a:rPr lang="en-GB" sz="1600" dirty="0"/>
                        <a:t>Lan</a:t>
                      </a:r>
                    </a:p>
                  </a:txBody>
                  <a:tcPr/>
                </a:tc>
                <a:tc>
                  <a:txBody>
                    <a:bodyPr/>
                    <a:lstStyle/>
                    <a:p>
                      <a:pPr algn="ctr"/>
                      <a:r>
                        <a:rPr lang="sv-SE" sz="1600" dirty="0"/>
                        <a:t>100</a:t>
                      </a:r>
                      <a:endParaRPr lang="en-GB" sz="1600" dirty="0"/>
                    </a:p>
                  </a:txBody>
                  <a:tcPr/>
                </a:tc>
                <a:tc>
                  <a:txBody>
                    <a:bodyPr/>
                    <a:lstStyle/>
                    <a:p>
                      <a:pPr algn="ctr"/>
                      <a:r>
                        <a:rPr lang="en-GB" sz="1600" dirty="0"/>
                        <a:t>100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4303044" y="4750847"/>
            <a:ext cx="7206012" cy="1477328"/>
          </a:xfrm>
          <a:prstGeom prst="rect">
            <a:avLst/>
          </a:prstGeom>
          <a:solidFill>
            <a:srgbClr val="FFC000"/>
          </a:solidFill>
          <a:ln>
            <a:solidFill>
              <a:schemeClr val="tx1"/>
            </a:solidFill>
          </a:ln>
        </p:spPr>
        <p:txBody>
          <a:bodyPr wrap="none" rtlCol="0">
            <a:spAutoFit/>
          </a:bodyPr>
          <a:lstStyle/>
          <a:p>
            <a:r>
              <a:rPr lang="en-US" dirty="0"/>
              <a:t>Typical questions from data users: </a:t>
            </a:r>
          </a:p>
          <a:p>
            <a:pPr marL="285750" indent="-285750">
              <a:buFontTx/>
              <a:buChar char="-"/>
            </a:pPr>
            <a:r>
              <a:rPr lang="en-US" dirty="0"/>
              <a:t>Are we sure there was no </a:t>
            </a:r>
            <a:r>
              <a:rPr lang="en-US" i="1" dirty="0" err="1"/>
              <a:t>Lophius</a:t>
            </a:r>
            <a:r>
              <a:rPr lang="en-US" i="1" dirty="0"/>
              <a:t> </a:t>
            </a:r>
            <a:r>
              <a:rPr lang="en-US" i="1" dirty="0" err="1"/>
              <a:t>budegassa</a:t>
            </a:r>
            <a:r>
              <a:rPr lang="en-US" i="1" dirty="0"/>
              <a:t> </a:t>
            </a:r>
            <a:r>
              <a:rPr lang="en-US" dirty="0"/>
              <a:t>in the  landing? </a:t>
            </a:r>
          </a:p>
          <a:p>
            <a:pPr marL="742950" lvl="1" indent="-285750">
              <a:buFontTx/>
              <a:buChar char="-"/>
            </a:pPr>
            <a:r>
              <a:rPr lang="en-US" dirty="0"/>
              <a:t>i.e., </a:t>
            </a:r>
            <a:r>
              <a:rPr lang="en-US" i="1" dirty="0" err="1"/>
              <a:t>Lophius</a:t>
            </a:r>
            <a:r>
              <a:rPr lang="en-US" i="1" dirty="0"/>
              <a:t> </a:t>
            </a:r>
            <a:r>
              <a:rPr lang="en-US" i="1" dirty="0" err="1"/>
              <a:t>budegassa</a:t>
            </a:r>
            <a:r>
              <a:rPr lang="en-US" i="1" dirty="0"/>
              <a:t> == 0 kg</a:t>
            </a:r>
            <a:r>
              <a:rPr lang="en-US" dirty="0"/>
              <a:t> </a:t>
            </a:r>
          </a:p>
          <a:p>
            <a:pPr marL="285750" indent="-285750">
              <a:buFontTx/>
              <a:buChar char="-"/>
            </a:pPr>
            <a:r>
              <a:rPr lang="en-US" dirty="0"/>
              <a:t>Or could it be that observers only aimed to sample </a:t>
            </a:r>
            <a:r>
              <a:rPr lang="en-US" i="1" dirty="0" err="1"/>
              <a:t>Lophius</a:t>
            </a:r>
            <a:r>
              <a:rPr lang="en-US" i="1" dirty="0"/>
              <a:t> </a:t>
            </a:r>
            <a:r>
              <a:rPr lang="en-US" i="1" dirty="0" err="1"/>
              <a:t>piscatorius</a:t>
            </a:r>
            <a:r>
              <a:rPr lang="en-US" i="1" dirty="0"/>
              <a:t>? </a:t>
            </a:r>
          </a:p>
          <a:p>
            <a:pPr marL="742950" lvl="1" indent="-285750">
              <a:buFontTx/>
              <a:buChar char="-"/>
            </a:pPr>
            <a:r>
              <a:rPr lang="en-US" dirty="0"/>
              <a:t>i.e., </a:t>
            </a:r>
            <a:r>
              <a:rPr lang="en-US" i="1" dirty="0" err="1"/>
              <a:t>Lophius</a:t>
            </a:r>
            <a:r>
              <a:rPr lang="en-US" i="1" dirty="0"/>
              <a:t> </a:t>
            </a:r>
            <a:r>
              <a:rPr lang="en-US" i="1" dirty="0" err="1"/>
              <a:t>budegassa</a:t>
            </a:r>
            <a:r>
              <a:rPr lang="en-US" i="1" dirty="0"/>
              <a:t> == NA kg</a:t>
            </a:r>
            <a:r>
              <a:rPr lang="en-US" dirty="0"/>
              <a:t> </a:t>
            </a:r>
            <a:endParaRPr lang="en-GB" dirty="0"/>
          </a:p>
        </p:txBody>
      </p:sp>
      <p:sp>
        <p:nvSpPr>
          <p:cNvPr id="6" name="TextBox 5"/>
          <p:cNvSpPr txBox="1"/>
          <p:nvPr/>
        </p:nvSpPr>
        <p:spPr>
          <a:xfrm>
            <a:off x="2155371" y="2935074"/>
            <a:ext cx="7450768"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176147" y="2935074"/>
            <a:ext cx="7316195"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5064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576" y="302433"/>
            <a:ext cx="10515600" cy="1325563"/>
          </a:xfrm>
        </p:spPr>
        <p:txBody>
          <a:bodyPr/>
          <a:lstStyle/>
          <a:p>
            <a:r>
              <a:rPr lang="sv-SE" dirty="0" err="1"/>
              <a:t>How</a:t>
            </a:r>
            <a:r>
              <a:rPr lang="sv-SE" dirty="0"/>
              <a:t> RDBES </a:t>
            </a:r>
            <a:r>
              <a:rPr lang="sv-SE" dirty="0" err="1"/>
              <a:t>will</a:t>
            </a:r>
            <a:r>
              <a:rPr lang="sv-SE" dirty="0"/>
              <a:t> </a:t>
            </a:r>
            <a:r>
              <a:rPr lang="sv-SE" dirty="0" err="1"/>
              <a:t>differentiate</a:t>
            </a:r>
            <a:r>
              <a:rPr lang="sv-SE" dirty="0"/>
              <a:t> </a:t>
            </a:r>
            <a:r>
              <a:rPr lang="sv-SE" dirty="0" err="1"/>
              <a:t>true</a:t>
            </a:r>
            <a:r>
              <a:rPr lang="sv-SE" dirty="0"/>
              <a:t> 0s and NAs</a:t>
            </a:r>
          </a:p>
        </p:txBody>
      </p:sp>
      <p:graphicFrame>
        <p:nvGraphicFramePr>
          <p:cNvPr id="4" name="Table 3"/>
          <p:cNvGraphicFramePr>
            <a:graphicFrameLocks noGrp="1"/>
          </p:cNvGraphicFramePr>
          <p:nvPr>
            <p:extLst>
              <p:ext uri="{D42A27DB-BD31-4B8C-83A1-F6EECF244321}">
                <p14:modId xmlns:p14="http://schemas.microsoft.com/office/powerpoint/2010/main" val="1618208168"/>
              </p:ext>
            </p:extLst>
          </p:nvPr>
        </p:nvGraphicFramePr>
        <p:xfrm>
          <a:off x="614335" y="3642537"/>
          <a:ext cx="8465712" cy="872744"/>
        </p:xfrm>
        <a:graphic>
          <a:graphicData uri="http://schemas.openxmlformats.org/drawingml/2006/table">
            <a:tbl>
              <a:tblPr firstRow="1" firstCol="1" bandRow="1">
                <a:tableStyleId>{5C22544A-7EE6-4342-B048-85BDC9FD1C3A}</a:tableStyleId>
              </a:tblPr>
              <a:tblGrid>
                <a:gridCol w="2116428">
                  <a:extLst>
                    <a:ext uri="{9D8B030D-6E8A-4147-A177-3AD203B41FA5}">
                      <a16:colId xmlns:a16="http://schemas.microsoft.com/office/drawing/2014/main" val="1679101541"/>
                    </a:ext>
                  </a:extLst>
                </a:gridCol>
                <a:gridCol w="2116428">
                  <a:extLst>
                    <a:ext uri="{9D8B030D-6E8A-4147-A177-3AD203B41FA5}">
                      <a16:colId xmlns:a16="http://schemas.microsoft.com/office/drawing/2014/main" val="1318554904"/>
                    </a:ext>
                  </a:extLst>
                </a:gridCol>
                <a:gridCol w="2116428">
                  <a:extLst>
                    <a:ext uri="{9D8B030D-6E8A-4147-A177-3AD203B41FA5}">
                      <a16:colId xmlns:a16="http://schemas.microsoft.com/office/drawing/2014/main" val="2678661285"/>
                    </a:ext>
                  </a:extLst>
                </a:gridCol>
                <a:gridCol w="2116428">
                  <a:extLst>
                    <a:ext uri="{9D8B030D-6E8A-4147-A177-3AD203B41FA5}">
                      <a16:colId xmlns:a16="http://schemas.microsoft.com/office/drawing/2014/main" val="3905078752"/>
                    </a:ext>
                  </a:extLst>
                </a:gridCol>
              </a:tblGrid>
              <a:tr h="0">
                <a:tc>
                  <a:txBody>
                    <a:bodyPr/>
                    <a:lstStyle/>
                    <a:p>
                      <a:pPr algn="ctr">
                        <a:lnSpc>
                          <a:spcPct val="107000"/>
                        </a:lnSpc>
                        <a:spcAft>
                          <a:spcPts val="0"/>
                        </a:spcAft>
                      </a:pPr>
                      <a:r>
                        <a:rPr lang="en-GB" sz="1400" dirty="0" err="1">
                          <a:solidFill>
                            <a:sysClr val="windowText" lastClr="000000"/>
                          </a:solidFill>
                          <a:effectLst/>
                        </a:rPr>
                        <a:t>SLid</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ctr" defTabSz="914400" rtl="0" eaLnBrk="1" latinLnBrk="0" hangingPunct="1">
                        <a:lnSpc>
                          <a:spcPct val="107000"/>
                        </a:lnSpc>
                        <a:spcAft>
                          <a:spcPts val="0"/>
                        </a:spcAft>
                      </a:pPr>
                      <a:r>
                        <a:rPr lang="sv-SE" sz="1400" b="1" kern="1200" dirty="0" err="1">
                          <a:solidFill>
                            <a:sysClr val="windowText" lastClr="000000"/>
                          </a:solidFill>
                          <a:effectLst/>
                          <a:latin typeface="+mn-lt"/>
                          <a:ea typeface="+mn-ea"/>
                          <a:cs typeface="+mn-cs"/>
                        </a:rPr>
                        <a:t>SLcatchFraction</a:t>
                      </a:r>
                      <a:endParaRPr lang="sv-SE" sz="1400" b="1" kern="1200" dirty="0">
                        <a:solidFill>
                          <a:sysClr val="windowText" lastClr="000000"/>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SLcommercialTaxon</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SLspeciesCode</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52217015"/>
                  </a:ext>
                </a:extLst>
              </a:tr>
              <a:tr h="0">
                <a:tc>
                  <a:txBody>
                    <a:bodyPr/>
                    <a:lstStyle/>
                    <a:p>
                      <a:pPr algn="ctr">
                        <a:lnSpc>
                          <a:spcPct val="107000"/>
                        </a:lnSpc>
                        <a:spcAft>
                          <a:spcPts val="0"/>
                        </a:spcAft>
                      </a:pPr>
                      <a:r>
                        <a:rPr lang="en-GB" sz="1400" dirty="0">
                          <a:solidFill>
                            <a:sysClr val="windowText" lastClr="000000"/>
                          </a:solidFill>
                          <a:effectLst/>
                        </a:rPr>
                        <a:t>1</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0"/>
                        </a:spcAft>
                      </a:pPr>
                      <a:r>
                        <a:rPr lang="en-US" sz="1400" b="1" kern="1200" dirty="0">
                          <a:solidFill>
                            <a:sysClr val="windowText" lastClr="000000"/>
                          </a:solidFill>
                          <a:latin typeface="+mn-lt"/>
                          <a:ea typeface="+mn-ea"/>
                          <a:cs typeface="+mn-cs"/>
                        </a:rPr>
                        <a:t>Lan</a:t>
                      </a:r>
                      <a:endParaRPr lang="sv-SE" sz="1400" b="1" kern="1200" dirty="0">
                        <a:solidFill>
                          <a:sysClr val="windowText" lastClr="000000"/>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sv-SE" sz="1400" b="1" i="1" dirty="0" err="1">
                          <a:solidFill>
                            <a:sysClr val="windowText" lastClr="000000"/>
                          </a:solidFill>
                        </a:rPr>
                        <a:t>Lophius</a:t>
                      </a:r>
                      <a:r>
                        <a:rPr lang="sv-SE" sz="1400" b="1" dirty="0">
                          <a:solidFill>
                            <a:sysClr val="windowText" lastClr="000000"/>
                          </a:solidFill>
                        </a:rPr>
                        <a:t> (125802)</a:t>
                      </a:r>
                      <a:endParaRPr lang="sv-SE"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dirty="0">
                          <a:solidFill>
                            <a:sysClr val="windowText" lastClr="000000"/>
                          </a:solidFill>
                          <a:effectLst/>
                        </a:rPr>
                        <a:t>L. </a:t>
                      </a:r>
                      <a:r>
                        <a:rPr lang="en-GB" sz="1400" i="1" dirty="0" err="1">
                          <a:solidFill>
                            <a:sysClr val="windowText" lastClr="000000"/>
                          </a:solidFill>
                          <a:effectLst/>
                        </a:rPr>
                        <a:t>budegassa</a:t>
                      </a:r>
                      <a:r>
                        <a:rPr lang="en-GB" sz="1400" dirty="0">
                          <a:solidFill>
                            <a:sysClr val="windowText" lastClr="000000"/>
                          </a:solidFill>
                          <a:effectLst/>
                        </a:rPr>
                        <a:t> (126554)</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0320686"/>
                  </a:ext>
                </a:extLst>
              </a:tr>
              <a:tr h="0">
                <a:tc>
                  <a:txBody>
                    <a:bodyPr/>
                    <a:lstStyle/>
                    <a:p>
                      <a:pPr algn="ctr">
                        <a:lnSpc>
                          <a:spcPct val="107000"/>
                        </a:lnSpc>
                        <a:spcAft>
                          <a:spcPts val="0"/>
                        </a:spcAft>
                      </a:pPr>
                      <a:r>
                        <a:rPr lang="en-GB" sz="1400">
                          <a:solidFill>
                            <a:sysClr val="windowText" lastClr="000000"/>
                          </a:solidFill>
                          <a:effectLst/>
                        </a:rPr>
                        <a:t>2</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0"/>
                        </a:spcAft>
                      </a:pPr>
                      <a:r>
                        <a:rPr lang="en-US" sz="1400" b="1" kern="1200" dirty="0">
                          <a:solidFill>
                            <a:sysClr val="windowText" lastClr="000000"/>
                          </a:solidFill>
                          <a:latin typeface="+mn-lt"/>
                          <a:ea typeface="+mn-ea"/>
                          <a:cs typeface="+mn-cs"/>
                        </a:rPr>
                        <a:t>Lan</a:t>
                      </a:r>
                      <a:endParaRPr lang="sv-SE" sz="1400" b="1" kern="1200" dirty="0">
                        <a:solidFill>
                          <a:sysClr val="windowText" lastClr="000000"/>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sv-SE" sz="1400" b="1" i="1" dirty="0" err="1">
                          <a:solidFill>
                            <a:sysClr val="windowText" lastClr="000000"/>
                          </a:solidFill>
                        </a:rPr>
                        <a:t>Lophius</a:t>
                      </a:r>
                      <a:r>
                        <a:rPr lang="sv-SE" sz="1400" b="1" dirty="0">
                          <a:solidFill>
                            <a:sysClr val="windowText" lastClr="000000"/>
                          </a:solidFill>
                        </a:rPr>
                        <a:t> (125802)</a:t>
                      </a:r>
                      <a:endParaRPr lang="sv-SE"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dirty="0">
                          <a:solidFill>
                            <a:sysClr val="windowText" lastClr="000000"/>
                          </a:solidFill>
                          <a:effectLst/>
                        </a:rPr>
                        <a:t>L. </a:t>
                      </a:r>
                      <a:r>
                        <a:rPr lang="en-GB" sz="1400" i="1" dirty="0" err="1">
                          <a:solidFill>
                            <a:sysClr val="windowText" lastClr="000000"/>
                          </a:solidFill>
                          <a:effectLst/>
                        </a:rPr>
                        <a:t>piscatorius</a:t>
                      </a:r>
                      <a:r>
                        <a:rPr lang="en-GB" sz="1400" dirty="0">
                          <a:solidFill>
                            <a:sysClr val="windowText" lastClr="000000"/>
                          </a:solidFill>
                          <a:effectLst/>
                        </a:rPr>
                        <a:t> (126555)</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628527"/>
                  </a:ext>
                </a:extLst>
              </a:tr>
              <a:tr h="0">
                <a:tc>
                  <a:txBody>
                    <a:bodyPr/>
                    <a:lstStyle/>
                    <a:p>
                      <a:pPr algn="ctr">
                        <a:lnSpc>
                          <a:spcPct val="107000"/>
                        </a:lnSpc>
                        <a:spcAft>
                          <a:spcPts val="0"/>
                        </a:spcAft>
                      </a:pPr>
                      <a:r>
                        <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0"/>
                        </a:spcAft>
                      </a:pPr>
                      <a:r>
                        <a:rPr lang="sv-SE" sz="1400" b="1" kern="1200" dirty="0">
                          <a:solidFill>
                            <a:sysClr val="windowText" lastClr="000000"/>
                          </a:solidFill>
                          <a:latin typeface="+mn-lt"/>
                          <a:ea typeface="+mn-ea"/>
                          <a:cs typeface="+mn-cs"/>
                        </a:rPr>
                        <a:t>Lan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sv-SE" sz="1400" b="1" i="1" dirty="0" err="1">
                          <a:solidFill>
                            <a:sysClr val="windowText" lastClr="000000"/>
                          </a:solidFill>
                        </a:rPr>
                        <a:t>Lophius</a:t>
                      </a:r>
                      <a:r>
                        <a:rPr lang="sv-SE" sz="1400" b="1" dirty="0">
                          <a:solidFill>
                            <a:sysClr val="windowText" lastClr="000000"/>
                          </a:solidFill>
                        </a:rPr>
                        <a:t> (125802)</a:t>
                      </a:r>
                      <a:endParaRPr lang="sv-SE"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400" i="1" dirty="0" err="1"/>
                        <a:t>Lophius</a:t>
                      </a:r>
                      <a:r>
                        <a:rPr lang="en-GB" sz="1400" i="1" dirty="0"/>
                        <a:t> (</a:t>
                      </a:r>
                      <a:r>
                        <a:rPr lang="sv-SE" sz="1400" dirty="0">
                          <a:solidFill>
                            <a:sysClr val="windowText" lastClr="000000"/>
                          </a:solidFill>
                        </a:rPr>
                        <a:t>125802</a:t>
                      </a:r>
                      <a:r>
                        <a:rPr lang="en-GB" sz="1400" i="1" dirty="0"/>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503660"/>
                  </a:ext>
                </a:extLst>
              </a:tr>
            </a:tbl>
          </a:graphicData>
        </a:graphic>
      </p:graphicFrame>
      <p:sp>
        <p:nvSpPr>
          <p:cNvPr id="5" name="Rectangle 1"/>
          <p:cNvSpPr>
            <a:spLocks noChangeArrowheads="1"/>
          </p:cNvSpPr>
          <p:nvPr/>
        </p:nvSpPr>
        <p:spPr bwMode="auto">
          <a:xfrm>
            <a:off x="614334" y="3292071"/>
            <a:ext cx="186102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Species List (SL via SS):</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205314136"/>
              </p:ext>
            </p:extLst>
          </p:nvPr>
        </p:nvGraphicFramePr>
        <p:xfrm>
          <a:off x="650576" y="1771831"/>
          <a:ext cx="9296717" cy="1127760"/>
        </p:xfrm>
        <a:graphic>
          <a:graphicData uri="http://schemas.openxmlformats.org/drawingml/2006/table">
            <a:tbl>
              <a:tblPr firstRow="1" bandRow="1">
                <a:tableStyleId>{5940675A-B579-460E-94D1-54222C63F5DA}</a:tableStyleId>
              </a:tblPr>
              <a:tblGrid>
                <a:gridCol w="1582840">
                  <a:extLst>
                    <a:ext uri="{9D8B030D-6E8A-4147-A177-3AD203B41FA5}">
                      <a16:colId xmlns:a16="http://schemas.microsoft.com/office/drawing/2014/main" val="1467388772"/>
                    </a:ext>
                  </a:extLst>
                </a:gridCol>
                <a:gridCol w="1582840">
                  <a:extLst>
                    <a:ext uri="{9D8B030D-6E8A-4147-A177-3AD203B41FA5}">
                      <a16:colId xmlns:a16="http://schemas.microsoft.com/office/drawing/2014/main" val="3049682952"/>
                    </a:ext>
                  </a:extLst>
                </a:gridCol>
                <a:gridCol w="2348745">
                  <a:extLst>
                    <a:ext uri="{9D8B030D-6E8A-4147-A177-3AD203B41FA5}">
                      <a16:colId xmlns:a16="http://schemas.microsoft.com/office/drawing/2014/main" val="2815465670"/>
                    </a:ext>
                  </a:extLst>
                </a:gridCol>
                <a:gridCol w="1103619">
                  <a:extLst>
                    <a:ext uri="{9D8B030D-6E8A-4147-A177-3AD203B41FA5}">
                      <a16:colId xmlns:a16="http://schemas.microsoft.com/office/drawing/2014/main" val="3151269377"/>
                    </a:ext>
                  </a:extLst>
                </a:gridCol>
                <a:gridCol w="960709">
                  <a:extLst>
                    <a:ext uri="{9D8B030D-6E8A-4147-A177-3AD203B41FA5}">
                      <a16:colId xmlns:a16="http://schemas.microsoft.com/office/drawing/2014/main" val="3307169097"/>
                    </a:ext>
                  </a:extLst>
                </a:gridCol>
                <a:gridCol w="1717964">
                  <a:extLst>
                    <a:ext uri="{9D8B030D-6E8A-4147-A177-3AD203B41FA5}">
                      <a16:colId xmlns:a16="http://schemas.microsoft.com/office/drawing/2014/main" val="2592601522"/>
                    </a:ext>
                  </a:extLst>
                </a:gridCol>
              </a:tblGrid>
              <a:tr h="192881">
                <a:tc>
                  <a:txBody>
                    <a:bodyPr/>
                    <a:lstStyle/>
                    <a:p>
                      <a:r>
                        <a:rPr lang="en-GB" sz="1400" b="1" dirty="0" err="1"/>
                        <a:t>SAsequenceNumber</a:t>
                      </a:r>
                      <a:endParaRPr lang="en-GB" sz="1400" b="1" dirty="0"/>
                    </a:p>
                  </a:txBody>
                  <a:tcPr>
                    <a:solidFill>
                      <a:schemeClr val="accent1">
                        <a:lumMod val="60000"/>
                        <a:lumOff val="40000"/>
                      </a:schemeClr>
                    </a:solidFill>
                  </a:tcPr>
                </a:tc>
                <a:tc>
                  <a:txBody>
                    <a:bodyPr/>
                    <a:lstStyle/>
                    <a:p>
                      <a:r>
                        <a:rPr lang="en-GB" sz="1400" b="1" dirty="0" err="1"/>
                        <a:t>SAparentSequenceNumber</a:t>
                      </a:r>
                      <a:endParaRPr lang="en-GB" sz="1400" b="1" dirty="0"/>
                    </a:p>
                  </a:txBody>
                  <a:tcPr>
                    <a:solidFill>
                      <a:schemeClr val="accent1">
                        <a:lumMod val="60000"/>
                        <a:lumOff val="40000"/>
                      </a:schemeClr>
                    </a:solidFill>
                  </a:tcPr>
                </a:tc>
                <a:tc>
                  <a:txBody>
                    <a:bodyPr/>
                    <a:lstStyle/>
                    <a:p>
                      <a:r>
                        <a:rPr lang="sv-SE" sz="1400" b="1" dirty="0"/>
                        <a:t>Species / Species </a:t>
                      </a:r>
                      <a:r>
                        <a:rPr lang="sv-SE" sz="1400" b="1" dirty="0" err="1"/>
                        <a:t>code</a:t>
                      </a:r>
                      <a:endParaRPr lang="en-GB" sz="1400" b="1" dirty="0"/>
                    </a:p>
                  </a:txBody>
                  <a:tcPr>
                    <a:solidFill>
                      <a:schemeClr val="accent1">
                        <a:lumMod val="60000"/>
                        <a:lumOff val="40000"/>
                      </a:schemeClr>
                    </a:solidFill>
                  </a:tcPr>
                </a:tc>
                <a:tc>
                  <a:txBody>
                    <a:bodyPr/>
                    <a:lstStyle/>
                    <a:p>
                      <a:pPr algn="ctr"/>
                      <a:r>
                        <a:rPr lang="en-GB" sz="1400" b="1" dirty="0" err="1"/>
                        <a:t>CatchCateg</a:t>
                      </a:r>
                      <a:endParaRPr lang="en-GB" sz="1400" b="1" dirty="0"/>
                    </a:p>
                  </a:txBody>
                  <a:tcPr>
                    <a:solidFill>
                      <a:schemeClr val="accent1">
                        <a:lumMod val="60000"/>
                        <a:lumOff val="40000"/>
                      </a:schemeClr>
                    </a:solidFill>
                  </a:tcPr>
                </a:tc>
                <a:tc>
                  <a:txBody>
                    <a:bodyPr/>
                    <a:lstStyle/>
                    <a:p>
                      <a:pPr algn="ctr"/>
                      <a:r>
                        <a:rPr lang="sv-SE" sz="1400" b="1" dirty="0" err="1"/>
                        <a:t>Weight</a:t>
                      </a:r>
                      <a:r>
                        <a:rPr lang="sv-SE" sz="1400" b="1" dirty="0"/>
                        <a:t> (kg)</a:t>
                      </a:r>
                      <a:endParaRPr lang="en-GB" sz="1400" b="1" dirty="0"/>
                    </a:p>
                  </a:txBody>
                  <a:tcPr>
                    <a:solidFill>
                      <a:schemeClr val="accent1">
                        <a:lumMod val="60000"/>
                        <a:lumOff val="40000"/>
                      </a:schemeClr>
                    </a:solidFill>
                  </a:tcPr>
                </a:tc>
                <a:tc>
                  <a:txBody>
                    <a:bodyPr/>
                    <a:lstStyle/>
                    <a:p>
                      <a:pPr algn="ctr"/>
                      <a:r>
                        <a:rPr lang="sv-SE" sz="1400" b="1" dirty="0" err="1"/>
                        <a:t>SampWeight</a:t>
                      </a:r>
                      <a:r>
                        <a:rPr lang="sv-SE" sz="1400" b="1" dirty="0"/>
                        <a:t> (kg)</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GB" sz="1400" i="1" dirty="0"/>
                        <a:t>1</a:t>
                      </a:r>
                    </a:p>
                  </a:txBody>
                  <a:tcPr/>
                </a:tc>
                <a:tc>
                  <a:txBody>
                    <a:bodyPr/>
                    <a:lstStyle/>
                    <a:p>
                      <a:endParaRPr lang="en-GB" sz="14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t>Lophius</a:t>
                      </a:r>
                      <a:r>
                        <a:rPr lang="en-GB" sz="1400" i="1" dirty="0"/>
                        <a:t> (</a:t>
                      </a:r>
                      <a:r>
                        <a:rPr lang="sv-SE" sz="1400" dirty="0">
                          <a:solidFill>
                            <a:sysClr val="windowText" lastClr="000000"/>
                          </a:solidFill>
                        </a:rPr>
                        <a:t>125802</a:t>
                      </a:r>
                      <a:r>
                        <a:rPr lang="en-GB" sz="1400" i="1" dirty="0"/>
                        <a:t>)</a:t>
                      </a:r>
                    </a:p>
                  </a:txBody>
                  <a:tcPr/>
                </a:tc>
                <a:tc>
                  <a:txBody>
                    <a:bodyPr/>
                    <a:lstStyle/>
                    <a:p>
                      <a:pPr algn="ctr"/>
                      <a:r>
                        <a:rPr lang="en-GB" sz="1400" dirty="0"/>
                        <a:t>Lan</a:t>
                      </a:r>
                    </a:p>
                  </a:txBody>
                  <a:tcPr/>
                </a:tc>
                <a:tc>
                  <a:txBody>
                    <a:bodyPr/>
                    <a:lstStyle/>
                    <a:p>
                      <a:pPr algn="ctr"/>
                      <a:r>
                        <a:rPr lang="en-GB" sz="1400" dirty="0"/>
                        <a:t>500</a:t>
                      </a:r>
                    </a:p>
                  </a:txBody>
                  <a:tcPr/>
                </a:tc>
                <a:tc>
                  <a:txBody>
                    <a:bodyPr/>
                    <a:lstStyle/>
                    <a:p>
                      <a:pPr algn="ctr"/>
                      <a:r>
                        <a:rPr lang="en-GB" sz="1400" dirty="0"/>
                        <a:t>100</a:t>
                      </a:r>
                    </a:p>
                  </a:txBody>
                  <a:tcPr/>
                </a:tc>
                <a:extLst>
                  <a:ext uri="{0D108BD9-81ED-4DB2-BD59-A6C34878D82A}">
                    <a16:rowId xmlns:a16="http://schemas.microsoft.com/office/drawing/2014/main" val="3178160418"/>
                  </a:ext>
                </a:extLst>
              </a:tr>
              <a:tr h="192881">
                <a:tc>
                  <a:txBody>
                    <a:bodyPr/>
                    <a:lstStyle/>
                    <a:p>
                      <a:r>
                        <a:rPr lang="en-GB" sz="1400" dirty="0"/>
                        <a:t>2</a:t>
                      </a:r>
                    </a:p>
                  </a:txBody>
                  <a:tcPr/>
                </a:tc>
                <a:tc>
                  <a:txBody>
                    <a:bodyPr/>
                    <a:lstStyle/>
                    <a:p>
                      <a:r>
                        <a:rPr lang="en-GB" sz="1400" dirty="0"/>
                        <a:t>1</a:t>
                      </a:r>
                    </a:p>
                  </a:txBody>
                  <a:tcPr/>
                </a:tc>
                <a:tc>
                  <a:txBody>
                    <a:bodyPr/>
                    <a:lstStyle/>
                    <a:p>
                      <a:r>
                        <a:rPr lang="en-US" sz="1400" i="1" dirty="0" err="1"/>
                        <a:t>Lophius</a:t>
                      </a:r>
                      <a:r>
                        <a:rPr lang="en-US" sz="1400" i="1" baseline="0" dirty="0"/>
                        <a:t> </a:t>
                      </a:r>
                      <a:r>
                        <a:rPr lang="en-US" sz="1400" i="1" baseline="0" dirty="0" err="1"/>
                        <a:t>piscatorius</a:t>
                      </a:r>
                      <a:r>
                        <a:rPr lang="en-US" sz="1400" i="1" baseline="0" dirty="0"/>
                        <a:t> (126555)</a:t>
                      </a:r>
                      <a:endParaRPr lang="en-GB" sz="1400" dirty="0"/>
                    </a:p>
                  </a:txBody>
                  <a:tcPr/>
                </a:tc>
                <a:tc>
                  <a:txBody>
                    <a:bodyPr/>
                    <a:lstStyle/>
                    <a:p>
                      <a:pPr algn="ctr"/>
                      <a:r>
                        <a:rPr lang="en-GB" sz="1400" dirty="0"/>
                        <a:t>Lan</a:t>
                      </a:r>
                    </a:p>
                  </a:txBody>
                  <a:tcPr/>
                </a:tc>
                <a:tc>
                  <a:txBody>
                    <a:bodyPr/>
                    <a:lstStyle/>
                    <a:p>
                      <a:pPr algn="ctr"/>
                      <a:r>
                        <a:rPr lang="en-US" sz="1400" dirty="0"/>
                        <a:t>100</a:t>
                      </a:r>
                      <a:endParaRPr lang="en-GB" sz="1400" dirty="0"/>
                    </a:p>
                  </a:txBody>
                  <a:tcPr/>
                </a:tc>
                <a:tc>
                  <a:txBody>
                    <a:bodyPr/>
                    <a:lstStyle/>
                    <a:p>
                      <a:pPr algn="ctr"/>
                      <a:r>
                        <a:rPr lang="en-GB" sz="1400" dirty="0"/>
                        <a:t>100</a:t>
                      </a:r>
                    </a:p>
                  </a:txBody>
                  <a:tcPr/>
                </a:tc>
                <a:extLst>
                  <a:ext uri="{0D108BD9-81ED-4DB2-BD59-A6C34878D82A}">
                    <a16:rowId xmlns:a16="http://schemas.microsoft.com/office/drawing/2014/main" val="3375731275"/>
                  </a:ext>
                </a:extLst>
              </a:tr>
            </a:tbl>
          </a:graphicData>
        </a:graphic>
      </p:graphicFrame>
      <p:sp>
        <p:nvSpPr>
          <p:cNvPr id="8" name="Rectangle 1"/>
          <p:cNvSpPr>
            <a:spLocks noChangeArrowheads="1"/>
          </p:cNvSpPr>
          <p:nvPr/>
        </p:nvSpPr>
        <p:spPr bwMode="auto">
          <a:xfrm>
            <a:off x="650576" y="1464054"/>
            <a:ext cx="112825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Sample (SA):</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325234" y="3047091"/>
            <a:ext cx="2465611" cy="307777"/>
          </a:xfrm>
          <a:prstGeom prst="rect">
            <a:avLst/>
          </a:prstGeom>
          <a:noFill/>
        </p:spPr>
        <p:txBody>
          <a:bodyPr wrap="none" rtlCol="0">
            <a:spAutoFit/>
          </a:bodyPr>
          <a:lstStyle/>
          <a:p>
            <a:r>
              <a:rPr lang="en-US" sz="1400" i="1" dirty="0"/>
              <a:t>Taxon being sampled at market</a:t>
            </a:r>
            <a:endParaRPr lang="sv-SE" sz="1400" i="1" dirty="0"/>
          </a:p>
        </p:txBody>
      </p:sp>
      <p:cxnSp>
        <p:nvCxnSpPr>
          <p:cNvPr id="15" name="Straight Arrow Connector 14"/>
          <p:cNvCxnSpPr/>
          <p:nvPr/>
        </p:nvCxnSpPr>
        <p:spPr>
          <a:xfrm flipH="1">
            <a:off x="6021266" y="3292071"/>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
          <p:cNvSpPr>
            <a:spLocks noChangeArrowheads="1"/>
          </p:cNvSpPr>
          <p:nvPr/>
        </p:nvSpPr>
        <p:spPr bwMode="auto">
          <a:xfrm>
            <a:off x="10375768" y="5515803"/>
            <a:ext cx="16114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GB" altLang="sv-SE" sz="1400" i="1" dirty="0"/>
              <a:t>added to SA during </a:t>
            </a:r>
            <a:br>
              <a:rPr lang="en-GB" altLang="sv-SE" sz="1400" i="1" dirty="0"/>
            </a:br>
            <a:r>
              <a:rPr lang="en-GB" altLang="sv-SE" sz="1400" i="1" dirty="0"/>
              <a:t>estimation</a:t>
            </a:r>
            <a:endParaRPr lang="sv-SE" altLang="sv-SE" sz="1400" i="1" dirty="0"/>
          </a:p>
        </p:txBody>
      </p:sp>
      <p:sp>
        <p:nvSpPr>
          <p:cNvPr id="12" name="TextBox 11"/>
          <p:cNvSpPr txBox="1"/>
          <p:nvPr/>
        </p:nvSpPr>
        <p:spPr>
          <a:xfrm>
            <a:off x="10312134" y="1882765"/>
            <a:ext cx="1502719" cy="523220"/>
          </a:xfrm>
          <a:prstGeom prst="rect">
            <a:avLst/>
          </a:prstGeom>
          <a:noFill/>
        </p:spPr>
        <p:txBody>
          <a:bodyPr wrap="none" rtlCol="0">
            <a:spAutoFit/>
          </a:bodyPr>
          <a:lstStyle/>
          <a:p>
            <a:r>
              <a:rPr lang="en-US" sz="1400" i="1" dirty="0"/>
              <a:t>Taxon sampled at </a:t>
            </a:r>
            <a:br>
              <a:rPr lang="en-US" sz="1400" i="1" dirty="0"/>
            </a:br>
            <a:r>
              <a:rPr lang="en-US" sz="1400" i="1" dirty="0"/>
              <a:t>market</a:t>
            </a:r>
            <a:endParaRPr lang="sv-SE" sz="1400" i="1" dirty="0"/>
          </a:p>
        </p:txBody>
      </p:sp>
      <p:cxnSp>
        <p:nvCxnSpPr>
          <p:cNvPr id="13" name="Straight Arrow Connector 12"/>
          <p:cNvCxnSpPr/>
          <p:nvPr/>
        </p:nvCxnSpPr>
        <p:spPr>
          <a:xfrm flipH="1">
            <a:off x="9988852" y="2211324"/>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325990" y="2634513"/>
            <a:ext cx="1589859" cy="523220"/>
          </a:xfrm>
          <a:prstGeom prst="rect">
            <a:avLst/>
          </a:prstGeom>
          <a:noFill/>
        </p:spPr>
        <p:txBody>
          <a:bodyPr wrap="none" rtlCol="0">
            <a:spAutoFit/>
          </a:bodyPr>
          <a:lstStyle/>
          <a:p>
            <a:r>
              <a:rPr lang="en-US" sz="1400" i="1" dirty="0"/>
              <a:t>Taxon identified by </a:t>
            </a:r>
            <a:br>
              <a:rPr lang="en-US" sz="1400" i="1" dirty="0"/>
            </a:br>
            <a:r>
              <a:rPr lang="en-US" sz="1400" i="1" dirty="0"/>
              <a:t>observers</a:t>
            </a:r>
            <a:endParaRPr lang="sv-SE" sz="1400" i="1" dirty="0"/>
          </a:p>
        </p:txBody>
      </p:sp>
      <p:cxnSp>
        <p:nvCxnSpPr>
          <p:cNvPr id="18" name="Straight Arrow Connector 17"/>
          <p:cNvCxnSpPr/>
          <p:nvPr/>
        </p:nvCxnSpPr>
        <p:spPr>
          <a:xfrm flipH="1" flipV="1">
            <a:off x="10002712" y="2762002"/>
            <a:ext cx="318654" cy="831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4911556" y="4657079"/>
            <a:ext cx="2287" cy="32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279409" y="3204640"/>
            <a:ext cx="1589859" cy="523220"/>
          </a:xfrm>
          <a:prstGeom prst="rect">
            <a:avLst/>
          </a:prstGeom>
          <a:noFill/>
        </p:spPr>
        <p:txBody>
          <a:bodyPr wrap="none" rtlCol="0">
            <a:spAutoFit/>
          </a:bodyPr>
          <a:lstStyle/>
          <a:p>
            <a:r>
              <a:rPr lang="en-US" sz="1400" i="1" dirty="0"/>
              <a:t>Taxon identified by </a:t>
            </a:r>
            <a:br>
              <a:rPr lang="en-US" sz="1400" i="1" dirty="0"/>
            </a:br>
            <a:r>
              <a:rPr lang="en-US" sz="1400" i="1" dirty="0"/>
              <a:t>observers</a:t>
            </a:r>
            <a:endParaRPr lang="sv-SE" sz="1400" i="1" dirty="0"/>
          </a:p>
        </p:txBody>
      </p:sp>
      <p:cxnSp>
        <p:nvCxnSpPr>
          <p:cNvPr id="22" name="Straight Arrow Connector 21"/>
          <p:cNvCxnSpPr/>
          <p:nvPr/>
        </p:nvCxnSpPr>
        <p:spPr>
          <a:xfrm flipH="1">
            <a:off x="8770334" y="3334760"/>
            <a:ext cx="489553" cy="2384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10500" y="2936696"/>
            <a:ext cx="338554" cy="461665"/>
          </a:xfrm>
          <a:prstGeom prst="rect">
            <a:avLst/>
          </a:prstGeom>
          <a:noFill/>
        </p:spPr>
        <p:txBody>
          <a:bodyPr wrap="none" rtlCol="0">
            <a:spAutoFit/>
          </a:bodyPr>
          <a:lstStyle/>
          <a:p>
            <a:r>
              <a:rPr lang="en-US" sz="2400" b="1" dirty="0"/>
              <a:t>+</a:t>
            </a:r>
          </a:p>
        </p:txBody>
      </p:sp>
      <p:graphicFrame>
        <p:nvGraphicFramePr>
          <p:cNvPr id="23" name="Table 22"/>
          <p:cNvGraphicFramePr>
            <a:graphicFrameLocks noGrp="1"/>
          </p:cNvGraphicFramePr>
          <p:nvPr>
            <p:extLst>
              <p:ext uri="{D42A27DB-BD31-4B8C-83A1-F6EECF244321}">
                <p14:modId xmlns:p14="http://schemas.microsoft.com/office/powerpoint/2010/main" val="703837533"/>
              </p:ext>
            </p:extLst>
          </p:nvPr>
        </p:nvGraphicFramePr>
        <p:xfrm>
          <a:off x="650576" y="5042083"/>
          <a:ext cx="9296717" cy="1737360"/>
        </p:xfrm>
        <a:graphic>
          <a:graphicData uri="http://schemas.openxmlformats.org/drawingml/2006/table">
            <a:tbl>
              <a:tblPr firstRow="1" bandRow="1">
                <a:tableStyleId>{5940675A-B579-460E-94D1-54222C63F5DA}</a:tableStyleId>
              </a:tblPr>
              <a:tblGrid>
                <a:gridCol w="1582840">
                  <a:extLst>
                    <a:ext uri="{9D8B030D-6E8A-4147-A177-3AD203B41FA5}">
                      <a16:colId xmlns:a16="http://schemas.microsoft.com/office/drawing/2014/main" val="1467388772"/>
                    </a:ext>
                  </a:extLst>
                </a:gridCol>
                <a:gridCol w="1582840">
                  <a:extLst>
                    <a:ext uri="{9D8B030D-6E8A-4147-A177-3AD203B41FA5}">
                      <a16:colId xmlns:a16="http://schemas.microsoft.com/office/drawing/2014/main" val="3049682952"/>
                    </a:ext>
                  </a:extLst>
                </a:gridCol>
                <a:gridCol w="2348745">
                  <a:extLst>
                    <a:ext uri="{9D8B030D-6E8A-4147-A177-3AD203B41FA5}">
                      <a16:colId xmlns:a16="http://schemas.microsoft.com/office/drawing/2014/main" val="2815465670"/>
                    </a:ext>
                  </a:extLst>
                </a:gridCol>
                <a:gridCol w="1117601">
                  <a:extLst>
                    <a:ext uri="{9D8B030D-6E8A-4147-A177-3AD203B41FA5}">
                      <a16:colId xmlns:a16="http://schemas.microsoft.com/office/drawing/2014/main" val="3151269377"/>
                    </a:ext>
                  </a:extLst>
                </a:gridCol>
                <a:gridCol w="946727">
                  <a:extLst>
                    <a:ext uri="{9D8B030D-6E8A-4147-A177-3AD203B41FA5}">
                      <a16:colId xmlns:a16="http://schemas.microsoft.com/office/drawing/2014/main" val="3307169097"/>
                    </a:ext>
                  </a:extLst>
                </a:gridCol>
                <a:gridCol w="1717964">
                  <a:extLst>
                    <a:ext uri="{9D8B030D-6E8A-4147-A177-3AD203B41FA5}">
                      <a16:colId xmlns:a16="http://schemas.microsoft.com/office/drawing/2014/main" val="2592601522"/>
                    </a:ext>
                  </a:extLst>
                </a:gridCol>
              </a:tblGrid>
              <a:tr h="192881">
                <a:tc>
                  <a:txBody>
                    <a:bodyPr/>
                    <a:lstStyle/>
                    <a:p>
                      <a:r>
                        <a:rPr lang="en-GB" sz="1400" b="1" dirty="0" err="1"/>
                        <a:t>SAsequenceNumber</a:t>
                      </a:r>
                      <a:endParaRPr lang="en-GB" sz="1400" b="1" dirty="0"/>
                    </a:p>
                  </a:txBody>
                  <a:tcPr>
                    <a:solidFill>
                      <a:schemeClr val="accent1">
                        <a:lumMod val="60000"/>
                        <a:lumOff val="40000"/>
                      </a:schemeClr>
                    </a:solidFill>
                  </a:tcPr>
                </a:tc>
                <a:tc>
                  <a:txBody>
                    <a:bodyPr/>
                    <a:lstStyle/>
                    <a:p>
                      <a:r>
                        <a:rPr lang="en-GB" sz="1400" b="1" dirty="0" err="1"/>
                        <a:t>SAparentSequenceNumber</a:t>
                      </a:r>
                      <a:endParaRPr lang="en-GB" sz="1400" b="1" dirty="0"/>
                    </a:p>
                  </a:txBody>
                  <a:tcPr>
                    <a:solidFill>
                      <a:schemeClr val="accent1">
                        <a:lumMod val="60000"/>
                        <a:lumOff val="40000"/>
                      </a:schemeClr>
                    </a:solidFill>
                  </a:tcPr>
                </a:tc>
                <a:tc>
                  <a:txBody>
                    <a:bodyPr/>
                    <a:lstStyle/>
                    <a:p>
                      <a:r>
                        <a:rPr lang="sv-SE" sz="1400" b="1" dirty="0"/>
                        <a:t>Species / Species </a:t>
                      </a:r>
                      <a:r>
                        <a:rPr lang="sv-SE" sz="1400" b="1" dirty="0" err="1"/>
                        <a:t>code</a:t>
                      </a:r>
                      <a:endParaRPr lang="en-GB" sz="1400" b="1" dirty="0"/>
                    </a:p>
                  </a:txBody>
                  <a:tcPr>
                    <a:solidFill>
                      <a:schemeClr val="accent1">
                        <a:lumMod val="60000"/>
                        <a:lumOff val="40000"/>
                      </a:schemeClr>
                    </a:solidFill>
                  </a:tcPr>
                </a:tc>
                <a:tc>
                  <a:txBody>
                    <a:bodyPr/>
                    <a:lstStyle/>
                    <a:p>
                      <a:pPr algn="ctr"/>
                      <a:r>
                        <a:rPr lang="en-GB" sz="1400" b="1" dirty="0" err="1"/>
                        <a:t>CatchCateg</a:t>
                      </a:r>
                      <a:endParaRPr lang="en-GB" sz="1400" b="1" dirty="0"/>
                    </a:p>
                  </a:txBody>
                  <a:tcPr>
                    <a:solidFill>
                      <a:schemeClr val="accent1">
                        <a:lumMod val="60000"/>
                        <a:lumOff val="40000"/>
                      </a:schemeClr>
                    </a:solidFill>
                  </a:tcPr>
                </a:tc>
                <a:tc>
                  <a:txBody>
                    <a:bodyPr/>
                    <a:lstStyle/>
                    <a:p>
                      <a:pPr algn="ctr"/>
                      <a:r>
                        <a:rPr lang="sv-SE" sz="1400" b="1" dirty="0" err="1"/>
                        <a:t>Weight</a:t>
                      </a:r>
                      <a:r>
                        <a:rPr lang="sv-SE" sz="1400" b="1" dirty="0"/>
                        <a:t> (kg)</a:t>
                      </a:r>
                      <a:endParaRPr lang="en-GB" sz="1400" b="1" dirty="0"/>
                    </a:p>
                  </a:txBody>
                  <a:tcPr>
                    <a:solidFill>
                      <a:schemeClr val="accent1">
                        <a:lumMod val="60000"/>
                        <a:lumOff val="40000"/>
                      </a:schemeClr>
                    </a:solidFill>
                  </a:tcPr>
                </a:tc>
                <a:tc>
                  <a:txBody>
                    <a:bodyPr/>
                    <a:lstStyle/>
                    <a:p>
                      <a:pPr algn="ctr"/>
                      <a:r>
                        <a:rPr lang="sv-SE" sz="1400" b="1" dirty="0" err="1"/>
                        <a:t>SampWeight</a:t>
                      </a:r>
                      <a:r>
                        <a:rPr lang="sv-SE" sz="1400" b="1" dirty="0"/>
                        <a:t> (kg)</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GB" sz="1400" i="1" dirty="0"/>
                        <a:t>1</a:t>
                      </a:r>
                    </a:p>
                  </a:txBody>
                  <a:tcPr/>
                </a:tc>
                <a:tc>
                  <a:txBody>
                    <a:bodyPr/>
                    <a:lstStyle/>
                    <a:p>
                      <a:endParaRPr lang="en-GB" sz="14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t>Lophius</a:t>
                      </a:r>
                      <a:r>
                        <a:rPr lang="en-GB" sz="1400" i="1" dirty="0"/>
                        <a:t> (</a:t>
                      </a:r>
                      <a:r>
                        <a:rPr lang="sv-SE" sz="1400" dirty="0">
                          <a:solidFill>
                            <a:sysClr val="windowText" lastClr="000000"/>
                          </a:solidFill>
                        </a:rPr>
                        <a:t>125802</a:t>
                      </a:r>
                      <a:r>
                        <a:rPr lang="en-GB" sz="1400" i="1" dirty="0"/>
                        <a:t>)</a:t>
                      </a:r>
                    </a:p>
                  </a:txBody>
                  <a:tcPr/>
                </a:tc>
                <a:tc>
                  <a:txBody>
                    <a:bodyPr/>
                    <a:lstStyle/>
                    <a:p>
                      <a:pPr algn="ctr"/>
                      <a:r>
                        <a:rPr lang="en-GB" sz="1400" dirty="0"/>
                        <a:t>Lan</a:t>
                      </a:r>
                    </a:p>
                  </a:txBody>
                  <a:tcPr/>
                </a:tc>
                <a:tc>
                  <a:txBody>
                    <a:bodyPr/>
                    <a:lstStyle/>
                    <a:p>
                      <a:pPr algn="ctr"/>
                      <a:r>
                        <a:rPr lang="en-GB" sz="1400" dirty="0"/>
                        <a:t>500</a:t>
                      </a:r>
                    </a:p>
                  </a:txBody>
                  <a:tcPr/>
                </a:tc>
                <a:tc>
                  <a:txBody>
                    <a:bodyPr/>
                    <a:lstStyle/>
                    <a:p>
                      <a:pPr algn="ctr"/>
                      <a:r>
                        <a:rPr lang="en-GB" sz="1400" dirty="0"/>
                        <a:t>100</a:t>
                      </a:r>
                    </a:p>
                  </a:txBody>
                  <a:tcPr/>
                </a:tc>
                <a:extLst>
                  <a:ext uri="{0D108BD9-81ED-4DB2-BD59-A6C34878D82A}">
                    <a16:rowId xmlns:a16="http://schemas.microsoft.com/office/drawing/2014/main" val="3178160418"/>
                  </a:ext>
                </a:extLst>
              </a:tr>
              <a:tr h="192881">
                <a:tc>
                  <a:txBody>
                    <a:bodyPr/>
                    <a:lstStyle/>
                    <a:p>
                      <a:r>
                        <a:rPr lang="en-GB" sz="1400" dirty="0"/>
                        <a:t>2</a:t>
                      </a:r>
                    </a:p>
                  </a:txBody>
                  <a:tcPr/>
                </a:tc>
                <a:tc>
                  <a:txBody>
                    <a:bodyPr/>
                    <a:lstStyle/>
                    <a:p>
                      <a:r>
                        <a:rPr lang="en-GB" sz="1400" dirty="0"/>
                        <a:t>1</a:t>
                      </a:r>
                    </a:p>
                  </a:txBody>
                  <a:tcPr/>
                </a:tc>
                <a:tc>
                  <a:txBody>
                    <a:bodyPr/>
                    <a:lstStyle/>
                    <a:p>
                      <a:r>
                        <a:rPr lang="en-US" sz="1400" i="1" dirty="0" err="1"/>
                        <a:t>Lophius</a:t>
                      </a:r>
                      <a:r>
                        <a:rPr lang="en-US" sz="1400" i="1" baseline="0" dirty="0"/>
                        <a:t> </a:t>
                      </a:r>
                      <a:r>
                        <a:rPr lang="en-US" sz="1400" i="1" baseline="0" dirty="0" err="1"/>
                        <a:t>piscatorius</a:t>
                      </a:r>
                      <a:r>
                        <a:rPr lang="en-US" sz="1400" i="1" baseline="0" dirty="0"/>
                        <a:t> (126555)</a:t>
                      </a:r>
                      <a:endParaRPr lang="en-GB" sz="1400" dirty="0"/>
                    </a:p>
                  </a:txBody>
                  <a:tcPr/>
                </a:tc>
                <a:tc>
                  <a:txBody>
                    <a:bodyPr/>
                    <a:lstStyle/>
                    <a:p>
                      <a:pPr algn="ctr"/>
                      <a:r>
                        <a:rPr lang="en-GB" sz="1400" dirty="0"/>
                        <a:t>Lan</a:t>
                      </a:r>
                    </a:p>
                  </a:txBody>
                  <a:tcPr/>
                </a:tc>
                <a:tc>
                  <a:txBody>
                    <a:bodyPr/>
                    <a:lstStyle/>
                    <a:p>
                      <a:pPr algn="ctr"/>
                      <a:r>
                        <a:rPr lang="en-US" sz="1400" dirty="0"/>
                        <a:t>100</a:t>
                      </a:r>
                      <a:endParaRPr lang="en-GB" sz="1400" dirty="0"/>
                    </a:p>
                  </a:txBody>
                  <a:tcPr/>
                </a:tc>
                <a:tc>
                  <a:txBody>
                    <a:bodyPr/>
                    <a:lstStyle/>
                    <a:p>
                      <a:pPr algn="ctr"/>
                      <a:r>
                        <a:rPr lang="en-GB" sz="1400" dirty="0"/>
                        <a:t>100</a:t>
                      </a:r>
                    </a:p>
                  </a:txBody>
                  <a:tcPr/>
                </a:tc>
                <a:extLst>
                  <a:ext uri="{0D108BD9-81ED-4DB2-BD59-A6C34878D82A}">
                    <a16:rowId xmlns:a16="http://schemas.microsoft.com/office/drawing/2014/main" val="3375731275"/>
                  </a:ext>
                </a:extLst>
              </a:tr>
              <a:tr h="192881">
                <a:tc>
                  <a:txBody>
                    <a:bodyPr/>
                    <a:lstStyle/>
                    <a:p>
                      <a:r>
                        <a:rPr lang="en-GB" sz="1400" dirty="0">
                          <a:solidFill>
                            <a:schemeClr val="bg2">
                              <a:lumMod val="50000"/>
                            </a:schemeClr>
                          </a:solidFill>
                        </a:rPr>
                        <a:t>3</a:t>
                      </a:r>
                    </a:p>
                  </a:txBody>
                  <a:tcPr/>
                </a:tc>
                <a:tc>
                  <a:txBody>
                    <a:bodyPr/>
                    <a:lstStyle/>
                    <a:p>
                      <a:r>
                        <a:rPr lang="en-GB" sz="1400" dirty="0">
                          <a:solidFill>
                            <a:schemeClr val="bg2">
                              <a:lumMod val="50000"/>
                            </a:schemeClr>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solidFill>
                            <a:schemeClr val="bg2">
                              <a:lumMod val="50000"/>
                            </a:schemeClr>
                          </a:solidFill>
                          <a:effectLst/>
                        </a:rPr>
                        <a:t>Lophius</a:t>
                      </a:r>
                      <a:r>
                        <a:rPr lang="en-GB" sz="1400" i="1" dirty="0">
                          <a:solidFill>
                            <a:schemeClr val="bg2">
                              <a:lumMod val="50000"/>
                            </a:schemeClr>
                          </a:solidFill>
                          <a:effectLst/>
                        </a:rPr>
                        <a:t> </a:t>
                      </a:r>
                      <a:r>
                        <a:rPr lang="en-GB" sz="1400" i="1" dirty="0" err="1">
                          <a:solidFill>
                            <a:schemeClr val="bg2">
                              <a:lumMod val="50000"/>
                            </a:schemeClr>
                          </a:solidFill>
                          <a:effectLst/>
                        </a:rPr>
                        <a:t>budegassa</a:t>
                      </a:r>
                      <a:r>
                        <a:rPr lang="en-GB" sz="1400" dirty="0">
                          <a:solidFill>
                            <a:schemeClr val="bg2">
                              <a:lumMod val="50000"/>
                            </a:schemeClr>
                          </a:solidFill>
                          <a:effectLst/>
                        </a:rPr>
                        <a:t> (126554)</a:t>
                      </a:r>
                      <a:endParaRPr lang="sv-SE" sz="14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GB" sz="1400" dirty="0">
                          <a:solidFill>
                            <a:schemeClr val="bg2">
                              <a:lumMod val="50000"/>
                            </a:schemeClr>
                          </a:solidFill>
                        </a:rPr>
                        <a:t>Lan</a:t>
                      </a:r>
                    </a:p>
                  </a:txBody>
                  <a:tcPr/>
                </a:tc>
                <a:tc>
                  <a:txBody>
                    <a:bodyPr/>
                    <a:lstStyle/>
                    <a:p>
                      <a:pPr algn="ctr"/>
                      <a:r>
                        <a:rPr lang="en-US" sz="1400" dirty="0">
                          <a:solidFill>
                            <a:schemeClr val="bg2">
                              <a:lumMod val="50000"/>
                            </a:schemeClr>
                          </a:solidFill>
                        </a:rPr>
                        <a:t>0</a:t>
                      </a:r>
                      <a:endParaRPr lang="en-GB" sz="1400" dirty="0">
                        <a:solidFill>
                          <a:schemeClr val="bg2">
                            <a:lumMod val="50000"/>
                          </a:schemeClr>
                        </a:solidFill>
                      </a:endParaRPr>
                    </a:p>
                  </a:txBody>
                  <a:tcPr/>
                </a:tc>
                <a:tc>
                  <a:txBody>
                    <a:bodyPr/>
                    <a:lstStyle/>
                    <a:p>
                      <a:pPr algn="ctr"/>
                      <a:r>
                        <a:rPr lang="en-GB" sz="1400" dirty="0">
                          <a:solidFill>
                            <a:schemeClr val="bg2">
                              <a:lumMod val="50000"/>
                            </a:schemeClr>
                          </a:solidFill>
                        </a:rPr>
                        <a:t>0</a:t>
                      </a:r>
                    </a:p>
                  </a:txBody>
                  <a:tcPr/>
                </a:tc>
                <a:extLst>
                  <a:ext uri="{0D108BD9-81ED-4DB2-BD59-A6C34878D82A}">
                    <a16:rowId xmlns:a16="http://schemas.microsoft.com/office/drawing/2014/main" val="257697910"/>
                  </a:ext>
                </a:extLst>
              </a:tr>
              <a:tr h="192881">
                <a:tc>
                  <a:txBody>
                    <a:bodyPr/>
                    <a:lstStyle/>
                    <a:p>
                      <a:r>
                        <a:rPr lang="en-GB" sz="1400" dirty="0">
                          <a:solidFill>
                            <a:schemeClr val="bg2">
                              <a:lumMod val="50000"/>
                            </a:schemeClr>
                          </a:solidFill>
                        </a:rPr>
                        <a:t>4</a:t>
                      </a:r>
                    </a:p>
                  </a:txBody>
                  <a:tcPr/>
                </a:tc>
                <a:tc>
                  <a:txBody>
                    <a:bodyPr/>
                    <a:lstStyle/>
                    <a:p>
                      <a:r>
                        <a:rPr lang="en-GB" sz="1400" dirty="0">
                          <a:solidFill>
                            <a:schemeClr val="bg2">
                              <a:lumMod val="50000"/>
                            </a:schemeClr>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400" i="1" dirty="0" err="1">
                          <a:solidFill>
                            <a:schemeClr val="bg2">
                              <a:lumMod val="50000"/>
                            </a:schemeClr>
                          </a:solidFill>
                        </a:rPr>
                        <a:t>Lophius</a:t>
                      </a:r>
                      <a:r>
                        <a:rPr lang="sv-SE" sz="1400" dirty="0">
                          <a:solidFill>
                            <a:schemeClr val="bg2">
                              <a:lumMod val="50000"/>
                            </a:schemeClr>
                          </a:solidFill>
                        </a:rPr>
                        <a:t> (125802)</a:t>
                      </a:r>
                      <a:endParaRPr lang="sv-SE" sz="14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GB" sz="1400" dirty="0">
                          <a:solidFill>
                            <a:schemeClr val="bg2">
                              <a:lumMod val="50000"/>
                            </a:schemeClr>
                          </a:solidFill>
                        </a:rPr>
                        <a:t>Lan</a:t>
                      </a:r>
                    </a:p>
                  </a:txBody>
                  <a:tcPr/>
                </a:tc>
                <a:tc>
                  <a:txBody>
                    <a:bodyPr/>
                    <a:lstStyle/>
                    <a:p>
                      <a:pPr algn="ctr"/>
                      <a:r>
                        <a:rPr lang="en-US" sz="1400" dirty="0">
                          <a:solidFill>
                            <a:schemeClr val="bg2">
                              <a:lumMod val="50000"/>
                            </a:schemeClr>
                          </a:solidFill>
                        </a:rPr>
                        <a:t>0</a:t>
                      </a:r>
                      <a:endParaRPr lang="en-GB" sz="1400" dirty="0">
                        <a:solidFill>
                          <a:schemeClr val="bg2">
                            <a:lumMod val="50000"/>
                          </a:schemeClr>
                        </a:solidFill>
                      </a:endParaRPr>
                    </a:p>
                  </a:txBody>
                  <a:tcPr/>
                </a:tc>
                <a:tc>
                  <a:txBody>
                    <a:bodyPr/>
                    <a:lstStyle/>
                    <a:p>
                      <a:pPr algn="ctr"/>
                      <a:r>
                        <a:rPr lang="en-GB" sz="1400" dirty="0">
                          <a:solidFill>
                            <a:schemeClr val="bg2">
                              <a:lumMod val="50000"/>
                            </a:schemeClr>
                          </a:solidFill>
                        </a:rPr>
                        <a:t>0</a:t>
                      </a:r>
                    </a:p>
                  </a:txBody>
                  <a:tcPr/>
                </a:tc>
                <a:extLst>
                  <a:ext uri="{0D108BD9-81ED-4DB2-BD59-A6C34878D82A}">
                    <a16:rowId xmlns:a16="http://schemas.microsoft.com/office/drawing/2014/main" val="212428177"/>
                  </a:ext>
                </a:extLst>
              </a:tr>
            </a:tbl>
          </a:graphicData>
        </a:graphic>
      </p:graphicFrame>
      <p:cxnSp>
        <p:nvCxnSpPr>
          <p:cNvPr id="24" name="Straight Arrow Connector 23"/>
          <p:cNvCxnSpPr/>
          <p:nvPr/>
        </p:nvCxnSpPr>
        <p:spPr>
          <a:xfrm flipH="1">
            <a:off x="10098800" y="6044005"/>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0098800" y="6039023"/>
            <a:ext cx="309428" cy="605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34670" y="4700714"/>
            <a:ext cx="9763609" cy="209777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580673" y="4680287"/>
            <a:ext cx="6982996" cy="369332"/>
          </a:xfrm>
          <a:prstGeom prst="rect">
            <a:avLst/>
          </a:prstGeom>
          <a:noFill/>
        </p:spPr>
        <p:txBody>
          <a:bodyPr wrap="square" rtlCol="0">
            <a:spAutoFit/>
          </a:bodyPr>
          <a:lstStyle/>
          <a:p>
            <a:r>
              <a:rPr lang="en-US" b="1" dirty="0"/>
              <a:t>RDBES (during estimation)</a:t>
            </a:r>
          </a:p>
        </p:txBody>
      </p:sp>
      <p:sp>
        <p:nvSpPr>
          <p:cNvPr id="28" name="Right Arrow 27"/>
          <p:cNvSpPr/>
          <p:nvPr/>
        </p:nvSpPr>
        <p:spPr>
          <a:xfrm rot="1800214">
            <a:off x="-183208" y="3177357"/>
            <a:ext cx="759125" cy="931653"/>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143340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576" y="302433"/>
            <a:ext cx="10515600" cy="1325563"/>
          </a:xfrm>
        </p:spPr>
        <p:txBody>
          <a:bodyPr>
            <a:normAutofit/>
          </a:bodyPr>
          <a:lstStyle/>
          <a:p>
            <a:r>
              <a:rPr lang="sv-SE" sz="3600" dirty="0"/>
              <a:t>If </a:t>
            </a:r>
            <a:r>
              <a:rPr lang="sv-SE" sz="3600" u="sng" dirty="0" err="1"/>
              <a:t>only</a:t>
            </a:r>
            <a:r>
              <a:rPr lang="sv-SE" sz="3600" dirty="0"/>
              <a:t> </a:t>
            </a:r>
            <a:r>
              <a:rPr lang="sv-SE" sz="3600" i="1" dirty="0" err="1"/>
              <a:t>Lophius</a:t>
            </a:r>
            <a:r>
              <a:rPr lang="sv-SE" sz="3600" i="1" dirty="0"/>
              <a:t> </a:t>
            </a:r>
            <a:r>
              <a:rPr lang="sv-SE" sz="3600" i="1" dirty="0" err="1"/>
              <a:t>piscatorius</a:t>
            </a:r>
            <a:r>
              <a:rPr lang="sv-SE" sz="3600" i="1" dirty="0"/>
              <a:t> </a:t>
            </a:r>
            <a:r>
              <a:rPr lang="sv-SE" sz="3600" dirty="0" err="1"/>
              <a:t>was</a:t>
            </a:r>
            <a:r>
              <a:rPr lang="sv-SE" sz="3600" dirty="0"/>
              <a:t> in the sampling </a:t>
            </a:r>
            <a:r>
              <a:rPr lang="sv-SE" sz="3600" dirty="0" err="1"/>
              <a:t>targets</a:t>
            </a:r>
            <a:endParaRPr lang="sv-SE" sz="3600" dirty="0"/>
          </a:p>
        </p:txBody>
      </p:sp>
      <p:graphicFrame>
        <p:nvGraphicFramePr>
          <p:cNvPr id="4" name="Table 3"/>
          <p:cNvGraphicFramePr>
            <a:graphicFrameLocks noGrp="1"/>
          </p:cNvGraphicFramePr>
          <p:nvPr>
            <p:extLst>
              <p:ext uri="{D42A27DB-BD31-4B8C-83A1-F6EECF244321}">
                <p14:modId xmlns:p14="http://schemas.microsoft.com/office/powerpoint/2010/main" val="1335390981"/>
              </p:ext>
            </p:extLst>
          </p:nvPr>
        </p:nvGraphicFramePr>
        <p:xfrm>
          <a:off x="614335" y="3642537"/>
          <a:ext cx="8465712" cy="436372"/>
        </p:xfrm>
        <a:graphic>
          <a:graphicData uri="http://schemas.openxmlformats.org/drawingml/2006/table">
            <a:tbl>
              <a:tblPr firstRow="1" firstCol="1" bandRow="1">
                <a:tableStyleId>{5C22544A-7EE6-4342-B048-85BDC9FD1C3A}</a:tableStyleId>
              </a:tblPr>
              <a:tblGrid>
                <a:gridCol w="2116428">
                  <a:extLst>
                    <a:ext uri="{9D8B030D-6E8A-4147-A177-3AD203B41FA5}">
                      <a16:colId xmlns:a16="http://schemas.microsoft.com/office/drawing/2014/main" val="1679101541"/>
                    </a:ext>
                  </a:extLst>
                </a:gridCol>
                <a:gridCol w="2116428">
                  <a:extLst>
                    <a:ext uri="{9D8B030D-6E8A-4147-A177-3AD203B41FA5}">
                      <a16:colId xmlns:a16="http://schemas.microsoft.com/office/drawing/2014/main" val="1318554904"/>
                    </a:ext>
                  </a:extLst>
                </a:gridCol>
                <a:gridCol w="2116428">
                  <a:extLst>
                    <a:ext uri="{9D8B030D-6E8A-4147-A177-3AD203B41FA5}">
                      <a16:colId xmlns:a16="http://schemas.microsoft.com/office/drawing/2014/main" val="2678661285"/>
                    </a:ext>
                  </a:extLst>
                </a:gridCol>
                <a:gridCol w="2116428">
                  <a:extLst>
                    <a:ext uri="{9D8B030D-6E8A-4147-A177-3AD203B41FA5}">
                      <a16:colId xmlns:a16="http://schemas.microsoft.com/office/drawing/2014/main" val="3905078752"/>
                    </a:ext>
                  </a:extLst>
                </a:gridCol>
              </a:tblGrid>
              <a:tr h="0">
                <a:tc>
                  <a:txBody>
                    <a:bodyPr/>
                    <a:lstStyle/>
                    <a:p>
                      <a:pPr algn="ctr">
                        <a:lnSpc>
                          <a:spcPct val="107000"/>
                        </a:lnSpc>
                        <a:spcAft>
                          <a:spcPts val="0"/>
                        </a:spcAft>
                      </a:pPr>
                      <a:r>
                        <a:rPr lang="en-GB" sz="1400" dirty="0" err="1">
                          <a:solidFill>
                            <a:sysClr val="windowText" lastClr="000000"/>
                          </a:solidFill>
                          <a:effectLst/>
                        </a:rPr>
                        <a:t>SLid</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algn="ctr" defTabSz="914400" rtl="0" eaLnBrk="1" latinLnBrk="0" hangingPunct="1">
                        <a:lnSpc>
                          <a:spcPct val="107000"/>
                        </a:lnSpc>
                        <a:spcAft>
                          <a:spcPts val="0"/>
                        </a:spcAft>
                      </a:pPr>
                      <a:r>
                        <a:rPr lang="sv-SE" sz="1400" b="1" kern="1200" dirty="0" err="1">
                          <a:solidFill>
                            <a:sysClr val="windowText" lastClr="000000"/>
                          </a:solidFill>
                          <a:effectLst/>
                          <a:latin typeface="+mn-lt"/>
                          <a:ea typeface="+mn-ea"/>
                          <a:cs typeface="+mn-cs"/>
                        </a:rPr>
                        <a:t>SLcatchFraction</a:t>
                      </a:r>
                      <a:endParaRPr lang="sv-SE" sz="1400" b="1" kern="1200" dirty="0">
                        <a:solidFill>
                          <a:sysClr val="windowText" lastClr="000000"/>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SLcommercialTaxon</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SLspeciesCode</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52217015"/>
                  </a:ext>
                </a:extLst>
              </a:tr>
              <a:tr h="0">
                <a:tc>
                  <a:txBody>
                    <a:bodyPr/>
                    <a:lstStyle/>
                    <a:p>
                      <a:pPr algn="ctr">
                        <a:lnSpc>
                          <a:spcPct val="107000"/>
                        </a:lnSpc>
                        <a:spcAft>
                          <a:spcPts val="0"/>
                        </a:spcAft>
                      </a:pPr>
                      <a:r>
                        <a:rPr lang="en-GB" sz="1400" dirty="0">
                          <a:solidFill>
                            <a:sysClr val="windowText" lastClr="000000"/>
                          </a:solidFill>
                          <a:effectLst/>
                          <a:latin typeface="+mn-lt"/>
                          <a:ea typeface="+mn-ea"/>
                          <a:cs typeface="+mn-cs"/>
                        </a:rPr>
                        <a:t>1</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0"/>
                        </a:spcAft>
                      </a:pPr>
                      <a:r>
                        <a:rPr lang="en-US" sz="1400" b="1" kern="1200" dirty="0">
                          <a:solidFill>
                            <a:sysClr val="windowText" lastClr="000000"/>
                          </a:solidFill>
                          <a:latin typeface="+mn-lt"/>
                          <a:ea typeface="+mn-ea"/>
                          <a:cs typeface="+mn-cs"/>
                        </a:rPr>
                        <a:t>Lan</a:t>
                      </a:r>
                      <a:endParaRPr lang="sv-SE" sz="1400" b="1" kern="1200" dirty="0">
                        <a:solidFill>
                          <a:sysClr val="windowText" lastClr="000000"/>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sv-SE" sz="1400" b="1" i="1" dirty="0" err="1">
                          <a:solidFill>
                            <a:sysClr val="windowText" lastClr="000000"/>
                          </a:solidFill>
                        </a:rPr>
                        <a:t>Lophius</a:t>
                      </a:r>
                      <a:r>
                        <a:rPr lang="sv-SE" sz="1400" b="1" dirty="0">
                          <a:solidFill>
                            <a:sysClr val="windowText" lastClr="000000"/>
                          </a:solidFill>
                        </a:rPr>
                        <a:t> (125802)</a:t>
                      </a:r>
                      <a:endParaRPr lang="sv-SE"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dirty="0">
                          <a:solidFill>
                            <a:sysClr val="windowText" lastClr="000000"/>
                          </a:solidFill>
                          <a:effectLst/>
                        </a:rPr>
                        <a:t>L. </a:t>
                      </a:r>
                      <a:r>
                        <a:rPr lang="en-GB" sz="1400" i="1" dirty="0" err="1">
                          <a:solidFill>
                            <a:sysClr val="windowText" lastClr="000000"/>
                          </a:solidFill>
                          <a:effectLst/>
                        </a:rPr>
                        <a:t>piscatorius</a:t>
                      </a:r>
                      <a:r>
                        <a:rPr lang="en-GB" sz="1400" dirty="0">
                          <a:solidFill>
                            <a:sysClr val="windowText" lastClr="000000"/>
                          </a:solidFill>
                          <a:effectLst/>
                        </a:rPr>
                        <a:t> (126555)</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628527"/>
                  </a:ext>
                </a:extLst>
              </a:tr>
            </a:tbl>
          </a:graphicData>
        </a:graphic>
      </p:graphicFrame>
      <p:sp>
        <p:nvSpPr>
          <p:cNvPr id="5" name="Rectangle 1"/>
          <p:cNvSpPr>
            <a:spLocks noChangeArrowheads="1"/>
          </p:cNvSpPr>
          <p:nvPr/>
        </p:nvSpPr>
        <p:spPr bwMode="auto">
          <a:xfrm>
            <a:off x="614334" y="3292071"/>
            <a:ext cx="186102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Species List (SL via SS):</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nvGraphicFramePr>
        <p:xfrm>
          <a:off x="650576" y="1771831"/>
          <a:ext cx="9296717" cy="1127760"/>
        </p:xfrm>
        <a:graphic>
          <a:graphicData uri="http://schemas.openxmlformats.org/drawingml/2006/table">
            <a:tbl>
              <a:tblPr firstRow="1" bandRow="1">
                <a:tableStyleId>{5940675A-B579-460E-94D1-54222C63F5DA}</a:tableStyleId>
              </a:tblPr>
              <a:tblGrid>
                <a:gridCol w="1582840">
                  <a:extLst>
                    <a:ext uri="{9D8B030D-6E8A-4147-A177-3AD203B41FA5}">
                      <a16:colId xmlns:a16="http://schemas.microsoft.com/office/drawing/2014/main" val="1467388772"/>
                    </a:ext>
                  </a:extLst>
                </a:gridCol>
                <a:gridCol w="1582840">
                  <a:extLst>
                    <a:ext uri="{9D8B030D-6E8A-4147-A177-3AD203B41FA5}">
                      <a16:colId xmlns:a16="http://schemas.microsoft.com/office/drawing/2014/main" val="3049682952"/>
                    </a:ext>
                  </a:extLst>
                </a:gridCol>
                <a:gridCol w="2348745">
                  <a:extLst>
                    <a:ext uri="{9D8B030D-6E8A-4147-A177-3AD203B41FA5}">
                      <a16:colId xmlns:a16="http://schemas.microsoft.com/office/drawing/2014/main" val="2815465670"/>
                    </a:ext>
                  </a:extLst>
                </a:gridCol>
                <a:gridCol w="1103619">
                  <a:extLst>
                    <a:ext uri="{9D8B030D-6E8A-4147-A177-3AD203B41FA5}">
                      <a16:colId xmlns:a16="http://schemas.microsoft.com/office/drawing/2014/main" val="3151269377"/>
                    </a:ext>
                  </a:extLst>
                </a:gridCol>
                <a:gridCol w="960709">
                  <a:extLst>
                    <a:ext uri="{9D8B030D-6E8A-4147-A177-3AD203B41FA5}">
                      <a16:colId xmlns:a16="http://schemas.microsoft.com/office/drawing/2014/main" val="3307169097"/>
                    </a:ext>
                  </a:extLst>
                </a:gridCol>
                <a:gridCol w="1717964">
                  <a:extLst>
                    <a:ext uri="{9D8B030D-6E8A-4147-A177-3AD203B41FA5}">
                      <a16:colId xmlns:a16="http://schemas.microsoft.com/office/drawing/2014/main" val="2592601522"/>
                    </a:ext>
                  </a:extLst>
                </a:gridCol>
              </a:tblGrid>
              <a:tr h="192881">
                <a:tc>
                  <a:txBody>
                    <a:bodyPr/>
                    <a:lstStyle/>
                    <a:p>
                      <a:r>
                        <a:rPr lang="en-GB" sz="1400" b="1" dirty="0" err="1"/>
                        <a:t>SAsequenceNumber</a:t>
                      </a:r>
                      <a:endParaRPr lang="en-GB" sz="1400" b="1" dirty="0"/>
                    </a:p>
                  </a:txBody>
                  <a:tcPr>
                    <a:solidFill>
                      <a:schemeClr val="accent1">
                        <a:lumMod val="60000"/>
                        <a:lumOff val="40000"/>
                      </a:schemeClr>
                    </a:solidFill>
                  </a:tcPr>
                </a:tc>
                <a:tc>
                  <a:txBody>
                    <a:bodyPr/>
                    <a:lstStyle/>
                    <a:p>
                      <a:r>
                        <a:rPr lang="en-GB" sz="1400" b="1" dirty="0" err="1"/>
                        <a:t>SAparentSequenceNumber</a:t>
                      </a:r>
                      <a:endParaRPr lang="en-GB" sz="1400" b="1" dirty="0"/>
                    </a:p>
                  </a:txBody>
                  <a:tcPr>
                    <a:solidFill>
                      <a:schemeClr val="accent1">
                        <a:lumMod val="60000"/>
                        <a:lumOff val="40000"/>
                      </a:schemeClr>
                    </a:solidFill>
                  </a:tcPr>
                </a:tc>
                <a:tc>
                  <a:txBody>
                    <a:bodyPr/>
                    <a:lstStyle/>
                    <a:p>
                      <a:r>
                        <a:rPr lang="sv-SE" sz="1400" b="1" dirty="0"/>
                        <a:t>Species / Species </a:t>
                      </a:r>
                      <a:r>
                        <a:rPr lang="sv-SE" sz="1400" b="1" dirty="0" err="1"/>
                        <a:t>code</a:t>
                      </a:r>
                      <a:endParaRPr lang="en-GB" sz="1400" b="1" dirty="0"/>
                    </a:p>
                  </a:txBody>
                  <a:tcPr>
                    <a:solidFill>
                      <a:schemeClr val="accent1">
                        <a:lumMod val="60000"/>
                        <a:lumOff val="40000"/>
                      </a:schemeClr>
                    </a:solidFill>
                  </a:tcPr>
                </a:tc>
                <a:tc>
                  <a:txBody>
                    <a:bodyPr/>
                    <a:lstStyle/>
                    <a:p>
                      <a:pPr algn="ctr"/>
                      <a:r>
                        <a:rPr lang="en-GB" sz="1400" b="1" dirty="0" err="1"/>
                        <a:t>CatchCateg</a:t>
                      </a:r>
                      <a:endParaRPr lang="en-GB" sz="1400" b="1" dirty="0"/>
                    </a:p>
                  </a:txBody>
                  <a:tcPr>
                    <a:solidFill>
                      <a:schemeClr val="accent1">
                        <a:lumMod val="60000"/>
                        <a:lumOff val="40000"/>
                      </a:schemeClr>
                    </a:solidFill>
                  </a:tcPr>
                </a:tc>
                <a:tc>
                  <a:txBody>
                    <a:bodyPr/>
                    <a:lstStyle/>
                    <a:p>
                      <a:pPr algn="ctr"/>
                      <a:r>
                        <a:rPr lang="sv-SE" sz="1400" b="1" dirty="0" err="1"/>
                        <a:t>Weight</a:t>
                      </a:r>
                      <a:r>
                        <a:rPr lang="sv-SE" sz="1400" b="1" dirty="0"/>
                        <a:t> (kg)</a:t>
                      </a:r>
                      <a:endParaRPr lang="en-GB" sz="1400" b="1" dirty="0"/>
                    </a:p>
                  </a:txBody>
                  <a:tcPr>
                    <a:solidFill>
                      <a:schemeClr val="accent1">
                        <a:lumMod val="60000"/>
                        <a:lumOff val="40000"/>
                      </a:schemeClr>
                    </a:solidFill>
                  </a:tcPr>
                </a:tc>
                <a:tc>
                  <a:txBody>
                    <a:bodyPr/>
                    <a:lstStyle/>
                    <a:p>
                      <a:pPr algn="ctr"/>
                      <a:r>
                        <a:rPr lang="sv-SE" sz="1400" b="1" dirty="0" err="1"/>
                        <a:t>SampWeight</a:t>
                      </a:r>
                      <a:r>
                        <a:rPr lang="sv-SE" sz="1400" b="1" dirty="0"/>
                        <a:t> (kg)</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GB" sz="1400" i="1" dirty="0"/>
                        <a:t>1</a:t>
                      </a:r>
                    </a:p>
                  </a:txBody>
                  <a:tcPr/>
                </a:tc>
                <a:tc>
                  <a:txBody>
                    <a:bodyPr/>
                    <a:lstStyle/>
                    <a:p>
                      <a:endParaRPr lang="en-GB" sz="14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t>Lophius</a:t>
                      </a:r>
                      <a:r>
                        <a:rPr lang="en-GB" sz="1400" i="1" dirty="0"/>
                        <a:t> (</a:t>
                      </a:r>
                      <a:r>
                        <a:rPr lang="sv-SE" sz="1400" dirty="0">
                          <a:solidFill>
                            <a:sysClr val="windowText" lastClr="000000"/>
                          </a:solidFill>
                        </a:rPr>
                        <a:t>125802</a:t>
                      </a:r>
                      <a:r>
                        <a:rPr lang="en-GB" sz="1400" i="1" dirty="0"/>
                        <a:t>)</a:t>
                      </a:r>
                    </a:p>
                  </a:txBody>
                  <a:tcPr/>
                </a:tc>
                <a:tc>
                  <a:txBody>
                    <a:bodyPr/>
                    <a:lstStyle/>
                    <a:p>
                      <a:pPr algn="ctr"/>
                      <a:r>
                        <a:rPr lang="en-GB" sz="1400" dirty="0"/>
                        <a:t>Lan</a:t>
                      </a:r>
                    </a:p>
                  </a:txBody>
                  <a:tcPr/>
                </a:tc>
                <a:tc>
                  <a:txBody>
                    <a:bodyPr/>
                    <a:lstStyle/>
                    <a:p>
                      <a:pPr algn="ctr"/>
                      <a:r>
                        <a:rPr lang="en-GB" sz="1400" dirty="0"/>
                        <a:t>500</a:t>
                      </a:r>
                    </a:p>
                  </a:txBody>
                  <a:tcPr/>
                </a:tc>
                <a:tc>
                  <a:txBody>
                    <a:bodyPr/>
                    <a:lstStyle/>
                    <a:p>
                      <a:pPr algn="ctr"/>
                      <a:r>
                        <a:rPr lang="en-GB" sz="1400" dirty="0"/>
                        <a:t>100</a:t>
                      </a:r>
                    </a:p>
                  </a:txBody>
                  <a:tcPr/>
                </a:tc>
                <a:extLst>
                  <a:ext uri="{0D108BD9-81ED-4DB2-BD59-A6C34878D82A}">
                    <a16:rowId xmlns:a16="http://schemas.microsoft.com/office/drawing/2014/main" val="3178160418"/>
                  </a:ext>
                </a:extLst>
              </a:tr>
              <a:tr h="192881">
                <a:tc>
                  <a:txBody>
                    <a:bodyPr/>
                    <a:lstStyle/>
                    <a:p>
                      <a:r>
                        <a:rPr lang="en-GB" sz="1400" dirty="0"/>
                        <a:t>2</a:t>
                      </a:r>
                    </a:p>
                  </a:txBody>
                  <a:tcPr/>
                </a:tc>
                <a:tc>
                  <a:txBody>
                    <a:bodyPr/>
                    <a:lstStyle/>
                    <a:p>
                      <a:r>
                        <a:rPr lang="en-GB" sz="1400" dirty="0"/>
                        <a:t>1</a:t>
                      </a:r>
                    </a:p>
                  </a:txBody>
                  <a:tcPr/>
                </a:tc>
                <a:tc>
                  <a:txBody>
                    <a:bodyPr/>
                    <a:lstStyle/>
                    <a:p>
                      <a:r>
                        <a:rPr lang="en-US" sz="1400" i="1" dirty="0" err="1"/>
                        <a:t>Lophius</a:t>
                      </a:r>
                      <a:r>
                        <a:rPr lang="en-US" sz="1400" i="1" baseline="0" dirty="0"/>
                        <a:t> </a:t>
                      </a:r>
                      <a:r>
                        <a:rPr lang="en-US" sz="1400" i="1" baseline="0" dirty="0" err="1"/>
                        <a:t>piscatorius</a:t>
                      </a:r>
                      <a:r>
                        <a:rPr lang="en-US" sz="1400" i="1" baseline="0" dirty="0"/>
                        <a:t> (126555)</a:t>
                      </a:r>
                      <a:endParaRPr lang="en-GB" sz="1400" dirty="0"/>
                    </a:p>
                  </a:txBody>
                  <a:tcPr/>
                </a:tc>
                <a:tc>
                  <a:txBody>
                    <a:bodyPr/>
                    <a:lstStyle/>
                    <a:p>
                      <a:pPr algn="ctr"/>
                      <a:r>
                        <a:rPr lang="en-GB" sz="1400" dirty="0"/>
                        <a:t>Lan</a:t>
                      </a:r>
                    </a:p>
                  </a:txBody>
                  <a:tcPr/>
                </a:tc>
                <a:tc>
                  <a:txBody>
                    <a:bodyPr/>
                    <a:lstStyle/>
                    <a:p>
                      <a:pPr algn="ctr"/>
                      <a:r>
                        <a:rPr lang="en-US" sz="1400" dirty="0"/>
                        <a:t>100</a:t>
                      </a:r>
                      <a:endParaRPr lang="en-GB" sz="1400" dirty="0"/>
                    </a:p>
                  </a:txBody>
                  <a:tcPr/>
                </a:tc>
                <a:tc>
                  <a:txBody>
                    <a:bodyPr/>
                    <a:lstStyle/>
                    <a:p>
                      <a:pPr algn="ctr"/>
                      <a:r>
                        <a:rPr lang="en-GB" sz="1400" dirty="0"/>
                        <a:t>100</a:t>
                      </a:r>
                    </a:p>
                  </a:txBody>
                  <a:tcPr/>
                </a:tc>
                <a:extLst>
                  <a:ext uri="{0D108BD9-81ED-4DB2-BD59-A6C34878D82A}">
                    <a16:rowId xmlns:a16="http://schemas.microsoft.com/office/drawing/2014/main" val="3375731275"/>
                  </a:ext>
                </a:extLst>
              </a:tr>
            </a:tbl>
          </a:graphicData>
        </a:graphic>
      </p:graphicFrame>
      <p:sp>
        <p:nvSpPr>
          <p:cNvPr id="8" name="Rectangle 1"/>
          <p:cNvSpPr>
            <a:spLocks noChangeArrowheads="1"/>
          </p:cNvSpPr>
          <p:nvPr/>
        </p:nvSpPr>
        <p:spPr bwMode="auto">
          <a:xfrm>
            <a:off x="650576" y="1464054"/>
            <a:ext cx="112825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Sample (SA):</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325234" y="3047091"/>
            <a:ext cx="2465611" cy="307777"/>
          </a:xfrm>
          <a:prstGeom prst="rect">
            <a:avLst/>
          </a:prstGeom>
          <a:noFill/>
        </p:spPr>
        <p:txBody>
          <a:bodyPr wrap="none" rtlCol="0">
            <a:spAutoFit/>
          </a:bodyPr>
          <a:lstStyle/>
          <a:p>
            <a:r>
              <a:rPr lang="en-US" sz="1400" i="1" dirty="0"/>
              <a:t>Taxon being sampled at market</a:t>
            </a:r>
            <a:endParaRPr lang="sv-SE" sz="1400" i="1" dirty="0"/>
          </a:p>
        </p:txBody>
      </p:sp>
      <p:cxnSp>
        <p:nvCxnSpPr>
          <p:cNvPr id="15" name="Straight Arrow Connector 14"/>
          <p:cNvCxnSpPr/>
          <p:nvPr/>
        </p:nvCxnSpPr>
        <p:spPr>
          <a:xfrm flipH="1">
            <a:off x="6021266" y="3292071"/>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
          <p:cNvSpPr>
            <a:spLocks noChangeArrowheads="1"/>
          </p:cNvSpPr>
          <p:nvPr/>
        </p:nvSpPr>
        <p:spPr bwMode="auto">
          <a:xfrm>
            <a:off x="10375768" y="5515803"/>
            <a:ext cx="16114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GB" altLang="sv-SE" sz="1400" i="1" dirty="0"/>
              <a:t>added to SA during </a:t>
            </a:r>
            <a:br>
              <a:rPr lang="en-GB" altLang="sv-SE" sz="1400" i="1" dirty="0"/>
            </a:br>
            <a:r>
              <a:rPr lang="en-GB" altLang="sv-SE" sz="1400" i="1" dirty="0"/>
              <a:t>estimation</a:t>
            </a:r>
            <a:endParaRPr lang="sv-SE" altLang="sv-SE" sz="1400" i="1" dirty="0"/>
          </a:p>
        </p:txBody>
      </p:sp>
      <p:sp>
        <p:nvSpPr>
          <p:cNvPr id="12" name="TextBox 11"/>
          <p:cNvSpPr txBox="1"/>
          <p:nvPr/>
        </p:nvSpPr>
        <p:spPr>
          <a:xfrm>
            <a:off x="10312134" y="1882765"/>
            <a:ext cx="1502719" cy="523220"/>
          </a:xfrm>
          <a:prstGeom prst="rect">
            <a:avLst/>
          </a:prstGeom>
          <a:noFill/>
        </p:spPr>
        <p:txBody>
          <a:bodyPr wrap="none" rtlCol="0">
            <a:spAutoFit/>
          </a:bodyPr>
          <a:lstStyle/>
          <a:p>
            <a:r>
              <a:rPr lang="en-US" sz="1400" i="1" dirty="0"/>
              <a:t>Taxon sampled at </a:t>
            </a:r>
            <a:br>
              <a:rPr lang="en-US" sz="1400" i="1" dirty="0"/>
            </a:br>
            <a:r>
              <a:rPr lang="en-US" sz="1400" i="1" dirty="0"/>
              <a:t>market</a:t>
            </a:r>
            <a:endParaRPr lang="sv-SE" sz="1400" i="1" dirty="0"/>
          </a:p>
        </p:txBody>
      </p:sp>
      <p:cxnSp>
        <p:nvCxnSpPr>
          <p:cNvPr id="13" name="Straight Arrow Connector 12"/>
          <p:cNvCxnSpPr/>
          <p:nvPr/>
        </p:nvCxnSpPr>
        <p:spPr>
          <a:xfrm flipH="1">
            <a:off x="9988852" y="2211324"/>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325990" y="2634513"/>
            <a:ext cx="1589859" cy="523220"/>
          </a:xfrm>
          <a:prstGeom prst="rect">
            <a:avLst/>
          </a:prstGeom>
          <a:noFill/>
        </p:spPr>
        <p:txBody>
          <a:bodyPr wrap="none" rtlCol="0">
            <a:spAutoFit/>
          </a:bodyPr>
          <a:lstStyle/>
          <a:p>
            <a:r>
              <a:rPr lang="en-US" sz="1400" i="1" dirty="0"/>
              <a:t>Taxon identified by </a:t>
            </a:r>
            <a:br>
              <a:rPr lang="en-US" sz="1400" i="1" dirty="0"/>
            </a:br>
            <a:r>
              <a:rPr lang="en-US" sz="1400" i="1" dirty="0"/>
              <a:t>observers</a:t>
            </a:r>
            <a:endParaRPr lang="sv-SE" sz="1400" i="1" dirty="0"/>
          </a:p>
        </p:txBody>
      </p:sp>
      <p:cxnSp>
        <p:nvCxnSpPr>
          <p:cNvPr id="18" name="Straight Arrow Connector 17"/>
          <p:cNvCxnSpPr/>
          <p:nvPr/>
        </p:nvCxnSpPr>
        <p:spPr>
          <a:xfrm flipH="1" flipV="1">
            <a:off x="10002712" y="2762002"/>
            <a:ext cx="318654" cy="831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4911556" y="4657079"/>
            <a:ext cx="2287" cy="32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279409" y="3204640"/>
            <a:ext cx="1589859" cy="523220"/>
          </a:xfrm>
          <a:prstGeom prst="rect">
            <a:avLst/>
          </a:prstGeom>
          <a:noFill/>
        </p:spPr>
        <p:txBody>
          <a:bodyPr wrap="none" rtlCol="0">
            <a:spAutoFit/>
          </a:bodyPr>
          <a:lstStyle/>
          <a:p>
            <a:r>
              <a:rPr lang="en-US" sz="1400" i="1" dirty="0"/>
              <a:t>Taxon identified by </a:t>
            </a:r>
            <a:br>
              <a:rPr lang="en-US" sz="1400" i="1" dirty="0"/>
            </a:br>
            <a:r>
              <a:rPr lang="en-US" sz="1400" i="1" dirty="0"/>
              <a:t>observers</a:t>
            </a:r>
            <a:endParaRPr lang="sv-SE" sz="1400" i="1" dirty="0"/>
          </a:p>
        </p:txBody>
      </p:sp>
      <p:cxnSp>
        <p:nvCxnSpPr>
          <p:cNvPr id="22" name="Straight Arrow Connector 21"/>
          <p:cNvCxnSpPr/>
          <p:nvPr/>
        </p:nvCxnSpPr>
        <p:spPr>
          <a:xfrm flipH="1">
            <a:off x="8770334" y="3334760"/>
            <a:ext cx="489553" cy="2384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10500" y="2936696"/>
            <a:ext cx="338554" cy="461665"/>
          </a:xfrm>
          <a:prstGeom prst="rect">
            <a:avLst/>
          </a:prstGeom>
          <a:noFill/>
        </p:spPr>
        <p:txBody>
          <a:bodyPr wrap="none" rtlCol="0">
            <a:spAutoFit/>
          </a:bodyPr>
          <a:lstStyle/>
          <a:p>
            <a:r>
              <a:rPr lang="en-US" sz="2400" b="1" dirty="0"/>
              <a:t>+</a:t>
            </a:r>
          </a:p>
        </p:txBody>
      </p:sp>
      <p:graphicFrame>
        <p:nvGraphicFramePr>
          <p:cNvPr id="23" name="Table 22"/>
          <p:cNvGraphicFramePr>
            <a:graphicFrameLocks noGrp="1"/>
          </p:cNvGraphicFramePr>
          <p:nvPr>
            <p:extLst>
              <p:ext uri="{D42A27DB-BD31-4B8C-83A1-F6EECF244321}">
                <p14:modId xmlns:p14="http://schemas.microsoft.com/office/powerpoint/2010/main" val="1139795535"/>
              </p:ext>
            </p:extLst>
          </p:nvPr>
        </p:nvGraphicFramePr>
        <p:xfrm>
          <a:off x="650576" y="5061133"/>
          <a:ext cx="9296717" cy="1737360"/>
        </p:xfrm>
        <a:graphic>
          <a:graphicData uri="http://schemas.openxmlformats.org/drawingml/2006/table">
            <a:tbl>
              <a:tblPr firstRow="1" bandRow="1">
                <a:tableStyleId>{5940675A-B579-460E-94D1-54222C63F5DA}</a:tableStyleId>
              </a:tblPr>
              <a:tblGrid>
                <a:gridCol w="1582840">
                  <a:extLst>
                    <a:ext uri="{9D8B030D-6E8A-4147-A177-3AD203B41FA5}">
                      <a16:colId xmlns:a16="http://schemas.microsoft.com/office/drawing/2014/main" val="1467388772"/>
                    </a:ext>
                  </a:extLst>
                </a:gridCol>
                <a:gridCol w="1582840">
                  <a:extLst>
                    <a:ext uri="{9D8B030D-6E8A-4147-A177-3AD203B41FA5}">
                      <a16:colId xmlns:a16="http://schemas.microsoft.com/office/drawing/2014/main" val="3049682952"/>
                    </a:ext>
                  </a:extLst>
                </a:gridCol>
                <a:gridCol w="2348745">
                  <a:extLst>
                    <a:ext uri="{9D8B030D-6E8A-4147-A177-3AD203B41FA5}">
                      <a16:colId xmlns:a16="http://schemas.microsoft.com/office/drawing/2014/main" val="2815465670"/>
                    </a:ext>
                  </a:extLst>
                </a:gridCol>
                <a:gridCol w="1117601">
                  <a:extLst>
                    <a:ext uri="{9D8B030D-6E8A-4147-A177-3AD203B41FA5}">
                      <a16:colId xmlns:a16="http://schemas.microsoft.com/office/drawing/2014/main" val="3151269377"/>
                    </a:ext>
                  </a:extLst>
                </a:gridCol>
                <a:gridCol w="946727">
                  <a:extLst>
                    <a:ext uri="{9D8B030D-6E8A-4147-A177-3AD203B41FA5}">
                      <a16:colId xmlns:a16="http://schemas.microsoft.com/office/drawing/2014/main" val="3307169097"/>
                    </a:ext>
                  </a:extLst>
                </a:gridCol>
                <a:gridCol w="1717964">
                  <a:extLst>
                    <a:ext uri="{9D8B030D-6E8A-4147-A177-3AD203B41FA5}">
                      <a16:colId xmlns:a16="http://schemas.microsoft.com/office/drawing/2014/main" val="2592601522"/>
                    </a:ext>
                  </a:extLst>
                </a:gridCol>
              </a:tblGrid>
              <a:tr h="192881">
                <a:tc>
                  <a:txBody>
                    <a:bodyPr/>
                    <a:lstStyle/>
                    <a:p>
                      <a:r>
                        <a:rPr lang="en-GB" sz="1400" b="1" dirty="0" err="1"/>
                        <a:t>SAsequenceNumber</a:t>
                      </a:r>
                      <a:endParaRPr lang="en-GB" sz="1400" b="1" dirty="0"/>
                    </a:p>
                  </a:txBody>
                  <a:tcPr>
                    <a:solidFill>
                      <a:schemeClr val="accent1">
                        <a:lumMod val="60000"/>
                        <a:lumOff val="40000"/>
                      </a:schemeClr>
                    </a:solidFill>
                  </a:tcPr>
                </a:tc>
                <a:tc>
                  <a:txBody>
                    <a:bodyPr/>
                    <a:lstStyle/>
                    <a:p>
                      <a:r>
                        <a:rPr lang="en-GB" sz="1400" b="1" dirty="0" err="1"/>
                        <a:t>SAparentSequenceNumber</a:t>
                      </a:r>
                      <a:endParaRPr lang="en-GB" sz="1400" b="1" dirty="0"/>
                    </a:p>
                  </a:txBody>
                  <a:tcPr>
                    <a:solidFill>
                      <a:schemeClr val="accent1">
                        <a:lumMod val="60000"/>
                        <a:lumOff val="40000"/>
                      </a:schemeClr>
                    </a:solidFill>
                  </a:tcPr>
                </a:tc>
                <a:tc>
                  <a:txBody>
                    <a:bodyPr/>
                    <a:lstStyle/>
                    <a:p>
                      <a:r>
                        <a:rPr lang="sv-SE" sz="1400" b="1" dirty="0"/>
                        <a:t>Species / Species </a:t>
                      </a:r>
                      <a:r>
                        <a:rPr lang="sv-SE" sz="1400" b="1" dirty="0" err="1"/>
                        <a:t>code</a:t>
                      </a:r>
                      <a:endParaRPr lang="en-GB" sz="1400" b="1" dirty="0"/>
                    </a:p>
                  </a:txBody>
                  <a:tcPr>
                    <a:solidFill>
                      <a:schemeClr val="accent1">
                        <a:lumMod val="60000"/>
                        <a:lumOff val="40000"/>
                      </a:schemeClr>
                    </a:solidFill>
                  </a:tcPr>
                </a:tc>
                <a:tc>
                  <a:txBody>
                    <a:bodyPr/>
                    <a:lstStyle/>
                    <a:p>
                      <a:pPr algn="ctr"/>
                      <a:r>
                        <a:rPr lang="en-GB" sz="1400" b="1" dirty="0" err="1"/>
                        <a:t>CatchCateg</a:t>
                      </a:r>
                      <a:endParaRPr lang="en-GB" sz="1400" b="1" dirty="0"/>
                    </a:p>
                  </a:txBody>
                  <a:tcPr>
                    <a:solidFill>
                      <a:schemeClr val="accent1">
                        <a:lumMod val="60000"/>
                        <a:lumOff val="40000"/>
                      </a:schemeClr>
                    </a:solidFill>
                  </a:tcPr>
                </a:tc>
                <a:tc>
                  <a:txBody>
                    <a:bodyPr/>
                    <a:lstStyle/>
                    <a:p>
                      <a:pPr algn="ctr"/>
                      <a:r>
                        <a:rPr lang="sv-SE" sz="1400" b="1" dirty="0" err="1"/>
                        <a:t>Weight</a:t>
                      </a:r>
                      <a:r>
                        <a:rPr lang="sv-SE" sz="1400" b="1" dirty="0"/>
                        <a:t> (kg)</a:t>
                      </a:r>
                      <a:endParaRPr lang="en-GB" sz="1400" b="1" dirty="0"/>
                    </a:p>
                  </a:txBody>
                  <a:tcPr>
                    <a:solidFill>
                      <a:schemeClr val="accent1">
                        <a:lumMod val="60000"/>
                        <a:lumOff val="40000"/>
                      </a:schemeClr>
                    </a:solidFill>
                  </a:tcPr>
                </a:tc>
                <a:tc>
                  <a:txBody>
                    <a:bodyPr/>
                    <a:lstStyle/>
                    <a:p>
                      <a:pPr algn="ctr"/>
                      <a:r>
                        <a:rPr lang="sv-SE" sz="1400" b="1" dirty="0" err="1"/>
                        <a:t>SampWeight</a:t>
                      </a:r>
                      <a:r>
                        <a:rPr lang="sv-SE" sz="1400" b="1" dirty="0"/>
                        <a:t> (kg)</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GB" sz="1400" i="1" dirty="0"/>
                        <a:t>1</a:t>
                      </a:r>
                    </a:p>
                  </a:txBody>
                  <a:tcPr/>
                </a:tc>
                <a:tc>
                  <a:txBody>
                    <a:bodyPr/>
                    <a:lstStyle/>
                    <a:p>
                      <a:endParaRPr lang="en-GB" sz="1400" i="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t>Lophius</a:t>
                      </a:r>
                      <a:r>
                        <a:rPr lang="en-GB" sz="1400" i="1" dirty="0"/>
                        <a:t> (</a:t>
                      </a:r>
                      <a:r>
                        <a:rPr lang="sv-SE" sz="1400" dirty="0">
                          <a:solidFill>
                            <a:sysClr val="windowText" lastClr="000000"/>
                          </a:solidFill>
                        </a:rPr>
                        <a:t>125802</a:t>
                      </a:r>
                      <a:r>
                        <a:rPr lang="en-GB" sz="1400" i="1" dirty="0"/>
                        <a:t>)</a:t>
                      </a:r>
                    </a:p>
                  </a:txBody>
                  <a:tcPr/>
                </a:tc>
                <a:tc>
                  <a:txBody>
                    <a:bodyPr/>
                    <a:lstStyle/>
                    <a:p>
                      <a:pPr algn="ctr"/>
                      <a:r>
                        <a:rPr lang="en-GB" sz="1400" dirty="0"/>
                        <a:t>Lan</a:t>
                      </a:r>
                    </a:p>
                  </a:txBody>
                  <a:tcPr/>
                </a:tc>
                <a:tc>
                  <a:txBody>
                    <a:bodyPr/>
                    <a:lstStyle/>
                    <a:p>
                      <a:pPr algn="ctr"/>
                      <a:r>
                        <a:rPr lang="en-GB" sz="1400" dirty="0"/>
                        <a:t>500</a:t>
                      </a:r>
                    </a:p>
                  </a:txBody>
                  <a:tcPr/>
                </a:tc>
                <a:tc>
                  <a:txBody>
                    <a:bodyPr/>
                    <a:lstStyle/>
                    <a:p>
                      <a:pPr algn="ctr"/>
                      <a:r>
                        <a:rPr lang="en-GB" sz="1400" dirty="0"/>
                        <a:t>100</a:t>
                      </a:r>
                    </a:p>
                  </a:txBody>
                  <a:tcPr/>
                </a:tc>
                <a:extLst>
                  <a:ext uri="{0D108BD9-81ED-4DB2-BD59-A6C34878D82A}">
                    <a16:rowId xmlns:a16="http://schemas.microsoft.com/office/drawing/2014/main" val="3178160418"/>
                  </a:ext>
                </a:extLst>
              </a:tr>
              <a:tr h="192881">
                <a:tc>
                  <a:txBody>
                    <a:bodyPr/>
                    <a:lstStyle/>
                    <a:p>
                      <a:r>
                        <a:rPr lang="en-GB" sz="1400" dirty="0"/>
                        <a:t>2</a:t>
                      </a:r>
                    </a:p>
                  </a:txBody>
                  <a:tcPr/>
                </a:tc>
                <a:tc>
                  <a:txBody>
                    <a:bodyPr/>
                    <a:lstStyle/>
                    <a:p>
                      <a:r>
                        <a:rPr lang="en-GB" sz="1400" dirty="0"/>
                        <a:t>1</a:t>
                      </a:r>
                    </a:p>
                  </a:txBody>
                  <a:tcPr/>
                </a:tc>
                <a:tc>
                  <a:txBody>
                    <a:bodyPr/>
                    <a:lstStyle/>
                    <a:p>
                      <a:r>
                        <a:rPr lang="en-US" sz="1400" i="1" dirty="0" err="1"/>
                        <a:t>Lophius</a:t>
                      </a:r>
                      <a:r>
                        <a:rPr lang="en-US" sz="1400" i="1" baseline="0" dirty="0"/>
                        <a:t> </a:t>
                      </a:r>
                      <a:r>
                        <a:rPr lang="en-US" sz="1400" i="1" baseline="0" dirty="0" err="1"/>
                        <a:t>piscatorius</a:t>
                      </a:r>
                      <a:r>
                        <a:rPr lang="en-US" sz="1400" i="1" baseline="0" dirty="0"/>
                        <a:t> (126555)</a:t>
                      </a:r>
                      <a:endParaRPr lang="en-GB" sz="1400" dirty="0"/>
                    </a:p>
                  </a:txBody>
                  <a:tcPr/>
                </a:tc>
                <a:tc>
                  <a:txBody>
                    <a:bodyPr/>
                    <a:lstStyle/>
                    <a:p>
                      <a:pPr algn="ctr"/>
                      <a:r>
                        <a:rPr lang="en-GB" sz="1400" dirty="0"/>
                        <a:t>Lan</a:t>
                      </a:r>
                    </a:p>
                  </a:txBody>
                  <a:tcPr/>
                </a:tc>
                <a:tc>
                  <a:txBody>
                    <a:bodyPr/>
                    <a:lstStyle/>
                    <a:p>
                      <a:pPr algn="ctr"/>
                      <a:r>
                        <a:rPr lang="en-US" sz="1400" dirty="0"/>
                        <a:t>100</a:t>
                      </a:r>
                      <a:endParaRPr lang="en-GB" sz="1400" dirty="0"/>
                    </a:p>
                  </a:txBody>
                  <a:tcPr/>
                </a:tc>
                <a:tc>
                  <a:txBody>
                    <a:bodyPr/>
                    <a:lstStyle/>
                    <a:p>
                      <a:pPr algn="ctr"/>
                      <a:r>
                        <a:rPr lang="en-GB" sz="1400" dirty="0"/>
                        <a:t>100</a:t>
                      </a:r>
                    </a:p>
                  </a:txBody>
                  <a:tcPr/>
                </a:tc>
                <a:extLst>
                  <a:ext uri="{0D108BD9-81ED-4DB2-BD59-A6C34878D82A}">
                    <a16:rowId xmlns:a16="http://schemas.microsoft.com/office/drawing/2014/main" val="3375731275"/>
                  </a:ext>
                </a:extLst>
              </a:tr>
              <a:tr h="192881">
                <a:tc>
                  <a:txBody>
                    <a:bodyPr/>
                    <a:lstStyle/>
                    <a:p>
                      <a:r>
                        <a:rPr lang="en-GB" sz="1400" dirty="0">
                          <a:solidFill>
                            <a:schemeClr val="bg2">
                              <a:lumMod val="50000"/>
                            </a:schemeClr>
                          </a:solidFill>
                        </a:rPr>
                        <a:t>3</a:t>
                      </a:r>
                    </a:p>
                  </a:txBody>
                  <a:tcPr/>
                </a:tc>
                <a:tc>
                  <a:txBody>
                    <a:bodyPr/>
                    <a:lstStyle/>
                    <a:p>
                      <a:r>
                        <a:rPr lang="en-GB" sz="1400" dirty="0">
                          <a:solidFill>
                            <a:schemeClr val="bg2">
                              <a:lumMod val="50000"/>
                            </a:schemeClr>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err="1">
                          <a:solidFill>
                            <a:schemeClr val="bg2">
                              <a:lumMod val="50000"/>
                            </a:schemeClr>
                          </a:solidFill>
                          <a:effectLst/>
                        </a:rPr>
                        <a:t>Lophius</a:t>
                      </a:r>
                      <a:r>
                        <a:rPr lang="en-GB" sz="1400" i="1" dirty="0">
                          <a:solidFill>
                            <a:schemeClr val="bg2">
                              <a:lumMod val="50000"/>
                            </a:schemeClr>
                          </a:solidFill>
                          <a:effectLst/>
                        </a:rPr>
                        <a:t> </a:t>
                      </a:r>
                      <a:r>
                        <a:rPr lang="en-GB" sz="1400" i="1" dirty="0" err="1">
                          <a:solidFill>
                            <a:schemeClr val="bg2">
                              <a:lumMod val="50000"/>
                            </a:schemeClr>
                          </a:solidFill>
                          <a:effectLst/>
                        </a:rPr>
                        <a:t>budegassa</a:t>
                      </a:r>
                      <a:r>
                        <a:rPr lang="en-GB" sz="1400" dirty="0">
                          <a:solidFill>
                            <a:schemeClr val="bg2">
                              <a:lumMod val="50000"/>
                            </a:schemeClr>
                          </a:solidFill>
                          <a:effectLst/>
                        </a:rPr>
                        <a:t> (126554)</a:t>
                      </a:r>
                      <a:endParaRPr lang="sv-SE" sz="14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GB" sz="1400" dirty="0">
                          <a:solidFill>
                            <a:schemeClr val="bg2">
                              <a:lumMod val="50000"/>
                            </a:schemeClr>
                          </a:solidFill>
                        </a:rPr>
                        <a:t>Lan</a:t>
                      </a:r>
                    </a:p>
                  </a:txBody>
                  <a:tcPr/>
                </a:tc>
                <a:tc>
                  <a:txBody>
                    <a:bodyPr/>
                    <a:lstStyle/>
                    <a:p>
                      <a:pPr algn="ctr"/>
                      <a:r>
                        <a:rPr lang="en-US" sz="1400" dirty="0">
                          <a:solidFill>
                            <a:schemeClr val="bg2">
                              <a:lumMod val="50000"/>
                            </a:schemeClr>
                          </a:solidFill>
                        </a:rPr>
                        <a:t>NA</a:t>
                      </a:r>
                      <a:endParaRPr lang="en-GB" sz="1400" dirty="0">
                        <a:solidFill>
                          <a:schemeClr val="bg2">
                            <a:lumMod val="50000"/>
                          </a:schemeClr>
                        </a:solidFill>
                      </a:endParaRPr>
                    </a:p>
                  </a:txBody>
                  <a:tcPr/>
                </a:tc>
                <a:tc>
                  <a:txBody>
                    <a:bodyPr/>
                    <a:lstStyle/>
                    <a:p>
                      <a:pPr algn="ctr"/>
                      <a:r>
                        <a:rPr lang="en-GB" sz="1400" dirty="0">
                          <a:solidFill>
                            <a:schemeClr val="bg2">
                              <a:lumMod val="50000"/>
                            </a:schemeClr>
                          </a:solidFill>
                        </a:rPr>
                        <a:t>NA</a:t>
                      </a:r>
                    </a:p>
                  </a:txBody>
                  <a:tcPr/>
                </a:tc>
                <a:extLst>
                  <a:ext uri="{0D108BD9-81ED-4DB2-BD59-A6C34878D82A}">
                    <a16:rowId xmlns:a16="http://schemas.microsoft.com/office/drawing/2014/main" val="257697910"/>
                  </a:ext>
                </a:extLst>
              </a:tr>
              <a:tr h="192881">
                <a:tc>
                  <a:txBody>
                    <a:bodyPr/>
                    <a:lstStyle/>
                    <a:p>
                      <a:r>
                        <a:rPr lang="en-GB" sz="1400" dirty="0">
                          <a:solidFill>
                            <a:schemeClr val="bg2">
                              <a:lumMod val="50000"/>
                            </a:schemeClr>
                          </a:solidFill>
                        </a:rPr>
                        <a:t>4</a:t>
                      </a:r>
                    </a:p>
                  </a:txBody>
                  <a:tcPr/>
                </a:tc>
                <a:tc>
                  <a:txBody>
                    <a:bodyPr/>
                    <a:lstStyle/>
                    <a:p>
                      <a:r>
                        <a:rPr lang="en-GB" sz="1400" dirty="0">
                          <a:solidFill>
                            <a:schemeClr val="bg2">
                              <a:lumMod val="50000"/>
                            </a:schemeClr>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400" i="1" dirty="0" err="1">
                          <a:solidFill>
                            <a:schemeClr val="bg2">
                              <a:lumMod val="50000"/>
                            </a:schemeClr>
                          </a:solidFill>
                        </a:rPr>
                        <a:t>Lophius</a:t>
                      </a:r>
                      <a:r>
                        <a:rPr lang="sv-SE" sz="1400" dirty="0">
                          <a:solidFill>
                            <a:schemeClr val="bg2">
                              <a:lumMod val="50000"/>
                            </a:schemeClr>
                          </a:solidFill>
                        </a:rPr>
                        <a:t> (125802)</a:t>
                      </a:r>
                      <a:endParaRPr lang="sv-SE" sz="1400" dirty="0">
                        <a:solidFill>
                          <a:schemeClr val="bg2">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GB" sz="1400" dirty="0">
                          <a:solidFill>
                            <a:schemeClr val="bg2">
                              <a:lumMod val="50000"/>
                            </a:schemeClr>
                          </a:solidFill>
                        </a:rPr>
                        <a:t>Lan</a:t>
                      </a:r>
                    </a:p>
                  </a:txBody>
                  <a:tcPr/>
                </a:tc>
                <a:tc>
                  <a:txBody>
                    <a:bodyPr/>
                    <a:lstStyle/>
                    <a:p>
                      <a:pPr algn="ctr"/>
                      <a:r>
                        <a:rPr lang="en-US" sz="1400" dirty="0">
                          <a:solidFill>
                            <a:schemeClr val="bg2">
                              <a:lumMod val="50000"/>
                            </a:schemeClr>
                          </a:solidFill>
                        </a:rPr>
                        <a:t>NA</a:t>
                      </a:r>
                      <a:endParaRPr lang="en-GB" sz="1400" dirty="0">
                        <a:solidFill>
                          <a:schemeClr val="bg2">
                            <a:lumMod val="50000"/>
                          </a:schemeClr>
                        </a:solidFill>
                      </a:endParaRPr>
                    </a:p>
                  </a:txBody>
                  <a:tcPr/>
                </a:tc>
                <a:tc>
                  <a:txBody>
                    <a:bodyPr/>
                    <a:lstStyle/>
                    <a:p>
                      <a:pPr algn="ctr"/>
                      <a:r>
                        <a:rPr lang="en-GB" sz="1400" dirty="0">
                          <a:solidFill>
                            <a:schemeClr val="bg2">
                              <a:lumMod val="50000"/>
                            </a:schemeClr>
                          </a:solidFill>
                        </a:rPr>
                        <a:t>NA</a:t>
                      </a:r>
                    </a:p>
                  </a:txBody>
                  <a:tcPr/>
                </a:tc>
                <a:extLst>
                  <a:ext uri="{0D108BD9-81ED-4DB2-BD59-A6C34878D82A}">
                    <a16:rowId xmlns:a16="http://schemas.microsoft.com/office/drawing/2014/main" val="212428177"/>
                  </a:ext>
                </a:extLst>
              </a:tr>
            </a:tbl>
          </a:graphicData>
        </a:graphic>
      </p:graphicFrame>
      <p:cxnSp>
        <p:nvCxnSpPr>
          <p:cNvPr id="24" name="Straight Arrow Connector 23"/>
          <p:cNvCxnSpPr/>
          <p:nvPr/>
        </p:nvCxnSpPr>
        <p:spPr>
          <a:xfrm flipH="1">
            <a:off x="10098800" y="6044005"/>
            <a:ext cx="309428" cy="2067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0098800" y="6039023"/>
            <a:ext cx="309428" cy="605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34670" y="4700714"/>
            <a:ext cx="9763609" cy="338403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580673" y="4699337"/>
            <a:ext cx="6982996" cy="369332"/>
          </a:xfrm>
          <a:prstGeom prst="rect">
            <a:avLst/>
          </a:prstGeom>
          <a:noFill/>
        </p:spPr>
        <p:txBody>
          <a:bodyPr wrap="square" rtlCol="0">
            <a:spAutoFit/>
          </a:bodyPr>
          <a:lstStyle/>
          <a:p>
            <a:r>
              <a:rPr lang="en-US" b="1" dirty="0"/>
              <a:t>RDBES (during estimation)</a:t>
            </a:r>
          </a:p>
        </p:txBody>
      </p:sp>
      <p:sp>
        <p:nvSpPr>
          <p:cNvPr id="28" name="Right Arrow 27"/>
          <p:cNvSpPr/>
          <p:nvPr/>
        </p:nvSpPr>
        <p:spPr>
          <a:xfrm rot="1800214">
            <a:off x="-183208" y="3177357"/>
            <a:ext cx="759125" cy="931653"/>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590538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p>
        </p:txBody>
      </p:sp>
      <p:sp>
        <p:nvSpPr>
          <p:cNvPr id="3" name="Content Placeholder 2"/>
          <p:cNvSpPr>
            <a:spLocks noGrp="1"/>
          </p:cNvSpPr>
          <p:nvPr>
            <p:ph idx="1"/>
          </p:nvPr>
        </p:nvSpPr>
        <p:spPr/>
        <p:txBody>
          <a:bodyPr/>
          <a:lstStyle/>
          <a:p>
            <a:r>
              <a:rPr lang="en-US" dirty="0"/>
              <a:t>The role of SL, SS and FO combined in differentiating true values from missing zeros in different areas of the vessel</a:t>
            </a:r>
          </a:p>
        </p:txBody>
      </p:sp>
    </p:spTree>
    <p:extLst>
      <p:ext uri="{BB962C8B-B14F-4D97-AF65-F5344CB8AC3E}">
        <p14:creationId xmlns:p14="http://schemas.microsoft.com/office/powerpoint/2010/main" val="2232986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example 3</a:t>
            </a:r>
            <a:endParaRPr lang="sv-SE" dirty="0"/>
          </a:p>
        </p:txBody>
      </p:sp>
      <p:sp>
        <p:nvSpPr>
          <p:cNvPr id="3" name="Content Placeholder 2"/>
          <p:cNvSpPr>
            <a:spLocks noGrp="1"/>
          </p:cNvSpPr>
          <p:nvPr>
            <p:ph idx="1"/>
          </p:nvPr>
        </p:nvSpPr>
        <p:spPr/>
        <p:txBody>
          <a:bodyPr/>
          <a:lstStyle/>
          <a:p>
            <a:pPr lvl="1"/>
            <a:r>
              <a:rPr lang="en-US" dirty="0"/>
              <a:t>In country A observers go onboard a large gillnetter and sample discards. However, they work at a conveyor belt in the underdeck and do not observe the net coming in.</a:t>
            </a: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1637048268"/>
              </p:ext>
            </p:extLst>
          </p:nvPr>
        </p:nvGraphicFramePr>
        <p:xfrm>
          <a:off x="2359833" y="3513610"/>
          <a:ext cx="6492238" cy="670560"/>
        </p:xfrm>
        <a:graphic>
          <a:graphicData uri="http://schemas.openxmlformats.org/drawingml/2006/table">
            <a:tbl>
              <a:tblPr firstRow="1" bandRow="1">
                <a:tableStyleId>{5940675A-B579-460E-94D1-54222C63F5DA}</a:tableStyleId>
              </a:tblPr>
              <a:tblGrid>
                <a:gridCol w="1597949">
                  <a:extLst>
                    <a:ext uri="{9D8B030D-6E8A-4147-A177-3AD203B41FA5}">
                      <a16:colId xmlns:a16="http://schemas.microsoft.com/office/drawing/2014/main" val="2815465670"/>
                    </a:ext>
                  </a:extLst>
                </a:gridCol>
                <a:gridCol w="1213332">
                  <a:extLst>
                    <a:ext uri="{9D8B030D-6E8A-4147-A177-3AD203B41FA5}">
                      <a16:colId xmlns:a16="http://schemas.microsoft.com/office/drawing/2014/main" val="3151269377"/>
                    </a:ext>
                  </a:extLst>
                </a:gridCol>
                <a:gridCol w="1547217">
                  <a:extLst>
                    <a:ext uri="{9D8B030D-6E8A-4147-A177-3AD203B41FA5}">
                      <a16:colId xmlns:a16="http://schemas.microsoft.com/office/drawing/2014/main" val="3307169097"/>
                    </a:ext>
                  </a:extLst>
                </a:gridCol>
                <a:gridCol w="213374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err="1"/>
                        <a:t>CatchCateg</a:t>
                      </a:r>
                      <a:endParaRPr lang="en-GB" sz="1600" b="1" dirty="0"/>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dirty="0"/>
                        <a:t>Cod</a:t>
                      </a:r>
                      <a:endParaRPr lang="en-GB" sz="1600" dirty="0"/>
                    </a:p>
                  </a:txBody>
                  <a:tcPr/>
                </a:tc>
                <a:tc>
                  <a:txBody>
                    <a:bodyPr/>
                    <a:lstStyle/>
                    <a:p>
                      <a:pPr algn="ctr"/>
                      <a:r>
                        <a:rPr lang="en-GB" sz="1600" dirty="0"/>
                        <a:t>Dis</a:t>
                      </a:r>
                    </a:p>
                  </a:txBody>
                  <a:tcPr/>
                </a:tc>
                <a:tc>
                  <a:txBody>
                    <a:bodyPr/>
                    <a:lstStyle/>
                    <a:p>
                      <a:pPr algn="ctr"/>
                      <a:r>
                        <a:rPr lang="sv-SE" sz="1600" dirty="0"/>
                        <a:t>100</a:t>
                      </a:r>
                      <a:endParaRPr lang="en-GB" sz="1600" dirty="0"/>
                    </a:p>
                  </a:txBody>
                  <a:tcPr/>
                </a:tc>
                <a:tc>
                  <a:txBody>
                    <a:bodyPr/>
                    <a:lstStyle/>
                    <a:p>
                      <a:pPr algn="ctr"/>
                      <a:r>
                        <a:rPr lang="en-GB" sz="1600" dirty="0"/>
                        <a:t>100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3313019" y="5286562"/>
            <a:ext cx="8426730"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r>
              <a:rPr lang="en-US" dirty="0"/>
              <a:t>- Was any catch discarded on top-deck? Or that dropped out of the gear during hauling?</a:t>
            </a:r>
          </a:p>
          <a:p>
            <a:r>
              <a:rPr lang="en-US" dirty="0"/>
              <a:t>- Can one assume there were </a:t>
            </a:r>
            <a:r>
              <a:rPr lang="en-US" u="sng" dirty="0"/>
              <a:t>0</a:t>
            </a:r>
            <a:r>
              <a:rPr lang="en-US" dirty="0"/>
              <a:t> dolphins in the net?! [= </a:t>
            </a:r>
            <a:r>
              <a:rPr lang="en-US" b="1" dirty="0"/>
              <a:t>0s</a:t>
            </a:r>
            <a:r>
              <a:rPr lang="en-US" dirty="0"/>
              <a:t>] Or it is better not? [= </a:t>
            </a:r>
            <a:r>
              <a:rPr lang="en-US" b="1" dirty="0"/>
              <a:t>NAs</a:t>
            </a:r>
            <a:r>
              <a:rPr lang="en-US" dirty="0"/>
              <a:t>]</a:t>
            </a:r>
            <a:endParaRPr lang="sv-SE" dirty="0"/>
          </a:p>
        </p:txBody>
      </p:sp>
      <p:sp>
        <p:nvSpPr>
          <p:cNvPr id="6" name="TextBox 5"/>
          <p:cNvSpPr txBox="1"/>
          <p:nvPr/>
        </p:nvSpPr>
        <p:spPr>
          <a:xfrm>
            <a:off x="2247214" y="3144278"/>
            <a:ext cx="7450768"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267990" y="3144278"/>
            <a:ext cx="7316195"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5878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sz="3600" dirty="0" err="1"/>
              <a:t>How</a:t>
            </a:r>
            <a:r>
              <a:rPr lang="sv-SE" sz="3600" dirty="0"/>
              <a:t> is </a:t>
            </a:r>
            <a:r>
              <a:rPr lang="sv-SE" sz="3600" dirty="0" err="1"/>
              <a:t>this</a:t>
            </a:r>
            <a:r>
              <a:rPr lang="sv-SE" sz="3600" dirty="0"/>
              <a:t> </a:t>
            </a:r>
            <a:r>
              <a:rPr lang="sv-SE" sz="3600" dirty="0" err="1"/>
              <a:t>example</a:t>
            </a:r>
            <a:r>
              <a:rPr lang="sv-SE" sz="3600" dirty="0"/>
              <a:t> handled in RDBES</a:t>
            </a:r>
          </a:p>
        </p:txBody>
      </p:sp>
      <p:sp>
        <p:nvSpPr>
          <p:cNvPr id="3" name="Content Placeholder 2"/>
          <p:cNvSpPr>
            <a:spLocks noGrp="1"/>
          </p:cNvSpPr>
          <p:nvPr>
            <p:ph idx="1"/>
          </p:nvPr>
        </p:nvSpPr>
        <p:spPr>
          <a:xfrm>
            <a:off x="838200" y="2579404"/>
            <a:ext cx="10515600" cy="4045685"/>
          </a:xfrm>
        </p:spPr>
        <p:txBody>
          <a:bodyPr>
            <a:normAutofit/>
          </a:bodyPr>
          <a:lstStyle/>
          <a:p>
            <a:pPr lvl="1"/>
            <a:r>
              <a:rPr lang="en-GB" dirty="0"/>
              <a:t>where were catches looked for?</a:t>
            </a:r>
          </a:p>
          <a:p>
            <a:pPr lvl="2"/>
            <a:r>
              <a:rPr lang="en-GB" dirty="0"/>
              <a:t>In the sorted catches?</a:t>
            </a:r>
          </a:p>
          <a:p>
            <a:pPr lvl="2"/>
            <a:r>
              <a:rPr lang="en-GB" dirty="0"/>
              <a:t>Also on deck during net hauling/opening?</a:t>
            </a:r>
          </a:p>
          <a:p>
            <a:pPr lvl="2"/>
            <a:r>
              <a:rPr lang="en-GB" dirty="0"/>
              <a:t>Also during slipping events?</a:t>
            </a:r>
          </a:p>
          <a:p>
            <a:pPr lvl="1"/>
            <a:endParaRPr lang="en-GB" dirty="0"/>
          </a:p>
        </p:txBody>
      </p:sp>
      <p:sp>
        <p:nvSpPr>
          <p:cNvPr id="4" name="Right Brace 3"/>
          <p:cNvSpPr/>
          <p:nvPr/>
        </p:nvSpPr>
        <p:spPr>
          <a:xfrm>
            <a:off x="6931461" y="2165385"/>
            <a:ext cx="471055" cy="2549237"/>
          </a:xfrm>
          <a:prstGeom prst="rightBrace">
            <a:avLst>
              <a:gd name="adj1" fmla="val 8333"/>
              <a:gd name="adj2" fmla="val 49554"/>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5" name="TextBox 4"/>
          <p:cNvSpPr txBox="1"/>
          <p:nvPr/>
        </p:nvSpPr>
        <p:spPr>
          <a:xfrm>
            <a:off x="7623199" y="2579404"/>
            <a:ext cx="3730601" cy="1815882"/>
          </a:xfrm>
          <a:prstGeom prst="rect">
            <a:avLst/>
          </a:prstGeom>
          <a:noFill/>
        </p:spPr>
        <p:txBody>
          <a:bodyPr wrap="square" rtlCol="0">
            <a:spAutoFit/>
          </a:bodyPr>
          <a:lstStyle/>
          <a:p>
            <a:r>
              <a:rPr lang="en-US" sz="1600" dirty="0"/>
              <a:t>The RDBES handles this issue by combining the variables:</a:t>
            </a:r>
          </a:p>
          <a:p>
            <a:pPr marL="285750" indent="-285750">
              <a:buFontTx/>
              <a:buChar char="-"/>
            </a:pPr>
            <a:r>
              <a:rPr lang="en-US" sz="1600" b="1" dirty="0" err="1"/>
              <a:t>FOobservationCode</a:t>
            </a:r>
            <a:r>
              <a:rPr lang="en-US" sz="1600" dirty="0"/>
              <a:t> (FO table), </a:t>
            </a:r>
          </a:p>
          <a:p>
            <a:pPr marL="285750" indent="-285750">
              <a:buFontTx/>
              <a:buChar char="-"/>
            </a:pPr>
            <a:r>
              <a:rPr lang="en-US" sz="1600" b="1" dirty="0" err="1"/>
              <a:t>SSobservationActivityType</a:t>
            </a:r>
            <a:r>
              <a:rPr lang="en-US" sz="1600" dirty="0"/>
              <a:t> (SS table)</a:t>
            </a:r>
          </a:p>
          <a:p>
            <a:r>
              <a:rPr lang="en-US" sz="1600" dirty="0"/>
              <a:t>with information in</a:t>
            </a:r>
          </a:p>
          <a:p>
            <a:pPr marL="285750" indent="-285750">
              <a:buFontTx/>
              <a:buChar char="-"/>
            </a:pPr>
            <a:r>
              <a:rPr lang="en-US" sz="1600" dirty="0"/>
              <a:t>“</a:t>
            </a:r>
            <a:r>
              <a:rPr lang="en-US" sz="1600" b="1" dirty="0"/>
              <a:t>Species List Details</a:t>
            </a:r>
            <a:r>
              <a:rPr lang="en-US" sz="1600" dirty="0"/>
              <a:t>”(SL)</a:t>
            </a:r>
          </a:p>
          <a:p>
            <a:pPr marL="285750" indent="-285750">
              <a:buFontTx/>
              <a:buChar char="-"/>
            </a:pPr>
            <a:r>
              <a:rPr lang="en-US" sz="1600" b="1" dirty="0"/>
              <a:t>“Sample table” (SA)</a:t>
            </a:r>
            <a:endParaRPr lang="sv-SE" sz="1600" b="1" dirty="0"/>
          </a:p>
        </p:txBody>
      </p:sp>
      <p:pic>
        <p:nvPicPr>
          <p:cNvPr id="8" name="Picture 7"/>
          <p:cNvPicPr>
            <a:picLocks noChangeAspect="1"/>
          </p:cNvPicPr>
          <p:nvPr/>
        </p:nvPicPr>
        <p:blipFill rotWithShape="1">
          <a:blip r:embed="rId2"/>
          <a:srcRect t="16403"/>
          <a:stretch/>
        </p:blipFill>
        <p:spPr>
          <a:xfrm>
            <a:off x="6205154" y="5550796"/>
            <a:ext cx="5496692" cy="278727"/>
          </a:xfrm>
          <a:prstGeom prst="rect">
            <a:avLst/>
          </a:prstGeom>
        </p:spPr>
      </p:pic>
      <p:sp>
        <p:nvSpPr>
          <p:cNvPr id="12" name="TextBox 11"/>
          <p:cNvSpPr txBox="1"/>
          <p:nvPr/>
        </p:nvSpPr>
        <p:spPr>
          <a:xfrm>
            <a:off x="6160170" y="5243019"/>
            <a:ext cx="2926057" cy="307777"/>
          </a:xfrm>
          <a:prstGeom prst="rect">
            <a:avLst/>
          </a:prstGeom>
          <a:noFill/>
        </p:spPr>
        <p:txBody>
          <a:bodyPr wrap="none" rtlCol="0">
            <a:spAutoFit/>
          </a:bodyPr>
          <a:lstStyle/>
          <a:p>
            <a:r>
              <a:rPr lang="en-US" sz="1400" i="1" dirty="0"/>
              <a:t>RDBES Data Model CS.xlsx </a:t>
            </a:r>
            <a:r>
              <a:rPr lang="en-US" sz="1400" dirty="0"/>
              <a:t>[in GitHub]</a:t>
            </a:r>
          </a:p>
        </p:txBody>
      </p:sp>
      <p:pic>
        <p:nvPicPr>
          <p:cNvPr id="13" name="Picture 12"/>
          <p:cNvPicPr>
            <a:picLocks noChangeAspect="1"/>
          </p:cNvPicPr>
          <p:nvPr/>
        </p:nvPicPr>
        <p:blipFill>
          <a:blip r:embed="rId3"/>
          <a:stretch>
            <a:fillRect/>
          </a:stretch>
        </p:blipFill>
        <p:spPr>
          <a:xfrm>
            <a:off x="6252012" y="6282141"/>
            <a:ext cx="2448267" cy="342948"/>
          </a:xfrm>
          <a:prstGeom prst="rect">
            <a:avLst/>
          </a:prstGeom>
        </p:spPr>
      </p:pic>
      <p:sp>
        <p:nvSpPr>
          <p:cNvPr id="14" name="TextBox 13"/>
          <p:cNvSpPr txBox="1"/>
          <p:nvPr/>
        </p:nvSpPr>
        <p:spPr>
          <a:xfrm>
            <a:off x="6160170" y="6040357"/>
            <a:ext cx="3164905" cy="307777"/>
          </a:xfrm>
          <a:prstGeom prst="rect">
            <a:avLst/>
          </a:prstGeom>
          <a:noFill/>
        </p:spPr>
        <p:txBody>
          <a:bodyPr wrap="none" rtlCol="0">
            <a:spAutoFit/>
          </a:bodyPr>
          <a:lstStyle/>
          <a:p>
            <a:r>
              <a:rPr lang="en-US" sz="1400" i="1" dirty="0"/>
              <a:t>RDBES Data Model VD SL.xlsx </a:t>
            </a:r>
            <a:r>
              <a:rPr lang="en-US" sz="1400" dirty="0"/>
              <a:t>[in GitHub]</a:t>
            </a:r>
            <a:endParaRPr lang="en-US" sz="1400" i="1" dirty="0"/>
          </a:p>
        </p:txBody>
      </p:sp>
    </p:spTree>
    <p:extLst>
      <p:ext uri="{BB962C8B-B14F-4D97-AF65-F5344CB8AC3E}">
        <p14:creationId xmlns:p14="http://schemas.microsoft.com/office/powerpoint/2010/main" val="575514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8614" y="1156514"/>
            <a:ext cx="10461184" cy="5135896"/>
          </a:xfrm>
          <a:prstGeom prst="rect">
            <a:avLst/>
          </a:prstGeom>
        </p:spPr>
      </p:pic>
      <p:sp>
        <p:nvSpPr>
          <p:cNvPr id="5" name="Right Arrow 4"/>
          <p:cNvSpPr/>
          <p:nvPr/>
        </p:nvSpPr>
        <p:spPr>
          <a:xfrm rot="8273739">
            <a:off x="8333477" y="3296067"/>
            <a:ext cx="505795" cy="572666"/>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ight Arrow 5"/>
          <p:cNvSpPr/>
          <p:nvPr/>
        </p:nvSpPr>
        <p:spPr>
          <a:xfrm rot="13051702">
            <a:off x="10732073" y="4304366"/>
            <a:ext cx="485776" cy="609685"/>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Rectangle 2"/>
          <p:cNvSpPr/>
          <p:nvPr/>
        </p:nvSpPr>
        <p:spPr>
          <a:xfrm>
            <a:off x="8107527" y="2801132"/>
            <a:ext cx="3855873" cy="523220"/>
          </a:xfrm>
          <a:prstGeom prst="rect">
            <a:avLst/>
          </a:prstGeom>
        </p:spPr>
        <p:txBody>
          <a:bodyPr wrap="square">
            <a:spAutoFit/>
          </a:bodyPr>
          <a:lstStyle/>
          <a:p>
            <a:pPr lvl="2">
              <a:spcBef>
                <a:spcPts val="1200"/>
              </a:spcBef>
            </a:pPr>
            <a:r>
              <a:rPr lang="en-GB" sz="1400" b="1" dirty="0" err="1"/>
              <a:t>FOobservationCode</a:t>
            </a:r>
            <a:r>
              <a:rPr lang="en-GB" sz="1400" dirty="0"/>
              <a:t> – what parts of the fishing operation are observed</a:t>
            </a:r>
          </a:p>
        </p:txBody>
      </p:sp>
      <p:sp>
        <p:nvSpPr>
          <p:cNvPr id="7" name="Right Arrow 6"/>
          <p:cNvSpPr/>
          <p:nvPr/>
        </p:nvSpPr>
        <p:spPr>
          <a:xfrm rot="18463599">
            <a:off x="6995947" y="4791468"/>
            <a:ext cx="550179" cy="59470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Rectangle 3"/>
          <p:cNvSpPr/>
          <p:nvPr/>
        </p:nvSpPr>
        <p:spPr>
          <a:xfrm>
            <a:off x="5428256" y="5519987"/>
            <a:ext cx="4073319" cy="523220"/>
          </a:xfrm>
          <a:prstGeom prst="rect">
            <a:avLst/>
          </a:prstGeom>
        </p:spPr>
        <p:txBody>
          <a:bodyPr wrap="square">
            <a:spAutoFit/>
          </a:bodyPr>
          <a:lstStyle/>
          <a:p>
            <a:pPr marL="0" lvl="2">
              <a:spcBef>
                <a:spcPts val="1200"/>
              </a:spcBef>
            </a:pPr>
            <a:r>
              <a:rPr lang="en-GB" sz="1400" b="1" dirty="0" err="1"/>
              <a:t>SSobservationActivity</a:t>
            </a:r>
            <a:r>
              <a:rPr lang="en-GB" sz="1400" dirty="0"/>
              <a:t> – specific </a:t>
            </a:r>
            <a:br>
              <a:rPr lang="en-GB" sz="1400" dirty="0"/>
            </a:br>
            <a:r>
              <a:rPr lang="en-GB" sz="1400" dirty="0"/>
              <a:t>part of FO observed</a:t>
            </a:r>
          </a:p>
        </p:txBody>
      </p:sp>
      <p:sp>
        <p:nvSpPr>
          <p:cNvPr id="8" name="Right Arrow 7"/>
          <p:cNvSpPr/>
          <p:nvPr/>
        </p:nvSpPr>
        <p:spPr>
          <a:xfrm rot="13051702">
            <a:off x="10079535" y="5146133"/>
            <a:ext cx="559662" cy="609353"/>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12571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Motivation example 3</a:t>
            </a:r>
            <a:endParaRPr lang="sv-SE" dirty="0"/>
          </a:p>
        </p:txBody>
      </p:sp>
      <p:sp>
        <p:nvSpPr>
          <p:cNvPr id="3" name="Content Placeholder 2"/>
          <p:cNvSpPr>
            <a:spLocks noGrp="1"/>
          </p:cNvSpPr>
          <p:nvPr>
            <p:ph idx="1"/>
          </p:nvPr>
        </p:nvSpPr>
        <p:spPr/>
        <p:txBody>
          <a:bodyPr/>
          <a:lstStyle/>
          <a:p>
            <a:pPr lvl="1"/>
            <a:r>
              <a:rPr lang="en-US" dirty="0"/>
              <a:t>In country A observers go onboard a large gillnetter and sample discards. However, they work at a conveyor belt in the underdeck and do not observe the net coming in.</a:t>
            </a:r>
            <a:endParaRPr lang="sv-SE" dirty="0"/>
          </a:p>
        </p:txBody>
      </p:sp>
      <p:graphicFrame>
        <p:nvGraphicFramePr>
          <p:cNvPr id="4" name="Table 3"/>
          <p:cNvGraphicFramePr>
            <a:graphicFrameLocks noGrp="1"/>
          </p:cNvGraphicFramePr>
          <p:nvPr/>
        </p:nvGraphicFramePr>
        <p:xfrm>
          <a:off x="2359833" y="3513610"/>
          <a:ext cx="6492238" cy="670560"/>
        </p:xfrm>
        <a:graphic>
          <a:graphicData uri="http://schemas.openxmlformats.org/drawingml/2006/table">
            <a:tbl>
              <a:tblPr firstRow="1" bandRow="1">
                <a:tableStyleId>{5940675A-B579-460E-94D1-54222C63F5DA}</a:tableStyleId>
              </a:tblPr>
              <a:tblGrid>
                <a:gridCol w="1597949">
                  <a:extLst>
                    <a:ext uri="{9D8B030D-6E8A-4147-A177-3AD203B41FA5}">
                      <a16:colId xmlns:a16="http://schemas.microsoft.com/office/drawing/2014/main" val="2815465670"/>
                    </a:ext>
                  </a:extLst>
                </a:gridCol>
                <a:gridCol w="1213332">
                  <a:extLst>
                    <a:ext uri="{9D8B030D-6E8A-4147-A177-3AD203B41FA5}">
                      <a16:colId xmlns:a16="http://schemas.microsoft.com/office/drawing/2014/main" val="3151269377"/>
                    </a:ext>
                  </a:extLst>
                </a:gridCol>
                <a:gridCol w="1547217">
                  <a:extLst>
                    <a:ext uri="{9D8B030D-6E8A-4147-A177-3AD203B41FA5}">
                      <a16:colId xmlns:a16="http://schemas.microsoft.com/office/drawing/2014/main" val="3307169097"/>
                    </a:ext>
                  </a:extLst>
                </a:gridCol>
                <a:gridCol w="213374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err="1"/>
                        <a:t>CatchCateg</a:t>
                      </a:r>
                      <a:endParaRPr lang="en-GB" sz="1600" b="1" dirty="0"/>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dirty="0"/>
                        <a:t>Cod</a:t>
                      </a:r>
                      <a:endParaRPr lang="en-GB" sz="1600" dirty="0"/>
                    </a:p>
                  </a:txBody>
                  <a:tcPr/>
                </a:tc>
                <a:tc>
                  <a:txBody>
                    <a:bodyPr/>
                    <a:lstStyle/>
                    <a:p>
                      <a:pPr algn="ctr"/>
                      <a:r>
                        <a:rPr lang="en-GB" sz="1600" dirty="0"/>
                        <a:t>Dis</a:t>
                      </a:r>
                    </a:p>
                  </a:txBody>
                  <a:tcPr/>
                </a:tc>
                <a:tc>
                  <a:txBody>
                    <a:bodyPr/>
                    <a:lstStyle/>
                    <a:p>
                      <a:pPr algn="ctr"/>
                      <a:r>
                        <a:rPr lang="sv-SE" sz="1600" dirty="0"/>
                        <a:t>100</a:t>
                      </a:r>
                      <a:endParaRPr lang="en-GB" sz="1600" dirty="0"/>
                    </a:p>
                  </a:txBody>
                  <a:tcPr/>
                </a:tc>
                <a:tc>
                  <a:txBody>
                    <a:bodyPr/>
                    <a:lstStyle/>
                    <a:p>
                      <a:pPr algn="ctr"/>
                      <a:r>
                        <a:rPr lang="en-GB" sz="1600" dirty="0"/>
                        <a:t>100</a:t>
                      </a:r>
                    </a:p>
                  </a:txBody>
                  <a:tcPr/>
                </a:tc>
                <a:extLst>
                  <a:ext uri="{0D108BD9-81ED-4DB2-BD59-A6C34878D82A}">
                    <a16:rowId xmlns:a16="http://schemas.microsoft.com/office/drawing/2014/main" val="3375731275"/>
                  </a:ext>
                </a:extLst>
              </a:tr>
            </a:tbl>
          </a:graphicData>
        </a:graphic>
      </p:graphicFrame>
      <p:sp>
        <p:nvSpPr>
          <p:cNvPr id="5" name="TextBox 4"/>
          <p:cNvSpPr txBox="1"/>
          <p:nvPr/>
        </p:nvSpPr>
        <p:spPr>
          <a:xfrm>
            <a:off x="3313019" y="5286562"/>
            <a:ext cx="8426730"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r>
              <a:rPr lang="en-US" dirty="0"/>
              <a:t>- Was any catch discarded on top-deck? Or that dropped out of the gear during hauling?</a:t>
            </a:r>
          </a:p>
          <a:p>
            <a:r>
              <a:rPr lang="en-US" dirty="0"/>
              <a:t>- Can one assume there were </a:t>
            </a:r>
            <a:r>
              <a:rPr lang="en-US" u="sng" dirty="0"/>
              <a:t>0</a:t>
            </a:r>
            <a:r>
              <a:rPr lang="en-US" dirty="0"/>
              <a:t> dolphins in the net?! [= </a:t>
            </a:r>
            <a:r>
              <a:rPr lang="en-US" b="1" dirty="0"/>
              <a:t>0s</a:t>
            </a:r>
            <a:r>
              <a:rPr lang="en-US" dirty="0"/>
              <a:t>] Or it is better not? [= </a:t>
            </a:r>
            <a:r>
              <a:rPr lang="en-US" b="1" dirty="0"/>
              <a:t>NAs</a:t>
            </a:r>
            <a:r>
              <a:rPr lang="en-US" dirty="0"/>
              <a:t>]</a:t>
            </a:r>
            <a:endParaRPr lang="sv-SE" dirty="0"/>
          </a:p>
        </p:txBody>
      </p:sp>
      <p:sp>
        <p:nvSpPr>
          <p:cNvPr id="6" name="TextBox 5"/>
          <p:cNvSpPr txBox="1"/>
          <p:nvPr/>
        </p:nvSpPr>
        <p:spPr>
          <a:xfrm>
            <a:off x="2247214" y="3144278"/>
            <a:ext cx="7450768" cy="369332"/>
          </a:xfrm>
          <a:prstGeom prst="rect">
            <a:avLst/>
          </a:prstGeom>
          <a:noFill/>
        </p:spPr>
        <p:txBody>
          <a:bodyPr wrap="square" rtlCol="0">
            <a:spAutoFit/>
          </a:bodyPr>
          <a:lstStyle/>
          <a:p>
            <a:r>
              <a:rPr lang="en-US" dirty="0"/>
              <a:t>Field records and national database/RDB</a:t>
            </a:r>
          </a:p>
        </p:txBody>
      </p:sp>
      <p:sp>
        <p:nvSpPr>
          <p:cNvPr id="7" name="Rectangle 6"/>
          <p:cNvSpPr/>
          <p:nvPr/>
        </p:nvSpPr>
        <p:spPr>
          <a:xfrm>
            <a:off x="2267990" y="3144278"/>
            <a:ext cx="7316195" cy="11057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1835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analysis of example</a:t>
            </a:r>
            <a:endParaRPr lang="sv-SE" dirty="0"/>
          </a:p>
        </p:txBody>
      </p:sp>
      <p:sp>
        <p:nvSpPr>
          <p:cNvPr id="3" name="Content Placeholder 2"/>
          <p:cNvSpPr>
            <a:spLocks noGrp="1"/>
          </p:cNvSpPr>
          <p:nvPr>
            <p:ph idx="1"/>
          </p:nvPr>
        </p:nvSpPr>
        <p:spPr>
          <a:xfrm>
            <a:off x="838200" y="1521953"/>
            <a:ext cx="10515600" cy="4351338"/>
          </a:xfrm>
        </p:spPr>
        <p:txBody>
          <a:bodyPr/>
          <a:lstStyle/>
          <a:p>
            <a:pPr lvl="1"/>
            <a:r>
              <a:rPr lang="en-US" dirty="0"/>
              <a:t>In country A observers go onboard a large gillnetter and sample discards. However, they work at a conveyor belt in the underdeck and do not observe the net coming in.</a:t>
            </a:r>
            <a:endParaRPr lang="sv-SE" dirty="0"/>
          </a:p>
        </p:txBody>
      </p:sp>
      <p:cxnSp>
        <p:nvCxnSpPr>
          <p:cNvPr id="8" name="Straight Arrow Connector 7"/>
          <p:cNvCxnSpPr/>
          <p:nvPr/>
        </p:nvCxnSpPr>
        <p:spPr>
          <a:xfrm>
            <a:off x="5753101" y="5590830"/>
            <a:ext cx="2753590" cy="834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903566" y="5564324"/>
            <a:ext cx="1603125" cy="861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705128" y="5590830"/>
            <a:ext cx="801563" cy="834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686800" y="6290577"/>
            <a:ext cx="567784" cy="369332"/>
          </a:xfrm>
          <a:prstGeom prst="rect">
            <a:avLst/>
          </a:prstGeom>
          <a:noFill/>
        </p:spPr>
        <p:txBody>
          <a:bodyPr wrap="none" rtlCol="0">
            <a:spAutoFit/>
          </a:bodyPr>
          <a:lstStyle/>
          <a:p>
            <a:r>
              <a:rPr lang="en-US" dirty="0"/>
              <a:t>NAs</a:t>
            </a:r>
            <a:endParaRPr lang="sv-SE" dirty="0"/>
          </a:p>
        </p:txBody>
      </p:sp>
      <p:cxnSp>
        <p:nvCxnSpPr>
          <p:cNvPr id="18" name="Straight Arrow Connector 17"/>
          <p:cNvCxnSpPr/>
          <p:nvPr/>
        </p:nvCxnSpPr>
        <p:spPr>
          <a:xfrm flipH="1">
            <a:off x="3366655" y="5559317"/>
            <a:ext cx="1395846" cy="309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951019" y="5507626"/>
            <a:ext cx="831273" cy="722023"/>
          </a:xfrm>
          <a:prstGeom prst="line">
            <a:avLst/>
          </a:prstGeom>
          <a:ln>
            <a:solidFill>
              <a:srgbClr val="002060"/>
            </a:solidFill>
            <a:prstDash val="dash"/>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flipH="1" flipV="1">
            <a:off x="1970810" y="5767435"/>
            <a:ext cx="1399308" cy="101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364076" y="5868637"/>
            <a:ext cx="1002580" cy="658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355728" y="6330851"/>
            <a:ext cx="1206421" cy="369332"/>
          </a:xfrm>
          <a:prstGeom prst="rect">
            <a:avLst/>
          </a:prstGeom>
          <a:noFill/>
        </p:spPr>
        <p:txBody>
          <a:bodyPr wrap="none" rtlCol="0">
            <a:spAutoFit/>
          </a:bodyPr>
          <a:lstStyle/>
          <a:p>
            <a:r>
              <a:rPr lang="en-US" dirty="0"/>
              <a:t>Species list</a:t>
            </a:r>
            <a:endParaRPr lang="sv-SE" dirty="0"/>
          </a:p>
        </p:txBody>
      </p:sp>
      <p:sp>
        <p:nvSpPr>
          <p:cNvPr id="30" name="TextBox 29"/>
          <p:cNvSpPr txBox="1"/>
          <p:nvPr/>
        </p:nvSpPr>
        <p:spPr>
          <a:xfrm>
            <a:off x="1040561" y="5610515"/>
            <a:ext cx="859659" cy="369332"/>
          </a:xfrm>
          <a:prstGeom prst="rect">
            <a:avLst/>
          </a:prstGeom>
          <a:noFill/>
        </p:spPr>
        <p:txBody>
          <a:bodyPr wrap="none" rtlCol="0">
            <a:spAutoFit/>
          </a:bodyPr>
          <a:lstStyle/>
          <a:p>
            <a:r>
              <a:rPr lang="en-US" dirty="0"/>
              <a:t>True 0s</a:t>
            </a:r>
            <a:endParaRPr lang="sv-SE" dirty="0"/>
          </a:p>
        </p:txBody>
      </p:sp>
      <p:sp>
        <p:nvSpPr>
          <p:cNvPr id="31" name="TextBox 30"/>
          <p:cNvSpPr txBox="1"/>
          <p:nvPr/>
        </p:nvSpPr>
        <p:spPr>
          <a:xfrm>
            <a:off x="1717458" y="6365720"/>
            <a:ext cx="556563" cy="369332"/>
          </a:xfrm>
          <a:prstGeom prst="rect">
            <a:avLst/>
          </a:prstGeom>
          <a:noFill/>
        </p:spPr>
        <p:txBody>
          <a:bodyPr wrap="none" rtlCol="0">
            <a:spAutoFit/>
          </a:bodyPr>
          <a:lstStyle/>
          <a:p>
            <a:r>
              <a:rPr lang="en-US" dirty="0"/>
              <a:t>NAs</a:t>
            </a:r>
            <a:endParaRPr lang="sv-SE" dirty="0"/>
          </a:p>
        </p:txBody>
      </p:sp>
      <p:sp>
        <p:nvSpPr>
          <p:cNvPr id="32" name="Rectangle 31"/>
          <p:cNvSpPr/>
          <p:nvPr/>
        </p:nvSpPr>
        <p:spPr>
          <a:xfrm>
            <a:off x="3881189" y="2846126"/>
            <a:ext cx="4805611" cy="369332"/>
          </a:xfrm>
          <a:prstGeom prst="rect">
            <a:avLst/>
          </a:prstGeom>
        </p:spPr>
        <p:txBody>
          <a:bodyPr wrap="none">
            <a:spAutoFit/>
          </a:bodyPr>
          <a:lstStyle/>
          <a:p>
            <a:r>
              <a:rPr lang="sv-SE" b="1" dirty="0" err="1"/>
              <a:t>FOobservationCode</a:t>
            </a:r>
            <a:r>
              <a:rPr lang="sv-SE" b="1" dirty="0"/>
              <a:t> / </a:t>
            </a:r>
            <a:r>
              <a:rPr lang="sv-SE" b="1" dirty="0" err="1"/>
              <a:t>SSobservationActivityType</a:t>
            </a:r>
            <a:endParaRPr lang="sv-SE" b="1" dirty="0"/>
          </a:p>
        </p:txBody>
      </p:sp>
      <p:cxnSp>
        <p:nvCxnSpPr>
          <p:cNvPr id="34" name="Straight Arrow Connector 33"/>
          <p:cNvCxnSpPr>
            <a:stCxn id="32" idx="2"/>
          </p:cNvCxnSpPr>
          <p:nvPr/>
        </p:nvCxnSpPr>
        <p:spPr>
          <a:xfrm flipH="1">
            <a:off x="4932218" y="3215458"/>
            <a:ext cx="1351777" cy="248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32" idx="2"/>
          </p:cNvCxnSpPr>
          <p:nvPr/>
        </p:nvCxnSpPr>
        <p:spPr>
          <a:xfrm flipH="1">
            <a:off x="5708073" y="3215458"/>
            <a:ext cx="575922" cy="269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2" idx="2"/>
          </p:cNvCxnSpPr>
          <p:nvPr/>
        </p:nvCxnSpPr>
        <p:spPr>
          <a:xfrm>
            <a:off x="6283995" y="3215458"/>
            <a:ext cx="1169750" cy="234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2" idx="2"/>
          </p:cNvCxnSpPr>
          <p:nvPr/>
        </p:nvCxnSpPr>
        <p:spPr>
          <a:xfrm>
            <a:off x="6283995" y="3215458"/>
            <a:ext cx="463169" cy="235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p:nvPicPr>
        <p:blipFill>
          <a:blip r:embed="rId2"/>
          <a:stretch>
            <a:fillRect/>
          </a:stretch>
        </p:blipFill>
        <p:spPr>
          <a:xfrm>
            <a:off x="4369235" y="3493779"/>
            <a:ext cx="3891601" cy="2025566"/>
          </a:xfrm>
          <a:prstGeom prst="rect">
            <a:avLst/>
          </a:prstGeom>
        </p:spPr>
      </p:pic>
    </p:spTree>
    <p:extLst>
      <p:ext uri="{BB962C8B-B14F-4D97-AF65-F5344CB8AC3E}">
        <p14:creationId xmlns:p14="http://schemas.microsoft.com/office/powerpoint/2010/main" val="277435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RDBES: </a:t>
            </a:r>
            <a:r>
              <a:rPr lang="sv-SE" dirty="0" err="1"/>
              <a:t>capabilities</a:t>
            </a:r>
            <a:r>
              <a:rPr lang="sv-SE" dirty="0"/>
              <a:t> to </a:t>
            </a:r>
            <a:r>
              <a:rPr lang="sv-SE" dirty="0" err="1"/>
              <a:t>generate</a:t>
            </a:r>
            <a:r>
              <a:rPr lang="sv-SE" dirty="0"/>
              <a:t> </a:t>
            </a:r>
            <a:r>
              <a:rPr lang="sv-SE" dirty="0" err="1"/>
              <a:t>zeros</a:t>
            </a:r>
            <a:r>
              <a:rPr lang="sv-SE" dirty="0"/>
              <a:t> and NAs</a:t>
            </a:r>
          </a:p>
        </p:txBody>
      </p:sp>
      <p:graphicFrame>
        <p:nvGraphicFramePr>
          <p:cNvPr id="29" name="Table 28"/>
          <p:cNvGraphicFramePr>
            <a:graphicFrameLocks noGrp="1"/>
          </p:cNvGraphicFramePr>
          <p:nvPr>
            <p:extLst>
              <p:ext uri="{D42A27DB-BD31-4B8C-83A1-F6EECF244321}">
                <p14:modId xmlns:p14="http://schemas.microsoft.com/office/powerpoint/2010/main" val="728001668"/>
              </p:ext>
            </p:extLst>
          </p:nvPr>
        </p:nvGraphicFramePr>
        <p:xfrm>
          <a:off x="399500" y="3519431"/>
          <a:ext cx="4642400" cy="1101027"/>
        </p:xfrm>
        <a:graphic>
          <a:graphicData uri="http://schemas.openxmlformats.org/drawingml/2006/table">
            <a:tbl>
              <a:tblPr firstRow="1" firstCol="1" bandRow="1">
                <a:tableStyleId>{5C22544A-7EE6-4342-B048-85BDC9FD1C3A}</a:tableStyleId>
              </a:tblPr>
              <a:tblGrid>
                <a:gridCol w="742950">
                  <a:extLst>
                    <a:ext uri="{9D8B030D-6E8A-4147-A177-3AD203B41FA5}">
                      <a16:colId xmlns:a16="http://schemas.microsoft.com/office/drawing/2014/main" val="3193892836"/>
                    </a:ext>
                  </a:extLst>
                </a:gridCol>
                <a:gridCol w="723900">
                  <a:extLst>
                    <a:ext uri="{9D8B030D-6E8A-4147-A177-3AD203B41FA5}">
                      <a16:colId xmlns:a16="http://schemas.microsoft.com/office/drawing/2014/main" val="1727122564"/>
                    </a:ext>
                  </a:extLst>
                </a:gridCol>
                <a:gridCol w="1260475">
                  <a:extLst>
                    <a:ext uri="{9D8B030D-6E8A-4147-A177-3AD203B41FA5}">
                      <a16:colId xmlns:a16="http://schemas.microsoft.com/office/drawing/2014/main" val="4230052594"/>
                    </a:ext>
                  </a:extLst>
                </a:gridCol>
                <a:gridCol w="1915075">
                  <a:extLst>
                    <a:ext uri="{9D8B030D-6E8A-4147-A177-3AD203B41FA5}">
                      <a16:colId xmlns:a16="http://schemas.microsoft.com/office/drawing/2014/main" val="2680388886"/>
                    </a:ext>
                  </a:extLst>
                </a:gridCol>
              </a:tblGrid>
              <a:tr h="190500">
                <a:tc>
                  <a:txBody>
                    <a:bodyPr/>
                    <a:lstStyle/>
                    <a:p>
                      <a:pPr algn="ctr">
                        <a:lnSpc>
                          <a:spcPct val="107000"/>
                        </a:lnSpc>
                        <a:spcAft>
                          <a:spcPts val="0"/>
                        </a:spcAft>
                      </a:pPr>
                      <a:r>
                        <a:rPr lang="en-GB" sz="1400" dirty="0" err="1">
                          <a:solidFill>
                            <a:sysClr val="windowText" lastClr="000000"/>
                          </a:solidFill>
                          <a:effectLst/>
                        </a:rPr>
                        <a:t>FOid</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FOobservationCode</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i="1" dirty="0">
                          <a:solidFill>
                            <a:sysClr val="windowText" lastClr="000000"/>
                          </a:solidFill>
                          <a:effectLst/>
                        </a:rPr>
                        <a:t>Observation code explained</a:t>
                      </a:r>
                      <a:endParaRPr lang="sv-SE" sz="1400" i="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4457140"/>
                  </a:ext>
                </a:extLst>
              </a:tr>
              <a:tr h="190500">
                <a:tc>
                  <a:txBody>
                    <a:bodyPr/>
                    <a:lstStyle/>
                    <a:p>
                      <a:pPr algn="ctr">
                        <a:lnSpc>
                          <a:spcPct val="107000"/>
                        </a:lnSpc>
                        <a:spcAft>
                          <a:spcPts val="0"/>
                        </a:spcAft>
                      </a:pPr>
                      <a:r>
                        <a:rPr lang="en-GB" sz="1400" dirty="0">
                          <a:solidFill>
                            <a:sysClr val="windowText" lastClr="000000"/>
                          </a:solidFill>
                          <a:effectLst/>
                        </a:rPr>
                        <a:t>1</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dirty="0">
                          <a:solidFill>
                            <a:sysClr val="windowText" lastClr="000000"/>
                          </a:solidFill>
                          <a:effectLst/>
                        </a:rPr>
                        <a:t>So</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u="none" dirty="0">
                          <a:solidFill>
                            <a:sysClr val="windowText" lastClr="000000"/>
                          </a:solidFill>
                          <a:effectLst/>
                        </a:rPr>
                        <a:t>Only </a:t>
                      </a:r>
                      <a:r>
                        <a:rPr lang="en-GB" sz="1400" i="1" u="sng" dirty="0">
                          <a:solidFill>
                            <a:sysClr val="windowText" lastClr="000000"/>
                          </a:solidFill>
                          <a:effectLst/>
                        </a:rPr>
                        <a:t>So</a:t>
                      </a:r>
                      <a:r>
                        <a:rPr lang="en-GB" sz="1400" i="1" dirty="0">
                          <a:solidFill>
                            <a:sysClr val="windowText" lastClr="000000"/>
                          </a:solidFill>
                          <a:effectLst/>
                        </a:rPr>
                        <a:t>rting observed</a:t>
                      </a:r>
                      <a:endParaRPr lang="sv-SE" sz="1400" i="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5190773"/>
                  </a:ext>
                </a:extLst>
              </a:tr>
              <a:tr h="190500">
                <a:tc>
                  <a:txBody>
                    <a:bodyPr/>
                    <a:lstStyle/>
                    <a:p>
                      <a:pPr algn="ctr">
                        <a:lnSpc>
                          <a:spcPct val="107000"/>
                        </a:lnSpc>
                        <a:spcAft>
                          <a:spcPts val="0"/>
                        </a:spcAft>
                      </a:pPr>
                      <a:r>
                        <a:rPr lang="en-GB" sz="1400" dirty="0">
                          <a:solidFill>
                            <a:sysClr val="windowText" lastClr="000000"/>
                          </a:solidFill>
                          <a:effectLst/>
                        </a:rPr>
                        <a:t>2</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dirty="0">
                          <a:solidFill>
                            <a:sysClr val="windowText" lastClr="000000"/>
                          </a:solidFill>
                          <a:effectLst/>
                        </a:rPr>
                        <a:t>So</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u="none" dirty="0">
                          <a:solidFill>
                            <a:sysClr val="windowText" lastClr="000000"/>
                          </a:solidFill>
                          <a:effectLst/>
                        </a:rPr>
                        <a:t>Only </a:t>
                      </a:r>
                      <a:r>
                        <a:rPr lang="en-GB" sz="1400" i="1" u="sng" dirty="0">
                          <a:solidFill>
                            <a:sysClr val="windowText" lastClr="000000"/>
                          </a:solidFill>
                          <a:effectLst/>
                        </a:rPr>
                        <a:t>So</a:t>
                      </a:r>
                      <a:r>
                        <a:rPr lang="en-GB" sz="1400" i="1" dirty="0">
                          <a:solidFill>
                            <a:sysClr val="windowText" lastClr="000000"/>
                          </a:solidFill>
                          <a:effectLst/>
                        </a:rPr>
                        <a:t>rting observed</a:t>
                      </a:r>
                      <a:endParaRPr lang="sv-SE" sz="1400" i="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352787"/>
                  </a:ext>
                </a:extLst>
              </a:tr>
              <a:tr h="190500">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0"/>
                        </a:spcAft>
                      </a:pPr>
                      <a:r>
                        <a:rPr lang="en-GB" sz="1400" i="1" dirty="0">
                          <a:solidFill>
                            <a:sysClr val="windowText" lastClr="000000"/>
                          </a:solidFill>
                          <a:effectLst/>
                        </a:rPr>
                        <a:t>...</a:t>
                      </a:r>
                      <a:endParaRPr lang="sv-SE" sz="1400" i="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9857299"/>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1476682453"/>
              </p:ext>
            </p:extLst>
          </p:nvPr>
        </p:nvGraphicFramePr>
        <p:xfrm>
          <a:off x="413355" y="5052535"/>
          <a:ext cx="4411346" cy="1294638"/>
        </p:xfrm>
        <a:graphic>
          <a:graphicData uri="http://schemas.openxmlformats.org/drawingml/2006/table">
            <a:tbl>
              <a:tblPr firstRow="1" firstCol="1" bandRow="1">
                <a:tableStyleId>{5C22544A-7EE6-4342-B048-85BDC9FD1C3A}</a:tableStyleId>
              </a:tblPr>
              <a:tblGrid>
                <a:gridCol w="577841">
                  <a:extLst>
                    <a:ext uri="{9D8B030D-6E8A-4147-A177-3AD203B41FA5}">
                      <a16:colId xmlns:a16="http://schemas.microsoft.com/office/drawing/2014/main" val="645648237"/>
                    </a:ext>
                  </a:extLst>
                </a:gridCol>
                <a:gridCol w="563025">
                  <a:extLst>
                    <a:ext uri="{9D8B030D-6E8A-4147-A177-3AD203B41FA5}">
                      <a16:colId xmlns:a16="http://schemas.microsoft.com/office/drawing/2014/main" val="1152578759"/>
                    </a:ext>
                  </a:extLst>
                </a:gridCol>
                <a:gridCol w="563025">
                  <a:extLst>
                    <a:ext uri="{9D8B030D-6E8A-4147-A177-3AD203B41FA5}">
                      <a16:colId xmlns:a16="http://schemas.microsoft.com/office/drawing/2014/main" val="3972322186"/>
                    </a:ext>
                  </a:extLst>
                </a:gridCol>
                <a:gridCol w="980354">
                  <a:extLst>
                    <a:ext uri="{9D8B030D-6E8A-4147-A177-3AD203B41FA5}">
                      <a16:colId xmlns:a16="http://schemas.microsoft.com/office/drawing/2014/main" val="486796576"/>
                    </a:ext>
                  </a:extLst>
                </a:gridCol>
                <a:gridCol w="889973">
                  <a:extLst>
                    <a:ext uri="{9D8B030D-6E8A-4147-A177-3AD203B41FA5}">
                      <a16:colId xmlns:a16="http://schemas.microsoft.com/office/drawing/2014/main" val="393027957"/>
                    </a:ext>
                  </a:extLst>
                </a:gridCol>
                <a:gridCol w="837128">
                  <a:extLst>
                    <a:ext uri="{9D8B030D-6E8A-4147-A177-3AD203B41FA5}">
                      <a16:colId xmlns:a16="http://schemas.microsoft.com/office/drawing/2014/main" val="1608984407"/>
                    </a:ext>
                  </a:extLst>
                </a:gridCol>
              </a:tblGrid>
              <a:tr h="190500">
                <a:tc>
                  <a:txBody>
                    <a:bodyPr/>
                    <a:lstStyle/>
                    <a:p>
                      <a:pPr algn="ctr">
                        <a:lnSpc>
                          <a:spcPct val="107000"/>
                        </a:lnSpc>
                        <a:spcAft>
                          <a:spcPts val="0"/>
                        </a:spcAft>
                      </a:pPr>
                      <a:r>
                        <a:rPr lang="en-GB" sz="1400">
                          <a:solidFill>
                            <a:sysClr val="windowText" lastClr="000000"/>
                          </a:solidFill>
                          <a:effectLst/>
                        </a:rPr>
                        <a:t>SSid</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Foid</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sv-SE" sz="1400" b="1" dirty="0" err="1">
                          <a:solidFill>
                            <a:schemeClr val="tx1"/>
                          </a:solidFill>
                        </a:rPr>
                        <a:t>SSobservationActivityType</a:t>
                      </a:r>
                      <a:endParaRPr lang="sv-SE" sz="1400" b="1"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a:solidFill>
                            <a:sysClr val="windowText" lastClr="000000"/>
                          </a:solidFill>
                          <a:effectLst/>
                        </a:rPr>
                        <a:t>SScatchFraction</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lnSpc>
                          <a:spcPct val="107000"/>
                        </a:lnSpc>
                        <a:spcAft>
                          <a:spcPts val="0"/>
                        </a:spcAft>
                      </a:pPr>
                      <a:r>
                        <a:rPr lang="en-GB" sz="1400" dirty="0" err="1">
                          <a:solidFill>
                            <a:sysClr val="windowText" lastClr="000000"/>
                          </a:solidFill>
                          <a:effectLst/>
                        </a:rPr>
                        <a:t>SSsppListName</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00505246"/>
                  </a:ext>
                </a:extLst>
              </a:tr>
              <a:tr h="190500">
                <a:tc>
                  <a:txBody>
                    <a:bodyPr/>
                    <a:lstStyle/>
                    <a:p>
                      <a:pPr algn="ctr">
                        <a:lnSpc>
                          <a:spcPct val="107000"/>
                        </a:lnSpc>
                        <a:spcAft>
                          <a:spcPts val="0"/>
                        </a:spcAft>
                      </a:pPr>
                      <a:r>
                        <a:rPr lang="en-GB" sz="1400" dirty="0">
                          <a:solidFill>
                            <a:sysClr val="windowText" lastClr="000000"/>
                          </a:solidFill>
                          <a:effectLst/>
                          <a:latin typeface="+mn-lt"/>
                          <a:ea typeface="+mn-ea"/>
                          <a:cs typeface="+mn-cs"/>
                        </a:rPr>
                        <a:t>1</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1</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Sort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kumimoji="0" lang="en-GB" sz="14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Dis</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A</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0770945"/>
                  </a:ext>
                </a:extLst>
              </a:tr>
              <a:tr h="190500">
                <a:tc>
                  <a:txBody>
                    <a:bodyPr/>
                    <a:lstStyle/>
                    <a:p>
                      <a:pPr algn="ctr">
                        <a:lnSpc>
                          <a:spcPct val="107000"/>
                        </a:lnSpc>
                        <a:spcAft>
                          <a:spcPts val="0"/>
                        </a:spcAft>
                      </a:pPr>
                      <a:r>
                        <a:rPr lang="en-GB" sz="1400" dirty="0">
                          <a:solidFill>
                            <a:sysClr val="windowText" lastClr="000000"/>
                          </a:solidFill>
                          <a:effectLst/>
                          <a:latin typeface="+mn-lt"/>
                          <a:ea typeface="+mn-ea"/>
                          <a:cs typeface="+mn-cs"/>
                        </a:rPr>
                        <a:t>2</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2</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Sort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kumimoji="0" lang="en-GB" sz="1400" b="0" i="0" u="none" strike="noStrike" kern="1200" cap="none" spc="0" normalizeH="0" baseline="0" noProof="0" dirty="0">
                          <a:ln>
                            <a:noFill/>
                          </a:ln>
                          <a:solidFill>
                            <a:sysClr val="windowText" lastClr="000000"/>
                          </a:solidFill>
                          <a:effectLst/>
                          <a:uLnTx/>
                          <a:uFillTx/>
                          <a:latin typeface="+mn-lt"/>
                          <a:ea typeface="+mn-ea"/>
                          <a:cs typeface="+mn-cs"/>
                        </a:rPr>
                        <a:t>Dis</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A</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8841408"/>
                  </a:ext>
                </a:extLst>
              </a:tr>
              <a:tr h="190500">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a:solidFill>
                            <a:sysClr val="windowText" lastClr="000000"/>
                          </a:solidFill>
                          <a:effectLst/>
                        </a:rPr>
                        <a:t>...</a:t>
                      </a:r>
                      <a:endParaRPr lang="sv-SE" sz="14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400" dirty="0">
                          <a:solidFill>
                            <a:sysClr val="windowText" lastClr="000000"/>
                          </a:solidFill>
                          <a:effectLst/>
                        </a:rPr>
                        <a:t>...</a:t>
                      </a:r>
                      <a:endParaRPr lang="sv-SE"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266478"/>
                  </a:ext>
                </a:extLst>
              </a:tr>
            </a:tbl>
          </a:graphicData>
        </a:graphic>
      </p:graphicFrame>
      <p:pic>
        <p:nvPicPr>
          <p:cNvPr id="31" name="Picture 30"/>
          <p:cNvPicPr>
            <a:picLocks noChangeAspect="1"/>
          </p:cNvPicPr>
          <p:nvPr/>
        </p:nvPicPr>
        <p:blipFill>
          <a:blip r:embed="rId2"/>
          <a:stretch>
            <a:fillRect/>
          </a:stretch>
        </p:blipFill>
        <p:spPr>
          <a:xfrm>
            <a:off x="399500" y="1763334"/>
            <a:ext cx="2601818" cy="1364408"/>
          </a:xfrm>
          <a:prstGeom prst="rect">
            <a:avLst/>
          </a:prstGeom>
        </p:spPr>
      </p:pic>
      <p:graphicFrame>
        <p:nvGraphicFramePr>
          <p:cNvPr id="32" name="Table 31"/>
          <p:cNvGraphicFramePr>
            <a:graphicFrameLocks noGrp="1"/>
          </p:cNvGraphicFramePr>
          <p:nvPr>
            <p:extLst>
              <p:ext uri="{D42A27DB-BD31-4B8C-83A1-F6EECF244321}">
                <p14:modId xmlns:p14="http://schemas.microsoft.com/office/powerpoint/2010/main" val="4048620875"/>
              </p:ext>
            </p:extLst>
          </p:nvPr>
        </p:nvGraphicFramePr>
        <p:xfrm>
          <a:off x="7589891" y="2210011"/>
          <a:ext cx="4269599" cy="4175760"/>
        </p:xfrm>
        <a:graphic>
          <a:graphicData uri="http://schemas.openxmlformats.org/drawingml/2006/table">
            <a:tbl>
              <a:tblPr firstRow="1" bandRow="1">
                <a:tableStyleId>{5940675A-B579-460E-94D1-54222C63F5DA}</a:tableStyleId>
              </a:tblPr>
              <a:tblGrid>
                <a:gridCol w="1224482">
                  <a:extLst>
                    <a:ext uri="{9D8B030D-6E8A-4147-A177-3AD203B41FA5}">
                      <a16:colId xmlns:a16="http://schemas.microsoft.com/office/drawing/2014/main" val="2815465670"/>
                    </a:ext>
                  </a:extLst>
                </a:gridCol>
                <a:gridCol w="929755">
                  <a:extLst>
                    <a:ext uri="{9D8B030D-6E8A-4147-A177-3AD203B41FA5}">
                      <a16:colId xmlns:a16="http://schemas.microsoft.com/office/drawing/2014/main" val="3151269377"/>
                    </a:ext>
                  </a:extLst>
                </a:gridCol>
                <a:gridCol w="1230003">
                  <a:extLst>
                    <a:ext uri="{9D8B030D-6E8A-4147-A177-3AD203B41FA5}">
                      <a16:colId xmlns:a16="http://schemas.microsoft.com/office/drawing/2014/main" val="3459909481"/>
                    </a:ext>
                  </a:extLst>
                </a:gridCol>
                <a:gridCol w="885359">
                  <a:extLst>
                    <a:ext uri="{9D8B030D-6E8A-4147-A177-3AD203B41FA5}">
                      <a16:colId xmlns:a16="http://schemas.microsoft.com/office/drawing/2014/main" val="3307169097"/>
                    </a:ext>
                  </a:extLst>
                </a:gridCol>
              </a:tblGrid>
              <a:tr h="192881">
                <a:tc>
                  <a:txBody>
                    <a:bodyPr/>
                    <a:lstStyle/>
                    <a:p>
                      <a:r>
                        <a:rPr lang="sv-SE" sz="1400" b="1" dirty="0"/>
                        <a:t>Species</a:t>
                      </a:r>
                      <a:endParaRPr lang="en-GB" sz="1400" b="1" dirty="0"/>
                    </a:p>
                  </a:txBody>
                  <a:tcPr>
                    <a:solidFill>
                      <a:schemeClr val="accent1">
                        <a:lumMod val="60000"/>
                        <a:lumOff val="40000"/>
                      </a:schemeClr>
                    </a:solidFill>
                  </a:tcPr>
                </a:tc>
                <a:tc>
                  <a:txBody>
                    <a:bodyPr/>
                    <a:lstStyle/>
                    <a:p>
                      <a:pPr algn="ctr"/>
                      <a:r>
                        <a:rPr lang="en-GB" sz="1400" b="1" dirty="0" err="1"/>
                        <a:t>CatchCateg</a:t>
                      </a:r>
                      <a:endParaRPr lang="en-GB" sz="1400" b="1" dirty="0"/>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400" b="1" dirty="0" err="1">
                          <a:solidFill>
                            <a:schemeClr val="tx1"/>
                          </a:solidFill>
                        </a:rPr>
                        <a:t>SSobservationActivityType</a:t>
                      </a:r>
                      <a:endParaRPr lang="sv-SE" sz="1400" b="1" dirty="0">
                        <a:solidFill>
                          <a:schemeClr val="tx1"/>
                        </a:solidFill>
                      </a:endParaRPr>
                    </a:p>
                  </a:txBody>
                  <a:tcPr>
                    <a:solidFill>
                      <a:schemeClr val="accent1">
                        <a:lumMod val="60000"/>
                        <a:lumOff val="40000"/>
                      </a:schemeClr>
                    </a:solidFill>
                  </a:tcPr>
                </a:tc>
                <a:tc>
                  <a:txBody>
                    <a:bodyPr/>
                    <a:lstStyle/>
                    <a:p>
                      <a:pPr algn="ctr"/>
                      <a:r>
                        <a:rPr lang="sv-SE" sz="1400" b="1" dirty="0" err="1"/>
                        <a:t>Weight</a:t>
                      </a:r>
                      <a:r>
                        <a:rPr lang="sv-SE" sz="1400" b="1" dirty="0"/>
                        <a:t> (kg)</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400" dirty="0"/>
                        <a:t>Cod</a:t>
                      </a:r>
                      <a:endParaRPr lang="en-GB" sz="1400" dirty="0"/>
                    </a:p>
                  </a:txBody>
                  <a:tcPr/>
                </a:tc>
                <a:tc>
                  <a:txBody>
                    <a:bodyPr/>
                    <a:lstStyle/>
                    <a:p>
                      <a:pPr algn="ctr"/>
                      <a:r>
                        <a:rPr lang="en-GB" sz="1400" dirty="0"/>
                        <a:t>Dis</a:t>
                      </a:r>
                    </a:p>
                  </a:txBody>
                  <a:tcPr/>
                </a:tc>
                <a:tc>
                  <a:txBody>
                    <a:bodyPr/>
                    <a:lstStyle/>
                    <a:p>
                      <a:pPr algn="ctr"/>
                      <a:r>
                        <a:rPr lang="en-GB" sz="1400" dirty="0"/>
                        <a:t>Sort</a:t>
                      </a:r>
                    </a:p>
                  </a:txBody>
                  <a:tcPr/>
                </a:tc>
                <a:tc>
                  <a:txBody>
                    <a:bodyPr/>
                    <a:lstStyle/>
                    <a:p>
                      <a:pPr algn="ctr"/>
                      <a:r>
                        <a:rPr lang="sv-SE" sz="1400" dirty="0"/>
                        <a:t>100</a:t>
                      </a:r>
                      <a:endParaRPr lang="en-GB" sz="1400" dirty="0"/>
                    </a:p>
                  </a:txBody>
                  <a:tcPr/>
                </a:tc>
                <a:extLst>
                  <a:ext uri="{0D108BD9-81ED-4DB2-BD59-A6C34878D82A}">
                    <a16:rowId xmlns:a16="http://schemas.microsoft.com/office/drawing/2014/main" val="3375731275"/>
                  </a:ext>
                </a:extLst>
              </a:tr>
              <a:tr h="192881">
                <a:tc>
                  <a:txBody>
                    <a:bodyPr/>
                    <a:lstStyle/>
                    <a:p>
                      <a:r>
                        <a:rPr lang="en-GB" sz="1400" b="0" dirty="0">
                          <a:solidFill>
                            <a:schemeClr val="tx1"/>
                          </a:solidFill>
                        </a:rPr>
                        <a:t>Plaice</a:t>
                      </a:r>
                    </a:p>
                  </a:txBody>
                  <a:tcPr/>
                </a:tc>
                <a:tc>
                  <a:txBody>
                    <a:bodyPr/>
                    <a:lstStyle/>
                    <a:p>
                      <a:pPr algn="ctr"/>
                      <a:r>
                        <a:rPr lang="en-GB" sz="1400" b="0" dirty="0">
                          <a:solidFill>
                            <a:schemeClr val="tx1"/>
                          </a:solidFill>
                        </a:rPr>
                        <a:t>Dis</a:t>
                      </a:r>
                    </a:p>
                  </a:txBody>
                  <a:tcPr/>
                </a:tc>
                <a:tc>
                  <a:txBody>
                    <a:bodyPr/>
                    <a:lstStyle/>
                    <a:p>
                      <a:pPr algn="ctr"/>
                      <a:r>
                        <a:rPr lang="en-GB" sz="1400" b="0" dirty="0">
                          <a:solidFill>
                            <a:schemeClr val="tx1"/>
                          </a:solidFill>
                        </a:rPr>
                        <a:t>Sort</a:t>
                      </a:r>
                    </a:p>
                  </a:txBody>
                  <a:tcPr/>
                </a:tc>
                <a:tc>
                  <a:txBody>
                    <a:bodyPr/>
                    <a:lstStyle/>
                    <a:p>
                      <a:pPr algn="ctr"/>
                      <a:r>
                        <a:rPr lang="en-GB" sz="1400" b="1" dirty="0">
                          <a:solidFill>
                            <a:schemeClr val="tx1"/>
                          </a:solidFill>
                        </a:rPr>
                        <a:t>NA</a:t>
                      </a:r>
                    </a:p>
                  </a:txBody>
                  <a:tcPr/>
                </a:tc>
                <a:extLst>
                  <a:ext uri="{0D108BD9-81ED-4DB2-BD59-A6C34878D82A}">
                    <a16:rowId xmlns:a16="http://schemas.microsoft.com/office/drawing/2014/main" val="1583662508"/>
                  </a:ext>
                </a:extLst>
              </a:tr>
              <a:tr h="192881">
                <a:tc>
                  <a:txBody>
                    <a:bodyPr/>
                    <a:lstStyle/>
                    <a:p>
                      <a:r>
                        <a:rPr lang="en-US" sz="1400" b="0" dirty="0">
                          <a:solidFill>
                            <a:schemeClr val="tx1"/>
                          </a:solidFill>
                        </a:rPr>
                        <a:t>Dolphin</a:t>
                      </a:r>
                      <a:endParaRPr lang="en-GB" sz="1400" b="0" dirty="0">
                        <a:solidFill>
                          <a:schemeClr val="tx1"/>
                        </a:solidFill>
                      </a:endParaRPr>
                    </a:p>
                  </a:txBody>
                  <a:tcPr/>
                </a:tc>
                <a:tc>
                  <a:txBody>
                    <a:bodyPr/>
                    <a:lstStyle/>
                    <a:p>
                      <a:pPr algn="ctr"/>
                      <a:r>
                        <a:rPr lang="en-GB" sz="1400" b="0" dirty="0">
                          <a:solidFill>
                            <a:schemeClr val="tx1"/>
                          </a:solidFill>
                        </a:rPr>
                        <a:t>Dis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dirty="0">
                          <a:solidFill>
                            <a:schemeClr val="tx1"/>
                          </a:solidFill>
                        </a:rPr>
                        <a:t>Sort</a:t>
                      </a:r>
                    </a:p>
                  </a:txBody>
                  <a:tcPr/>
                </a:tc>
                <a:tc>
                  <a:txBody>
                    <a:bodyPr/>
                    <a:lstStyle/>
                    <a:p>
                      <a:pPr algn="ctr"/>
                      <a:r>
                        <a:rPr lang="sv-SE" sz="1400" b="1" dirty="0">
                          <a:solidFill>
                            <a:schemeClr val="tx1"/>
                          </a:solidFill>
                        </a:rPr>
                        <a:t>0</a:t>
                      </a:r>
                      <a:endParaRPr lang="en-GB" sz="1400" b="1" dirty="0">
                        <a:solidFill>
                          <a:schemeClr val="tx1"/>
                        </a:solidFill>
                      </a:endParaRPr>
                    </a:p>
                  </a:txBody>
                  <a:tcPr/>
                </a:tc>
                <a:extLst>
                  <a:ext uri="{0D108BD9-81ED-4DB2-BD59-A6C34878D82A}">
                    <a16:rowId xmlns:a16="http://schemas.microsoft.com/office/drawing/2014/main" val="3746541428"/>
                  </a:ext>
                </a:extLst>
              </a:tr>
              <a:tr h="192881">
                <a:tc>
                  <a:txBody>
                    <a:bodyPr/>
                    <a:lstStyle/>
                    <a:p>
                      <a:r>
                        <a:rPr lang="en-US" sz="1400" dirty="0">
                          <a:solidFill>
                            <a:schemeClr val="bg1">
                              <a:lumMod val="50000"/>
                            </a:schemeClr>
                          </a:solidFill>
                        </a:rPr>
                        <a:t>Cod</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Dis</a:t>
                      </a:r>
                    </a:p>
                  </a:txBody>
                  <a:tcPr/>
                </a:tc>
                <a:tc>
                  <a:txBody>
                    <a:bodyPr/>
                    <a:lstStyle/>
                    <a:p>
                      <a:pPr algn="ctr"/>
                      <a:r>
                        <a:rPr lang="en-GB" sz="1400" dirty="0" err="1">
                          <a:solidFill>
                            <a:schemeClr val="bg1">
                              <a:lumMod val="50000"/>
                            </a:schemeClr>
                          </a:solidFill>
                        </a:rPr>
                        <a:t>Presort</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2716308645"/>
                  </a:ext>
                </a:extLst>
              </a:tr>
              <a:tr h="192881">
                <a:tc>
                  <a:txBody>
                    <a:bodyPr/>
                    <a:lstStyle/>
                    <a:p>
                      <a:r>
                        <a:rPr lang="en-GB" sz="1400" dirty="0">
                          <a:solidFill>
                            <a:schemeClr val="bg1">
                              <a:lumMod val="50000"/>
                            </a:schemeClr>
                          </a:solidFill>
                        </a:rPr>
                        <a:t>Plaice</a:t>
                      </a:r>
                    </a:p>
                  </a:txBody>
                  <a:tcPr/>
                </a:tc>
                <a:tc>
                  <a:txBody>
                    <a:bodyPr/>
                    <a:lstStyle/>
                    <a:p>
                      <a:pPr algn="ctr"/>
                      <a:r>
                        <a:rPr lang="en-GB" sz="1400" dirty="0">
                          <a:solidFill>
                            <a:schemeClr val="bg1">
                              <a:lumMod val="50000"/>
                            </a:schemeClr>
                          </a:solidFill>
                        </a:rPr>
                        <a:t>Dis</a:t>
                      </a:r>
                    </a:p>
                  </a:txBody>
                  <a:tcPr/>
                </a:tc>
                <a:tc>
                  <a:txBody>
                    <a:bodyPr/>
                    <a:lstStyle/>
                    <a:p>
                      <a:pPr algn="ctr"/>
                      <a:r>
                        <a:rPr lang="en-GB" sz="1400" dirty="0" err="1">
                          <a:solidFill>
                            <a:schemeClr val="bg1">
                              <a:lumMod val="50000"/>
                            </a:schemeClr>
                          </a:solidFill>
                        </a:rPr>
                        <a:t>Presort</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3547863059"/>
                  </a:ext>
                </a:extLst>
              </a:tr>
              <a:tr h="192881">
                <a:tc>
                  <a:txBody>
                    <a:bodyPr/>
                    <a:lstStyle/>
                    <a:p>
                      <a:r>
                        <a:rPr lang="en-US" sz="1400" dirty="0">
                          <a:solidFill>
                            <a:schemeClr val="bg1">
                              <a:lumMod val="50000"/>
                            </a:schemeClr>
                          </a:solidFill>
                        </a:rPr>
                        <a:t>Dolphin</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Dis</a:t>
                      </a:r>
                    </a:p>
                  </a:txBody>
                  <a:tcPr/>
                </a:tc>
                <a:tc>
                  <a:txBody>
                    <a:bodyPr/>
                    <a:lstStyle/>
                    <a:p>
                      <a:pPr algn="ctr"/>
                      <a:r>
                        <a:rPr lang="en-GB" sz="1400" dirty="0" err="1">
                          <a:solidFill>
                            <a:schemeClr val="bg1">
                              <a:lumMod val="50000"/>
                            </a:schemeClr>
                          </a:solidFill>
                        </a:rPr>
                        <a:t>Presort</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1895415292"/>
                  </a:ext>
                </a:extLst>
              </a:tr>
              <a:tr h="192881">
                <a:tc>
                  <a:txBody>
                    <a:bodyPr/>
                    <a:lstStyle/>
                    <a:p>
                      <a:r>
                        <a:rPr lang="en-US" sz="1400" dirty="0">
                          <a:solidFill>
                            <a:schemeClr val="bg1">
                              <a:lumMod val="50000"/>
                            </a:schemeClr>
                          </a:solidFill>
                        </a:rPr>
                        <a:t>Cod</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Dis</a:t>
                      </a:r>
                    </a:p>
                  </a:txBody>
                  <a:tcPr/>
                </a:tc>
                <a:tc>
                  <a:txBody>
                    <a:bodyPr/>
                    <a:lstStyle/>
                    <a:p>
                      <a:pPr algn="ctr"/>
                      <a:r>
                        <a:rPr lang="en-GB" sz="1400" dirty="0">
                          <a:solidFill>
                            <a:schemeClr val="bg1">
                              <a:lumMod val="50000"/>
                            </a:schemeClr>
                          </a:solidFill>
                        </a:rPr>
                        <a:t>Drop-outs</a:t>
                      </a: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856867656"/>
                  </a:ext>
                </a:extLst>
              </a:tr>
              <a:tr h="192881">
                <a:tc>
                  <a:txBody>
                    <a:bodyPr/>
                    <a:lstStyle/>
                    <a:p>
                      <a:r>
                        <a:rPr lang="en-GB" sz="1400" dirty="0">
                          <a:solidFill>
                            <a:schemeClr val="bg1">
                              <a:lumMod val="50000"/>
                            </a:schemeClr>
                          </a:solidFill>
                        </a:rPr>
                        <a:t>Plaice</a:t>
                      </a:r>
                    </a:p>
                  </a:txBody>
                  <a:tcPr/>
                </a:tc>
                <a:tc>
                  <a:txBody>
                    <a:bodyPr/>
                    <a:lstStyle/>
                    <a:p>
                      <a:pPr algn="ctr"/>
                      <a:r>
                        <a:rPr lang="en-GB" sz="1400" dirty="0">
                          <a:solidFill>
                            <a:schemeClr val="bg1">
                              <a:lumMod val="50000"/>
                            </a:schemeClr>
                          </a:solidFill>
                        </a:rPr>
                        <a:t>Dis</a:t>
                      </a:r>
                    </a:p>
                  </a:txBody>
                  <a:tcPr/>
                </a:tc>
                <a:tc>
                  <a:txBody>
                    <a:bodyPr/>
                    <a:lstStyle/>
                    <a:p>
                      <a:pPr algn="ctr"/>
                      <a:r>
                        <a:rPr lang="en-GB" sz="1400" dirty="0">
                          <a:solidFill>
                            <a:schemeClr val="bg1">
                              <a:lumMod val="50000"/>
                            </a:schemeClr>
                          </a:solidFill>
                        </a:rPr>
                        <a:t>Drop-outs</a:t>
                      </a: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1246343132"/>
                  </a:ext>
                </a:extLst>
              </a:tr>
              <a:tr h="192881">
                <a:tc>
                  <a:txBody>
                    <a:bodyPr/>
                    <a:lstStyle/>
                    <a:p>
                      <a:r>
                        <a:rPr lang="en-US" sz="1400" dirty="0">
                          <a:solidFill>
                            <a:schemeClr val="bg1">
                              <a:lumMod val="50000"/>
                            </a:schemeClr>
                          </a:solidFill>
                        </a:rPr>
                        <a:t>Dolphin</a:t>
                      </a:r>
                      <a:endParaRPr lang="en-GB" sz="1400" dirty="0">
                        <a:solidFill>
                          <a:schemeClr val="bg1">
                            <a:lumMod val="50000"/>
                          </a:schemeClr>
                        </a:solidFill>
                      </a:endParaRPr>
                    </a:p>
                  </a:txBody>
                  <a:tcPr/>
                </a:tc>
                <a:tc>
                  <a:txBody>
                    <a:bodyPr/>
                    <a:lstStyle/>
                    <a:p>
                      <a:pPr algn="ctr"/>
                      <a:r>
                        <a:rPr lang="en-GB" sz="1400" dirty="0">
                          <a:solidFill>
                            <a:schemeClr val="bg1">
                              <a:lumMod val="50000"/>
                            </a:schemeClr>
                          </a:solidFill>
                        </a:rPr>
                        <a:t>Dis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solidFill>
                            <a:schemeClr val="bg1">
                              <a:lumMod val="50000"/>
                            </a:schemeClr>
                          </a:solidFill>
                        </a:rPr>
                        <a:t>Drop-outs</a:t>
                      </a:r>
                    </a:p>
                  </a:txBody>
                  <a:tcPr/>
                </a:tc>
                <a:tc>
                  <a:txBody>
                    <a:bodyPr/>
                    <a:lstStyle/>
                    <a:p>
                      <a:pPr algn="ctr"/>
                      <a:r>
                        <a:rPr lang="en-GB" sz="1400" dirty="0">
                          <a:solidFill>
                            <a:schemeClr val="bg1">
                              <a:lumMod val="50000"/>
                            </a:schemeClr>
                          </a:solidFill>
                        </a:rPr>
                        <a:t>NA</a:t>
                      </a:r>
                    </a:p>
                  </a:txBody>
                  <a:tcPr/>
                </a:tc>
                <a:extLst>
                  <a:ext uri="{0D108BD9-81ED-4DB2-BD59-A6C34878D82A}">
                    <a16:rowId xmlns:a16="http://schemas.microsoft.com/office/drawing/2014/main" val="314915351"/>
                  </a:ext>
                </a:extLst>
              </a:tr>
              <a:tr h="192881">
                <a:tc>
                  <a:txBody>
                    <a:bodyPr/>
                    <a:lstStyle/>
                    <a:p>
                      <a:r>
                        <a:rPr lang="en-US" sz="1400" strike="noStrike" baseline="0" dirty="0">
                          <a:solidFill>
                            <a:schemeClr val="bg1">
                              <a:lumMod val="50000"/>
                            </a:schemeClr>
                          </a:solidFill>
                        </a:rPr>
                        <a:t>Cod</a:t>
                      </a:r>
                      <a:endParaRPr lang="en-GB" sz="1400" strike="noStrike" baseline="0" dirty="0">
                        <a:solidFill>
                          <a:schemeClr val="bg1">
                            <a:lumMod val="50000"/>
                          </a:schemeClr>
                        </a:solidFill>
                      </a:endParaRPr>
                    </a:p>
                  </a:txBody>
                  <a:tcPr/>
                </a:tc>
                <a:tc>
                  <a:txBody>
                    <a:bodyPr/>
                    <a:lstStyle/>
                    <a:p>
                      <a:pPr algn="ctr"/>
                      <a:r>
                        <a:rPr lang="en-GB" sz="1400" strike="noStrike" baseline="0" dirty="0">
                          <a:solidFill>
                            <a:schemeClr val="bg1">
                              <a:lumMod val="50000"/>
                            </a:schemeClr>
                          </a:solidFill>
                        </a:rPr>
                        <a:t>Dis</a:t>
                      </a:r>
                    </a:p>
                  </a:txBody>
                  <a:tcPr/>
                </a:tc>
                <a:tc>
                  <a:txBody>
                    <a:bodyPr/>
                    <a:lstStyle/>
                    <a:p>
                      <a:pPr algn="ctr"/>
                      <a:r>
                        <a:rPr lang="en-GB" sz="1400" strike="noStrike" baseline="0" dirty="0">
                          <a:solidFill>
                            <a:schemeClr val="bg1">
                              <a:lumMod val="50000"/>
                            </a:schemeClr>
                          </a:solidFill>
                        </a:rPr>
                        <a:t>Slipping</a:t>
                      </a:r>
                    </a:p>
                  </a:txBody>
                  <a:tcPr/>
                </a:tc>
                <a:tc>
                  <a:txBody>
                    <a:bodyPr/>
                    <a:lstStyle/>
                    <a:p>
                      <a:pPr algn="ctr"/>
                      <a:r>
                        <a:rPr lang="en-GB" sz="1400" strike="noStrike" baseline="0" dirty="0">
                          <a:solidFill>
                            <a:schemeClr val="bg1">
                              <a:lumMod val="50000"/>
                            </a:schemeClr>
                          </a:solidFill>
                        </a:rPr>
                        <a:t>NA</a:t>
                      </a:r>
                    </a:p>
                  </a:txBody>
                  <a:tcPr/>
                </a:tc>
                <a:extLst>
                  <a:ext uri="{0D108BD9-81ED-4DB2-BD59-A6C34878D82A}">
                    <a16:rowId xmlns:a16="http://schemas.microsoft.com/office/drawing/2014/main" val="4158125719"/>
                  </a:ext>
                </a:extLst>
              </a:tr>
              <a:tr h="192881">
                <a:tc>
                  <a:txBody>
                    <a:bodyPr/>
                    <a:lstStyle/>
                    <a:p>
                      <a:r>
                        <a:rPr lang="en-GB" sz="1400" strike="noStrike" baseline="0" dirty="0">
                          <a:solidFill>
                            <a:schemeClr val="bg1">
                              <a:lumMod val="50000"/>
                            </a:schemeClr>
                          </a:solidFill>
                        </a:rPr>
                        <a:t>Plaice</a:t>
                      </a:r>
                    </a:p>
                  </a:txBody>
                  <a:tcPr/>
                </a:tc>
                <a:tc>
                  <a:txBody>
                    <a:bodyPr/>
                    <a:lstStyle/>
                    <a:p>
                      <a:pPr algn="ctr"/>
                      <a:r>
                        <a:rPr lang="en-GB" sz="1400" strike="noStrike" baseline="0" dirty="0">
                          <a:solidFill>
                            <a:schemeClr val="bg1">
                              <a:lumMod val="50000"/>
                            </a:schemeClr>
                          </a:solidFill>
                        </a:rPr>
                        <a:t>Dis</a:t>
                      </a:r>
                    </a:p>
                  </a:txBody>
                  <a:tcPr/>
                </a:tc>
                <a:tc>
                  <a:txBody>
                    <a:bodyPr/>
                    <a:lstStyle/>
                    <a:p>
                      <a:pPr algn="ctr"/>
                      <a:r>
                        <a:rPr lang="en-GB" sz="1400" strike="noStrike" baseline="0" dirty="0">
                          <a:solidFill>
                            <a:schemeClr val="bg1">
                              <a:lumMod val="50000"/>
                            </a:schemeClr>
                          </a:solidFill>
                        </a:rPr>
                        <a:t>Slipping</a:t>
                      </a:r>
                    </a:p>
                  </a:txBody>
                  <a:tcPr/>
                </a:tc>
                <a:tc>
                  <a:txBody>
                    <a:bodyPr/>
                    <a:lstStyle/>
                    <a:p>
                      <a:pPr algn="ctr"/>
                      <a:r>
                        <a:rPr lang="en-GB" sz="1400" strike="noStrike" baseline="0" dirty="0">
                          <a:solidFill>
                            <a:schemeClr val="bg1">
                              <a:lumMod val="50000"/>
                            </a:schemeClr>
                          </a:solidFill>
                        </a:rPr>
                        <a:t>NA</a:t>
                      </a:r>
                    </a:p>
                  </a:txBody>
                  <a:tcPr/>
                </a:tc>
                <a:extLst>
                  <a:ext uri="{0D108BD9-81ED-4DB2-BD59-A6C34878D82A}">
                    <a16:rowId xmlns:a16="http://schemas.microsoft.com/office/drawing/2014/main" val="2000769784"/>
                  </a:ext>
                </a:extLst>
              </a:tr>
              <a:tr h="192881">
                <a:tc>
                  <a:txBody>
                    <a:bodyPr/>
                    <a:lstStyle/>
                    <a:p>
                      <a:r>
                        <a:rPr lang="en-US" sz="1400" strike="noStrike" baseline="0" dirty="0">
                          <a:solidFill>
                            <a:schemeClr val="bg1">
                              <a:lumMod val="50000"/>
                            </a:schemeClr>
                          </a:solidFill>
                        </a:rPr>
                        <a:t>Dolphin</a:t>
                      </a:r>
                      <a:endParaRPr lang="en-GB" sz="1400" strike="noStrike" baseline="0" dirty="0">
                        <a:solidFill>
                          <a:schemeClr val="bg1">
                            <a:lumMod val="50000"/>
                          </a:schemeClr>
                        </a:solidFill>
                      </a:endParaRPr>
                    </a:p>
                  </a:txBody>
                  <a:tcPr/>
                </a:tc>
                <a:tc>
                  <a:txBody>
                    <a:bodyPr/>
                    <a:lstStyle/>
                    <a:p>
                      <a:pPr algn="ctr"/>
                      <a:r>
                        <a:rPr lang="en-GB" sz="1400" strike="noStrike" baseline="0" dirty="0">
                          <a:solidFill>
                            <a:schemeClr val="bg1">
                              <a:lumMod val="50000"/>
                            </a:schemeClr>
                          </a:solidFill>
                        </a:rPr>
                        <a:t>Dis</a:t>
                      </a:r>
                    </a:p>
                  </a:txBody>
                  <a:tcPr/>
                </a:tc>
                <a:tc>
                  <a:txBody>
                    <a:bodyPr/>
                    <a:lstStyle/>
                    <a:p>
                      <a:pPr algn="ctr"/>
                      <a:r>
                        <a:rPr lang="en-GB" sz="1400" strike="noStrike" baseline="0" dirty="0">
                          <a:solidFill>
                            <a:schemeClr val="bg1">
                              <a:lumMod val="50000"/>
                            </a:schemeClr>
                          </a:solidFill>
                        </a:rPr>
                        <a:t>Slipping</a:t>
                      </a:r>
                    </a:p>
                  </a:txBody>
                  <a:tcPr/>
                </a:tc>
                <a:tc>
                  <a:txBody>
                    <a:bodyPr/>
                    <a:lstStyle/>
                    <a:p>
                      <a:pPr algn="ctr"/>
                      <a:r>
                        <a:rPr lang="en-GB" sz="1400" strike="noStrike" baseline="0" dirty="0">
                          <a:solidFill>
                            <a:schemeClr val="bg1">
                              <a:lumMod val="50000"/>
                            </a:schemeClr>
                          </a:solidFill>
                        </a:rPr>
                        <a:t>NA</a:t>
                      </a:r>
                    </a:p>
                  </a:txBody>
                  <a:tcPr/>
                </a:tc>
                <a:extLst>
                  <a:ext uri="{0D108BD9-81ED-4DB2-BD59-A6C34878D82A}">
                    <a16:rowId xmlns:a16="http://schemas.microsoft.com/office/drawing/2014/main" val="3075655058"/>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881927268"/>
              </p:ext>
            </p:extLst>
          </p:nvPr>
        </p:nvGraphicFramePr>
        <p:xfrm>
          <a:off x="5493177" y="4406182"/>
          <a:ext cx="1597949" cy="914400"/>
        </p:xfrm>
        <a:graphic>
          <a:graphicData uri="http://schemas.openxmlformats.org/drawingml/2006/table">
            <a:tbl>
              <a:tblPr firstRow="1" bandRow="1">
                <a:tableStyleId>{5940675A-B579-460E-94D1-54222C63F5DA}</a:tableStyleId>
              </a:tblPr>
              <a:tblGrid>
                <a:gridCol w="1597949">
                  <a:extLst>
                    <a:ext uri="{9D8B030D-6E8A-4147-A177-3AD203B41FA5}">
                      <a16:colId xmlns:a16="http://schemas.microsoft.com/office/drawing/2014/main" val="2815465670"/>
                    </a:ext>
                  </a:extLst>
                </a:gridCol>
              </a:tblGrid>
              <a:tr h="192881">
                <a:tc>
                  <a:txBody>
                    <a:bodyPr/>
                    <a:lstStyle/>
                    <a:p>
                      <a:r>
                        <a:rPr lang="sv-SE" sz="1400" b="1" dirty="0"/>
                        <a:t>Species List</a:t>
                      </a:r>
                      <a:r>
                        <a:rPr lang="sv-SE" sz="1400" b="1" baseline="0" dirty="0"/>
                        <a:t> A</a:t>
                      </a:r>
                      <a:endParaRPr lang="en-GB" sz="14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400" dirty="0"/>
                        <a:t>Cod</a:t>
                      </a:r>
                      <a:endParaRPr lang="en-GB" sz="1400" dirty="0"/>
                    </a:p>
                  </a:txBody>
                  <a:tcPr/>
                </a:tc>
                <a:extLst>
                  <a:ext uri="{0D108BD9-81ED-4DB2-BD59-A6C34878D82A}">
                    <a16:rowId xmlns:a16="http://schemas.microsoft.com/office/drawing/2014/main" val="3375731275"/>
                  </a:ext>
                </a:extLst>
              </a:tr>
              <a:tr h="192881">
                <a:tc>
                  <a:txBody>
                    <a:bodyPr/>
                    <a:lstStyle/>
                    <a:p>
                      <a:r>
                        <a:rPr lang="en-GB" sz="1400" dirty="0"/>
                        <a:t>Dolphins</a:t>
                      </a:r>
                    </a:p>
                  </a:txBody>
                  <a:tcPr/>
                </a:tc>
                <a:extLst>
                  <a:ext uri="{0D108BD9-81ED-4DB2-BD59-A6C34878D82A}">
                    <a16:rowId xmlns:a16="http://schemas.microsoft.com/office/drawing/2014/main" val="2138000791"/>
                  </a:ext>
                </a:extLst>
              </a:tr>
            </a:tbl>
          </a:graphicData>
        </a:graphic>
      </p:graphicFrame>
      <p:cxnSp>
        <p:nvCxnSpPr>
          <p:cNvPr id="38" name="Straight Arrow Connector 37"/>
          <p:cNvCxnSpPr/>
          <p:nvPr/>
        </p:nvCxnSpPr>
        <p:spPr>
          <a:xfrm>
            <a:off x="5181600" y="4375491"/>
            <a:ext cx="221673" cy="285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914605" y="5166718"/>
            <a:ext cx="488668" cy="742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7169850" y="4835236"/>
            <a:ext cx="297750" cy="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1"/>
          <p:cNvSpPr>
            <a:spLocks noChangeArrowheads="1"/>
          </p:cNvSpPr>
          <p:nvPr/>
        </p:nvSpPr>
        <p:spPr bwMode="auto">
          <a:xfrm>
            <a:off x="5416222" y="4067714"/>
            <a:ext cx="13929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Species List (SL):</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46" name="Rectangle 1"/>
          <p:cNvSpPr>
            <a:spLocks noChangeArrowheads="1"/>
          </p:cNvSpPr>
          <p:nvPr/>
        </p:nvSpPr>
        <p:spPr bwMode="auto">
          <a:xfrm>
            <a:off x="399500" y="3169698"/>
            <a:ext cx="19041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Fishing Operation (FO):</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47" name="Rectangle 1"/>
          <p:cNvSpPr>
            <a:spLocks noChangeArrowheads="1"/>
          </p:cNvSpPr>
          <p:nvPr/>
        </p:nvSpPr>
        <p:spPr bwMode="auto">
          <a:xfrm>
            <a:off x="348391" y="4744757"/>
            <a:ext cx="18341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Species Selection (SS):</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48" name="Rectangle 1"/>
          <p:cNvSpPr>
            <a:spLocks noChangeArrowheads="1"/>
          </p:cNvSpPr>
          <p:nvPr/>
        </p:nvSpPr>
        <p:spPr bwMode="auto">
          <a:xfrm>
            <a:off x="7589891" y="1796461"/>
            <a:ext cx="325300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sv-SE"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RDBES</a:t>
            </a:r>
            <a:r>
              <a:rPr kumimoji="0" lang="en-GB" altLang="sv-SE" sz="1400" b="1" i="0" u="none" strike="noStrike" cap="none" normalizeH="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view [FO, SS, SL and SA combined]</a:t>
            </a:r>
            <a:endParaRPr kumimoji="0" lang="sv-SE" altLang="sv-SE" sz="1400" b="0" i="0" u="none" strike="noStrike" cap="none" normalizeH="0" baseline="0" dirty="0">
              <a:ln>
                <a:noFill/>
              </a:ln>
              <a:solidFill>
                <a:schemeClr val="tx1"/>
              </a:solidFill>
              <a:effectLst/>
              <a:latin typeface="Arial" panose="020B0604020202020204" pitchFamily="34" charset="0"/>
            </a:endParaRPr>
          </a:p>
        </p:txBody>
      </p:sp>
      <p:sp>
        <p:nvSpPr>
          <p:cNvPr id="16" name="Rectangle 15"/>
          <p:cNvSpPr/>
          <p:nvPr/>
        </p:nvSpPr>
        <p:spPr>
          <a:xfrm>
            <a:off x="7885436" y="6581001"/>
            <a:ext cx="4306564" cy="276999"/>
          </a:xfrm>
          <a:prstGeom prst="rect">
            <a:avLst/>
          </a:prstGeom>
        </p:spPr>
        <p:txBody>
          <a:bodyPr wrap="none">
            <a:spAutoFit/>
          </a:bodyPr>
          <a:lstStyle/>
          <a:p>
            <a:r>
              <a:rPr lang="en-US" sz="1200" dirty="0"/>
              <a:t>Note: Different SLs can be specified for different parts of the catch</a:t>
            </a:r>
          </a:p>
        </p:txBody>
      </p:sp>
    </p:spTree>
    <p:extLst>
      <p:ext uri="{BB962C8B-B14F-4D97-AF65-F5344CB8AC3E}">
        <p14:creationId xmlns:p14="http://schemas.microsoft.com/office/powerpoint/2010/main" val="2237162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Content Placeholder 2"/>
          <p:cNvSpPr>
            <a:spLocks noGrp="1"/>
          </p:cNvSpPr>
          <p:nvPr>
            <p:ph idx="1"/>
          </p:nvPr>
        </p:nvSpPr>
        <p:spPr>
          <a:xfrm>
            <a:off x="838200" y="1521953"/>
            <a:ext cx="10515600" cy="4351338"/>
          </a:xfrm>
        </p:spPr>
        <p:txBody>
          <a:bodyPr/>
          <a:lstStyle/>
          <a:p>
            <a:pPr lvl="1"/>
            <a:r>
              <a:rPr lang="en-US" dirty="0"/>
              <a:t>In country A observers go onboard a large gillnetter and sample discards at the conveyor belt in the underdeck. In the upper deck video footage of net hauling is collected. There is no observation of catch losses outside the vessel.</a:t>
            </a:r>
            <a:endParaRPr lang="sv-SE" dirty="0"/>
          </a:p>
        </p:txBody>
      </p:sp>
      <p:grpSp>
        <p:nvGrpSpPr>
          <p:cNvPr id="14" name="Group 13"/>
          <p:cNvGrpSpPr/>
          <p:nvPr/>
        </p:nvGrpSpPr>
        <p:grpSpPr>
          <a:xfrm>
            <a:off x="3701715" y="2791235"/>
            <a:ext cx="4195053" cy="2114850"/>
            <a:chOff x="301290" y="2498794"/>
            <a:chExt cx="4195053" cy="2114850"/>
          </a:xfrm>
        </p:grpSpPr>
        <p:sp>
          <p:nvSpPr>
            <p:cNvPr id="4" name="Rectangle 3"/>
            <p:cNvSpPr/>
            <p:nvPr/>
          </p:nvSpPr>
          <p:spPr>
            <a:xfrm>
              <a:off x="490891" y="2589604"/>
              <a:ext cx="952631" cy="202404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endParaRPr lang="en-GB" dirty="0">
                <a:solidFill>
                  <a:schemeClr val="tx1"/>
                </a:solidFill>
              </a:endParaRPr>
            </a:p>
          </p:txBody>
        </p:sp>
        <p:sp>
          <p:nvSpPr>
            <p:cNvPr id="5" name="Rectangle 4"/>
            <p:cNvSpPr/>
            <p:nvPr/>
          </p:nvSpPr>
          <p:spPr>
            <a:xfrm>
              <a:off x="3263890" y="2590801"/>
              <a:ext cx="974735" cy="20193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sz="2000" dirty="0">
                  <a:solidFill>
                    <a:schemeClr val="tx1"/>
                  </a:solidFill>
                </a:rPr>
                <a:t>  </a:t>
              </a:r>
              <a:endParaRPr lang="en-GB" sz="2000" dirty="0">
                <a:solidFill>
                  <a:schemeClr val="tx1"/>
                </a:solidFill>
              </a:endParaRPr>
            </a:p>
          </p:txBody>
        </p:sp>
        <p:sp>
          <p:nvSpPr>
            <p:cNvPr id="6" name="Rectangle 5"/>
            <p:cNvSpPr/>
            <p:nvPr/>
          </p:nvSpPr>
          <p:spPr>
            <a:xfrm>
              <a:off x="2351719" y="2592391"/>
              <a:ext cx="922247" cy="202125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endParaRPr>
            </a:p>
          </p:txBody>
        </p:sp>
        <p:sp>
          <p:nvSpPr>
            <p:cNvPr id="7" name="Rectangle 6"/>
            <p:cNvSpPr/>
            <p:nvPr/>
          </p:nvSpPr>
          <p:spPr>
            <a:xfrm>
              <a:off x="301290" y="2498794"/>
              <a:ext cx="1331831" cy="463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sz="1400" b="1" dirty="0" err="1">
                  <a:solidFill>
                    <a:schemeClr val="tx1"/>
                  </a:solidFill>
                </a:rPr>
                <a:t>Sorting</a:t>
              </a:r>
              <a:endParaRPr lang="en-GB" sz="1400" b="1" dirty="0">
                <a:solidFill>
                  <a:schemeClr val="tx1"/>
                </a:solidFill>
              </a:endParaRPr>
            </a:p>
          </p:txBody>
        </p:sp>
        <p:sp>
          <p:nvSpPr>
            <p:cNvPr id="8" name="Rectangle 7"/>
            <p:cNvSpPr/>
            <p:nvPr/>
          </p:nvSpPr>
          <p:spPr>
            <a:xfrm>
              <a:off x="1450475" y="2592391"/>
              <a:ext cx="918000" cy="2021253"/>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endParaRPr>
            </a:p>
          </p:txBody>
        </p:sp>
        <p:sp>
          <p:nvSpPr>
            <p:cNvPr id="9" name="Rectangle 8"/>
            <p:cNvSpPr/>
            <p:nvPr/>
          </p:nvSpPr>
          <p:spPr>
            <a:xfrm>
              <a:off x="1257036" y="2498794"/>
              <a:ext cx="1304973" cy="463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sz="1400" b="1" dirty="0" err="1">
                  <a:solidFill>
                    <a:schemeClr val="tx1"/>
                  </a:solidFill>
                </a:rPr>
                <a:t>Presorting</a:t>
              </a:r>
              <a:endParaRPr lang="en-GB" sz="1400" b="1" dirty="0">
                <a:solidFill>
                  <a:schemeClr val="tx1"/>
                </a:solidFill>
              </a:endParaRPr>
            </a:p>
          </p:txBody>
        </p:sp>
        <p:sp>
          <p:nvSpPr>
            <p:cNvPr id="10" name="Rectangle 9"/>
            <p:cNvSpPr/>
            <p:nvPr/>
          </p:nvSpPr>
          <p:spPr>
            <a:xfrm>
              <a:off x="2202650" y="2498794"/>
              <a:ext cx="1227065" cy="463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sz="1400" b="1" dirty="0" err="1">
                  <a:solidFill>
                    <a:schemeClr val="tx1"/>
                  </a:solidFill>
                </a:rPr>
                <a:t>Drop-outs</a:t>
              </a:r>
              <a:endParaRPr lang="en-GB" sz="1400" b="1" dirty="0">
                <a:solidFill>
                  <a:schemeClr val="tx1"/>
                </a:solidFill>
              </a:endParaRPr>
            </a:p>
          </p:txBody>
        </p:sp>
        <p:sp>
          <p:nvSpPr>
            <p:cNvPr id="11" name="Rectangle 10"/>
            <p:cNvSpPr/>
            <p:nvPr/>
          </p:nvSpPr>
          <p:spPr>
            <a:xfrm>
              <a:off x="3001720" y="2507649"/>
              <a:ext cx="1494623" cy="463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sz="1400" b="1" dirty="0" err="1">
                  <a:solidFill>
                    <a:schemeClr val="tx1"/>
                  </a:solidFill>
                </a:rPr>
                <a:t>Slipping</a:t>
              </a:r>
              <a:endParaRPr lang="en-GB" sz="1400" b="1" dirty="0">
                <a:solidFill>
                  <a:schemeClr val="tx1"/>
                </a:solidFill>
              </a:endParaRPr>
            </a:p>
          </p:txBody>
        </p:sp>
      </p:grpSp>
      <p:sp>
        <p:nvSpPr>
          <p:cNvPr id="12" name="TextBox 11"/>
          <p:cNvSpPr txBox="1"/>
          <p:nvPr/>
        </p:nvSpPr>
        <p:spPr>
          <a:xfrm rot="19461218">
            <a:off x="3900293" y="3814941"/>
            <a:ext cx="898644" cy="307777"/>
          </a:xfrm>
          <a:prstGeom prst="rect">
            <a:avLst/>
          </a:prstGeom>
          <a:solidFill>
            <a:srgbClr val="92D050"/>
          </a:solidFill>
          <a:ln>
            <a:solidFill>
              <a:schemeClr val="tx1"/>
            </a:solidFill>
          </a:ln>
        </p:spPr>
        <p:txBody>
          <a:bodyPr wrap="none" rtlCol="0">
            <a:spAutoFit/>
          </a:bodyPr>
          <a:lstStyle/>
          <a:p>
            <a:r>
              <a:rPr lang="en-US" sz="1400" b="1" dirty="0"/>
              <a:t>Observed</a:t>
            </a:r>
          </a:p>
        </p:txBody>
      </p:sp>
      <p:sp>
        <p:nvSpPr>
          <p:cNvPr id="13" name="TextBox 12"/>
          <p:cNvSpPr txBox="1"/>
          <p:nvPr/>
        </p:nvSpPr>
        <p:spPr>
          <a:xfrm rot="19432646">
            <a:off x="5640268" y="3919626"/>
            <a:ext cx="1216039" cy="307777"/>
          </a:xfrm>
          <a:prstGeom prst="rect">
            <a:avLst/>
          </a:prstGeom>
          <a:solidFill>
            <a:srgbClr val="FF0000"/>
          </a:solidFill>
          <a:ln>
            <a:solidFill>
              <a:schemeClr val="tx1"/>
            </a:solidFill>
          </a:ln>
        </p:spPr>
        <p:txBody>
          <a:bodyPr wrap="none" rtlCol="0">
            <a:spAutoFit/>
          </a:bodyPr>
          <a:lstStyle/>
          <a:p>
            <a:r>
              <a:rPr lang="en-US" sz="1400" b="1" dirty="0"/>
              <a:t>Not Observed</a:t>
            </a:r>
          </a:p>
        </p:txBody>
      </p:sp>
      <p:cxnSp>
        <p:nvCxnSpPr>
          <p:cNvPr id="15" name="Straight Arrow Connector 14"/>
          <p:cNvCxnSpPr/>
          <p:nvPr/>
        </p:nvCxnSpPr>
        <p:spPr>
          <a:xfrm flipH="1">
            <a:off x="2521675" y="4064659"/>
            <a:ext cx="1180042" cy="50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391333" y="3951552"/>
            <a:ext cx="294146" cy="294521"/>
          </a:xfrm>
          <a:prstGeom prst="line">
            <a:avLst/>
          </a:prstGeom>
          <a:ln>
            <a:solidFill>
              <a:srgbClr val="002060"/>
            </a:solidFill>
            <a:prstDash val="dash"/>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a:off x="2518818" y="4115560"/>
            <a:ext cx="275961" cy="310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225194" y="4125458"/>
            <a:ext cx="275961" cy="300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81823" y="3628590"/>
            <a:ext cx="1538883" cy="369332"/>
          </a:xfrm>
          <a:prstGeom prst="rect">
            <a:avLst/>
          </a:prstGeom>
          <a:noFill/>
        </p:spPr>
        <p:txBody>
          <a:bodyPr wrap="none" rtlCol="0">
            <a:spAutoFit/>
          </a:bodyPr>
          <a:lstStyle/>
          <a:p>
            <a:r>
              <a:rPr lang="en-US" dirty="0"/>
              <a:t>SL “observers”</a:t>
            </a:r>
            <a:endParaRPr lang="sv-SE" dirty="0"/>
          </a:p>
        </p:txBody>
      </p:sp>
      <p:sp>
        <p:nvSpPr>
          <p:cNvPr id="20" name="TextBox 19"/>
          <p:cNvSpPr txBox="1"/>
          <p:nvPr/>
        </p:nvSpPr>
        <p:spPr>
          <a:xfrm>
            <a:off x="1645289" y="4612409"/>
            <a:ext cx="859659" cy="369332"/>
          </a:xfrm>
          <a:prstGeom prst="rect">
            <a:avLst/>
          </a:prstGeom>
          <a:noFill/>
        </p:spPr>
        <p:txBody>
          <a:bodyPr wrap="none" rtlCol="0">
            <a:spAutoFit/>
          </a:bodyPr>
          <a:lstStyle/>
          <a:p>
            <a:r>
              <a:rPr lang="en-US" dirty="0"/>
              <a:t>True 0s</a:t>
            </a:r>
            <a:endParaRPr lang="sv-SE" dirty="0"/>
          </a:p>
        </p:txBody>
      </p:sp>
      <p:sp>
        <p:nvSpPr>
          <p:cNvPr id="21" name="TextBox 20"/>
          <p:cNvSpPr txBox="1"/>
          <p:nvPr/>
        </p:nvSpPr>
        <p:spPr>
          <a:xfrm>
            <a:off x="2648375" y="4597512"/>
            <a:ext cx="556563" cy="369332"/>
          </a:xfrm>
          <a:prstGeom prst="rect">
            <a:avLst/>
          </a:prstGeom>
          <a:noFill/>
        </p:spPr>
        <p:txBody>
          <a:bodyPr wrap="none" rtlCol="0">
            <a:spAutoFit/>
          </a:bodyPr>
          <a:lstStyle/>
          <a:p>
            <a:r>
              <a:rPr lang="en-US" dirty="0"/>
              <a:t>NAs</a:t>
            </a:r>
            <a:endParaRPr lang="sv-SE" dirty="0"/>
          </a:p>
        </p:txBody>
      </p:sp>
      <p:cxnSp>
        <p:nvCxnSpPr>
          <p:cNvPr id="29" name="Straight Arrow Connector 28"/>
          <p:cNvCxnSpPr/>
          <p:nvPr/>
        </p:nvCxnSpPr>
        <p:spPr>
          <a:xfrm>
            <a:off x="5304207" y="5006488"/>
            <a:ext cx="0" cy="552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088151" y="5550696"/>
            <a:ext cx="414450" cy="8242"/>
          </a:xfrm>
          <a:prstGeom prst="line">
            <a:avLst/>
          </a:prstGeom>
          <a:ln>
            <a:solidFill>
              <a:srgbClr val="002060"/>
            </a:solidFill>
            <a:prstDash val="dash"/>
          </a:ln>
        </p:spPr>
        <p:style>
          <a:lnRef idx="3">
            <a:schemeClr val="accent2"/>
          </a:lnRef>
          <a:fillRef idx="0">
            <a:schemeClr val="accent2"/>
          </a:fillRef>
          <a:effectRef idx="2">
            <a:schemeClr val="accent2"/>
          </a:effectRef>
          <a:fontRef idx="minor">
            <a:schemeClr val="tx1"/>
          </a:fontRef>
        </p:style>
      </p:cxnSp>
      <p:cxnSp>
        <p:nvCxnSpPr>
          <p:cNvPr id="31" name="Straight Arrow Connector 30"/>
          <p:cNvCxnSpPr/>
          <p:nvPr/>
        </p:nvCxnSpPr>
        <p:spPr>
          <a:xfrm>
            <a:off x="5304207" y="5558938"/>
            <a:ext cx="275961" cy="310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5010583" y="5568836"/>
            <a:ext cx="275961" cy="300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453285" y="5320777"/>
            <a:ext cx="1353319" cy="369332"/>
          </a:xfrm>
          <a:prstGeom prst="rect">
            <a:avLst/>
          </a:prstGeom>
          <a:noFill/>
        </p:spPr>
        <p:txBody>
          <a:bodyPr wrap="none" rtlCol="0">
            <a:spAutoFit/>
          </a:bodyPr>
          <a:lstStyle/>
          <a:p>
            <a:r>
              <a:rPr lang="en-US" dirty="0"/>
              <a:t>SL “Camera”</a:t>
            </a:r>
            <a:endParaRPr lang="sv-SE" dirty="0"/>
          </a:p>
        </p:txBody>
      </p:sp>
      <p:sp>
        <p:nvSpPr>
          <p:cNvPr id="34" name="TextBox 33"/>
          <p:cNvSpPr txBox="1"/>
          <p:nvPr/>
        </p:nvSpPr>
        <p:spPr>
          <a:xfrm>
            <a:off x="4430678" y="6055787"/>
            <a:ext cx="859659" cy="369332"/>
          </a:xfrm>
          <a:prstGeom prst="rect">
            <a:avLst/>
          </a:prstGeom>
          <a:noFill/>
        </p:spPr>
        <p:txBody>
          <a:bodyPr wrap="none" rtlCol="0">
            <a:spAutoFit/>
          </a:bodyPr>
          <a:lstStyle/>
          <a:p>
            <a:r>
              <a:rPr lang="en-US" dirty="0"/>
              <a:t>True 0s</a:t>
            </a:r>
            <a:endParaRPr lang="sv-SE" dirty="0"/>
          </a:p>
        </p:txBody>
      </p:sp>
      <p:sp>
        <p:nvSpPr>
          <p:cNvPr id="35" name="TextBox 34"/>
          <p:cNvSpPr txBox="1"/>
          <p:nvPr/>
        </p:nvSpPr>
        <p:spPr>
          <a:xfrm>
            <a:off x="5433764" y="6040890"/>
            <a:ext cx="556563" cy="369332"/>
          </a:xfrm>
          <a:prstGeom prst="rect">
            <a:avLst/>
          </a:prstGeom>
          <a:noFill/>
        </p:spPr>
        <p:txBody>
          <a:bodyPr wrap="none" rtlCol="0">
            <a:spAutoFit/>
          </a:bodyPr>
          <a:lstStyle/>
          <a:p>
            <a:r>
              <a:rPr lang="en-US" dirty="0"/>
              <a:t>NAs</a:t>
            </a:r>
            <a:endParaRPr lang="sv-SE" dirty="0"/>
          </a:p>
        </p:txBody>
      </p:sp>
      <p:sp>
        <p:nvSpPr>
          <p:cNvPr id="36" name="TextBox 35"/>
          <p:cNvSpPr txBox="1"/>
          <p:nvPr/>
        </p:nvSpPr>
        <p:spPr>
          <a:xfrm rot="19461218">
            <a:off x="4883156" y="3814941"/>
            <a:ext cx="898644" cy="307777"/>
          </a:xfrm>
          <a:prstGeom prst="rect">
            <a:avLst/>
          </a:prstGeom>
          <a:solidFill>
            <a:srgbClr val="92D050"/>
          </a:solidFill>
          <a:ln>
            <a:solidFill>
              <a:schemeClr val="tx1"/>
            </a:solidFill>
          </a:ln>
        </p:spPr>
        <p:txBody>
          <a:bodyPr wrap="none" rtlCol="0">
            <a:spAutoFit/>
          </a:bodyPr>
          <a:lstStyle/>
          <a:p>
            <a:r>
              <a:rPr lang="en-US" sz="1400" b="1" dirty="0"/>
              <a:t>Observed</a:t>
            </a:r>
          </a:p>
        </p:txBody>
      </p:sp>
      <p:sp>
        <p:nvSpPr>
          <p:cNvPr id="37" name="TextBox 36"/>
          <p:cNvSpPr txBox="1"/>
          <p:nvPr/>
        </p:nvSpPr>
        <p:spPr>
          <a:xfrm rot="19432646">
            <a:off x="6576663" y="3910771"/>
            <a:ext cx="1216039" cy="307777"/>
          </a:xfrm>
          <a:prstGeom prst="rect">
            <a:avLst/>
          </a:prstGeom>
          <a:solidFill>
            <a:srgbClr val="FF0000"/>
          </a:solidFill>
          <a:ln>
            <a:solidFill>
              <a:schemeClr val="tx1"/>
            </a:solidFill>
          </a:ln>
        </p:spPr>
        <p:txBody>
          <a:bodyPr wrap="none" rtlCol="0">
            <a:spAutoFit/>
          </a:bodyPr>
          <a:lstStyle/>
          <a:p>
            <a:r>
              <a:rPr lang="en-US" sz="1400" b="1" dirty="0"/>
              <a:t>Not Observed</a:t>
            </a:r>
          </a:p>
        </p:txBody>
      </p:sp>
      <p:cxnSp>
        <p:nvCxnSpPr>
          <p:cNvPr id="45" name="Straight Arrow Connector 44"/>
          <p:cNvCxnSpPr>
            <a:endCxn id="47" idx="1"/>
          </p:cNvCxnSpPr>
          <p:nvPr/>
        </p:nvCxnSpPr>
        <p:spPr>
          <a:xfrm>
            <a:off x="6312849" y="4987284"/>
            <a:ext cx="2165231" cy="385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47" idx="1"/>
          </p:cNvCxnSpPr>
          <p:nvPr/>
        </p:nvCxnSpPr>
        <p:spPr>
          <a:xfrm>
            <a:off x="7207045" y="4979796"/>
            <a:ext cx="1271035" cy="39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478080" y="5188330"/>
            <a:ext cx="567784" cy="369332"/>
          </a:xfrm>
          <a:prstGeom prst="rect">
            <a:avLst/>
          </a:prstGeom>
          <a:noFill/>
        </p:spPr>
        <p:txBody>
          <a:bodyPr wrap="none" rtlCol="0">
            <a:spAutoFit/>
          </a:bodyPr>
          <a:lstStyle/>
          <a:p>
            <a:r>
              <a:rPr lang="en-US" dirty="0"/>
              <a:t>NAs</a:t>
            </a:r>
            <a:endParaRPr lang="sv-SE" dirty="0"/>
          </a:p>
        </p:txBody>
      </p:sp>
      <p:sp>
        <p:nvSpPr>
          <p:cNvPr id="53" name="Title 1"/>
          <p:cNvSpPr>
            <a:spLocks noGrp="1"/>
          </p:cNvSpPr>
          <p:nvPr>
            <p:ph type="title"/>
          </p:nvPr>
        </p:nvSpPr>
        <p:spPr>
          <a:xfrm>
            <a:off x="838200" y="365125"/>
            <a:ext cx="10515600" cy="1325563"/>
          </a:xfrm>
        </p:spPr>
        <p:txBody>
          <a:bodyPr>
            <a:normAutofit/>
          </a:bodyPr>
          <a:lstStyle/>
          <a:p>
            <a:r>
              <a:rPr lang="en-US" sz="4000" dirty="0"/>
              <a:t>Other combinations of vessel areas are possible</a:t>
            </a:r>
            <a:endParaRPr lang="sv-SE" sz="4000" dirty="0"/>
          </a:p>
        </p:txBody>
      </p:sp>
      <p:pic>
        <p:nvPicPr>
          <p:cNvPr id="55" name="Picture 5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319" y="5126726"/>
            <a:ext cx="1828800" cy="1371600"/>
          </a:xfrm>
          <a:prstGeom prst="rect">
            <a:avLst/>
          </a:prstGeom>
          <a:ln>
            <a:solidFill>
              <a:schemeClr val="tx1"/>
            </a:solidFill>
          </a:ln>
        </p:spPr>
      </p:pic>
      <p:pic>
        <p:nvPicPr>
          <p:cNvPr id="59" name="Picture 5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3465" y="5452918"/>
            <a:ext cx="1743072" cy="1307304"/>
          </a:xfrm>
          <a:prstGeom prst="rect">
            <a:avLst/>
          </a:prstGeom>
          <a:ln>
            <a:solidFill>
              <a:schemeClr val="tx1"/>
            </a:solidFill>
          </a:ln>
        </p:spPr>
      </p:pic>
    </p:spTree>
    <p:extLst>
      <p:ext uri="{BB962C8B-B14F-4D97-AF65-F5344CB8AC3E}">
        <p14:creationId xmlns:p14="http://schemas.microsoft.com/office/powerpoint/2010/main" val="1826771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SLs</a:t>
            </a:r>
          </a:p>
        </p:txBody>
      </p:sp>
      <p:sp>
        <p:nvSpPr>
          <p:cNvPr id="3" name="Content Placeholder 2"/>
          <p:cNvSpPr>
            <a:spLocks noGrp="1"/>
          </p:cNvSpPr>
          <p:nvPr>
            <p:ph idx="1"/>
          </p:nvPr>
        </p:nvSpPr>
        <p:spPr/>
        <p:txBody>
          <a:bodyPr/>
          <a:lstStyle/>
          <a:p>
            <a:r>
              <a:rPr lang="en-US" dirty="0"/>
              <a:t>One can specify SLs:</a:t>
            </a:r>
          </a:p>
          <a:p>
            <a:pPr lvl="1"/>
            <a:r>
              <a:rPr lang="en-US" dirty="0"/>
              <a:t>Per Observation activity type [Sort, Presort, etc.]</a:t>
            </a:r>
          </a:p>
          <a:p>
            <a:pPr lvl="1"/>
            <a:r>
              <a:rPr lang="en-US" dirty="0"/>
              <a:t>Per Catch fraction [</a:t>
            </a:r>
            <a:r>
              <a:rPr lang="en-US" dirty="0" err="1"/>
              <a:t>lan</a:t>
            </a:r>
            <a:r>
              <a:rPr lang="en-US" dirty="0"/>
              <a:t>, dis, catch]</a:t>
            </a:r>
          </a:p>
          <a:p>
            <a:pPr lvl="1"/>
            <a:r>
              <a:rPr lang="en-US" dirty="0"/>
              <a:t>Per Observation type [volume, visual, imagery]</a:t>
            </a:r>
          </a:p>
          <a:p>
            <a:pPr lvl="1"/>
            <a:r>
              <a:rPr lang="en-US" dirty="0"/>
              <a:t>Combinations of the above </a:t>
            </a:r>
          </a:p>
        </p:txBody>
      </p:sp>
      <p:pic>
        <p:nvPicPr>
          <p:cNvPr id="5" name="Picture 4"/>
          <p:cNvPicPr>
            <a:picLocks noChangeAspect="1"/>
          </p:cNvPicPr>
          <p:nvPr/>
        </p:nvPicPr>
        <p:blipFill>
          <a:blip r:embed="rId2"/>
          <a:stretch>
            <a:fillRect/>
          </a:stretch>
        </p:blipFill>
        <p:spPr>
          <a:xfrm>
            <a:off x="8605404" y="4200224"/>
            <a:ext cx="2862696" cy="1851665"/>
          </a:xfrm>
          <a:prstGeom prst="rect">
            <a:avLst/>
          </a:prstGeom>
          <a:ln>
            <a:solidFill>
              <a:schemeClr val="tx1"/>
            </a:solidFill>
          </a:ln>
        </p:spPr>
      </p:pic>
      <p:pic>
        <p:nvPicPr>
          <p:cNvPr id="6" name="Picture 5"/>
          <p:cNvPicPr>
            <a:picLocks noChangeAspect="1"/>
          </p:cNvPicPr>
          <p:nvPr/>
        </p:nvPicPr>
        <p:blipFill rotWithShape="1">
          <a:blip r:embed="rId3"/>
          <a:srcRect r="30138"/>
          <a:stretch/>
        </p:blipFill>
        <p:spPr>
          <a:xfrm>
            <a:off x="838200" y="4200224"/>
            <a:ext cx="2539064" cy="2382066"/>
          </a:xfrm>
          <a:prstGeom prst="rect">
            <a:avLst/>
          </a:prstGeom>
          <a:ln>
            <a:solidFill>
              <a:schemeClr val="tx1"/>
            </a:solidFill>
          </a:ln>
        </p:spPr>
      </p:pic>
      <p:pic>
        <p:nvPicPr>
          <p:cNvPr id="7" name="Picture 6"/>
          <p:cNvPicPr>
            <a:picLocks noChangeAspect="1"/>
          </p:cNvPicPr>
          <p:nvPr/>
        </p:nvPicPr>
        <p:blipFill>
          <a:blip r:embed="rId4"/>
          <a:stretch>
            <a:fillRect/>
          </a:stretch>
        </p:blipFill>
        <p:spPr>
          <a:xfrm>
            <a:off x="4920314" y="4200225"/>
            <a:ext cx="2804461" cy="1458796"/>
          </a:xfrm>
          <a:prstGeom prst="rect">
            <a:avLst/>
          </a:prstGeom>
          <a:ln>
            <a:solidFill>
              <a:schemeClr val="tx1"/>
            </a:solidFill>
          </a:ln>
        </p:spPr>
      </p:pic>
      <p:cxnSp>
        <p:nvCxnSpPr>
          <p:cNvPr id="9" name="Straight Arrow Connector 8"/>
          <p:cNvCxnSpPr/>
          <p:nvPr/>
        </p:nvCxnSpPr>
        <p:spPr>
          <a:xfrm>
            <a:off x="3257550" y="5659021"/>
            <a:ext cx="1085850" cy="532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343400" y="6242278"/>
            <a:ext cx="7879145" cy="369332"/>
          </a:xfrm>
          <a:prstGeom prst="rect">
            <a:avLst/>
          </a:prstGeom>
          <a:noFill/>
        </p:spPr>
        <p:txBody>
          <a:bodyPr wrap="none" rtlCol="0">
            <a:spAutoFit/>
          </a:bodyPr>
          <a:lstStyle/>
          <a:p>
            <a:r>
              <a:rPr lang="en-US" dirty="0"/>
              <a:t>WGCATCH/WGBYC defined the terms for different fleets (gillnetters, trawlers, etc.)</a:t>
            </a:r>
          </a:p>
        </p:txBody>
      </p:sp>
    </p:spTree>
    <p:extLst>
      <p:ext uri="{BB962C8B-B14F-4D97-AF65-F5344CB8AC3E}">
        <p14:creationId xmlns:p14="http://schemas.microsoft.com/office/powerpoint/2010/main" val="829794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p>
        </p:txBody>
      </p:sp>
      <p:sp>
        <p:nvSpPr>
          <p:cNvPr id="3" name="Content Placeholder 2"/>
          <p:cNvSpPr>
            <a:spLocks noGrp="1"/>
          </p:cNvSpPr>
          <p:nvPr>
            <p:ph idx="1"/>
          </p:nvPr>
        </p:nvSpPr>
        <p:spPr/>
        <p:txBody>
          <a:bodyPr>
            <a:normAutofit fontScale="92500" lnSpcReduction="20000"/>
          </a:bodyPr>
          <a:lstStyle/>
          <a:p>
            <a:r>
              <a:rPr lang="en-US" dirty="0"/>
              <a:t>The role of stratification in differentiating true zeros from missing values in different selection-related tables</a:t>
            </a:r>
          </a:p>
          <a:p>
            <a:endParaRPr lang="en-US" dirty="0"/>
          </a:p>
          <a:p>
            <a:pPr lvl="1"/>
            <a:r>
              <a:rPr lang="en-US" dirty="0"/>
              <a:t>Selection-related tables:</a:t>
            </a:r>
          </a:p>
          <a:p>
            <a:pPr lvl="2"/>
            <a:r>
              <a:rPr lang="en-US" dirty="0"/>
              <a:t>Temporal event</a:t>
            </a:r>
          </a:p>
          <a:p>
            <a:pPr lvl="2"/>
            <a:r>
              <a:rPr lang="en-US" dirty="0"/>
              <a:t>Location</a:t>
            </a:r>
          </a:p>
          <a:p>
            <a:pPr lvl="2"/>
            <a:r>
              <a:rPr lang="en-US" dirty="0"/>
              <a:t>Vessel selection</a:t>
            </a:r>
          </a:p>
          <a:p>
            <a:pPr lvl="2"/>
            <a:r>
              <a:rPr lang="en-US" dirty="0"/>
              <a:t>Fishing trip</a:t>
            </a:r>
          </a:p>
          <a:p>
            <a:pPr lvl="2"/>
            <a:r>
              <a:rPr lang="en-US" dirty="0"/>
              <a:t>Fishing operation</a:t>
            </a:r>
          </a:p>
          <a:p>
            <a:pPr lvl="2"/>
            <a:r>
              <a:rPr lang="en-US" dirty="0"/>
              <a:t>Onshore event</a:t>
            </a:r>
          </a:p>
          <a:p>
            <a:pPr lvl="2"/>
            <a:r>
              <a:rPr lang="en-US" dirty="0"/>
              <a:t>Landing event</a:t>
            </a:r>
          </a:p>
          <a:p>
            <a:pPr lvl="2"/>
            <a:r>
              <a:rPr lang="en-US" dirty="0"/>
              <a:t>Species Selection</a:t>
            </a:r>
          </a:p>
          <a:p>
            <a:pPr lvl="2"/>
            <a:r>
              <a:rPr lang="en-US" dirty="0"/>
              <a:t>Sample</a:t>
            </a:r>
          </a:p>
          <a:p>
            <a:pPr lvl="2"/>
            <a:r>
              <a:rPr lang="en-US" dirty="0"/>
              <a:t>…</a:t>
            </a:r>
          </a:p>
        </p:txBody>
      </p:sp>
    </p:spTree>
    <p:extLst>
      <p:ext uri="{BB962C8B-B14F-4D97-AF65-F5344CB8AC3E}">
        <p14:creationId xmlns:p14="http://schemas.microsoft.com/office/powerpoint/2010/main" val="1883423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example 5</a:t>
            </a:r>
            <a:endParaRPr lang="sv-SE" dirty="0"/>
          </a:p>
        </p:txBody>
      </p:sp>
      <p:sp>
        <p:nvSpPr>
          <p:cNvPr id="3" name="Content Placeholder 2"/>
          <p:cNvSpPr>
            <a:spLocks noGrp="1"/>
          </p:cNvSpPr>
          <p:nvPr>
            <p:ph idx="1"/>
          </p:nvPr>
        </p:nvSpPr>
        <p:spPr/>
        <p:txBody>
          <a:bodyPr/>
          <a:lstStyle/>
          <a:p>
            <a:pPr lvl="1"/>
            <a:r>
              <a:rPr lang="en-US" dirty="0"/>
              <a:t>In country A n = 3 vessels are selected, n = 1 from stratum &gt;15m and n = 2 from stratum &lt;=15m. </a:t>
            </a:r>
            <a:endParaRPr lang="sv-SE" dirty="0"/>
          </a:p>
        </p:txBody>
      </p:sp>
      <p:graphicFrame>
        <p:nvGraphicFramePr>
          <p:cNvPr id="4" name="Table 3"/>
          <p:cNvGraphicFramePr>
            <a:graphicFrameLocks noGrp="1"/>
          </p:cNvGraphicFramePr>
          <p:nvPr/>
        </p:nvGraphicFramePr>
        <p:xfrm>
          <a:off x="3086975" y="3171631"/>
          <a:ext cx="6266413" cy="1341120"/>
        </p:xfrm>
        <a:graphic>
          <a:graphicData uri="http://schemas.openxmlformats.org/drawingml/2006/table">
            <a:tbl>
              <a:tblPr firstRow="1" bandRow="1">
                <a:tableStyleId>{5940675A-B579-460E-94D1-54222C63F5DA}</a:tableStyleId>
              </a:tblPr>
              <a:tblGrid>
                <a:gridCol w="1298593">
                  <a:extLst>
                    <a:ext uri="{9D8B030D-6E8A-4147-A177-3AD203B41FA5}">
                      <a16:colId xmlns:a16="http://schemas.microsoft.com/office/drawing/2014/main" val="3151269377"/>
                    </a:ext>
                  </a:extLst>
                </a:gridCol>
                <a:gridCol w="1655940">
                  <a:extLst>
                    <a:ext uri="{9D8B030D-6E8A-4147-A177-3AD203B41FA5}">
                      <a16:colId xmlns:a16="http://schemas.microsoft.com/office/drawing/2014/main" val="3307169097"/>
                    </a:ext>
                  </a:extLst>
                </a:gridCol>
                <a:gridCol w="1655940">
                  <a:extLst>
                    <a:ext uri="{9D8B030D-6E8A-4147-A177-3AD203B41FA5}">
                      <a16:colId xmlns:a16="http://schemas.microsoft.com/office/drawing/2014/main" val="1625679375"/>
                    </a:ext>
                  </a:extLst>
                </a:gridCol>
                <a:gridCol w="1655940">
                  <a:extLst>
                    <a:ext uri="{9D8B030D-6E8A-4147-A177-3AD203B41FA5}">
                      <a16:colId xmlns:a16="http://schemas.microsoft.com/office/drawing/2014/main" val="869977354"/>
                    </a:ext>
                  </a:extLst>
                </a:gridCol>
              </a:tblGrid>
              <a:tr h="192881">
                <a:tc>
                  <a:txBody>
                    <a:bodyPr/>
                    <a:lstStyle/>
                    <a:p>
                      <a:pPr algn="ctr"/>
                      <a:r>
                        <a:rPr lang="en-GB" sz="1600" b="1" dirty="0" err="1"/>
                        <a:t>DateStart</a:t>
                      </a:r>
                      <a:endParaRPr lang="en-GB" sz="1600" b="1" dirty="0"/>
                    </a:p>
                  </a:txBody>
                  <a:tcPr>
                    <a:solidFill>
                      <a:schemeClr val="accent1">
                        <a:lumMod val="60000"/>
                        <a:lumOff val="40000"/>
                      </a:schemeClr>
                    </a:solidFill>
                  </a:tcPr>
                </a:tc>
                <a:tc>
                  <a:txBody>
                    <a:bodyPr/>
                    <a:lstStyle/>
                    <a:p>
                      <a:pPr algn="ctr"/>
                      <a:r>
                        <a:rPr lang="en-US" sz="1600" b="1" dirty="0" err="1"/>
                        <a:t>DateEnd</a:t>
                      </a:r>
                      <a:endParaRPr lang="en-GB" sz="1600" b="1" dirty="0"/>
                    </a:p>
                  </a:txBody>
                  <a:tcPr>
                    <a:solidFill>
                      <a:schemeClr val="accent1">
                        <a:lumMod val="60000"/>
                        <a:lumOff val="40000"/>
                      </a:schemeClr>
                    </a:solidFill>
                  </a:tcPr>
                </a:tc>
                <a:tc>
                  <a:txBody>
                    <a:bodyPr/>
                    <a:lstStyle/>
                    <a:p>
                      <a:pPr algn="ctr"/>
                      <a:r>
                        <a:rPr lang="sv-SE" sz="1600" b="1" dirty="0" err="1"/>
                        <a:t>Vessel</a:t>
                      </a:r>
                      <a:r>
                        <a:rPr lang="sv-SE" sz="1600" b="1" dirty="0"/>
                        <a:t> id</a:t>
                      </a:r>
                      <a:endParaRPr lang="en-GB" sz="1600" b="1" dirty="0"/>
                    </a:p>
                  </a:txBody>
                  <a:tcPr>
                    <a:solidFill>
                      <a:schemeClr val="accent1">
                        <a:lumMod val="60000"/>
                        <a:lumOff val="40000"/>
                      </a:schemeClr>
                    </a:solidFill>
                  </a:tcPr>
                </a:tc>
                <a:tc>
                  <a:txBody>
                    <a:bodyPr/>
                    <a:lstStyle/>
                    <a:p>
                      <a:pPr algn="ctr"/>
                      <a:r>
                        <a:rPr lang="en-GB" sz="1600" b="1" dirty="0"/>
                        <a:t>Size (m)</a:t>
                      </a:r>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600" dirty="0"/>
                        <a:t>11-06-2021</a:t>
                      </a:r>
                    </a:p>
                  </a:txBody>
                  <a:tcPr/>
                </a:tc>
                <a:tc>
                  <a:txBody>
                    <a:bodyPr/>
                    <a:lstStyle/>
                    <a:p>
                      <a:pPr algn="ctr"/>
                      <a:r>
                        <a:rPr lang="en-GB" sz="1600" dirty="0"/>
                        <a:t>11-06-2021</a:t>
                      </a:r>
                    </a:p>
                  </a:txBody>
                  <a:tcPr/>
                </a:tc>
                <a:tc>
                  <a:txBody>
                    <a:bodyPr/>
                    <a:lstStyle/>
                    <a:p>
                      <a:pPr algn="ctr"/>
                      <a:r>
                        <a:rPr lang="en-US" sz="1600" dirty="0"/>
                        <a:t>1</a:t>
                      </a:r>
                      <a:endParaRPr lang="en-GB" sz="1600" dirty="0"/>
                    </a:p>
                  </a:txBody>
                  <a:tcPr/>
                </a:tc>
                <a:tc>
                  <a:txBody>
                    <a:bodyPr/>
                    <a:lstStyle/>
                    <a:p>
                      <a:pPr algn="ctr"/>
                      <a:r>
                        <a:rPr lang="en-GB" sz="1600" dirty="0"/>
                        <a:t>19</a:t>
                      </a:r>
                    </a:p>
                  </a:txBody>
                  <a:tcPr/>
                </a:tc>
                <a:extLst>
                  <a:ext uri="{0D108BD9-81ED-4DB2-BD59-A6C34878D82A}">
                    <a16:rowId xmlns:a16="http://schemas.microsoft.com/office/drawing/2014/main" val="3375731275"/>
                  </a:ext>
                </a:extLst>
              </a:tr>
              <a:tr h="192881">
                <a:tc>
                  <a:txBody>
                    <a:bodyPr/>
                    <a:lstStyle/>
                    <a:p>
                      <a:pPr algn="ctr"/>
                      <a:r>
                        <a:rPr lang="en-GB" sz="1600" dirty="0"/>
                        <a:t>12-06-2021</a:t>
                      </a:r>
                    </a:p>
                  </a:txBody>
                  <a:tcPr/>
                </a:tc>
                <a:tc>
                  <a:txBody>
                    <a:bodyPr/>
                    <a:lstStyle/>
                    <a:p>
                      <a:pPr algn="ctr"/>
                      <a:r>
                        <a:rPr lang="en-GB" sz="1600" dirty="0"/>
                        <a:t>12-06-2021</a:t>
                      </a:r>
                    </a:p>
                  </a:txBody>
                  <a:tcPr/>
                </a:tc>
                <a:tc>
                  <a:txBody>
                    <a:bodyPr/>
                    <a:lstStyle/>
                    <a:p>
                      <a:pPr algn="ctr"/>
                      <a:r>
                        <a:rPr lang="en-US" sz="1600" dirty="0"/>
                        <a:t>2</a:t>
                      </a:r>
                      <a:endParaRPr lang="en-GB" sz="1600" dirty="0"/>
                    </a:p>
                  </a:txBody>
                  <a:tcPr/>
                </a:tc>
                <a:tc>
                  <a:txBody>
                    <a:bodyPr/>
                    <a:lstStyle/>
                    <a:p>
                      <a:pPr algn="ctr"/>
                      <a:r>
                        <a:rPr lang="en-GB" sz="1600" dirty="0"/>
                        <a:t>14</a:t>
                      </a:r>
                    </a:p>
                  </a:txBody>
                  <a:tcPr/>
                </a:tc>
                <a:extLst>
                  <a:ext uri="{0D108BD9-81ED-4DB2-BD59-A6C34878D82A}">
                    <a16:rowId xmlns:a16="http://schemas.microsoft.com/office/drawing/2014/main" val="1583662508"/>
                  </a:ext>
                </a:extLst>
              </a:tr>
              <a:tr h="192881">
                <a:tc>
                  <a:txBody>
                    <a:bodyPr/>
                    <a:lstStyle/>
                    <a:p>
                      <a:pPr algn="ctr"/>
                      <a:r>
                        <a:rPr lang="en-GB" sz="1600" dirty="0"/>
                        <a:t>12-06-2021</a:t>
                      </a:r>
                    </a:p>
                  </a:txBody>
                  <a:tcPr/>
                </a:tc>
                <a:tc>
                  <a:txBody>
                    <a:bodyPr/>
                    <a:lstStyle/>
                    <a:p>
                      <a:pPr algn="ctr"/>
                      <a:r>
                        <a:rPr lang="en-GB" sz="1600" dirty="0"/>
                        <a:t>13-06-2021</a:t>
                      </a:r>
                    </a:p>
                  </a:txBody>
                  <a:tcPr/>
                </a:tc>
                <a:tc>
                  <a:txBody>
                    <a:bodyPr/>
                    <a:lstStyle/>
                    <a:p>
                      <a:pPr algn="ctr"/>
                      <a:r>
                        <a:rPr lang="en-US" sz="1600" dirty="0"/>
                        <a:t>3</a:t>
                      </a:r>
                      <a:endParaRPr lang="en-GB" sz="1600" dirty="0"/>
                    </a:p>
                  </a:txBody>
                  <a:tcPr/>
                </a:tc>
                <a:tc>
                  <a:txBody>
                    <a:bodyPr/>
                    <a:lstStyle/>
                    <a:p>
                      <a:pPr algn="ctr"/>
                      <a:r>
                        <a:rPr lang="en-GB" sz="1600" dirty="0"/>
                        <a:t>12</a:t>
                      </a:r>
                    </a:p>
                  </a:txBody>
                  <a:tcPr/>
                </a:tc>
                <a:extLst>
                  <a:ext uri="{0D108BD9-81ED-4DB2-BD59-A6C34878D82A}">
                    <a16:rowId xmlns:a16="http://schemas.microsoft.com/office/drawing/2014/main" val="841671674"/>
                  </a:ext>
                </a:extLst>
              </a:tr>
            </a:tbl>
          </a:graphicData>
        </a:graphic>
      </p:graphicFrame>
      <p:sp>
        <p:nvSpPr>
          <p:cNvPr id="5" name="TextBox 4"/>
          <p:cNvSpPr txBox="1"/>
          <p:nvPr/>
        </p:nvSpPr>
        <p:spPr>
          <a:xfrm>
            <a:off x="3746851" y="5468067"/>
            <a:ext cx="7761099"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pPr marL="285750" indent="-285750">
              <a:buFontTx/>
              <a:buChar char="-"/>
            </a:pPr>
            <a:r>
              <a:rPr lang="en-US" dirty="0"/>
              <a:t>Is this a random sample from population or was there stratification involved?!</a:t>
            </a:r>
          </a:p>
          <a:p>
            <a:pPr marL="285750" indent="-285750">
              <a:buFontTx/>
              <a:buChar char="-"/>
            </a:pPr>
            <a:r>
              <a:rPr lang="en-US" dirty="0"/>
              <a:t>Is the small size fleet being sampled? i.e., is &lt;=10 in the </a:t>
            </a:r>
            <a:r>
              <a:rPr lang="en-US" dirty="0" err="1"/>
              <a:t>programme</a:t>
            </a:r>
            <a:r>
              <a:rPr lang="en-US" dirty="0"/>
              <a:t>?</a:t>
            </a:r>
          </a:p>
        </p:txBody>
      </p:sp>
      <p:sp>
        <p:nvSpPr>
          <p:cNvPr id="6" name="TextBox 5"/>
          <p:cNvSpPr txBox="1"/>
          <p:nvPr/>
        </p:nvSpPr>
        <p:spPr>
          <a:xfrm>
            <a:off x="2994466" y="2802299"/>
            <a:ext cx="7450768" cy="369332"/>
          </a:xfrm>
          <a:prstGeom prst="rect">
            <a:avLst/>
          </a:prstGeom>
          <a:noFill/>
        </p:spPr>
        <p:txBody>
          <a:bodyPr wrap="square" rtlCol="0">
            <a:spAutoFit/>
          </a:bodyPr>
          <a:lstStyle/>
          <a:p>
            <a:r>
              <a:rPr lang="en-US" dirty="0"/>
              <a:t>View from national database/RDB</a:t>
            </a:r>
          </a:p>
        </p:txBody>
      </p:sp>
      <p:sp>
        <p:nvSpPr>
          <p:cNvPr id="7" name="Rectangle 6"/>
          <p:cNvSpPr/>
          <p:nvPr/>
        </p:nvSpPr>
        <p:spPr>
          <a:xfrm>
            <a:off x="3015242" y="2802299"/>
            <a:ext cx="7316195" cy="186802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5062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example 6</a:t>
            </a:r>
            <a:endParaRPr lang="sv-SE" dirty="0"/>
          </a:p>
        </p:txBody>
      </p:sp>
      <p:sp>
        <p:nvSpPr>
          <p:cNvPr id="3" name="Content Placeholder 2"/>
          <p:cNvSpPr>
            <a:spLocks noGrp="1"/>
          </p:cNvSpPr>
          <p:nvPr>
            <p:ph idx="1"/>
          </p:nvPr>
        </p:nvSpPr>
        <p:spPr/>
        <p:txBody>
          <a:bodyPr/>
          <a:lstStyle/>
          <a:p>
            <a:pPr lvl="1"/>
            <a:r>
              <a:rPr lang="en-US" dirty="0"/>
              <a:t>In country A observers go to a market and sample landing of cod sorted by size category (i.e., stratified by size category). </a:t>
            </a: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177900535"/>
              </p:ext>
            </p:extLst>
          </p:nvPr>
        </p:nvGraphicFramePr>
        <p:xfrm>
          <a:off x="2840049" y="3387865"/>
          <a:ext cx="6492238" cy="1341120"/>
        </p:xfrm>
        <a:graphic>
          <a:graphicData uri="http://schemas.openxmlformats.org/drawingml/2006/table">
            <a:tbl>
              <a:tblPr firstRow="1" bandRow="1">
                <a:tableStyleId>{5940675A-B579-460E-94D1-54222C63F5DA}</a:tableStyleId>
              </a:tblPr>
              <a:tblGrid>
                <a:gridCol w="1597949">
                  <a:extLst>
                    <a:ext uri="{9D8B030D-6E8A-4147-A177-3AD203B41FA5}">
                      <a16:colId xmlns:a16="http://schemas.microsoft.com/office/drawing/2014/main" val="2815465670"/>
                    </a:ext>
                  </a:extLst>
                </a:gridCol>
                <a:gridCol w="1213332">
                  <a:extLst>
                    <a:ext uri="{9D8B030D-6E8A-4147-A177-3AD203B41FA5}">
                      <a16:colId xmlns:a16="http://schemas.microsoft.com/office/drawing/2014/main" val="3151269377"/>
                    </a:ext>
                  </a:extLst>
                </a:gridCol>
                <a:gridCol w="1547217">
                  <a:extLst>
                    <a:ext uri="{9D8B030D-6E8A-4147-A177-3AD203B41FA5}">
                      <a16:colId xmlns:a16="http://schemas.microsoft.com/office/drawing/2014/main" val="3307169097"/>
                    </a:ext>
                  </a:extLst>
                </a:gridCol>
                <a:gridCol w="213374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a:t>Size</a:t>
                      </a:r>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dirty="0"/>
                        <a:t>Cod</a:t>
                      </a:r>
                      <a:endParaRPr lang="en-GB" sz="1600" dirty="0"/>
                    </a:p>
                  </a:txBody>
                  <a:tcPr/>
                </a:tc>
                <a:tc>
                  <a:txBody>
                    <a:bodyPr/>
                    <a:lstStyle/>
                    <a:p>
                      <a:pPr algn="ctr"/>
                      <a:r>
                        <a:rPr lang="en-GB" sz="1600" dirty="0"/>
                        <a:t>3</a:t>
                      </a:r>
                    </a:p>
                  </a:txBody>
                  <a:tcPr/>
                </a:tc>
                <a:tc>
                  <a:txBody>
                    <a:bodyPr/>
                    <a:lstStyle/>
                    <a:p>
                      <a:pPr algn="ctr"/>
                      <a:r>
                        <a:rPr lang="sv-SE" sz="1600" dirty="0"/>
                        <a:t>10</a:t>
                      </a:r>
                      <a:endParaRPr lang="en-GB" sz="1600" dirty="0"/>
                    </a:p>
                  </a:txBody>
                  <a:tcPr/>
                </a:tc>
                <a:tc>
                  <a:txBody>
                    <a:bodyPr/>
                    <a:lstStyle/>
                    <a:p>
                      <a:pPr algn="ctr"/>
                      <a:r>
                        <a:rPr lang="sv-SE" sz="1600" dirty="0"/>
                        <a:t>10</a:t>
                      </a:r>
                      <a:endParaRPr lang="en-GB" sz="1600" dirty="0"/>
                    </a:p>
                  </a:txBody>
                  <a:tcPr/>
                </a:tc>
                <a:extLst>
                  <a:ext uri="{0D108BD9-81ED-4DB2-BD59-A6C34878D82A}">
                    <a16:rowId xmlns:a16="http://schemas.microsoft.com/office/drawing/2014/main" val="3375731275"/>
                  </a:ext>
                </a:extLst>
              </a:tr>
              <a:tr h="192881">
                <a:tc>
                  <a:txBody>
                    <a:bodyPr/>
                    <a:lstStyle/>
                    <a:p>
                      <a:r>
                        <a:rPr lang="en-US" sz="1600" dirty="0"/>
                        <a:t>Cod</a:t>
                      </a:r>
                      <a:endParaRPr lang="en-GB" sz="1600" dirty="0"/>
                    </a:p>
                  </a:txBody>
                  <a:tcPr/>
                </a:tc>
                <a:tc>
                  <a:txBody>
                    <a:bodyPr/>
                    <a:lstStyle/>
                    <a:p>
                      <a:pPr algn="ctr"/>
                      <a:r>
                        <a:rPr lang="en-GB" sz="1600" dirty="0"/>
                        <a:t>4</a:t>
                      </a:r>
                    </a:p>
                  </a:txBody>
                  <a:tcPr/>
                </a:tc>
                <a:tc>
                  <a:txBody>
                    <a:bodyPr/>
                    <a:lstStyle/>
                    <a:p>
                      <a:pPr algn="ctr"/>
                      <a:r>
                        <a:rPr lang="en-GB" sz="1600" dirty="0"/>
                        <a:t>50</a:t>
                      </a:r>
                    </a:p>
                  </a:txBody>
                  <a:tcPr/>
                </a:tc>
                <a:tc>
                  <a:txBody>
                    <a:bodyPr/>
                    <a:lstStyle/>
                    <a:p>
                      <a:pPr algn="ctr"/>
                      <a:r>
                        <a:rPr lang="en-GB" sz="1600" dirty="0"/>
                        <a:t>50</a:t>
                      </a:r>
                    </a:p>
                  </a:txBody>
                  <a:tcPr/>
                </a:tc>
                <a:extLst>
                  <a:ext uri="{0D108BD9-81ED-4DB2-BD59-A6C34878D82A}">
                    <a16:rowId xmlns:a16="http://schemas.microsoft.com/office/drawing/2014/main" val="1583662508"/>
                  </a:ext>
                </a:extLst>
              </a:tr>
              <a:tr h="192881">
                <a:tc>
                  <a:txBody>
                    <a:bodyPr/>
                    <a:lstStyle/>
                    <a:p>
                      <a:r>
                        <a:rPr lang="en-US" sz="1600" dirty="0"/>
                        <a:t>Cod</a:t>
                      </a:r>
                      <a:endParaRPr lang="en-GB" sz="1600" dirty="0"/>
                    </a:p>
                  </a:txBody>
                  <a:tcPr/>
                </a:tc>
                <a:tc>
                  <a:txBody>
                    <a:bodyPr/>
                    <a:lstStyle/>
                    <a:p>
                      <a:pPr algn="ctr"/>
                      <a:r>
                        <a:rPr lang="en-GB" sz="1600" dirty="0"/>
                        <a:t>5</a:t>
                      </a:r>
                    </a:p>
                  </a:txBody>
                  <a:tcPr/>
                </a:tc>
                <a:tc>
                  <a:txBody>
                    <a:bodyPr/>
                    <a:lstStyle/>
                    <a:p>
                      <a:pPr algn="ctr"/>
                      <a:r>
                        <a:rPr lang="en-GB" sz="1600" dirty="0"/>
                        <a:t>100</a:t>
                      </a:r>
                    </a:p>
                  </a:txBody>
                  <a:tcPr/>
                </a:tc>
                <a:tc>
                  <a:txBody>
                    <a:bodyPr/>
                    <a:lstStyle/>
                    <a:p>
                      <a:pPr algn="ctr"/>
                      <a:r>
                        <a:rPr lang="en-GB" sz="1600" dirty="0"/>
                        <a:t>100</a:t>
                      </a:r>
                    </a:p>
                  </a:txBody>
                  <a:tcPr/>
                </a:tc>
                <a:extLst>
                  <a:ext uri="{0D108BD9-81ED-4DB2-BD59-A6C34878D82A}">
                    <a16:rowId xmlns:a16="http://schemas.microsoft.com/office/drawing/2014/main" val="841671674"/>
                  </a:ext>
                </a:extLst>
              </a:tr>
            </a:tbl>
          </a:graphicData>
        </a:graphic>
      </p:graphicFrame>
      <p:sp>
        <p:nvSpPr>
          <p:cNvPr id="5" name="TextBox 4"/>
          <p:cNvSpPr txBox="1"/>
          <p:nvPr/>
        </p:nvSpPr>
        <p:spPr>
          <a:xfrm>
            <a:off x="2328772" y="5541314"/>
            <a:ext cx="9418989"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pPr marL="285750" indent="-285750">
              <a:buFontTx/>
              <a:buChar char="-"/>
            </a:pPr>
            <a:r>
              <a:rPr lang="en-US" dirty="0"/>
              <a:t>Are Cod size category 1 or 2 == 0 kg or NA? i.e., were sizes 1-2 really absent or just not sampled?</a:t>
            </a:r>
          </a:p>
          <a:p>
            <a:pPr marL="285750" indent="-285750">
              <a:buFontTx/>
              <a:buChar char="-"/>
            </a:pPr>
            <a:r>
              <a:rPr lang="en-US" dirty="0"/>
              <a:t>What about other possible sizes (e.g., 6?)</a:t>
            </a:r>
          </a:p>
        </p:txBody>
      </p:sp>
      <p:sp>
        <p:nvSpPr>
          <p:cNvPr id="6" name="TextBox 5"/>
          <p:cNvSpPr txBox="1"/>
          <p:nvPr/>
        </p:nvSpPr>
        <p:spPr>
          <a:xfrm>
            <a:off x="2699498" y="2979280"/>
            <a:ext cx="7450768" cy="369332"/>
          </a:xfrm>
          <a:prstGeom prst="rect">
            <a:avLst/>
          </a:prstGeom>
          <a:noFill/>
        </p:spPr>
        <p:txBody>
          <a:bodyPr wrap="square" rtlCol="0">
            <a:spAutoFit/>
          </a:bodyPr>
          <a:lstStyle/>
          <a:p>
            <a:r>
              <a:rPr lang="en-US" dirty="0"/>
              <a:t>View from national database/RDB</a:t>
            </a:r>
          </a:p>
        </p:txBody>
      </p:sp>
      <p:sp>
        <p:nvSpPr>
          <p:cNvPr id="7" name="Rectangle 6"/>
          <p:cNvSpPr/>
          <p:nvPr/>
        </p:nvSpPr>
        <p:spPr>
          <a:xfrm>
            <a:off x="2720274" y="2979280"/>
            <a:ext cx="7316195" cy="186802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2823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sz="3600" dirty="0" err="1"/>
              <a:t>How</a:t>
            </a:r>
            <a:r>
              <a:rPr lang="sv-SE" sz="3600" dirty="0"/>
              <a:t> </a:t>
            </a:r>
            <a:r>
              <a:rPr lang="sv-SE" sz="3600" dirty="0" err="1"/>
              <a:t>are</a:t>
            </a:r>
            <a:r>
              <a:rPr lang="sv-SE" sz="3600" dirty="0"/>
              <a:t> </a:t>
            </a:r>
            <a:r>
              <a:rPr lang="sv-SE" sz="3600" dirty="0" err="1"/>
              <a:t>these</a:t>
            </a:r>
            <a:r>
              <a:rPr lang="sv-SE" sz="3600" dirty="0"/>
              <a:t> </a:t>
            </a:r>
            <a:r>
              <a:rPr lang="sv-SE" sz="3600" dirty="0" err="1"/>
              <a:t>examples</a:t>
            </a:r>
            <a:r>
              <a:rPr lang="sv-SE" sz="3600" dirty="0"/>
              <a:t> handled in RDBES</a:t>
            </a:r>
          </a:p>
        </p:txBody>
      </p:sp>
      <p:sp>
        <p:nvSpPr>
          <p:cNvPr id="3" name="Content Placeholder 2"/>
          <p:cNvSpPr>
            <a:spLocks noGrp="1"/>
          </p:cNvSpPr>
          <p:nvPr>
            <p:ph idx="1"/>
          </p:nvPr>
        </p:nvSpPr>
        <p:spPr>
          <a:xfrm>
            <a:off x="107671" y="1713705"/>
            <a:ext cx="10515600" cy="4045685"/>
          </a:xfrm>
        </p:spPr>
        <p:txBody>
          <a:bodyPr>
            <a:normAutofit/>
          </a:bodyPr>
          <a:lstStyle/>
          <a:p>
            <a:pPr lvl="1"/>
            <a:endParaRPr lang="en-GB" dirty="0"/>
          </a:p>
          <a:p>
            <a:pPr lvl="1"/>
            <a:r>
              <a:rPr lang="en-GB" dirty="0"/>
              <a:t>In all selection-related tables</a:t>
            </a:r>
          </a:p>
          <a:p>
            <a:pPr lvl="2"/>
            <a:r>
              <a:rPr lang="en-GB" dirty="0"/>
              <a:t>What stratification was used, anything there but out-of-frame?</a:t>
            </a:r>
          </a:p>
          <a:p>
            <a:pPr lvl="3"/>
            <a:r>
              <a:rPr lang="en-GB" dirty="0"/>
              <a:t>What fleets, type of trips, size categories were effectively targeted?</a:t>
            </a:r>
          </a:p>
          <a:p>
            <a:pPr lvl="2"/>
            <a:endParaRPr lang="en-GB" dirty="0"/>
          </a:p>
        </p:txBody>
      </p:sp>
      <p:sp>
        <p:nvSpPr>
          <p:cNvPr id="6" name="Right Brace 5"/>
          <p:cNvSpPr/>
          <p:nvPr/>
        </p:nvSpPr>
        <p:spPr>
          <a:xfrm flipV="1">
            <a:off x="8158707" y="2104817"/>
            <a:ext cx="267539" cy="1365509"/>
          </a:xfrm>
          <a:prstGeom prst="rightBrace">
            <a:avLst>
              <a:gd name="adj1" fmla="val 8333"/>
              <a:gd name="adj2" fmla="val 49554"/>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 name="TextBox 6"/>
          <p:cNvSpPr txBox="1"/>
          <p:nvPr/>
        </p:nvSpPr>
        <p:spPr>
          <a:xfrm>
            <a:off x="8760985" y="2109948"/>
            <a:ext cx="2592815" cy="1077218"/>
          </a:xfrm>
          <a:prstGeom prst="rect">
            <a:avLst/>
          </a:prstGeom>
          <a:noFill/>
        </p:spPr>
        <p:txBody>
          <a:bodyPr wrap="square" rtlCol="0">
            <a:spAutoFit/>
          </a:bodyPr>
          <a:lstStyle/>
          <a:p>
            <a:r>
              <a:rPr lang="en-US" sz="1600" dirty="0"/>
              <a:t>The RDBES handles this issue via its </a:t>
            </a:r>
            <a:r>
              <a:rPr lang="en-US" sz="1600" b="1" dirty="0"/>
              <a:t>Design Variables (DV)</a:t>
            </a:r>
            <a:br>
              <a:rPr lang="en-US" sz="1600" b="1" dirty="0"/>
            </a:br>
            <a:r>
              <a:rPr lang="en-US" sz="1600" b="1" dirty="0"/>
              <a:t> “</a:t>
            </a:r>
            <a:r>
              <a:rPr lang="en-US" sz="1600" b="1" dirty="0" err="1">
                <a:solidFill>
                  <a:srgbClr val="FF0000"/>
                </a:solidFill>
              </a:rPr>
              <a:t>XX</a:t>
            </a:r>
            <a:r>
              <a:rPr lang="en-US" sz="1600" b="1" dirty="0" err="1"/>
              <a:t>stratification</a:t>
            </a:r>
            <a:r>
              <a:rPr lang="en-US" sz="1600" b="1" dirty="0"/>
              <a:t>” &amp; “</a:t>
            </a:r>
            <a:r>
              <a:rPr lang="en-US" sz="1600" b="1" dirty="0" err="1">
                <a:solidFill>
                  <a:srgbClr val="FF0000"/>
                </a:solidFill>
              </a:rPr>
              <a:t>XX</a:t>
            </a:r>
            <a:r>
              <a:rPr lang="en-US" sz="1600" b="1" dirty="0" err="1"/>
              <a:t>stratumName</a:t>
            </a:r>
            <a:r>
              <a:rPr lang="en-US" sz="1600" b="1" dirty="0"/>
              <a:t>”</a:t>
            </a:r>
            <a:endParaRPr lang="sv-SE" sz="1600" b="1" dirty="0"/>
          </a:p>
        </p:txBody>
      </p:sp>
      <p:sp>
        <p:nvSpPr>
          <p:cNvPr id="11" name="Rectangle 10"/>
          <p:cNvSpPr/>
          <p:nvPr/>
        </p:nvSpPr>
        <p:spPr>
          <a:xfrm>
            <a:off x="9995940" y="3200018"/>
            <a:ext cx="1703030" cy="276999"/>
          </a:xfrm>
          <a:prstGeom prst="rect">
            <a:avLst/>
          </a:prstGeom>
        </p:spPr>
        <p:txBody>
          <a:bodyPr wrap="none">
            <a:spAutoFit/>
          </a:bodyPr>
          <a:lstStyle/>
          <a:p>
            <a:r>
              <a:rPr lang="en-US" sz="1200" dirty="0"/>
              <a:t>Where </a:t>
            </a:r>
            <a:r>
              <a:rPr lang="en-US" sz="1200" dirty="0">
                <a:solidFill>
                  <a:srgbClr val="FF0000"/>
                </a:solidFill>
              </a:rPr>
              <a:t>XX =</a:t>
            </a:r>
            <a:r>
              <a:rPr lang="en-US" sz="1200" dirty="0"/>
              <a:t> Table name</a:t>
            </a:r>
            <a:r>
              <a:rPr lang="en-US" sz="1200" dirty="0">
                <a:solidFill>
                  <a:srgbClr val="FF0000"/>
                </a:solidFill>
              </a:rPr>
              <a:t> </a:t>
            </a:r>
            <a:endParaRPr lang="en-US" sz="1200" dirty="0"/>
          </a:p>
        </p:txBody>
      </p:sp>
      <p:pic>
        <p:nvPicPr>
          <p:cNvPr id="13" name="Picture 12"/>
          <p:cNvPicPr>
            <a:picLocks noChangeAspect="1"/>
          </p:cNvPicPr>
          <p:nvPr/>
        </p:nvPicPr>
        <p:blipFill>
          <a:blip r:embed="rId2"/>
          <a:stretch>
            <a:fillRect/>
          </a:stretch>
        </p:blipFill>
        <p:spPr>
          <a:xfrm>
            <a:off x="422788" y="4043421"/>
            <a:ext cx="8851633" cy="970574"/>
          </a:xfrm>
          <a:prstGeom prst="rect">
            <a:avLst/>
          </a:prstGeom>
        </p:spPr>
      </p:pic>
      <p:sp>
        <p:nvSpPr>
          <p:cNvPr id="14" name="TextBox 13"/>
          <p:cNvSpPr txBox="1"/>
          <p:nvPr/>
        </p:nvSpPr>
        <p:spPr>
          <a:xfrm>
            <a:off x="319810" y="3747338"/>
            <a:ext cx="4658776" cy="307777"/>
          </a:xfrm>
          <a:prstGeom prst="rect">
            <a:avLst/>
          </a:prstGeom>
          <a:noFill/>
        </p:spPr>
        <p:txBody>
          <a:bodyPr wrap="none" rtlCol="0">
            <a:spAutoFit/>
          </a:bodyPr>
          <a:lstStyle/>
          <a:p>
            <a:r>
              <a:rPr lang="en-US" sz="1400" i="1" dirty="0"/>
              <a:t>Vessel Selection table </a:t>
            </a:r>
            <a:r>
              <a:rPr lang="en-US" sz="1400" dirty="0"/>
              <a:t>in </a:t>
            </a:r>
            <a:r>
              <a:rPr lang="en-US" sz="1400" i="1" dirty="0"/>
              <a:t>RDBES Data Model CS.xlsx </a:t>
            </a:r>
            <a:r>
              <a:rPr lang="en-US" sz="1400" dirty="0"/>
              <a:t>[in GitHub]</a:t>
            </a:r>
          </a:p>
        </p:txBody>
      </p:sp>
      <p:pic>
        <p:nvPicPr>
          <p:cNvPr id="16" name="Picture 15"/>
          <p:cNvPicPr>
            <a:picLocks noChangeAspect="1"/>
          </p:cNvPicPr>
          <p:nvPr/>
        </p:nvPicPr>
        <p:blipFill>
          <a:blip r:embed="rId3"/>
          <a:stretch>
            <a:fillRect/>
          </a:stretch>
        </p:blipFill>
        <p:spPr>
          <a:xfrm>
            <a:off x="1941620" y="5575673"/>
            <a:ext cx="8328423" cy="901344"/>
          </a:xfrm>
          <a:prstGeom prst="rect">
            <a:avLst/>
          </a:prstGeom>
        </p:spPr>
      </p:pic>
      <p:sp>
        <p:nvSpPr>
          <p:cNvPr id="15" name="TextBox 14"/>
          <p:cNvSpPr txBox="1"/>
          <p:nvPr/>
        </p:nvSpPr>
        <p:spPr>
          <a:xfrm>
            <a:off x="1843557" y="5300757"/>
            <a:ext cx="4095417" cy="307777"/>
          </a:xfrm>
          <a:prstGeom prst="rect">
            <a:avLst/>
          </a:prstGeom>
          <a:solidFill>
            <a:schemeClr val="bg1"/>
          </a:solidFill>
        </p:spPr>
        <p:txBody>
          <a:bodyPr wrap="none" rtlCol="0">
            <a:spAutoFit/>
          </a:bodyPr>
          <a:lstStyle/>
          <a:p>
            <a:r>
              <a:rPr lang="en-US" sz="1400" i="1" dirty="0"/>
              <a:t>Sample table </a:t>
            </a:r>
            <a:r>
              <a:rPr lang="en-US" sz="1400" dirty="0"/>
              <a:t>in </a:t>
            </a:r>
            <a:r>
              <a:rPr lang="en-US" sz="1400" i="1" dirty="0"/>
              <a:t>RDBES Data Model CS.xlsx </a:t>
            </a:r>
            <a:r>
              <a:rPr lang="en-US" sz="1400" dirty="0"/>
              <a:t>[in GitHub]</a:t>
            </a:r>
          </a:p>
        </p:txBody>
      </p:sp>
    </p:spTree>
    <p:extLst>
      <p:ext uri="{BB962C8B-B14F-4D97-AF65-F5344CB8AC3E}">
        <p14:creationId xmlns:p14="http://schemas.microsoft.com/office/powerpoint/2010/main" val="4164129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838200" y="1690688"/>
            <a:ext cx="10985500" cy="4486275"/>
          </a:xfrm>
        </p:spPr>
        <p:txBody>
          <a:bodyPr>
            <a:noAutofit/>
          </a:bodyPr>
          <a:lstStyle/>
          <a:p>
            <a:pPr>
              <a:lnSpc>
                <a:spcPct val="120000"/>
              </a:lnSpc>
            </a:pPr>
            <a:r>
              <a:rPr lang="en-US" sz="1800" dirty="0"/>
              <a:t>New on RDBES: “</a:t>
            </a:r>
            <a:r>
              <a:rPr lang="en-US" sz="1800" i="1" dirty="0"/>
              <a:t>when some components of the target population of each sampling level in RDBES are excluded from the sampling frame, </a:t>
            </a:r>
            <a:r>
              <a:rPr lang="en-US" sz="1800" i="1" u="sng" dirty="0"/>
              <a:t>they should be declared</a:t>
            </a:r>
            <a:r>
              <a:rPr lang="en-US" sz="1800" i="1" dirty="0"/>
              <a:t> and, whenever possible, </a:t>
            </a:r>
            <a:r>
              <a:rPr lang="en-US" sz="1800" i="1" u="sng" dirty="0"/>
              <a:t>also quantified</a:t>
            </a:r>
            <a:r>
              <a:rPr lang="en-US" sz="1800" dirty="0"/>
              <a:t>”</a:t>
            </a:r>
            <a:endParaRPr lang="sv-SE" sz="1800" dirty="0"/>
          </a:p>
          <a:p>
            <a:pPr>
              <a:lnSpc>
                <a:spcPct val="120000"/>
              </a:lnSpc>
            </a:pPr>
            <a:endParaRPr lang="sv-SE" sz="1800" dirty="0"/>
          </a:p>
          <a:p>
            <a:pPr>
              <a:lnSpc>
                <a:spcPct val="120000"/>
              </a:lnSpc>
            </a:pPr>
            <a:r>
              <a:rPr lang="sv-SE" sz="1800" dirty="0"/>
              <a:t>RDBES asks for all strata [</a:t>
            </a:r>
            <a:r>
              <a:rPr lang="sv-SE" sz="1800" dirty="0" err="1"/>
              <a:t>within</a:t>
            </a:r>
            <a:r>
              <a:rPr lang="sv-SE" sz="1800" dirty="0"/>
              <a:t> a </a:t>
            </a:r>
            <a:r>
              <a:rPr lang="sv-SE" sz="1800" dirty="0" err="1"/>
              <a:t>parent</a:t>
            </a:r>
            <a:r>
              <a:rPr lang="sv-SE" sz="1800" dirty="0"/>
              <a:t> sampling </a:t>
            </a:r>
            <a:r>
              <a:rPr lang="sv-SE" sz="1800" dirty="0" err="1"/>
              <a:t>level</a:t>
            </a:r>
            <a:r>
              <a:rPr lang="sv-SE" sz="1800" dirty="0"/>
              <a:t>] to be </a:t>
            </a:r>
            <a:r>
              <a:rPr lang="sv-SE" sz="1800" dirty="0" err="1"/>
              <a:t>declared</a:t>
            </a:r>
            <a:endParaRPr lang="sv-SE" sz="1800" dirty="0"/>
          </a:p>
          <a:p>
            <a:pPr lvl="1">
              <a:lnSpc>
                <a:spcPct val="120000"/>
              </a:lnSpc>
            </a:pPr>
            <a:r>
              <a:rPr lang="sv-SE" sz="1800" dirty="0"/>
              <a:t>If </a:t>
            </a:r>
            <a:r>
              <a:rPr lang="sv-SE" sz="1800" dirty="0" err="1"/>
              <a:t>we</a:t>
            </a:r>
            <a:r>
              <a:rPr lang="sv-SE" sz="1800" dirty="0"/>
              <a:t> </a:t>
            </a:r>
            <a:r>
              <a:rPr lang="sv-SE" sz="1800" dirty="0" err="1"/>
              <a:t>sample</a:t>
            </a:r>
            <a:r>
              <a:rPr lang="sv-SE" sz="1800" dirty="0"/>
              <a:t> </a:t>
            </a:r>
            <a:r>
              <a:rPr lang="sv-SE" sz="1800" dirty="0" err="1"/>
              <a:t>they</a:t>
            </a:r>
            <a:r>
              <a:rPr lang="sv-SE" sz="1800" dirty="0"/>
              <a:t> </a:t>
            </a:r>
            <a:r>
              <a:rPr lang="sv-SE" sz="1800" dirty="0" err="1"/>
              <a:t>will</a:t>
            </a:r>
            <a:r>
              <a:rPr lang="sv-SE" sz="1800" dirty="0"/>
              <a:t> </a:t>
            </a:r>
            <a:r>
              <a:rPr lang="sv-SE" sz="1800" dirty="0" err="1"/>
              <a:t>have</a:t>
            </a:r>
            <a:r>
              <a:rPr lang="sv-SE" sz="1800" dirty="0"/>
              <a:t> </a:t>
            </a:r>
            <a:r>
              <a:rPr lang="sv-SE" sz="1800" dirty="0" err="1"/>
              <a:t>samplesize</a:t>
            </a:r>
            <a:r>
              <a:rPr lang="sv-SE" sz="1800" dirty="0"/>
              <a:t>&gt;0, </a:t>
            </a:r>
            <a:r>
              <a:rPr lang="sv-SE" sz="1800" dirty="0" err="1"/>
              <a:t>sampled</a:t>
            </a:r>
            <a:r>
              <a:rPr lang="sv-SE" sz="1800" dirty="0"/>
              <a:t> == Y and </a:t>
            </a:r>
            <a:r>
              <a:rPr lang="sv-SE" sz="1800" dirty="0" err="1"/>
              <a:t>child</a:t>
            </a:r>
            <a:r>
              <a:rPr lang="sv-SE" sz="1800" dirty="0"/>
              <a:t> </a:t>
            </a:r>
            <a:r>
              <a:rPr lang="sv-SE" sz="1800" dirty="0" err="1"/>
              <a:t>records</a:t>
            </a:r>
            <a:r>
              <a:rPr lang="sv-SE" sz="1800" dirty="0"/>
              <a:t> in </a:t>
            </a:r>
            <a:r>
              <a:rPr lang="sv-SE" sz="1800" dirty="0" err="1"/>
              <a:t>following</a:t>
            </a:r>
            <a:r>
              <a:rPr lang="sv-SE" sz="1800" dirty="0"/>
              <a:t> </a:t>
            </a:r>
            <a:r>
              <a:rPr lang="sv-SE" sz="1800" dirty="0" err="1"/>
              <a:t>tables</a:t>
            </a:r>
            <a:endParaRPr lang="sv-SE" sz="1800" dirty="0"/>
          </a:p>
          <a:p>
            <a:pPr lvl="1">
              <a:lnSpc>
                <a:spcPct val="120000"/>
              </a:lnSpc>
            </a:pPr>
            <a:r>
              <a:rPr lang="sv-SE" sz="1800" dirty="0"/>
              <a:t>If </a:t>
            </a:r>
            <a:r>
              <a:rPr lang="sv-SE" sz="1800" dirty="0" err="1"/>
              <a:t>they</a:t>
            </a:r>
            <a:r>
              <a:rPr lang="sv-SE" sz="1800" dirty="0"/>
              <a:t> </a:t>
            </a:r>
            <a:r>
              <a:rPr lang="sv-SE" sz="1800" dirty="0" err="1"/>
              <a:t>were</a:t>
            </a:r>
            <a:r>
              <a:rPr lang="sv-SE" sz="1800" dirty="0"/>
              <a:t> absent </a:t>
            </a:r>
            <a:r>
              <a:rPr lang="sv-SE" sz="1800" dirty="0" err="1"/>
              <a:t>they</a:t>
            </a:r>
            <a:r>
              <a:rPr lang="sv-SE" sz="1800" dirty="0"/>
              <a:t> </a:t>
            </a:r>
            <a:r>
              <a:rPr lang="sv-SE" sz="1800" dirty="0" err="1"/>
              <a:t>will</a:t>
            </a:r>
            <a:r>
              <a:rPr lang="sv-SE" sz="1800" dirty="0"/>
              <a:t> </a:t>
            </a:r>
            <a:r>
              <a:rPr lang="sv-SE" sz="1800" dirty="0" err="1"/>
              <a:t>have</a:t>
            </a:r>
            <a:r>
              <a:rPr lang="sv-SE" sz="1800" dirty="0"/>
              <a:t> </a:t>
            </a:r>
            <a:r>
              <a:rPr lang="sv-SE" sz="1800" dirty="0" err="1"/>
              <a:t>samplesize</a:t>
            </a:r>
            <a:r>
              <a:rPr lang="sv-SE" sz="1800" dirty="0"/>
              <a:t> = 0 and </a:t>
            </a:r>
            <a:r>
              <a:rPr lang="sv-SE" sz="1800" dirty="0" err="1"/>
              <a:t>sampled</a:t>
            </a:r>
            <a:r>
              <a:rPr lang="sv-SE" sz="1800" dirty="0"/>
              <a:t> == Y and no </a:t>
            </a:r>
            <a:r>
              <a:rPr lang="sv-SE" sz="1800" dirty="0" err="1"/>
              <a:t>child</a:t>
            </a:r>
            <a:r>
              <a:rPr lang="sv-SE" sz="1800" dirty="0"/>
              <a:t> </a:t>
            </a:r>
            <a:r>
              <a:rPr lang="sv-SE" sz="1800" dirty="0" err="1"/>
              <a:t>records</a:t>
            </a:r>
            <a:r>
              <a:rPr lang="sv-SE" sz="1800" dirty="0"/>
              <a:t> in </a:t>
            </a:r>
            <a:r>
              <a:rPr lang="sv-SE" sz="1800" dirty="0" err="1"/>
              <a:t>following</a:t>
            </a:r>
            <a:r>
              <a:rPr lang="sv-SE" sz="1800" dirty="0"/>
              <a:t> </a:t>
            </a:r>
            <a:r>
              <a:rPr lang="sv-SE" sz="1800" dirty="0" err="1"/>
              <a:t>tables</a:t>
            </a:r>
            <a:endParaRPr lang="sv-SE" sz="1800" dirty="0"/>
          </a:p>
          <a:p>
            <a:pPr lvl="1">
              <a:lnSpc>
                <a:spcPct val="120000"/>
              </a:lnSpc>
            </a:pPr>
            <a:r>
              <a:rPr lang="sv-SE" sz="1800" dirty="0"/>
              <a:t>If </a:t>
            </a:r>
            <a:r>
              <a:rPr lang="sv-SE" sz="1800" dirty="0" err="1"/>
              <a:t>we</a:t>
            </a:r>
            <a:r>
              <a:rPr lang="sv-SE" sz="1800" dirty="0"/>
              <a:t> </a:t>
            </a:r>
            <a:r>
              <a:rPr lang="sv-SE" sz="1800" dirty="0" err="1"/>
              <a:t>did</a:t>
            </a:r>
            <a:r>
              <a:rPr lang="sv-SE" sz="1800" dirty="0"/>
              <a:t> not </a:t>
            </a:r>
            <a:r>
              <a:rPr lang="sv-SE" sz="1800" dirty="0" err="1"/>
              <a:t>sample</a:t>
            </a:r>
            <a:r>
              <a:rPr lang="sv-SE" sz="1800" dirty="0"/>
              <a:t> </a:t>
            </a:r>
            <a:r>
              <a:rPr lang="sv-SE" sz="1800" dirty="0" err="1"/>
              <a:t>they</a:t>
            </a:r>
            <a:r>
              <a:rPr lang="sv-SE" sz="1800" dirty="0"/>
              <a:t> </a:t>
            </a:r>
            <a:r>
              <a:rPr lang="sv-SE" sz="1800" dirty="0" err="1"/>
              <a:t>will</a:t>
            </a:r>
            <a:r>
              <a:rPr lang="sv-SE" sz="1800" dirty="0"/>
              <a:t> </a:t>
            </a:r>
            <a:r>
              <a:rPr lang="sv-SE" sz="1800" dirty="0" err="1"/>
              <a:t>have</a:t>
            </a:r>
            <a:r>
              <a:rPr lang="sv-SE" sz="1800" dirty="0"/>
              <a:t> a ”not-</a:t>
            </a:r>
            <a:r>
              <a:rPr lang="sv-SE" sz="1800" dirty="0" err="1"/>
              <a:t>sampled</a:t>
            </a:r>
            <a:r>
              <a:rPr lang="sv-SE" sz="1800" dirty="0"/>
              <a:t>” tag and a </a:t>
            </a:r>
            <a:r>
              <a:rPr lang="sv-SE" sz="1800" dirty="0" err="1">
                <a:solidFill>
                  <a:srgbClr val="FF0000"/>
                </a:solidFill>
              </a:rPr>
              <a:t>XX</a:t>
            </a:r>
            <a:r>
              <a:rPr lang="sv-SE" sz="1800" dirty="0" err="1"/>
              <a:t>reasonNotSampled</a:t>
            </a:r>
            <a:endParaRPr lang="sv-SE" sz="1800" dirty="0"/>
          </a:p>
          <a:p>
            <a:pPr>
              <a:lnSpc>
                <a:spcPct val="120000"/>
              </a:lnSpc>
            </a:pPr>
            <a:endParaRPr lang="sv-SE" sz="1800" dirty="0"/>
          </a:p>
        </p:txBody>
      </p:sp>
      <p:sp>
        <p:nvSpPr>
          <p:cNvPr id="7" name="Title 1"/>
          <p:cNvSpPr>
            <a:spLocks noGrp="1"/>
          </p:cNvSpPr>
          <p:nvPr>
            <p:ph type="title"/>
          </p:nvPr>
        </p:nvSpPr>
        <p:spPr>
          <a:xfrm>
            <a:off x="838200" y="365125"/>
            <a:ext cx="10515600" cy="1325563"/>
          </a:xfrm>
        </p:spPr>
        <p:txBody>
          <a:bodyPr>
            <a:normAutofit/>
          </a:bodyPr>
          <a:lstStyle/>
          <a:p>
            <a:r>
              <a:rPr lang="sv-SE" sz="4000" dirty="0" err="1"/>
              <a:t>How</a:t>
            </a:r>
            <a:r>
              <a:rPr lang="sv-SE" sz="4000" dirty="0"/>
              <a:t> </a:t>
            </a:r>
            <a:r>
              <a:rPr lang="sv-SE" sz="4000" dirty="0" err="1"/>
              <a:t>are</a:t>
            </a:r>
            <a:r>
              <a:rPr lang="sv-SE" sz="4000" dirty="0"/>
              <a:t> </a:t>
            </a:r>
            <a:r>
              <a:rPr lang="sv-SE" sz="4000" dirty="0" err="1"/>
              <a:t>these</a:t>
            </a:r>
            <a:r>
              <a:rPr lang="sv-SE" sz="4000" dirty="0"/>
              <a:t> </a:t>
            </a:r>
            <a:r>
              <a:rPr lang="sv-SE" sz="4000" dirty="0" err="1"/>
              <a:t>examples</a:t>
            </a:r>
            <a:r>
              <a:rPr lang="sv-SE" sz="4000" dirty="0"/>
              <a:t> handled in RDBES</a:t>
            </a:r>
          </a:p>
        </p:txBody>
      </p:sp>
      <p:cxnSp>
        <p:nvCxnSpPr>
          <p:cNvPr id="3" name="Straight Arrow Connector 2"/>
          <p:cNvCxnSpPr/>
          <p:nvPr/>
        </p:nvCxnSpPr>
        <p:spPr>
          <a:xfrm>
            <a:off x="2050436" y="4702325"/>
            <a:ext cx="723900" cy="393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610238" y="5230762"/>
            <a:ext cx="6971524" cy="1218795"/>
          </a:xfrm>
          <a:prstGeom prst="rect">
            <a:avLst/>
          </a:prstGeom>
          <a:noFill/>
        </p:spPr>
        <p:txBody>
          <a:bodyPr wrap="none" rtlCol="0">
            <a:spAutoFit/>
          </a:bodyPr>
          <a:lstStyle/>
          <a:p>
            <a:pPr>
              <a:lnSpc>
                <a:spcPct val="120000"/>
              </a:lnSpc>
            </a:pPr>
            <a:r>
              <a:rPr lang="sv-SE" dirty="0" err="1"/>
              <a:t>This</a:t>
            </a:r>
            <a:r>
              <a:rPr lang="sv-SE" dirty="0"/>
              <a:t> </a:t>
            </a:r>
            <a:r>
              <a:rPr lang="sv-SE" dirty="0" err="1"/>
              <a:t>way</a:t>
            </a:r>
            <a:r>
              <a:rPr lang="sv-SE" dirty="0"/>
              <a:t>: </a:t>
            </a:r>
          </a:p>
          <a:p>
            <a:pPr lvl="1">
              <a:lnSpc>
                <a:spcPct val="120000"/>
              </a:lnSpc>
            </a:pPr>
            <a:r>
              <a:rPr lang="sv-SE" sz="1400" dirty="0"/>
              <a:t>strata </a:t>
            </a:r>
            <a:r>
              <a:rPr lang="sv-SE" sz="1400" dirty="0" err="1"/>
              <a:t>that</a:t>
            </a:r>
            <a:r>
              <a:rPr lang="sv-SE" sz="1400" dirty="0"/>
              <a:t> </a:t>
            </a:r>
            <a:r>
              <a:rPr lang="sv-SE" sz="1400" dirty="0" err="1"/>
              <a:t>were</a:t>
            </a:r>
            <a:r>
              <a:rPr lang="sv-SE" sz="1400" dirty="0"/>
              <a:t> </a:t>
            </a:r>
            <a:r>
              <a:rPr lang="sv-SE" sz="1400" dirty="0" err="1"/>
              <a:t>effectively</a:t>
            </a:r>
            <a:r>
              <a:rPr lang="sv-SE" sz="1400" dirty="0"/>
              <a:t> absent </a:t>
            </a:r>
            <a:r>
              <a:rPr lang="sv-SE" sz="1400" dirty="0" err="1"/>
              <a:t>will</a:t>
            </a:r>
            <a:r>
              <a:rPr lang="sv-SE" sz="1400" dirty="0"/>
              <a:t> </a:t>
            </a:r>
            <a:r>
              <a:rPr lang="sv-SE" sz="1400" dirty="0" err="1"/>
              <a:t>contribute</a:t>
            </a:r>
            <a:r>
              <a:rPr lang="sv-SE" sz="1400" dirty="0"/>
              <a:t> </a:t>
            </a:r>
            <a:r>
              <a:rPr lang="sv-SE" sz="1400" dirty="0" err="1"/>
              <a:t>with</a:t>
            </a:r>
            <a:r>
              <a:rPr lang="sv-SE" sz="1400" dirty="0"/>
              <a:t> a 0 </a:t>
            </a:r>
            <a:r>
              <a:rPr lang="sv-SE" sz="1400" dirty="0" err="1"/>
              <a:t>during</a:t>
            </a:r>
            <a:r>
              <a:rPr lang="sv-SE" sz="1400" dirty="0"/>
              <a:t> </a:t>
            </a:r>
            <a:r>
              <a:rPr lang="sv-SE" sz="1400" dirty="0" err="1"/>
              <a:t>estimation</a:t>
            </a:r>
            <a:endParaRPr lang="sv-SE" sz="1400" dirty="0"/>
          </a:p>
          <a:p>
            <a:pPr lvl="1">
              <a:lnSpc>
                <a:spcPct val="120000"/>
              </a:lnSpc>
            </a:pPr>
            <a:r>
              <a:rPr lang="sv-SE" sz="1400" dirty="0"/>
              <a:t>Strata </a:t>
            </a:r>
            <a:r>
              <a:rPr lang="sv-SE" sz="1400" dirty="0" err="1"/>
              <a:t>that</a:t>
            </a:r>
            <a:r>
              <a:rPr lang="sv-SE" sz="1400" dirty="0"/>
              <a:t> </a:t>
            </a:r>
            <a:r>
              <a:rPr lang="sv-SE" sz="1400" dirty="0" err="1"/>
              <a:t>were</a:t>
            </a:r>
            <a:r>
              <a:rPr lang="sv-SE" sz="1400" dirty="0"/>
              <a:t> present </a:t>
            </a:r>
            <a:r>
              <a:rPr lang="sv-SE" sz="1400" dirty="0" err="1"/>
              <a:t>but</a:t>
            </a:r>
            <a:r>
              <a:rPr lang="sv-SE" sz="1400" dirty="0"/>
              <a:t> not </a:t>
            </a:r>
            <a:r>
              <a:rPr lang="sv-SE" sz="1400" dirty="0" err="1"/>
              <a:t>sampled</a:t>
            </a:r>
            <a:r>
              <a:rPr lang="sv-SE" sz="1400" dirty="0"/>
              <a:t> </a:t>
            </a:r>
            <a:r>
              <a:rPr lang="sv-SE" sz="1400" dirty="0" err="1"/>
              <a:t>will</a:t>
            </a:r>
            <a:r>
              <a:rPr lang="sv-SE" sz="1400" dirty="0"/>
              <a:t> </a:t>
            </a:r>
            <a:r>
              <a:rPr lang="sv-SE" sz="1400" dirty="0" err="1"/>
              <a:t>result</a:t>
            </a:r>
            <a:r>
              <a:rPr lang="sv-SE" sz="1400" dirty="0"/>
              <a:t> in the </a:t>
            </a:r>
            <a:r>
              <a:rPr lang="sv-SE" sz="1400" dirty="0" err="1"/>
              <a:t>parent</a:t>
            </a:r>
            <a:r>
              <a:rPr lang="sv-SE" sz="1400" dirty="0"/>
              <a:t> </a:t>
            </a:r>
            <a:r>
              <a:rPr lang="sv-SE" sz="1400" dirty="0" err="1"/>
              <a:t>mean</a:t>
            </a:r>
            <a:r>
              <a:rPr lang="sv-SE" sz="1400" dirty="0"/>
              <a:t>/total </a:t>
            </a:r>
            <a:r>
              <a:rPr lang="sv-SE" sz="1400" dirty="0" err="1"/>
              <a:t>being</a:t>
            </a:r>
            <a:r>
              <a:rPr lang="sv-SE" sz="1400" dirty="0"/>
              <a:t> NA</a:t>
            </a:r>
          </a:p>
          <a:p>
            <a:endParaRPr lang="en-US" dirty="0"/>
          </a:p>
        </p:txBody>
      </p:sp>
      <p:sp>
        <p:nvSpPr>
          <p:cNvPr id="8" name="Rectangle 7"/>
          <p:cNvSpPr/>
          <p:nvPr/>
        </p:nvSpPr>
        <p:spPr>
          <a:xfrm>
            <a:off x="10300740" y="6449557"/>
            <a:ext cx="1703030" cy="276999"/>
          </a:xfrm>
          <a:prstGeom prst="rect">
            <a:avLst/>
          </a:prstGeom>
        </p:spPr>
        <p:txBody>
          <a:bodyPr wrap="none">
            <a:spAutoFit/>
          </a:bodyPr>
          <a:lstStyle/>
          <a:p>
            <a:r>
              <a:rPr lang="en-US" sz="1200" dirty="0"/>
              <a:t>Where </a:t>
            </a:r>
            <a:r>
              <a:rPr lang="en-US" sz="1200" dirty="0">
                <a:solidFill>
                  <a:srgbClr val="FF0000"/>
                </a:solidFill>
              </a:rPr>
              <a:t>XX =</a:t>
            </a:r>
            <a:r>
              <a:rPr lang="en-US" sz="1200" dirty="0"/>
              <a:t> Table name</a:t>
            </a:r>
            <a:r>
              <a:rPr lang="en-US" sz="1200" dirty="0">
                <a:solidFill>
                  <a:srgbClr val="FF0000"/>
                </a:solidFill>
              </a:rPr>
              <a:t> </a:t>
            </a:r>
            <a:endParaRPr lang="en-US" sz="1200" dirty="0"/>
          </a:p>
        </p:txBody>
      </p:sp>
    </p:spTree>
    <p:extLst>
      <p:ext uri="{BB962C8B-B14F-4D97-AF65-F5344CB8AC3E}">
        <p14:creationId xmlns:p14="http://schemas.microsoft.com/office/powerpoint/2010/main" val="502414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Motivation example 5</a:t>
            </a:r>
            <a:endParaRPr lang="sv-SE" dirty="0"/>
          </a:p>
        </p:txBody>
      </p:sp>
      <p:sp>
        <p:nvSpPr>
          <p:cNvPr id="3" name="Content Placeholder 2"/>
          <p:cNvSpPr>
            <a:spLocks noGrp="1"/>
          </p:cNvSpPr>
          <p:nvPr>
            <p:ph idx="1"/>
          </p:nvPr>
        </p:nvSpPr>
        <p:spPr/>
        <p:txBody>
          <a:bodyPr/>
          <a:lstStyle/>
          <a:p>
            <a:pPr lvl="1"/>
            <a:r>
              <a:rPr lang="en-US" dirty="0"/>
              <a:t>In country A n = 3 vessels are selected, n = 1 from stratum &gt;15m and n = 2 from stratum 10&lt;=15m. </a:t>
            </a:r>
            <a:endParaRPr lang="sv-SE" dirty="0"/>
          </a:p>
        </p:txBody>
      </p:sp>
      <p:graphicFrame>
        <p:nvGraphicFramePr>
          <p:cNvPr id="4" name="Table 3"/>
          <p:cNvGraphicFramePr>
            <a:graphicFrameLocks noGrp="1"/>
          </p:cNvGraphicFramePr>
          <p:nvPr/>
        </p:nvGraphicFramePr>
        <p:xfrm>
          <a:off x="3086975" y="3171631"/>
          <a:ext cx="6266413" cy="1341120"/>
        </p:xfrm>
        <a:graphic>
          <a:graphicData uri="http://schemas.openxmlformats.org/drawingml/2006/table">
            <a:tbl>
              <a:tblPr firstRow="1" bandRow="1">
                <a:tableStyleId>{5940675A-B579-460E-94D1-54222C63F5DA}</a:tableStyleId>
              </a:tblPr>
              <a:tblGrid>
                <a:gridCol w="1298593">
                  <a:extLst>
                    <a:ext uri="{9D8B030D-6E8A-4147-A177-3AD203B41FA5}">
                      <a16:colId xmlns:a16="http://schemas.microsoft.com/office/drawing/2014/main" val="3151269377"/>
                    </a:ext>
                  </a:extLst>
                </a:gridCol>
                <a:gridCol w="1655940">
                  <a:extLst>
                    <a:ext uri="{9D8B030D-6E8A-4147-A177-3AD203B41FA5}">
                      <a16:colId xmlns:a16="http://schemas.microsoft.com/office/drawing/2014/main" val="3307169097"/>
                    </a:ext>
                  </a:extLst>
                </a:gridCol>
                <a:gridCol w="1655940">
                  <a:extLst>
                    <a:ext uri="{9D8B030D-6E8A-4147-A177-3AD203B41FA5}">
                      <a16:colId xmlns:a16="http://schemas.microsoft.com/office/drawing/2014/main" val="1625679375"/>
                    </a:ext>
                  </a:extLst>
                </a:gridCol>
                <a:gridCol w="1655940">
                  <a:extLst>
                    <a:ext uri="{9D8B030D-6E8A-4147-A177-3AD203B41FA5}">
                      <a16:colId xmlns:a16="http://schemas.microsoft.com/office/drawing/2014/main" val="869977354"/>
                    </a:ext>
                  </a:extLst>
                </a:gridCol>
              </a:tblGrid>
              <a:tr h="192881">
                <a:tc>
                  <a:txBody>
                    <a:bodyPr/>
                    <a:lstStyle/>
                    <a:p>
                      <a:pPr algn="ctr"/>
                      <a:r>
                        <a:rPr lang="en-GB" sz="1600" b="1" dirty="0" err="1"/>
                        <a:t>DateStart</a:t>
                      </a:r>
                      <a:endParaRPr lang="en-GB" sz="1600" b="1" dirty="0"/>
                    </a:p>
                  </a:txBody>
                  <a:tcPr>
                    <a:solidFill>
                      <a:schemeClr val="accent1">
                        <a:lumMod val="60000"/>
                        <a:lumOff val="40000"/>
                      </a:schemeClr>
                    </a:solidFill>
                  </a:tcPr>
                </a:tc>
                <a:tc>
                  <a:txBody>
                    <a:bodyPr/>
                    <a:lstStyle/>
                    <a:p>
                      <a:pPr algn="ctr"/>
                      <a:r>
                        <a:rPr lang="en-US" sz="1600" b="1" dirty="0" err="1"/>
                        <a:t>DateEnd</a:t>
                      </a:r>
                      <a:endParaRPr lang="en-GB" sz="1600" b="1" dirty="0"/>
                    </a:p>
                  </a:txBody>
                  <a:tcPr>
                    <a:solidFill>
                      <a:schemeClr val="accent1">
                        <a:lumMod val="60000"/>
                        <a:lumOff val="40000"/>
                      </a:schemeClr>
                    </a:solidFill>
                  </a:tcPr>
                </a:tc>
                <a:tc>
                  <a:txBody>
                    <a:bodyPr/>
                    <a:lstStyle/>
                    <a:p>
                      <a:pPr algn="ctr"/>
                      <a:r>
                        <a:rPr lang="sv-SE" sz="1600" b="1" dirty="0" err="1"/>
                        <a:t>Vessel</a:t>
                      </a:r>
                      <a:r>
                        <a:rPr lang="sv-SE" sz="1600" b="1" dirty="0"/>
                        <a:t> id</a:t>
                      </a:r>
                      <a:endParaRPr lang="en-GB" sz="1600" b="1" dirty="0"/>
                    </a:p>
                  </a:txBody>
                  <a:tcPr>
                    <a:solidFill>
                      <a:schemeClr val="accent1">
                        <a:lumMod val="60000"/>
                        <a:lumOff val="40000"/>
                      </a:schemeClr>
                    </a:solidFill>
                  </a:tcPr>
                </a:tc>
                <a:tc>
                  <a:txBody>
                    <a:bodyPr/>
                    <a:lstStyle/>
                    <a:p>
                      <a:pPr algn="ctr"/>
                      <a:r>
                        <a:rPr lang="en-GB" sz="1600" b="1" dirty="0"/>
                        <a:t>Size (m)</a:t>
                      </a:r>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600" dirty="0"/>
                        <a:t>11-06-2021</a:t>
                      </a:r>
                    </a:p>
                  </a:txBody>
                  <a:tcPr/>
                </a:tc>
                <a:tc>
                  <a:txBody>
                    <a:bodyPr/>
                    <a:lstStyle/>
                    <a:p>
                      <a:pPr algn="ctr"/>
                      <a:r>
                        <a:rPr lang="en-GB" sz="1600" dirty="0"/>
                        <a:t>11-06-2021</a:t>
                      </a:r>
                    </a:p>
                  </a:txBody>
                  <a:tcPr/>
                </a:tc>
                <a:tc>
                  <a:txBody>
                    <a:bodyPr/>
                    <a:lstStyle/>
                    <a:p>
                      <a:pPr algn="ctr"/>
                      <a:r>
                        <a:rPr lang="en-US" sz="1600" dirty="0"/>
                        <a:t>1</a:t>
                      </a:r>
                      <a:endParaRPr lang="en-GB" sz="1600" dirty="0"/>
                    </a:p>
                  </a:txBody>
                  <a:tcPr/>
                </a:tc>
                <a:tc>
                  <a:txBody>
                    <a:bodyPr/>
                    <a:lstStyle/>
                    <a:p>
                      <a:pPr algn="ctr"/>
                      <a:r>
                        <a:rPr lang="en-GB" sz="1600" dirty="0"/>
                        <a:t>19</a:t>
                      </a:r>
                    </a:p>
                  </a:txBody>
                  <a:tcPr/>
                </a:tc>
                <a:extLst>
                  <a:ext uri="{0D108BD9-81ED-4DB2-BD59-A6C34878D82A}">
                    <a16:rowId xmlns:a16="http://schemas.microsoft.com/office/drawing/2014/main" val="3375731275"/>
                  </a:ext>
                </a:extLst>
              </a:tr>
              <a:tr h="192881">
                <a:tc>
                  <a:txBody>
                    <a:bodyPr/>
                    <a:lstStyle/>
                    <a:p>
                      <a:pPr algn="ctr"/>
                      <a:r>
                        <a:rPr lang="en-GB" sz="1600" dirty="0"/>
                        <a:t>12-06-2021</a:t>
                      </a:r>
                    </a:p>
                  </a:txBody>
                  <a:tcPr/>
                </a:tc>
                <a:tc>
                  <a:txBody>
                    <a:bodyPr/>
                    <a:lstStyle/>
                    <a:p>
                      <a:pPr algn="ctr"/>
                      <a:r>
                        <a:rPr lang="en-GB" sz="1600" dirty="0"/>
                        <a:t>12-06-2021</a:t>
                      </a:r>
                    </a:p>
                  </a:txBody>
                  <a:tcPr/>
                </a:tc>
                <a:tc>
                  <a:txBody>
                    <a:bodyPr/>
                    <a:lstStyle/>
                    <a:p>
                      <a:pPr algn="ctr"/>
                      <a:r>
                        <a:rPr lang="en-US" sz="1600" dirty="0"/>
                        <a:t>2</a:t>
                      </a:r>
                      <a:endParaRPr lang="en-GB" sz="1600" dirty="0"/>
                    </a:p>
                  </a:txBody>
                  <a:tcPr/>
                </a:tc>
                <a:tc>
                  <a:txBody>
                    <a:bodyPr/>
                    <a:lstStyle/>
                    <a:p>
                      <a:pPr algn="ctr"/>
                      <a:r>
                        <a:rPr lang="en-GB" sz="1600" dirty="0"/>
                        <a:t>14</a:t>
                      </a:r>
                    </a:p>
                  </a:txBody>
                  <a:tcPr/>
                </a:tc>
                <a:extLst>
                  <a:ext uri="{0D108BD9-81ED-4DB2-BD59-A6C34878D82A}">
                    <a16:rowId xmlns:a16="http://schemas.microsoft.com/office/drawing/2014/main" val="1583662508"/>
                  </a:ext>
                </a:extLst>
              </a:tr>
              <a:tr h="192881">
                <a:tc>
                  <a:txBody>
                    <a:bodyPr/>
                    <a:lstStyle/>
                    <a:p>
                      <a:pPr algn="ctr"/>
                      <a:r>
                        <a:rPr lang="en-GB" sz="1600" dirty="0"/>
                        <a:t>12-06-2021</a:t>
                      </a:r>
                    </a:p>
                  </a:txBody>
                  <a:tcPr/>
                </a:tc>
                <a:tc>
                  <a:txBody>
                    <a:bodyPr/>
                    <a:lstStyle/>
                    <a:p>
                      <a:pPr algn="ctr"/>
                      <a:r>
                        <a:rPr lang="en-GB" sz="1600" dirty="0"/>
                        <a:t>13-06-2021</a:t>
                      </a:r>
                    </a:p>
                  </a:txBody>
                  <a:tcPr/>
                </a:tc>
                <a:tc>
                  <a:txBody>
                    <a:bodyPr/>
                    <a:lstStyle/>
                    <a:p>
                      <a:pPr algn="ctr"/>
                      <a:r>
                        <a:rPr lang="en-US" sz="1600" dirty="0"/>
                        <a:t>3</a:t>
                      </a:r>
                      <a:endParaRPr lang="en-GB" sz="1600" dirty="0"/>
                    </a:p>
                  </a:txBody>
                  <a:tcPr/>
                </a:tc>
                <a:tc>
                  <a:txBody>
                    <a:bodyPr/>
                    <a:lstStyle/>
                    <a:p>
                      <a:pPr algn="ctr"/>
                      <a:r>
                        <a:rPr lang="en-GB" sz="1600" dirty="0"/>
                        <a:t>12</a:t>
                      </a:r>
                    </a:p>
                  </a:txBody>
                  <a:tcPr/>
                </a:tc>
                <a:extLst>
                  <a:ext uri="{0D108BD9-81ED-4DB2-BD59-A6C34878D82A}">
                    <a16:rowId xmlns:a16="http://schemas.microsoft.com/office/drawing/2014/main" val="841671674"/>
                  </a:ext>
                </a:extLst>
              </a:tr>
            </a:tbl>
          </a:graphicData>
        </a:graphic>
      </p:graphicFrame>
      <p:sp>
        <p:nvSpPr>
          <p:cNvPr id="5" name="TextBox 4"/>
          <p:cNvSpPr txBox="1"/>
          <p:nvPr/>
        </p:nvSpPr>
        <p:spPr>
          <a:xfrm>
            <a:off x="3746851" y="5468067"/>
            <a:ext cx="7761099"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pPr marL="285750" indent="-285750">
              <a:buFontTx/>
              <a:buChar char="-"/>
            </a:pPr>
            <a:r>
              <a:rPr lang="en-US" dirty="0"/>
              <a:t>Is this a random sample from population or was there stratification involved?!</a:t>
            </a:r>
          </a:p>
          <a:p>
            <a:pPr marL="285750" indent="-285750">
              <a:buFontTx/>
              <a:buChar char="-"/>
            </a:pPr>
            <a:r>
              <a:rPr lang="en-US" dirty="0"/>
              <a:t>Is the small size fleet being sampled? i.e., is &lt;=10 in the </a:t>
            </a:r>
            <a:r>
              <a:rPr lang="en-US" dirty="0" err="1"/>
              <a:t>programme</a:t>
            </a:r>
            <a:r>
              <a:rPr lang="en-US" dirty="0"/>
              <a:t>?</a:t>
            </a:r>
          </a:p>
        </p:txBody>
      </p:sp>
      <p:sp>
        <p:nvSpPr>
          <p:cNvPr id="6" name="TextBox 5"/>
          <p:cNvSpPr txBox="1"/>
          <p:nvPr/>
        </p:nvSpPr>
        <p:spPr>
          <a:xfrm>
            <a:off x="2994466" y="2802299"/>
            <a:ext cx="7450768" cy="369332"/>
          </a:xfrm>
          <a:prstGeom prst="rect">
            <a:avLst/>
          </a:prstGeom>
          <a:noFill/>
        </p:spPr>
        <p:txBody>
          <a:bodyPr wrap="square" rtlCol="0">
            <a:spAutoFit/>
          </a:bodyPr>
          <a:lstStyle/>
          <a:p>
            <a:r>
              <a:rPr lang="en-US" dirty="0"/>
              <a:t>View from national database/RDB</a:t>
            </a:r>
          </a:p>
        </p:txBody>
      </p:sp>
      <p:sp>
        <p:nvSpPr>
          <p:cNvPr id="7" name="Rectangle 6"/>
          <p:cNvSpPr/>
          <p:nvPr/>
        </p:nvSpPr>
        <p:spPr>
          <a:xfrm>
            <a:off x="3015242" y="2802299"/>
            <a:ext cx="7316195" cy="186802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2160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RDBES: </a:t>
            </a:r>
            <a:r>
              <a:rPr lang="sv-SE" dirty="0" err="1"/>
              <a:t>capabilities</a:t>
            </a:r>
            <a:r>
              <a:rPr lang="sv-SE" dirty="0"/>
              <a:t> to </a:t>
            </a:r>
            <a:r>
              <a:rPr lang="sv-SE" dirty="0" err="1"/>
              <a:t>generate</a:t>
            </a:r>
            <a:r>
              <a:rPr lang="sv-SE" dirty="0"/>
              <a:t> </a:t>
            </a:r>
            <a:r>
              <a:rPr lang="sv-SE" dirty="0" err="1"/>
              <a:t>zeros</a:t>
            </a:r>
            <a:r>
              <a:rPr lang="sv-SE" dirty="0"/>
              <a:t> and NAs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988727229"/>
              </p:ext>
            </p:extLst>
          </p:nvPr>
        </p:nvGraphicFramePr>
        <p:xfrm>
          <a:off x="641555" y="4875575"/>
          <a:ext cx="10518056" cy="1432560"/>
        </p:xfrm>
        <a:graphic>
          <a:graphicData uri="http://schemas.openxmlformats.org/drawingml/2006/table">
            <a:tbl>
              <a:tblPr firstRow="1" bandRow="1">
                <a:tableStyleId>{5940675A-B579-460E-94D1-54222C63F5DA}</a:tableStyleId>
              </a:tblPr>
              <a:tblGrid>
                <a:gridCol w="1314757">
                  <a:extLst>
                    <a:ext uri="{9D8B030D-6E8A-4147-A177-3AD203B41FA5}">
                      <a16:colId xmlns:a16="http://schemas.microsoft.com/office/drawing/2014/main" val="2033770890"/>
                    </a:ext>
                  </a:extLst>
                </a:gridCol>
                <a:gridCol w="1314757">
                  <a:extLst>
                    <a:ext uri="{9D8B030D-6E8A-4147-A177-3AD203B41FA5}">
                      <a16:colId xmlns:a16="http://schemas.microsoft.com/office/drawing/2014/main" val="3897506426"/>
                    </a:ext>
                  </a:extLst>
                </a:gridCol>
                <a:gridCol w="1314757">
                  <a:extLst>
                    <a:ext uri="{9D8B030D-6E8A-4147-A177-3AD203B41FA5}">
                      <a16:colId xmlns:a16="http://schemas.microsoft.com/office/drawing/2014/main" val="1625679375"/>
                    </a:ext>
                  </a:extLst>
                </a:gridCol>
                <a:gridCol w="1314757">
                  <a:extLst>
                    <a:ext uri="{9D8B030D-6E8A-4147-A177-3AD203B41FA5}">
                      <a16:colId xmlns:a16="http://schemas.microsoft.com/office/drawing/2014/main" val="869977354"/>
                    </a:ext>
                  </a:extLst>
                </a:gridCol>
                <a:gridCol w="1314757">
                  <a:extLst>
                    <a:ext uri="{9D8B030D-6E8A-4147-A177-3AD203B41FA5}">
                      <a16:colId xmlns:a16="http://schemas.microsoft.com/office/drawing/2014/main" val="3337338477"/>
                    </a:ext>
                  </a:extLst>
                </a:gridCol>
                <a:gridCol w="1314757">
                  <a:extLst>
                    <a:ext uri="{9D8B030D-6E8A-4147-A177-3AD203B41FA5}">
                      <a16:colId xmlns:a16="http://schemas.microsoft.com/office/drawing/2014/main" val="3555856835"/>
                    </a:ext>
                  </a:extLst>
                </a:gridCol>
                <a:gridCol w="1314757">
                  <a:extLst>
                    <a:ext uri="{9D8B030D-6E8A-4147-A177-3AD203B41FA5}">
                      <a16:colId xmlns:a16="http://schemas.microsoft.com/office/drawing/2014/main" val="2832018764"/>
                    </a:ext>
                  </a:extLst>
                </a:gridCol>
                <a:gridCol w="1314757">
                  <a:extLst>
                    <a:ext uri="{9D8B030D-6E8A-4147-A177-3AD203B41FA5}">
                      <a16:colId xmlns:a16="http://schemas.microsoft.com/office/drawing/2014/main" val="4081729605"/>
                    </a:ext>
                  </a:extLst>
                </a:gridCol>
              </a:tblGrid>
              <a:tr h="192881">
                <a:tc>
                  <a:txBody>
                    <a:bodyPr/>
                    <a:lstStyle/>
                    <a:p>
                      <a:pPr algn="ctr"/>
                      <a:r>
                        <a:rPr lang="en-GB" sz="1400" b="1" dirty="0" err="1"/>
                        <a:t>VSstratification</a:t>
                      </a:r>
                      <a:endParaRPr lang="en-GB" sz="1400" b="1" dirty="0"/>
                    </a:p>
                  </a:txBody>
                  <a:tcPr>
                    <a:solidFill>
                      <a:schemeClr val="accent1">
                        <a:lumMod val="60000"/>
                        <a:lumOff val="40000"/>
                      </a:schemeClr>
                    </a:solidFill>
                  </a:tcPr>
                </a:tc>
                <a:tc>
                  <a:txBody>
                    <a:bodyPr/>
                    <a:lstStyle/>
                    <a:p>
                      <a:pPr algn="ctr"/>
                      <a:r>
                        <a:rPr lang="en-GB" sz="1400" b="1" dirty="0" err="1"/>
                        <a:t>VSstratumName</a:t>
                      </a:r>
                      <a:endParaRPr lang="en-GB" sz="1400" b="1" dirty="0"/>
                    </a:p>
                  </a:txBody>
                  <a:tcPr>
                    <a:solidFill>
                      <a:schemeClr val="accent1">
                        <a:lumMod val="60000"/>
                        <a:lumOff val="40000"/>
                      </a:schemeClr>
                    </a:solidFill>
                  </a:tcPr>
                </a:tc>
                <a:tc>
                  <a:txBody>
                    <a:bodyPr/>
                    <a:lstStyle/>
                    <a:p>
                      <a:pPr algn="ctr"/>
                      <a:r>
                        <a:rPr lang="sv-SE" sz="1400" b="1" dirty="0" err="1"/>
                        <a:t>VSencryptedVesselCode</a:t>
                      </a:r>
                      <a:endParaRPr lang="en-GB" sz="1400" b="1" dirty="0"/>
                    </a:p>
                  </a:txBody>
                  <a:tcPr>
                    <a:solidFill>
                      <a:schemeClr val="accent1">
                        <a:lumMod val="60000"/>
                        <a:lumOff val="40000"/>
                      </a:schemeClr>
                    </a:solidFill>
                  </a:tcPr>
                </a:tc>
                <a:tc>
                  <a:txBody>
                    <a:bodyPr/>
                    <a:lstStyle/>
                    <a:p>
                      <a:pPr algn="ctr"/>
                      <a:r>
                        <a:rPr lang="en-GB" sz="1400" b="1" dirty="0" err="1"/>
                        <a:t>VSselection</a:t>
                      </a:r>
                      <a:r>
                        <a:rPr lang="en-GB" sz="1400" b="1" dirty="0"/>
                        <a:t> method</a:t>
                      </a:r>
                    </a:p>
                  </a:txBody>
                  <a:tcPr>
                    <a:solidFill>
                      <a:schemeClr val="accent1">
                        <a:lumMod val="60000"/>
                        <a:lumOff val="40000"/>
                      </a:schemeClr>
                    </a:solidFill>
                  </a:tcPr>
                </a:tc>
                <a:tc>
                  <a:txBody>
                    <a:bodyPr/>
                    <a:lstStyle/>
                    <a:p>
                      <a:pPr algn="ctr"/>
                      <a:r>
                        <a:rPr lang="en-GB" sz="1400" b="1" dirty="0" err="1"/>
                        <a:t>VSnumTotal</a:t>
                      </a:r>
                      <a:endParaRPr lang="en-GB" sz="1400" b="1" dirty="0"/>
                    </a:p>
                  </a:txBody>
                  <a:tcPr>
                    <a:solidFill>
                      <a:schemeClr val="accent1">
                        <a:lumMod val="60000"/>
                        <a:lumOff val="40000"/>
                      </a:schemeClr>
                    </a:solidFill>
                  </a:tcPr>
                </a:tc>
                <a:tc>
                  <a:txBody>
                    <a:bodyPr/>
                    <a:lstStyle/>
                    <a:p>
                      <a:pPr algn="ctr"/>
                      <a:r>
                        <a:rPr lang="en-GB" sz="1400" b="1" dirty="0" err="1"/>
                        <a:t>VSnumSampled</a:t>
                      </a:r>
                      <a:endParaRPr lang="en-GB" sz="1400" b="1" dirty="0"/>
                    </a:p>
                  </a:txBody>
                  <a:tcPr>
                    <a:solidFill>
                      <a:schemeClr val="accent1">
                        <a:lumMod val="60000"/>
                        <a:lumOff val="40000"/>
                      </a:schemeClr>
                    </a:solidFill>
                  </a:tcPr>
                </a:tc>
                <a:tc>
                  <a:txBody>
                    <a:bodyPr/>
                    <a:lstStyle/>
                    <a:p>
                      <a:pPr algn="ctr">
                        <a:lnSpc>
                          <a:spcPct val="107000"/>
                        </a:lnSpc>
                        <a:spcAft>
                          <a:spcPts val="0"/>
                        </a:spcAft>
                      </a:pPr>
                      <a:r>
                        <a:rPr lang="sv-SE" sz="14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b="1" dirty="0" err="1"/>
                        <a:t>SAreasonNotSampled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400" dirty="0"/>
                        <a:t>Y</a:t>
                      </a:r>
                    </a:p>
                  </a:txBody>
                  <a:tcPr/>
                </a:tc>
                <a:tc>
                  <a:txBody>
                    <a:bodyPr/>
                    <a:lstStyle/>
                    <a:p>
                      <a:pPr algn="ctr"/>
                      <a:r>
                        <a:rPr lang="en-US" sz="1400" dirty="0"/>
                        <a:t>&gt;15m</a:t>
                      </a:r>
                      <a:endParaRPr lang="en-GB" sz="1400" dirty="0"/>
                    </a:p>
                  </a:txBody>
                  <a:tcPr/>
                </a:tc>
                <a:tc>
                  <a:txBody>
                    <a:bodyPr/>
                    <a:lstStyle/>
                    <a:p>
                      <a:pPr algn="ctr"/>
                      <a:r>
                        <a:rPr lang="en-US" sz="1400" dirty="0"/>
                        <a:t>1</a:t>
                      </a:r>
                      <a:endParaRPr lang="en-GB" sz="1400" dirty="0"/>
                    </a:p>
                  </a:txBody>
                  <a:tcPr/>
                </a:tc>
                <a:tc>
                  <a:txBody>
                    <a:bodyPr/>
                    <a:lstStyle/>
                    <a:p>
                      <a:pPr algn="ctr"/>
                      <a:r>
                        <a:rPr lang="en-GB" sz="1400" dirty="0"/>
                        <a:t>SRSWOR</a:t>
                      </a:r>
                    </a:p>
                  </a:txBody>
                  <a:tcPr/>
                </a:tc>
                <a:tc>
                  <a:txBody>
                    <a:bodyPr/>
                    <a:lstStyle/>
                    <a:p>
                      <a:pPr algn="ctr"/>
                      <a:r>
                        <a:rPr lang="en-GB" sz="1400" dirty="0"/>
                        <a:t>50</a:t>
                      </a:r>
                    </a:p>
                  </a:txBody>
                  <a:tcPr/>
                </a:tc>
                <a:tc>
                  <a:txBody>
                    <a:bodyPr/>
                    <a:lstStyle/>
                    <a:p>
                      <a:pPr algn="ctr"/>
                      <a:r>
                        <a:rPr lang="en-GB" sz="1400" dirty="0"/>
                        <a:t>1</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3375731275"/>
                  </a:ext>
                </a:extLst>
              </a:tr>
              <a:tr h="192881">
                <a:tc>
                  <a:txBody>
                    <a:bodyPr/>
                    <a:lstStyle/>
                    <a:p>
                      <a:pPr algn="ctr"/>
                      <a:r>
                        <a:rPr lang="en-GB" sz="1400" dirty="0"/>
                        <a:t>Y</a:t>
                      </a:r>
                    </a:p>
                  </a:txBody>
                  <a:tcPr/>
                </a:tc>
                <a:tc>
                  <a:txBody>
                    <a:bodyPr/>
                    <a:lstStyle/>
                    <a:p>
                      <a:pPr algn="ctr"/>
                      <a:r>
                        <a:rPr lang="en-GB" sz="1400" dirty="0"/>
                        <a:t>&lt;=15m</a:t>
                      </a:r>
                    </a:p>
                  </a:txBody>
                  <a:tcPr/>
                </a:tc>
                <a:tc>
                  <a:txBody>
                    <a:bodyPr/>
                    <a:lstStyle/>
                    <a:p>
                      <a:pPr algn="ctr"/>
                      <a:r>
                        <a:rPr lang="en-US" sz="1400" dirty="0"/>
                        <a:t>2</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1583662508"/>
                  </a:ext>
                </a:extLst>
              </a:tr>
              <a:tr h="192881">
                <a:tc>
                  <a:txBody>
                    <a:bodyPr/>
                    <a:lstStyle/>
                    <a:p>
                      <a:pPr algn="ctr"/>
                      <a:r>
                        <a:rPr lang="en-GB" sz="1400" dirty="0"/>
                        <a:t>Y</a:t>
                      </a:r>
                    </a:p>
                  </a:txBody>
                  <a:tcPr/>
                </a:tc>
                <a:tc>
                  <a:txBody>
                    <a:bodyPr/>
                    <a:lstStyle/>
                    <a:p>
                      <a:pPr algn="ctr"/>
                      <a:r>
                        <a:rPr lang="en-GB" sz="1400" dirty="0"/>
                        <a:t>&lt;=15m</a:t>
                      </a:r>
                    </a:p>
                  </a:txBody>
                  <a:tcPr/>
                </a:tc>
                <a:tc>
                  <a:txBody>
                    <a:bodyPr/>
                    <a:lstStyle/>
                    <a:p>
                      <a:pPr algn="ctr"/>
                      <a:r>
                        <a:rPr lang="en-US" sz="1400" dirty="0"/>
                        <a:t>3</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841671674"/>
                  </a:ext>
                </a:extLst>
              </a:tr>
            </a:tbl>
          </a:graphicData>
        </a:graphic>
      </p:graphicFrame>
      <p:sp>
        <p:nvSpPr>
          <p:cNvPr id="6" name="TextBox 5"/>
          <p:cNvSpPr txBox="1"/>
          <p:nvPr/>
        </p:nvSpPr>
        <p:spPr>
          <a:xfrm>
            <a:off x="560808" y="4506243"/>
            <a:ext cx="5441614" cy="369332"/>
          </a:xfrm>
          <a:prstGeom prst="rect">
            <a:avLst/>
          </a:prstGeom>
          <a:noFill/>
        </p:spPr>
        <p:txBody>
          <a:bodyPr wrap="square" rtlCol="0">
            <a:spAutoFit/>
          </a:bodyPr>
          <a:lstStyle/>
          <a:p>
            <a:r>
              <a:rPr lang="en-US" dirty="0"/>
              <a:t>RDBES (VS table) – with stratified random sampling</a:t>
            </a:r>
          </a:p>
        </p:txBody>
      </p:sp>
      <p:sp>
        <p:nvSpPr>
          <p:cNvPr id="7" name="Rectangle 6"/>
          <p:cNvSpPr/>
          <p:nvPr/>
        </p:nvSpPr>
        <p:spPr>
          <a:xfrm>
            <a:off x="560808" y="4474481"/>
            <a:ext cx="10792992" cy="19861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617107491"/>
              </p:ext>
            </p:extLst>
          </p:nvPr>
        </p:nvGraphicFramePr>
        <p:xfrm>
          <a:off x="641555" y="2297495"/>
          <a:ext cx="10518056" cy="1432560"/>
        </p:xfrm>
        <a:graphic>
          <a:graphicData uri="http://schemas.openxmlformats.org/drawingml/2006/table">
            <a:tbl>
              <a:tblPr firstRow="1" bandRow="1">
                <a:tableStyleId>{5940675A-B579-460E-94D1-54222C63F5DA}</a:tableStyleId>
              </a:tblPr>
              <a:tblGrid>
                <a:gridCol w="1314757">
                  <a:extLst>
                    <a:ext uri="{9D8B030D-6E8A-4147-A177-3AD203B41FA5}">
                      <a16:colId xmlns:a16="http://schemas.microsoft.com/office/drawing/2014/main" val="2033770890"/>
                    </a:ext>
                  </a:extLst>
                </a:gridCol>
                <a:gridCol w="1314757">
                  <a:extLst>
                    <a:ext uri="{9D8B030D-6E8A-4147-A177-3AD203B41FA5}">
                      <a16:colId xmlns:a16="http://schemas.microsoft.com/office/drawing/2014/main" val="3897506426"/>
                    </a:ext>
                  </a:extLst>
                </a:gridCol>
                <a:gridCol w="1314757">
                  <a:extLst>
                    <a:ext uri="{9D8B030D-6E8A-4147-A177-3AD203B41FA5}">
                      <a16:colId xmlns:a16="http://schemas.microsoft.com/office/drawing/2014/main" val="1625679375"/>
                    </a:ext>
                  </a:extLst>
                </a:gridCol>
                <a:gridCol w="1314757">
                  <a:extLst>
                    <a:ext uri="{9D8B030D-6E8A-4147-A177-3AD203B41FA5}">
                      <a16:colId xmlns:a16="http://schemas.microsoft.com/office/drawing/2014/main" val="869977354"/>
                    </a:ext>
                  </a:extLst>
                </a:gridCol>
                <a:gridCol w="1314757">
                  <a:extLst>
                    <a:ext uri="{9D8B030D-6E8A-4147-A177-3AD203B41FA5}">
                      <a16:colId xmlns:a16="http://schemas.microsoft.com/office/drawing/2014/main" val="3337338477"/>
                    </a:ext>
                  </a:extLst>
                </a:gridCol>
                <a:gridCol w="1314757">
                  <a:extLst>
                    <a:ext uri="{9D8B030D-6E8A-4147-A177-3AD203B41FA5}">
                      <a16:colId xmlns:a16="http://schemas.microsoft.com/office/drawing/2014/main" val="3555856835"/>
                    </a:ext>
                  </a:extLst>
                </a:gridCol>
                <a:gridCol w="1314757">
                  <a:extLst>
                    <a:ext uri="{9D8B030D-6E8A-4147-A177-3AD203B41FA5}">
                      <a16:colId xmlns:a16="http://schemas.microsoft.com/office/drawing/2014/main" val="2832018764"/>
                    </a:ext>
                  </a:extLst>
                </a:gridCol>
                <a:gridCol w="1314757">
                  <a:extLst>
                    <a:ext uri="{9D8B030D-6E8A-4147-A177-3AD203B41FA5}">
                      <a16:colId xmlns:a16="http://schemas.microsoft.com/office/drawing/2014/main" val="4081729605"/>
                    </a:ext>
                  </a:extLst>
                </a:gridCol>
              </a:tblGrid>
              <a:tr h="192881">
                <a:tc>
                  <a:txBody>
                    <a:bodyPr/>
                    <a:lstStyle/>
                    <a:p>
                      <a:pPr algn="ctr"/>
                      <a:r>
                        <a:rPr lang="en-GB" sz="1400" b="1" dirty="0" err="1"/>
                        <a:t>VSstratification</a:t>
                      </a:r>
                      <a:endParaRPr lang="en-GB" sz="1400" b="1" dirty="0"/>
                    </a:p>
                  </a:txBody>
                  <a:tcPr>
                    <a:solidFill>
                      <a:schemeClr val="accent1">
                        <a:lumMod val="60000"/>
                        <a:lumOff val="40000"/>
                      </a:schemeClr>
                    </a:solidFill>
                  </a:tcPr>
                </a:tc>
                <a:tc>
                  <a:txBody>
                    <a:bodyPr/>
                    <a:lstStyle/>
                    <a:p>
                      <a:pPr algn="ctr"/>
                      <a:r>
                        <a:rPr lang="en-GB" sz="1400" b="1" dirty="0" err="1"/>
                        <a:t>VSstratumName</a:t>
                      </a:r>
                      <a:endParaRPr lang="en-GB" sz="1400" b="1" dirty="0"/>
                    </a:p>
                  </a:txBody>
                  <a:tcPr>
                    <a:solidFill>
                      <a:schemeClr val="accent1">
                        <a:lumMod val="60000"/>
                        <a:lumOff val="40000"/>
                      </a:schemeClr>
                    </a:solidFill>
                  </a:tcPr>
                </a:tc>
                <a:tc>
                  <a:txBody>
                    <a:bodyPr/>
                    <a:lstStyle/>
                    <a:p>
                      <a:pPr algn="ctr"/>
                      <a:r>
                        <a:rPr lang="sv-SE" sz="1400" b="1" dirty="0" err="1"/>
                        <a:t>VSencryptedVesselCode</a:t>
                      </a:r>
                      <a:endParaRPr lang="en-GB" sz="1400" b="1" dirty="0"/>
                    </a:p>
                  </a:txBody>
                  <a:tcPr>
                    <a:solidFill>
                      <a:schemeClr val="accent1">
                        <a:lumMod val="60000"/>
                        <a:lumOff val="40000"/>
                      </a:schemeClr>
                    </a:solidFill>
                  </a:tcPr>
                </a:tc>
                <a:tc>
                  <a:txBody>
                    <a:bodyPr/>
                    <a:lstStyle/>
                    <a:p>
                      <a:pPr algn="ctr"/>
                      <a:r>
                        <a:rPr lang="en-GB" sz="1400" b="1" dirty="0" err="1"/>
                        <a:t>VSselection</a:t>
                      </a:r>
                      <a:r>
                        <a:rPr lang="en-GB" sz="1400" b="1" dirty="0"/>
                        <a:t> method</a:t>
                      </a:r>
                    </a:p>
                  </a:txBody>
                  <a:tcPr>
                    <a:solidFill>
                      <a:schemeClr val="accent1">
                        <a:lumMod val="60000"/>
                        <a:lumOff val="40000"/>
                      </a:schemeClr>
                    </a:solidFill>
                  </a:tcPr>
                </a:tc>
                <a:tc>
                  <a:txBody>
                    <a:bodyPr/>
                    <a:lstStyle/>
                    <a:p>
                      <a:pPr algn="ctr"/>
                      <a:r>
                        <a:rPr lang="en-GB" sz="1400" b="1" dirty="0" err="1"/>
                        <a:t>VSnumTotal</a:t>
                      </a:r>
                      <a:endParaRPr lang="en-GB" sz="1400" b="1" dirty="0"/>
                    </a:p>
                  </a:txBody>
                  <a:tcPr>
                    <a:solidFill>
                      <a:schemeClr val="accent1">
                        <a:lumMod val="60000"/>
                        <a:lumOff val="40000"/>
                      </a:schemeClr>
                    </a:solidFill>
                  </a:tcPr>
                </a:tc>
                <a:tc>
                  <a:txBody>
                    <a:bodyPr/>
                    <a:lstStyle/>
                    <a:p>
                      <a:pPr algn="ctr"/>
                      <a:r>
                        <a:rPr lang="en-GB" sz="1400" b="1" dirty="0" err="1"/>
                        <a:t>VSnumSampled</a:t>
                      </a:r>
                      <a:endParaRPr lang="en-GB" sz="1400" b="1" dirty="0"/>
                    </a:p>
                  </a:txBody>
                  <a:tcPr>
                    <a:solidFill>
                      <a:schemeClr val="accent1">
                        <a:lumMod val="60000"/>
                        <a:lumOff val="40000"/>
                      </a:schemeClr>
                    </a:solidFill>
                  </a:tcPr>
                </a:tc>
                <a:tc>
                  <a:txBody>
                    <a:bodyPr/>
                    <a:lstStyle/>
                    <a:p>
                      <a:pPr algn="ctr">
                        <a:lnSpc>
                          <a:spcPct val="107000"/>
                        </a:lnSpc>
                        <a:spcAft>
                          <a:spcPts val="0"/>
                        </a:spcAft>
                      </a:pPr>
                      <a:r>
                        <a:rPr lang="sv-SE" sz="14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b="1" dirty="0" err="1"/>
                        <a:t>SAreasonNotSampled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400" dirty="0"/>
                        <a:t>N</a:t>
                      </a:r>
                    </a:p>
                  </a:txBody>
                  <a:tcPr/>
                </a:tc>
                <a:tc>
                  <a:txBody>
                    <a:bodyPr/>
                    <a:lstStyle/>
                    <a:p>
                      <a:pPr algn="ctr"/>
                      <a:r>
                        <a:rPr lang="en-US" sz="1400" dirty="0"/>
                        <a:t>U</a:t>
                      </a:r>
                      <a:endParaRPr lang="en-GB" sz="1400" dirty="0"/>
                    </a:p>
                  </a:txBody>
                  <a:tcPr/>
                </a:tc>
                <a:tc>
                  <a:txBody>
                    <a:bodyPr/>
                    <a:lstStyle/>
                    <a:p>
                      <a:pPr algn="ctr"/>
                      <a:r>
                        <a:rPr lang="en-US" sz="1400" dirty="0"/>
                        <a:t>1</a:t>
                      </a:r>
                      <a:endParaRPr lang="en-GB" sz="1400" dirty="0"/>
                    </a:p>
                  </a:txBody>
                  <a:tcPr/>
                </a:tc>
                <a:tc>
                  <a:txBody>
                    <a:bodyPr/>
                    <a:lstStyle/>
                    <a:p>
                      <a:pPr algn="ctr"/>
                      <a:r>
                        <a:rPr lang="en-GB" sz="1400" dirty="0"/>
                        <a:t>SRSWOR</a:t>
                      </a:r>
                    </a:p>
                  </a:txBody>
                  <a:tcPr/>
                </a:tc>
                <a:tc>
                  <a:txBody>
                    <a:bodyPr/>
                    <a:lstStyle/>
                    <a:p>
                      <a:pPr algn="ctr"/>
                      <a:r>
                        <a:rPr lang="en-GB" sz="1400" dirty="0"/>
                        <a:t>150</a:t>
                      </a:r>
                    </a:p>
                  </a:txBody>
                  <a:tcPr/>
                </a:tc>
                <a:tc>
                  <a:txBody>
                    <a:bodyPr/>
                    <a:lstStyle/>
                    <a:p>
                      <a:pPr algn="ctr"/>
                      <a:r>
                        <a:rPr lang="en-GB" sz="1400" dirty="0"/>
                        <a:t>3</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3375731275"/>
                  </a:ext>
                </a:extLst>
              </a:tr>
              <a:tr h="192881">
                <a:tc>
                  <a:txBody>
                    <a:bodyPr/>
                    <a:lstStyle/>
                    <a:p>
                      <a:pPr algn="ctr"/>
                      <a:r>
                        <a:rPr lang="en-GB" sz="1400" dirty="0"/>
                        <a:t>N</a:t>
                      </a:r>
                    </a:p>
                  </a:txBody>
                  <a:tcPr/>
                </a:tc>
                <a:tc>
                  <a:txBody>
                    <a:bodyPr/>
                    <a:lstStyle/>
                    <a:p>
                      <a:pPr algn="ctr"/>
                      <a:r>
                        <a:rPr lang="en-GB" sz="1400" dirty="0"/>
                        <a:t>U</a:t>
                      </a:r>
                    </a:p>
                  </a:txBody>
                  <a:tcPr/>
                </a:tc>
                <a:tc>
                  <a:txBody>
                    <a:bodyPr/>
                    <a:lstStyle/>
                    <a:p>
                      <a:pPr algn="ctr"/>
                      <a:r>
                        <a:rPr lang="en-US" sz="1400" dirty="0"/>
                        <a:t>2</a:t>
                      </a:r>
                      <a:endParaRPr lang="en-GB" sz="1400" dirty="0"/>
                    </a:p>
                  </a:txBody>
                  <a:tcPr/>
                </a:tc>
                <a:tc>
                  <a:txBody>
                    <a:bodyPr/>
                    <a:lstStyle/>
                    <a:p>
                      <a:pPr algn="ctr"/>
                      <a:r>
                        <a:rPr lang="en-GB" sz="1400" dirty="0"/>
                        <a:t>SRSWOR</a:t>
                      </a:r>
                    </a:p>
                  </a:txBody>
                  <a:tcPr/>
                </a:tc>
                <a:tc>
                  <a:txBody>
                    <a:bodyPr/>
                    <a:lstStyle/>
                    <a:p>
                      <a:pPr algn="ctr"/>
                      <a:r>
                        <a:rPr lang="en-GB" sz="1400" dirty="0"/>
                        <a:t>150</a:t>
                      </a:r>
                    </a:p>
                  </a:txBody>
                  <a:tcPr/>
                </a:tc>
                <a:tc>
                  <a:txBody>
                    <a:bodyPr/>
                    <a:lstStyle/>
                    <a:p>
                      <a:pPr algn="ctr"/>
                      <a:r>
                        <a:rPr lang="en-GB" sz="1400" dirty="0"/>
                        <a:t>3</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1583662508"/>
                  </a:ext>
                </a:extLst>
              </a:tr>
              <a:tr h="192881">
                <a:tc>
                  <a:txBody>
                    <a:bodyPr/>
                    <a:lstStyle/>
                    <a:p>
                      <a:pPr algn="ctr"/>
                      <a:r>
                        <a:rPr lang="en-GB" sz="1400" dirty="0"/>
                        <a:t>N</a:t>
                      </a:r>
                    </a:p>
                  </a:txBody>
                  <a:tcPr/>
                </a:tc>
                <a:tc>
                  <a:txBody>
                    <a:bodyPr/>
                    <a:lstStyle/>
                    <a:p>
                      <a:pPr algn="ctr"/>
                      <a:r>
                        <a:rPr lang="en-GB" sz="1400" dirty="0"/>
                        <a:t>U</a:t>
                      </a:r>
                    </a:p>
                  </a:txBody>
                  <a:tcPr/>
                </a:tc>
                <a:tc>
                  <a:txBody>
                    <a:bodyPr/>
                    <a:lstStyle/>
                    <a:p>
                      <a:pPr algn="ctr"/>
                      <a:r>
                        <a:rPr lang="en-US" sz="1400" dirty="0"/>
                        <a:t>3</a:t>
                      </a:r>
                      <a:endParaRPr lang="en-GB" sz="1400" dirty="0"/>
                    </a:p>
                  </a:txBody>
                  <a:tcPr/>
                </a:tc>
                <a:tc>
                  <a:txBody>
                    <a:bodyPr/>
                    <a:lstStyle/>
                    <a:p>
                      <a:pPr algn="ctr"/>
                      <a:r>
                        <a:rPr lang="en-GB" sz="1400" dirty="0"/>
                        <a:t>SRSWOR</a:t>
                      </a:r>
                    </a:p>
                  </a:txBody>
                  <a:tcPr/>
                </a:tc>
                <a:tc>
                  <a:txBody>
                    <a:bodyPr/>
                    <a:lstStyle/>
                    <a:p>
                      <a:pPr algn="ctr"/>
                      <a:r>
                        <a:rPr lang="en-GB" sz="1400" dirty="0"/>
                        <a:t>150</a:t>
                      </a:r>
                    </a:p>
                  </a:txBody>
                  <a:tcPr/>
                </a:tc>
                <a:tc>
                  <a:txBody>
                    <a:bodyPr/>
                    <a:lstStyle/>
                    <a:p>
                      <a:pPr algn="ctr"/>
                      <a:r>
                        <a:rPr lang="en-GB" sz="1400" dirty="0"/>
                        <a:t>3</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841671674"/>
                  </a:ext>
                </a:extLst>
              </a:tr>
            </a:tbl>
          </a:graphicData>
        </a:graphic>
      </p:graphicFrame>
      <p:sp>
        <p:nvSpPr>
          <p:cNvPr id="12" name="TextBox 11"/>
          <p:cNvSpPr txBox="1"/>
          <p:nvPr/>
        </p:nvSpPr>
        <p:spPr>
          <a:xfrm>
            <a:off x="560808" y="1928163"/>
            <a:ext cx="5441614" cy="369332"/>
          </a:xfrm>
          <a:prstGeom prst="rect">
            <a:avLst/>
          </a:prstGeom>
          <a:noFill/>
        </p:spPr>
        <p:txBody>
          <a:bodyPr wrap="square" rtlCol="0">
            <a:spAutoFit/>
          </a:bodyPr>
          <a:lstStyle/>
          <a:p>
            <a:r>
              <a:rPr lang="en-US" dirty="0"/>
              <a:t>RDBES (VS table) – with random sampling</a:t>
            </a:r>
          </a:p>
        </p:txBody>
      </p:sp>
      <p:sp>
        <p:nvSpPr>
          <p:cNvPr id="13" name="Rectangle 12"/>
          <p:cNvSpPr/>
          <p:nvPr/>
        </p:nvSpPr>
        <p:spPr>
          <a:xfrm>
            <a:off x="560808" y="1896401"/>
            <a:ext cx="10792992" cy="19861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905375" y="3952687"/>
            <a:ext cx="1508939" cy="369332"/>
          </a:xfrm>
          <a:prstGeom prst="rect">
            <a:avLst/>
          </a:prstGeom>
          <a:noFill/>
        </p:spPr>
        <p:txBody>
          <a:bodyPr wrap="none" rtlCol="0">
            <a:spAutoFit/>
          </a:bodyPr>
          <a:lstStyle/>
          <a:p>
            <a:r>
              <a:rPr lang="en-US" dirty="0"/>
              <a:t>Compare with</a:t>
            </a:r>
          </a:p>
        </p:txBody>
      </p:sp>
    </p:spTree>
    <p:extLst>
      <p:ext uri="{BB962C8B-B14F-4D97-AF65-F5344CB8AC3E}">
        <p14:creationId xmlns:p14="http://schemas.microsoft.com/office/powerpoint/2010/main" val="376679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RDBES: </a:t>
            </a:r>
            <a:r>
              <a:rPr lang="sv-SE" dirty="0" err="1"/>
              <a:t>capabilities</a:t>
            </a:r>
            <a:r>
              <a:rPr lang="sv-SE" dirty="0"/>
              <a:t> to </a:t>
            </a:r>
            <a:r>
              <a:rPr lang="sv-SE" dirty="0" err="1"/>
              <a:t>generate</a:t>
            </a:r>
            <a:r>
              <a:rPr lang="sv-SE" dirty="0"/>
              <a:t> </a:t>
            </a:r>
            <a:r>
              <a:rPr lang="sv-SE" dirty="0" err="1"/>
              <a:t>zeros</a:t>
            </a:r>
            <a:r>
              <a:rPr lang="sv-SE" dirty="0"/>
              <a:t> and NAs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56618682"/>
              </p:ext>
            </p:extLst>
          </p:nvPr>
        </p:nvGraphicFramePr>
        <p:xfrm>
          <a:off x="641555" y="1856150"/>
          <a:ext cx="10518056" cy="1432560"/>
        </p:xfrm>
        <a:graphic>
          <a:graphicData uri="http://schemas.openxmlformats.org/drawingml/2006/table">
            <a:tbl>
              <a:tblPr firstRow="1" bandRow="1">
                <a:tableStyleId>{5940675A-B579-460E-94D1-54222C63F5DA}</a:tableStyleId>
              </a:tblPr>
              <a:tblGrid>
                <a:gridCol w="1314757">
                  <a:extLst>
                    <a:ext uri="{9D8B030D-6E8A-4147-A177-3AD203B41FA5}">
                      <a16:colId xmlns:a16="http://schemas.microsoft.com/office/drawing/2014/main" val="2033770890"/>
                    </a:ext>
                  </a:extLst>
                </a:gridCol>
                <a:gridCol w="1314757">
                  <a:extLst>
                    <a:ext uri="{9D8B030D-6E8A-4147-A177-3AD203B41FA5}">
                      <a16:colId xmlns:a16="http://schemas.microsoft.com/office/drawing/2014/main" val="3897506426"/>
                    </a:ext>
                  </a:extLst>
                </a:gridCol>
                <a:gridCol w="1314757">
                  <a:extLst>
                    <a:ext uri="{9D8B030D-6E8A-4147-A177-3AD203B41FA5}">
                      <a16:colId xmlns:a16="http://schemas.microsoft.com/office/drawing/2014/main" val="1625679375"/>
                    </a:ext>
                  </a:extLst>
                </a:gridCol>
                <a:gridCol w="1314757">
                  <a:extLst>
                    <a:ext uri="{9D8B030D-6E8A-4147-A177-3AD203B41FA5}">
                      <a16:colId xmlns:a16="http://schemas.microsoft.com/office/drawing/2014/main" val="869977354"/>
                    </a:ext>
                  </a:extLst>
                </a:gridCol>
                <a:gridCol w="1314757">
                  <a:extLst>
                    <a:ext uri="{9D8B030D-6E8A-4147-A177-3AD203B41FA5}">
                      <a16:colId xmlns:a16="http://schemas.microsoft.com/office/drawing/2014/main" val="3337338477"/>
                    </a:ext>
                  </a:extLst>
                </a:gridCol>
                <a:gridCol w="1314757">
                  <a:extLst>
                    <a:ext uri="{9D8B030D-6E8A-4147-A177-3AD203B41FA5}">
                      <a16:colId xmlns:a16="http://schemas.microsoft.com/office/drawing/2014/main" val="3555856835"/>
                    </a:ext>
                  </a:extLst>
                </a:gridCol>
                <a:gridCol w="1314757">
                  <a:extLst>
                    <a:ext uri="{9D8B030D-6E8A-4147-A177-3AD203B41FA5}">
                      <a16:colId xmlns:a16="http://schemas.microsoft.com/office/drawing/2014/main" val="2832018764"/>
                    </a:ext>
                  </a:extLst>
                </a:gridCol>
                <a:gridCol w="1314757">
                  <a:extLst>
                    <a:ext uri="{9D8B030D-6E8A-4147-A177-3AD203B41FA5}">
                      <a16:colId xmlns:a16="http://schemas.microsoft.com/office/drawing/2014/main" val="4081729605"/>
                    </a:ext>
                  </a:extLst>
                </a:gridCol>
              </a:tblGrid>
              <a:tr h="192881">
                <a:tc>
                  <a:txBody>
                    <a:bodyPr/>
                    <a:lstStyle/>
                    <a:p>
                      <a:pPr algn="ctr"/>
                      <a:r>
                        <a:rPr lang="en-GB" sz="1400" b="1" dirty="0" err="1"/>
                        <a:t>VSstratification</a:t>
                      </a:r>
                      <a:endParaRPr lang="en-GB" sz="1400" b="1" dirty="0"/>
                    </a:p>
                  </a:txBody>
                  <a:tcPr>
                    <a:solidFill>
                      <a:schemeClr val="accent1">
                        <a:lumMod val="60000"/>
                        <a:lumOff val="40000"/>
                      </a:schemeClr>
                    </a:solidFill>
                  </a:tcPr>
                </a:tc>
                <a:tc>
                  <a:txBody>
                    <a:bodyPr/>
                    <a:lstStyle/>
                    <a:p>
                      <a:pPr algn="ctr"/>
                      <a:r>
                        <a:rPr lang="en-GB" sz="1400" b="1" dirty="0" err="1"/>
                        <a:t>VSstratumName</a:t>
                      </a:r>
                      <a:endParaRPr lang="en-GB" sz="1400" b="1" dirty="0"/>
                    </a:p>
                  </a:txBody>
                  <a:tcPr>
                    <a:solidFill>
                      <a:schemeClr val="accent1">
                        <a:lumMod val="60000"/>
                        <a:lumOff val="40000"/>
                      </a:schemeClr>
                    </a:solidFill>
                  </a:tcPr>
                </a:tc>
                <a:tc>
                  <a:txBody>
                    <a:bodyPr/>
                    <a:lstStyle/>
                    <a:p>
                      <a:pPr algn="ctr"/>
                      <a:r>
                        <a:rPr lang="sv-SE" sz="1400" b="1" dirty="0" err="1"/>
                        <a:t>VSencryptedVesselCode</a:t>
                      </a:r>
                      <a:endParaRPr lang="en-GB" sz="1400" b="1" dirty="0"/>
                    </a:p>
                  </a:txBody>
                  <a:tcPr>
                    <a:solidFill>
                      <a:schemeClr val="accent1">
                        <a:lumMod val="60000"/>
                        <a:lumOff val="40000"/>
                      </a:schemeClr>
                    </a:solidFill>
                  </a:tcPr>
                </a:tc>
                <a:tc>
                  <a:txBody>
                    <a:bodyPr/>
                    <a:lstStyle/>
                    <a:p>
                      <a:pPr algn="ctr"/>
                      <a:r>
                        <a:rPr lang="en-GB" sz="1400" b="1" dirty="0" err="1"/>
                        <a:t>VSselection</a:t>
                      </a:r>
                      <a:r>
                        <a:rPr lang="en-GB" sz="1400" b="1" dirty="0"/>
                        <a:t> method</a:t>
                      </a:r>
                    </a:p>
                  </a:txBody>
                  <a:tcPr>
                    <a:solidFill>
                      <a:schemeClr val="accent1">
                        <a:lumMod val="60000"/>
                        <a:lumOff val="40000"/>
                      </a:schemeClr>
                    </a:solidFill>
                  </a:tcPr>
                </a:tc>
                <a:tc>
                  <a:txBody>
                    <a:bodyPr/>
                    <a:lstStyle/>
                    <a:p>
                      <a:pPr algn="ctr"/>
                      <a:r>
                        <a:rPr lang="en-GB" sz="1400" b="1" dirty="0" err="1"/>
                        <a:t>VSnumTotal</a:t>
                      </a:r>
                      <a:endParaRPr lang="en-GB" sz="1400" b="1" dirty="0"/>
                    </a:p>
                  </a:txBody>
                  <a:tcPr>
                    <a:solidFill>
                      <a:schemeClr val="accent1">
                        <a:lumMod val="60000"/>
                        <a:lumOff val="40000"/>
                      </a:schemeClr>
                    </a:solidFill>
                  </a:tcPr>
                </a:tc>
                <a:tc>
                  <a:txBody>
                    <a:bodyPr/>
                    <a:lstStyle/>
                    <a:p>
                      <a:pPr algn="ctr"/>
                      <a:r>
                        <a:rPr lang="en-GB" sz="1400" b="1" dirty="0" err="1"/>
                        <a:t>VSnumSampled</a:t>
                      </a:r>
                      <a:endParaRPr lang="en-GB" sz="1400" b="1" dirty="0"/>
                    </a:p>
                  </a:txBody>
                  <a:tcPr>
                    <a:solidFill>
                      <a:schemeClr val="accent1">
                        <a:lumMod val="60000"/>
                        <a:lumOff val="40000"/>
                      </a:schemeClr>
                    </a:solidFill>
                  </a:tcPr>
                </a:tc>
                <a:tc>
                  <a:txBody>
                    <a:bodyPr/>
                    <a:lstStyle/>
                    <a:p>
                      <a:pPr algn="ctr">
                        <a:lnSpc>
                          <a:spcPct val="107000"/>
                        </a:lnSpc>
                        <a:spcAft>
                          <a:spcPts val="0"/>
                        </a:spcAft>
                      </a:pPr>
                      <a:r>
                        <a:rPr lang="sv-SE" sz="14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b="1" dirty="0" err="1"/>
                        <a:t>SAreasonNotSampled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400" dirty="0"/>
                        <a:t>Y</a:t>
                      </a:r>
                    </a:p>
                  </a:txBody>
                  <a:tcPr/>
                </a:tc>
                <a:tc>
                  <a:txBody>
                    <a:bodyPr/>
                    <a:lstStyle/>
                    <a:p>
                      <a:pPr algn="ctr"/>
                      <a:r>
                        <a:rPr lang="en-US" sz="1400" dirty="0"/>
                        <a:t>&gt;15m</a:t>
                      </a:r>
                      <a:endParaRPr lang="en-GB" sz="1400" dirty="0"/>
                    </a:p>
                  </a:txBody>
                  <a:tcPr/>
                </a:tc>
                <a:tc>
                  <a:txBody>
                    <a:bodyPr/>
                    <a:lstStyle/>
                    <a:p>
                      <a:pPr algn="ctr"/>
                      <a:r>
                        <a:rPr lang="en-US" sz="1400" dirty="0"/>
                        <a:t>1</a:t>
                      </a:r>
                      <a:endParaRPr lang="en-GB" sz="1400" dirty="0"/>
                    </a:p>
                  </a:txBody>
                  <a:tcPr/>
                </a:tc>
                <a:tc>
                  <a:txBody>
                    <a:bodyPr/>
                    <a:lstStyle/>
                    <a:p>
                      <a:pPr algn="ctr"/>
                      <a:r>
                        <a:rPr lang="en-GB" sz="1400" dirty="0"/>
                        <a:t>SRSWOR</a:t>
                      </a:r>
                    </a:p>
                  </a:txBody>
                  <a:tcPr/>
                </a:tc>
                <a:tc>
                  <a:txBody>
                    <a:bodyPr/>
                    <a:lstStyle/>
                    <a:p>
                      <a:pPr algn="ctr"/>
                      <a:r>
                        <a:rPr lang="en-GB" sz="1400" dirty="0"/>
                        <a:t>50</a:t>
                      </a:r>
                    </a:p>
                  </a:txBody>
                  <a:tcPr/>
                </a:tc>
                <a:tc>
                  <a:txBody>
                    <a:bodyPr/>
                    <a:lstStyle/>
                    <a:p>
                      <a:pPr algn="ctr"/>
                      <a:r>
                        <a:rPr lang="en-GB" sz="1400" dirty="0"/>
                        <a:t>1</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3375731275"/>
                  </a:ext>
                </a:extLst>
              </a:tr>
              <a:tr h="192881">
                <a:tc>
                  <a:txBody>
                    <a:bodyPr/>
                    <a:lstStyle/>
                    <a:p>
                      <a:pPr algn="ctr"/>
                      <a:r>
                        <a:rPr lang="en-GB" sz="1400" dirty="0"/>
                        <a:t>Y</a:t>
                      </a:r>
                    </a:p>
                  </a:txBody>
                  <a:tcPr/>
                </a:tc>
                <a:tc>
                  <a:txBody>
                    <a:bodyPr/>
                    <a:lstStyle/>
                    <a:p>
                      <a:pPr algn="ctr"/>
                      <a:r>
                        <a:rPr lang="en-GB" sz="1400" dirty="0"/>
                        <a:t>&lt;=15m</a:t>
                      </a:r>
                    </a:p>
                  </a:txBody>
                  <a:tcPr/>
                </a:tc>
                <a:tc>
                  <a:txBody>
                    <a:bodyPr/>
                    <a:lstStyle/>
                    <a:p>
                      <a:pPr algn="ctr"/>
                      <a:r>
                        <a:rPr lang="en-US" sz="1400" dirty="0"/>
                        <a:t>2</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1583662508"/>
                  </a:ext>
                </a:extLst>
              </a:tr>
              <a:tr h="192881">
                <a:tc>
                  <a:txBody>
                    <a:bodyPr/>
                    <a:lstStyle/>
                    <a:p>
                      <a:pPr algn="ctr"/>
                      <a:r>
                        <a:rPr lang="en-GB" sz="1400" dirty="0"/>
                        <a:t>Y</a:t>
                      </a:r>
                    </a:p>
                  </a:txBody>
                  <a:tcPr/>
                </a:tc>
                <a:tc>
                  <a:txBody>
                    <a:bodyPr/>
                    <a:lstStyle/>
                    <a:p>
                      <a:pPr algn="ctr"/>
                      <a:r>
                        <a:rPr lang="en-GB" sz="1400" dirty="0"/>
                        <a:t>&lt;=15m</a:t>
                      </a:r>
                    </a:p>
                  </a:txBody>
                  <a:tcPr/>
                </a:tc>
                <a:tc>
                  <a:txBody>
                    <a:bodyPr/>
                    <a:lstStyle/>
                    <a:p>
                      <a:pPr algn="ctr"/>
                      <a:r>
                        <a:rPr lang="en-US" sz="1400" dirty="0"/>
                        <a:t>3</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841671674"/>
                  </a:ext>
                </a:extLst>
              </a:tr>
            </a:tbl>
          </a:graphicData>
        </a:graphic>
      </p:graphicFrame>
      <p:sp>
        <p:nvSpPr>
          <p:cNvPr id="6" name="TextBox 5"/>
          <p:cNvSpPr txBox="1"/>
          <p:nvPr/>
        </p:nvSpPr>
        <p:spPr>
          <a:xfrm>
            <a:off x="560808" y="1486818"/>
            <a:ext cx="5441614" cy="369332"/>
          </a:xfrm>
          <a:prstGeom prst="rect">
            <a:avLst/>
          </a:prstGeom>
          <a:noFill/>
        </p:spPr>
        <p:txBody>
          <a:bodyPr wrap="square" rtlCol="0">
            <a:spAutoFit/>
          </a:bodyPr>
          <a:lstStyle/>
          <a:p>
            <a:r>
              <a:rPr lang="en-US" dirty="0"/>
              <a:t>RDBES (VS table) – with stratified random sampling </a:t>
            </a:r>
          </a:p>
        </p:txBody>
      </p:sp>
      <p:sp>
        <p:nvSpPr>
          <p:cNvPr id="7" name="Rectangle 6"/>
          <p:cNvSpPr/>
          <p:nvPr/>
        </p:nvSpPr>
        <p:spPr>
          <a:xfrm>
            <a:off x="560808" y="1455056"/>
            <a:ext cx="10792992" cy="198611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60807" y="4046136"/>
            <a:ext cx="9088017" cy="369332"/>
          </a:xfrm>
          <a:prstGeom prst="rect">
            <a:avLst/>
          </a:prstGeom>
          <a:noFill/>
        </p:spPr>
        <p:txBody>
          <a:bodyPr wrap="square" rtlCol="0">
            <a:spAutoFit/>
          </a:bodyPr>
          <a:lstStyle/>
          <a:p>
            <a:r>
              <a:rPr lang="en-US" dirty="0"/>
              <a:t>RDBES (VS table) – with stratified random sampling (but one fleet strata out of frame)</a:t>
            </a:r>
          </a:p>
        </p:txBody>
      </p:sp>
      <p:sp>
        <p:nvSpPr>
          <p:cNvPr id="11" name="Rectangle 10"/>
          <p:cNvSpPr/>
          <p:nvPr/>
        </p:nvSpPr>
        <p:spPr>
          <a:xfrm>
            <a:off x="560808" y="4096206"/>
            <a:ext cx="10792992" cy="217124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able 14"/>
          <p:cNvGraphicFramePr>
            <a:graphicFrameLocks noGrp="1"/>
          </p:cNvGraphicFramePr>
          <p:nvPr>
            <p:extLst>
              <p:ext uri="{D42A27DB-BD31-4B8C-83A1-F6EECF244321}">
                <p14:modId xmlns:p14="http://schemas.microsoft.com/office/powerpoint/2010/main" val="3389300973"/>
              </p:ext>
            </p:extLst>
          </p:nvPr>
        </p:nvGraphicFramePr>
        <p:xfrm>
          <a:off x="641555" y="4415468"/>
          <a:ext cx="10518056" cy="1737360"/>
        </p:xfrm>
        <a:graphic>
          <a:graphicData uri="http://schemas.openxmlformats.org/drawingml/2006/table">
            <a:tbl>
              <a:tblPr firstRow="1" bandRow="1">
                <a:tableStyleId>{5940675A-B579-460E-94D1-54222C63F5DA}</a:tableStyleId>
              </a:tblPr>
              <a:tblGrid>
                <a:gridCol w="1314757">
                  <a:extLst>
                    <a:ext uri="{9D8B030D-6E8A-4147-A177-3AD203B41FA5}">
                      <a16:colId xmlns:a16="http://schemas.microsoft.com/office/drawing/2014/main" val="2033770890"/>
                    </a:ext>
                  </a:extLst>
                </a:gridCol>
                <a:gridCol w="1314757">
                  <a:extLst>
                    <a:ext uri="{9D8B030D-6E8A-4147-A177-3AD203B41FA5}">
                      <a16:colId xmlns:a16="http://schemas.microsoft.com/office/drawing/2014/main" val="3897506426"/>
                    </a:ext>
                  </a:extLst>
                </a:gridCol>
                <a:gridCol w="1281266">
                  <a:extLst>
                    <a:ext uri="{9D8B030D-6E8A-4147-A177-3AD203B41FA5}">
                      <a16:colId xmlns:a16="http://schemas.microsoft.com/office/drawing/2014/main" val="1625679375"/>
                    </a:ext>
                  </a:extLst>
                </a:gridCol>
                <a:gridCol w="1348248">
                  <a:extLst>
                    <a:ext uri="{9D8B030D-6E8A-4147-A177-3AD203B41FA5}">
                      <a16:colId xmlns:a16="http://schemas.microsoft.com/office/drawing/2014/main" val="869977354"/>
                    </a:ext>
                  </a:extLst>
                </a:gridCol>
                <a:gridCol w="1314757">
                  <a:extLst>
                    <a:ext uri="{9D8B030D-6E8A-4147-A177-3AD203B41FA5}">
                      <a16:colId xmlns:a16="http://schemas.microsoft.com/office/drawing/2014/main" val="3337338477"/>
                    </a:ext>
                  </a:extLst>
                </a:gridCol>
                <a:gridCol w="1314757">
                  <a:extLst>
                    <a:ext uri="{9D8B030D-6E8A-4147-A177-3AD203B41FA5}">
                      <a16:colId xmlns:a16="http://schemas.microsoft.com/office/drawing/2014/main" val="3555856835"/>
                    </a:ext>
                  </a:extLst>
                </a:gridCol>
                <a:gridCol w="1314757">
                  <a:extLst>
                    <a:ext uri="{9D8B030D-6E8A-4147-A177-3AD203B41FA5}">
                      <a16:colId xmlns:a16="http://schemas.microsoft.com/office/drawing/2014/main" val="3503949415"/>
                    </a:ext>
                  </a:extLst>
                </a:gridCol>
                <a:gridCol w="1314757">
                  <a:extLst>
                    <a:ext uri="{9D8B030D-6E8A-4147-A177-3AD203B41FA5}">
                      <a16:colId xmlns:a16="http://schemas.microsoft.com/office/drawing/2014/main" val="3871591806"/>
                    </a:ext>
                  </a:extLst>
                </a:gridCol>
              </a:tblGrid>
              <a:tr h="192881">
                <a:tc>
                  <a:txBody>
                    <a:bodyPr/>
                    <a:lstStyle/>
                    <a:p>
                      <a:pPr algn="ctr"/>
                      <a:r>
                        <a:rPr lang="en-GB" sz="1400" b="1" dirty="0" err="1"/>
                        <a:t>VSstratification</a:t>
                      </a:r>
                      <a:endParaRPr lang="en-GB" sz="1400" b="1" dirty="0"/>
                    </a:p>
                  </a:txBody>
                  <a:tcPr>
                    <a:solidFill>
                      <a:schemeClr val="accent1">
                        <a:lumMod val="60000"/>
                        <a:lumOff val="40000"/>
                      </a:schemeClr>
                    </a:solidFill>
                  </a:tcPr>
                </a:tc>
                <a:tc>
                  <a:txBody>
                    <a:bodyPr/>
                    <a:lstStyle/>
                    <a:p>
                      <a:pPr algn="ctr"/>
                      <a:r>
                        <a:rPr lang="en-GB" sz="1400" b="1" dirty="0" err="1"/>
                        <a:t>VSstratumName</a:t>
                      </a:r>
                      <a:endParaRPr lang="en-GB" sz="1400" b="1" dirty="0"/>
                    </a:p>
                  </a:txBody>
                  <a:tcPr>
                    <a:solidFill>
                      <a:schemeClr val="accent1">
                        <a:lumMod val="60000"/>
                        <a:lumOff val="40000"/>
                      </a:schemeClr>
                    </a:solidFill>
                  </a:tcPr>
                </a:tc>
                <a:tc>
                  <a:txBody>
                    <a:bodyPr/>
                    <a:lstStyle/>
                    <a:p>
                      <a:pPr algn="ctr"/>
                      <a:r>
                        <a:rPr lang="sv-SE" sz="1400" b="1" dirty="0" err="1"/>
                        <a:t>VSencryptedVesselCode</a:t>
                      </a:r>
                      <a:endParaRPr lang="en-GB" sz="1400" b="1" dirty="0"/>
                    </a:p>
                  </a:txBody>
                  <a:tcPr>
                    <a:solidFill>
                      <a:schemeClr val="accent1">
                        <a:lumMod val="60000"/>
                        <a:lumOff val="40000"/>
                      </a:schemeClr>
                    </a:solidFill>
                  </a:tcPr>
                </a:tc>
                <a:tc>
                  <a:txBody>
                    <a:bodyPr/>
                    <a:lstStyle/>
                    <a:p>
                      <a:pPr algn="ctr"/>
                      <a:r>
                        <a:rPr lang="en-GB" sz="1400" b="1" dirty="0" err="1"/>
                        <a:t>VSselection</a:t>
                      </a:r>
                      <a:r>
                        <a:rPr lang="en-GB" sz="1400" b="1" dirty="0"/>
                        <a:t> method</a:t>
                      </a:r>
                    </a:p>
                  </a:txBody>
                  <a:tcPr>
                    <a:solidFill>
                      <a:schemeClr val="accent1">
                        <a:lumMod val="60000"/>
                        <a:lumOff val="40000"/>
                      </a:schemeClr>
                    </a:solidFill>
                  </a:tcPr>
                </a:tc>
                <a:tc>
                  <a:txBody>
                    <a:bodyPr/>
                    <a:lstStyle/>
                    <a:p>
                      <a:pPr algn="ctr"/>
                      <a:r>
                        <a:rPr lang="en-GB" sz="1400" b="1" dirty="0" err="1"/>
                        <a:t>VSnumTotal</a:t>
                      </a:r>
                      <a:endParaRPr lang="en-GB" sz="1400" b="1" dirty="0"/>
                    </a:p>
                  </a:txBody>
                  <a:tcPr>
                    <a:solidFill>
                      <a:schemeClr val="accent1">
                        <a:lumMod val="60000"/>
                        <a:lumOff val="40000"/>
                      </a:schemeClr>
                    </a:solidFill>
                  </a:tcPr>
                </a:tc>
                <a:tc>
                  <a:txBody>
                    <a:bodyPr/>
                    <a:lstStyle/>
                    <a:p>
                      <a:pPr algn="ctr"/>
                      <a:r>
                        <a:rPr lang="en-GB" sz="1400" b="1" dirty="0" err="1"/>
                        <a:t>VSnumSampled</a:t>
                      </a:r>
                      <a:endParaRPr lang="en-GB" sz="1400" b="1" dirty="0"/>
                    </a:p>
                  </a:txBody>
                  <a:tcPr>
                    <a:solidFill>
                      <a:schemeClr val="accent1">
                        <a:lumMod val="60000"/>
                        <a:lumOff val="40000"/>
                      </a:schemeClr>
                    </a:solidFill>
                  </a:tcPr>
                </a:tc>
                <a:tc>
                  <a:txBody>
                    <a:bodyPr/>
                    <a:lstStyle/>
                    <a:p>
                      <a:pPr algn="ctr">
                        <a:lnSpc>
                          <a:spcPct val="107000"/>
                        </a:lnSpc>
                        <a:spcAft>
                          <a:spcPts val="0"/>
                        </a:spcAft>
                      </a:pPr>
                      <a:r>
                        <a:rPr lang="sv-SE" sz="14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400" b="1" dirty="0" err="1"/>
                        <a:t>SAreasonNotSampled</a:t>
                      </a:r>
                      <a:endParaRPr lang="sv-S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pPr algn="ctr"/>
                      <a:r>
                        <a:rPr lang="en-GB" sz="1400" dirty="0"/>
                        <a:t>Y</a:t>
                      </a:r>
                    </a:p>
                  </a:txBody>
                  <a:tcPr/>
                </a:tc>
                <a:tc>
                  <a:txBody>
                    <a:bodyPr/>
                    <a:lstStyle/>
                    <a:p>
                      <a:pPr algn="ctr"/>
                      <a:r>
                        <a:rPr lang="en-US" sz="1400" dirty="0"/>
                        <a:t>&gt;15m</a:t>
                      </a:r>
                      <a:endParaRPr lang="en-GB" sz="1400" dirty="0"/>
                    </a:p>
                  </a:txBody>
                  <a:tcPr/>
                </a:tc>
                <a:tc>
                  <a:txBody>
                    <a:bodyPr/>
                    <a:lstStyle/>
                    <a:p>
                      <a:pPr algn="ctr"/>
                      <a:r>
                        <a:rPr lang="en-US" sz="1400" dirty="0"/>
                        <a:t>1</a:t>
                      </a:r>
                      <a:endParaRPr lang="en-GB" sz="1400" dirty="0"/>
                    </a:p>
                  </a:txBody>
                  <a:tcPr/>
                </a:tc>
                <a:tc>
                  <a:txBody>
                    <a:bodyPr/>
                    <a:lstStyle/>
                    <a:p>
                      <a:pPr algn="ctr"/>
                      <a:r>
                        <a:rPr lang="en-GB" sz="1400" dirty="0"/>
                        <a:t>SRSWOR</a:t>
                      </a:r>
                    </a:p>
                  </a:txBody>
                  <a:tcPr/>
                </a:tc>
                <a:tc>
                  <a:txBody>
                    <a:bodyPr/>
                    <a:lstStyle/>
                    <a:p>
                      <a:pPr algn="ctr"/>
                      <a:r>
                        <a:rPr lang="en-GB" sz="1400" dirty="0"/>
                        <a:t>50</a:t>
                      </a:r>
                    </a:p>
                  </a:txBody>
                  <a:tcPr/>
                </a:tc>
                <a:tc>
                  <a:txBody>
                    <a:bodyPr/>
                    <a:lstStyle/>
                    <a:p>
                      <a:pPr algn="ctr"/>
                      <a:r>
                        <a:rPr lang="en-GB" sz="1400" dirty="0"/>
                        <a:t>1</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3375731275"/>
                  </a:ext>
                </a:extLst>
              </a:tr>
              <a:tr h="192881">
                <a:tc>
                  <a:txBody>
                    <a:bodyPr/>
                    <a:lstStyle/>
                    <a:p>
                      <a:pPr algn="ctr"/>
                      <a:r>
                        <a:rPr lang="en-GB" sz="1400" dirty="0"/>
                        <a:t>Y</a:t>
                      </a:r>
                    </a:p>
                  </a:txBody>
                  <a:tcPr/>
                </a:tc>
                <a:tc>
                  <a:txBody>
                    <a:bodyPr/>
                    <a:lstStyle/>
                    <a:p>
                      <a:pPr algn="ctr"/>
                      <a:r>
                        <a:rPr lang="en-GB" sz="1400" dirty="0"/>
                        <a:t>10-&lt;=15m</a:t>
                      </a:r>
                    </a:p>
                  </a:txBody>
                  <a:tcPr/>
                </a:tc>
                <a:tc>
                  <a:txBody>
                    <a:bodyPr/>
                    <a:lstStyle/>
                    <a:p>
                      <a:pPr algn="ctr"/>
                      <a:r>
                        <a:rPr lang="en-US" sz="1400" dirty="0"/>
                        <a:t>2</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1583662508"/>
                  </a:ext>
                </a:extLst>
              </a:tr>
              <a:tr h="192881">
                <a:tc>
                  <a:txBody>
                    <a:bodyPr/>
                    <a:lstStyle/>
                    <a:p>
                      <a:pPr algn="ctr"/>
                      <a:r>
                        <a:rPr lang="en-GB" sz="1400" dirty="0"/>
                        <a:t>Y</a:t>
                      </a:r>
                    </a:p>
                  </a:txBody>
                  <a:tcPr/>
                </a:tc>
                <a:tc>
                  <a:txBody>
                    <a:bodyPr/>
                    <a:lstStyle/>
                    <a:p>
                      <a:pPr algn="ctr"/>
                      <a:r>
                        <a:rPr lang="en-GB" sz="1400" dirty="0"/>
                        <a:t>10-&lt;=15m</a:t>
                      </a:r>
                    </a:p>
                  </a:txBody>
                  <a:tcPr/>
                </a:tc>
                <a:tc>
                  <a:txBody>
                    <a:bodyPr/>
                    <a:lstStyle/>
                    <a:p>
                      <a:pPr algn="ctr"/>
                      <a:r>
                        <a:rPr lang="en-US" sz="1400" dirty="0"/>
                        <a:t>3</a:t>
                      </a:r>
                      <a:endParaRPr lang="en-GB" sz="1400" dirty="0"/>
                    </a:p>
                  </a:txBody>
                  <a:tcPr/>
                </a:tc>
                <a:tc>
                  <a:txBody>
                    <a:bodyPr/>
                    <a:lstStyle/>
                    <a:p>
                      <a:pPr algn="ctr"/>
                      <a:r>
                        <a:rPr lang="en-GB" sz="1400" dirty="0"/>
                        <a:t>SRSWOR</a:t>
                      </a:r>
                    </a:p>
                  </a:txBody>
                  <a:tcPr/>
                </a:tc>
                <a:tc>
                  <a:txBody>
                    <a:bodyPr/>
                    <a:lstStyle/>
                    <a:p>
                      <a:pPr algn="ctr"/>
                      <a:r>
                        <a:rPr lang="en-GB" sz="1400" dirty="0"/>
                        <a:t>100</a:t>
                      </a:r>
                    </a:p>
                  </a:txBody>
                  <a:tcPr/>
                </a:tc>
                <a:tc>
                  <a:txBody>
                    <a:bodyPr/>
                    <a:lstStyle/>
                    <a:p>
                      <a:pPr algn="ctr"/>
                      <a:r>
                        <a:rPr lang="en-GB" sz="1400" dirty="0"/>
                        <a:t>2</a:t>
                      </a:r>
                    </a:p>
                  </a:txBody>
                  <a:tcPr/>
                </a:tc>
                <a:tc>
                  <a:txBody>
                    <a:bodyPr/>
                    <a:lstStyle/>
                    <a:p>
                      <a:pPr algn="ctr"/>
                      <a:r>
                        <a:rPr lang="en-GB" sz="1400" dirty="0"/>
                        <a:t>Y</a:t>
                      </a:r>
                    </a:p>
                  </a:txBody>
                  <a:tcPr/>
                </a:tc>
                <a:tc>
                  <a:txBody>
                    <a:bodyPr/>
                    <a:lstStyle/>
                    <a:p>
                      <a:pPr algn="ctr"/>
                      <a:endParaRPr lang="en-GB" sz="1400" dirty="0"/>
                    </a:p>
                  </a:txBody>
                  <a:tcPr/>
                </a:tc>
                <a:extLst>
                  <a:ext uri="{0D108BD9-81ED-4DB2-BD59-A6C34878D82A}">
                    <a16:rowId xmlns:a16="http://schemas.microsoft.com/office/drawing/2014/main" val="841671674"/>
                  </a:ext>
                </a:extLst>
              </a:tr>
              <a:tr h="1928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t>Y</a:t>
                      </a:r>
                    </a:p>
                  </a:txBody>
                  <a:tcPr/>
                </a:tc>
                <a:tc>
                  <a:txBody>
                    <a:bodyPr/>
                    <a:lstStyle/>
                    <a:p>
                      <a:pPr algn="ctr"/>
                      <a:r>
                        <a:rPr lang="en-GB" sz="1400" dirty="0"/>
                        <a:t>&lt;=10m</a:t>
                      </a:r>
                    </a:p>
                  </a:txBody>
                  <a:tcPr/>
                </a:tc>
                <a:tc>
                  <a:txBody>
                    <a:bodyPr/>
                    <a:lstStyle/>
                    <a:p>
                      <a:pPr algn="ctr"/>
                      <a:r>
                        <a:rPr lang="en-GB" sz="1400" dirty="0"/>
                        <a:t>“-9”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err="1">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notApplicable</a:t>
                      </a:r>
                      <a:endParaRPr lang="sv-S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GB" sz="1400" dirty="0"/>
                        <a:t>1000</a:t>
                      </a:r>
                    </a:p>
                  </a:txBody>
                  <a:tcPr/>
                </a:tc>
                <a:tc>
                  <a:txBody>
                    <a:bodyPr/>
                    <a:lstStyle/>
                    <a:p>
                      <a:pPr algn="ctr"/>
                      <a:r>
                        <a:rPr lang="en-GB" sz="1400" dirty="0"/>
                        <a:t>0</a:t>
                      </a:r>
                    </a:p>
                  </a:txBody>
                  <a:tcPr/>
                </a:tc>
                <a:tc>
                  <a:txBody>
                    <a:bodyPr/>
                    <a:lstStyle/>
                    <a:p>
                      <a:pPr algn="ctr"/>
                      <a:r>
                        <a:rPr lang="en-GB" sz="1400" dirty="0"/>
                        <a:t>N</a:t>
                      </a:r>
                    </a:p>
                  </a:txBody>
                  <a:tcPr/>
                </a:tc>
                <a:tc>
                  <a:txBody>
                    <a:bodyPr/>
                    <a:lstStyle/>
                    <a:p>
                      <a:pPr algn="ctr"/>
                      <a:r>
                        <a:rPr lang="en-GB" sz="1400" dirty="0" err="1"/>
                        <a:t>OutOfFrame</a:t>
                      </a:r>
                      <a:endParaRPr lang="en-GB" sz="1400" dirty="0"/>
                    </a:p>
                  </a:txBody>
                  <a:tcPr/>
                </a:tc>
                <a:extLst>
                  <a:ext uri="{0D108BD9-81ED-4DB2-BD59-A6C34878D82A}">
                    <a16:rowId xmlns:a16="http://schemas.microsoft.com/office/drawing/2014/main" val="3778090157"/>
                  </a:ext>
                </a:extLst>
              </a:tr>
            </a:tbl>
          </a:graphicData>
        </a:graphic>
      </p:graphicFrame>
      <p:sp>
        <p:nvSpPr>
          <p:cNvPr id="18" name="TextBox 17"/>
          <p:cNvSpPr txBox="1"/>
          <p:nvPr/>
        </p:nvSpPr>
        <p:spPr>
          <a:xfrm>
            <a:off x="4743450" y="3603392"/>
            <a:ext cx="1508939" cy="369332"/>
          </a:xfrm>
          <a:prstGeom prst="rect">
            <a:avLst/>
          </a:prstGeom>
          <a:noFill/>
        </p:spPr>
        <p:txBody>
          <a:bodyPr wrap="none" rtlCol="0">
            <a:spAutoFit/>
          </a:bodyPr>
          <a:lstStyle/>
          <a:p>
            <a:r>
              <a:rPr lang="en-US" dirty="0"/>
              <a:t>Compare with</a:t>
            </a:r>
          </a:p>
        </p:txBody>
      </p:sp>
    </p:spTree>
    <p:extLst>
      <p:ext uri="{BB962C8B-B14F-4D97-AF65-F5344CB8AC3E}">
        <p14:creationId xmlns:p14="http://schemas.microsoft.com/office/powerpoint/2010/main" val="511591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Motivation example 6</a:t>
            </a:r>
            <a:endParaRPr lang="sv-SE" dirty="0"/>
          </a:p>
        </p:txBody>
      </p:sp>
      <p:sp>
        <p:nvSpPr>
          <p:cNvPr id="3" name="Content Placeholder 2"/>
          <p:cNvSpPr>
            <a:spLocks noGrp="1"/>
          </p:cNvSpPr>
          <p:nvPr>
            <p:ph idx="1"/>
          </p:nvPr>
        </p:nvSpPr>
        <p:spPr/>
        <p:txBody>
          <a:bodyPr/>
          <a:lstStyle/>
          <a:p>
            <a:pPr lvl="1"/>
            <a:r>
              <a:rPr lang="en-US" dirty="0"/>
              <a:t>In country A observers go to a market and sample landing of cod sorted by size category (i.e., stratified by size category). </a:t>
            </a:r>
            <a:endParaRPr lang="sv-SE" dirty="0"/>
          </a:p>
        </p:txBody>
      </p:sp>
      <p:graphicFrame>
        <p:nvGraphicFramePr>
          <p:cNvPr id="4" name="Table 3"/>
          <p:cNvGraphicFramePr>
            <a:graphicFrameLocks noGrp="1"/>
          </p:cNvGraphicFramePr>
          <p:nvPr/>
        </p:nvGraphicFramePr>
        <p:xfrm>
          <a:off x="2840049" y="3387865"/>
          <a:ext cx="6492238" cy="1341120"/>
        </p:xfrm>
        <a:graphic>
          <a:graphicData uri="http://schemas.openxmlformats.org/drawingml/2006/table">
            <a:tbl>
              <a:tblPr firstRow="1" bandRow="1">
                <a:tableStyleId>{5940675A-B579-460E-94D1-54222C63F5DA}</a:tableStyleId>
              </a:tblPr>
              <a:tblGrid>
                <a:gridCol w="1597949">
                  <a:extLst>
                    <a:ext uri="{9D8B030D-6E8A-4147-A177-3AD203B41FA5}">
                      <a16:colId xmlns:a16="http://schemas.microsoft.com/office/drawing/2014/main" val="2815465670"/>
                    </a:ext>
                  </a:extLst>
                </a:gridCol>
                <a:gridCol w="1213332">
                  <a:extLst>
                    <a:ext uri="{9D8B030D-6E8A-4147-A177-3AD203B41FA5}">
                      <a16:colId xmlns:a16="http://schemas.microsoft.com/office/drawing/2014/main" val="3151269377"/>
                    </a:ext>
                  </a:extLst>
                </a:gridCol>
                <a:gridCol w="1547217">
                  <a:extLst>
                    <a:ext uri="{9D8B030D-6E8A-4147-A177-3AD203B41FA5}">
                      <a16:colId xmlns:a16="http://schemas.microsoft.com/office/drawing/2014/main" val="3307169097"/>
                    </a:ext>
                  </a:extLst>
                </a:gridCol>
                <a:gridCol w="2133740">
                  <a:extLst>
                    <a:ext uri="{9D8B030D-6E8A-4147-A177-3AD203B41FA5}">
                      <a16:colId xmlns:a16="http://schemas.microsoft.com/office/drawing/2014/main" val="2592601522"/>
                    </a:ext>
                  </a:extLst>
                </a:gridCol>
              </a:tblGrid>
              <a:tr h="192881">
                <a:tc>
                  <a:txBody>
                    <a:bodyPr/>
                    <a:lstStyle/>
                    <a:p>
                      <a:r>
                        <a:rPr lang="sv-SE" sz="1600" b="1" dirty="0"/>
                        <a:t>Species</a:t>
                      </a:r>
                      <a:endParaRPr lang="en-GB" sz="1600" b="1" dirty="0"/>
                    </a:p>
                  </a:txBody>
                  <a:tcPr>
                    <a:solidFill>
                      <a:schemeClr val="accent1">
                        <a:lumMod val="60000"/>
                        <a:lumOff val="40000"/>
                      </a:schemeClr>
                    </a:solidFill>
                  </a:tcPr>
                </a:tc>
                <a:tc>
                  <a:txBody>
                    <a:bodyPr/>
                    <a:lstStyle/>
                    <a:p>
                      <a:pPr algn="ctr"/>
                      <a:r>
                        <a:rPr lang="en-GB" sz="1600" b="1" dirty="0"/>
                        <a:t>Size</a:t>
                      </a:r>
                    </a:p>
                  </a:txBody>
                  <a:tcPr>
                    <a:solidFill>
                      <a:schemeClr val="accent1">
                        <a:lumMod val="60000"/>
                        <a:lumOff val="40000"/>
                      </a:schemeClr>
                    </a:solidFill>
                  </a:tcPr>
                </a:tc>
                <a:tc>
                  <a:txBody>
                    <a:bodyPr/>
                    <a:lstStyle/>
                    <a:p>
                      <a:pPr algn="ctr"/>
                      <a:r>
                        <a:rPr lang="sv-SE" sz="1600" b="1" dirty="0" err="1"/>
                        <a:t>Weight</a:t>
                      </a:r>
                      <a:r>
                        <a:rPr lang="sv-SE" sz="1600" b="1" dirty="0"/>
                        <a:t> (kg)</a:t>
                      </a:r>
                      <a:endParaRPr lang="en-GB" sz="1600" b="1" dirty="0"/>
                    </a:p>
                  </a:txBody>
                  <a:tcPr>
                    <a:solidFill>
                      <a:schemeClr val="accent1">
                        <a:lumMod val="60000"/>
                        <a:lumOff val="40000"/>
                      </a:schemeClr>
                    </a:solidFill>
                  </a:tcPr>
                </a:tc>
                <a:tc>
                  <a:txBody>
                    <a:bodyPr/>
                    <a:lstStyle/>
                    <a:p>
                      <a:pPr algn="ctr"/>
                      <a:r>
                        <a:rPr lang="sv-SE" sz="1600" b="1" dirty="0" err="1"/>
                        <a:t>SubSampWeight</a:t>
                      </a:r>
                      <a:r>
                        <a:rPr lang="sv-SE" sz="1600" b="1" dirty="0"/>
                        <a:t> (kg)</a:t>
                      </a:r>
                      <a:endParaRPr lang="en-GB" sz="1600" b="1" dirty="0"/>
                    </a:p>
                  </a:txBody>
                  <a:tcPr>
                    <a:solidFill>
                      <a:schemeClr val="accent1">
                        <a:lumMod val="60000"/>
                        <a:lumOff val="40000"/>
                      </a:schemeClr>
                    </a:solidFill>
                  </a:tcPr>
                </a:tc>
                <a:extLst>
                  <a:ext uri="{0D108BD9-81ED-4DB2-BD59-A6C34878D82A}">
                    <a16:rowId xmlns:a16="http://schemas.microsoft.com/office/drawing/2014/main" val="3362119261"/>
                  </a:ext>
                </a:extLst>
              </a:tr>
              <a:tr h="192881">
                <a:tc>
                  <a:txBody>
                    <a:bodyPr/>
                    <a:lstStyle/>
                    <a:p>
                      <a:r>
                        <a:rPr lang="en-US" sz="1600" dirty="0"/>
                        <a:t>Cod</a:t>
                      </a:r>
                      <a:endParaRPr lang="en-GB" sz="1600" dirty="0"/>
                    </a:p>
                  </a:txBody>
                  <a:tcPr/>
                </a:tc>
                <a:tc>
                  <a:txBody>
                    <a:bodyPr/>
                    <a:lstStyle/>
                    <a:p>
                      <a:pPr algn="ctr"/>
                      <a:r>
                        <a:rPr lang="en-GB" sz="1600" dirty="0"/>
                        <a:t>3</a:t>
                      </a:r>
                    </a:p>
                  </a:txBody>
                  <a:tcPr/>
                </a:tc>
                <a:tc>
                  <a:txBody>
                    <a:bodyPr/>
                    <a:lstStyle/>
                    <a:p>
                      <a:pPr algn="ctr"/>
                      <a:r>
                        <a:rPr lang="sv-SE" sz="1600" dirty="0"/>
                        <a:t>10</a:t>
                      </a:r>
                      <a:endParaRPr lang="en-GB" sz="1600" dirty="0"/>
                    </a:p>
                  </a:txBody>
                  <a:tcPr/>
                </a:tc>
                <a:tc>
                  <a:txBody>
                    <a:bodyPr/>
                    <a:lstStyle/>
                    <a:p>
                      <a:pPr algn="ctr"/>
                      <a:r>
                        <a:rPr lang="sv-SE" sz="1600" dirty="0"/>
                        <a:t>10</a:t>
                      </a:r>
                      <a:endParaRPr lang="en-GB" sz="1600" dirty="0"/>
                    </a:p>
                  </a:txBody>
                  <a:tcPr/>
                </a:tc>
                <a:extLst>
                  <a:ext uri="{0D108BD9-81ED-4DB2-BD59-A6C34878D82A}">
                    <a16:rowId xmlns:a16="http://schemas.microsoft.com/office/drawing/2014/main" val="3375731275"/>
                  </a:ext>
                </a:extLst>
              </a:tr>
              <a:tr h="192881">
                <a:tc>
                  <a:txBody>
                    <a:bodyPr/>
                    <a:lstStyle/>
                    <a:p>
                      <a:r>
                        <a:rPr lang="en-US" sz="1600" dirty="0"/>
                        <a:t>Cod</a:t>
                      </a:r>
                      <a:endParaRPr lang="en-GB" sz="1600" dirty="0"/>
                    </a:p>
                  </a:txBody>
                  <a:tcPr/>
                </a:tc>
                <a:tc>
                  <a:txBody>
                    <a:bodyPr/>
                    <a:lstStyle/>
                    <a:p>
                      <a:pPr algn="ctr"/>
                      <a:r>
                        <a:rPr lang="en-GB" sz="1600" dirty="0"/>
                        <a:t>4</a:t>
                      </a:r>
                    </a:p>
                  </a:txBody>
                  <a:tcPr/>
                </a:tc>
                <a:tc>
                  <a:txBody>
                    <a:bodyPr/>
                    <a:lstStyle/>
                    <a:p>
                      <a:pPr algn="ctr"/>
                      <a:r>
                        <a:rPr lang="en-GB" sz="1600" dirty="0"/>
                        <a:t>50</a:t>
                      </a:r>
                    </a:p>
                  </a:txBody>
                  <a:tcPr/>
                </a:tc>
                <a:tc>
                  <a:txBody>
                    <a:bodyPr/>
                    <a:lstStyle/>
                    <a:p>
                      <a:pPr algn="ctr"/>
                      <a:r>
                        <a:rPr lang="en-GB" sz="1600" dirty="0"/>
                        <a:t>50</a:t>
                      </a:r>
                    </a:p>
                  </a:txBody>
                  <a:tcPr/>
                </a:tc>
                <a:extLst>
                  <a:ext uri="{0D108BD9-81ED-4DB2-BD59-A6C34878D82A}">
                    <a16:rowId xmlns:a16="http://schemas.microsoft.com/office/drawing/2014/main" val="1583662508"/>
                  </a:ext>
                </a:extLst>
              </a:tr>
              <a:tr h="192881">
                <a:tc>
                  <a:txBody>
                    <a:bodyPr/>
                    <a:lstStyle/>
                    <a:p>
                      <a:r>
                        <a:rPr lang="en-US" sz="1600" dirty="0"/>
                        <a:t>Cod</a:t>
                      </a:r>
                      <a:endParaRPr lang="en-GB" sz="1600" dirty="0"/>
                    </a:p>
                  </a:txBody>
                  <a:tcPr/>
                </a:tc>
                <a:tc>
                  <a:txBody>
                    <a:bodyPr/>
                    <a:lstStyle/>
                    <a:p>
                      <a:pPr algn="ctr"/>
                      <a:r>
                        <a:rPr lang="en-GB" sz="1600" dirty="0"/>
                        <a:t>5</a:t>
                      </a:r>
                    </a:p>
                  </a:txBody>
                  <a:tcPr/>
                </a:tc>
                <a:tc>
                  <a:txBody>
                    <a:bodyPr/>
                    <a:lstStyle/>
                    <a:p>
                      <a:pPr algn="ctr"/>
                      <a:r>
                        <a:rPr lang="en-GB" sz="1600" dirty="0"/>
                        <a:t>100</a:t>
                      </a:r>
                    </a:p>
                  </a:txBody>
                  <a:tcPr/>
                </a:tc>
                <a:tc>
                  <a:txBody>
                    <a:bodyPr/>
                    <a:lstStyle/>
                    <a:p>
                      <a:pPr algn="ctr"/>
                      <a:r>
                        <a:rPr lang="en-GB" sz="1600" dirty="0"/>
                        <a:t>100</a:t>
                      </a:r>
                    </a:p>
                  </a:txBody>
                  <a:tcPr/>
                </a:tc>
                <a:extLst>
                  <a:ext uri="{0D108BD9-81ED-4DB2-BD59-A6C34878D82A}">
                    <a16:rowId xmlns:a16="http://schemas.microsoft.com/office/drawing/2014/main" val="841671674"/>
                  </a:ext>
                </a:extLst>
              </a:tr>
            </a:tbl>
          </a:graphicData>
        </a:graphic>
      </p:graphicFrame>
      <p:sp>
        <p:nvSpPr>
          <p:cNvPr id="5" name="TextBox 4"/>
          <p:cNvSpPr txBox="1"/>
          <p:nvPr/>
        </p:nvSpPr>
        <p:spPr>
          <a:xfrm>
            <a:off x="2328772" y="5541314"/>
            <a:ext cx="9418989" cy="923330"/>
          </a:xfrm>
          <a:prstGeom prst="rect">
            <a:avLst/>
          </a:prstGeom>
          <a:solidFill>
            <a:srgbClr val="FFC000"/>
          </a:solidFill>
          <a:ln w="19050">
            <a:solidFill>
              <a:schemeClr val="tx1"/>
            </a:solidFill>
          </a:ln>
        </p:spPr>
        <p:txBody>
          <a:bodyPr wrap="none" rtlCol="0">
            <a:spAutoFit/>
          </a:bodyPr>
          <a:lstStyle/>
          <a:p>
            <a:r>
              <a:rPr lang="en-US" dirty="0"/>
              <a:t>Typical questions from data users: </a:t>
            </a:r>
          </a:p>
          <a:p>
            <a:pPr marL="285750" indent="-285750">
              <a:buFontTx/>
              <a:buChar char="-"/>
            </a:pPr>
            <a:r>
              <a:rPr lang="en-US" dirty="0"/>
              <a:t>Are Cod size category 1 or 2 == 0 kg or NA? i.e., were sizes 1-2 really absent or just not sampled?</a:t>
            </a:r>
          </a:p>
          <a:p>
            <a:pPr marL="285750" indent="-285750">
              <a:buFontTx/>
              <a:buChar char="-"/>
            </a:pPr>
            <a:r>
              <a:rPr lang="en-US" dirty="0"/>
              <a:t>What about other possible sizes (e.g., 6?)</a:t>
            </a:r>
          </a:p>
        </p:txBody>
      </p:sp>
      <p:sp>
        <p:nvSpPr>
          <p:cNvPr id="6" name="TextBox 5"/>
          <p:cNvSpPr txBox="1"/>
          <p:nvPr/>
        </p:nvSpPr>
        <p:spPr>
          <a:xfrm>
            <a:off x="2699498" y="2979280"/>
            <a:ext cx="7450768" cy="369332"/>
          </a:xfrm>
          <a:prstGeom prst="rect">
            <a:avLst/>
          </a:prstGeom>
          <a:noFill/>
        </p:spPr>
        <p:txBody>
          <a:bodyPr wrap="square" rtlCol="0">
            <a:spAutoFit/>
          </a:bodyPr>
          <a:lstStyle/>
          <a:p>
            <a:r>
              <a:rPr lang="en-US" dirty="0"/>
              <a:t>View from national database/RDB</a:t>
            </a:r>
          </a:p>
        </p:txBody>
      </p:sp>
      <p:sp>
        <p:nvSpPr>
          <p:cNvPr id="7" name="Rectangle 6"/>
          <p:cNvSpPr/>
          <p:nvPr/>
        </p:nvSpPr>
        <p:spPr>
          <a:xfrm>
            <a:off x="2720274" y="2979280"/>
            <a:ext cx="7316195" cy="186802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594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838200" y="1389721"/>
            <a:ext cx="10515600" cy="4756150"/>
          </a:xfrm>
        </p:spPr>
        <p:txBody>
          <a:bodyPr/>
          <a:lstStyle/>
          <a:p>
            <a:r>
              <a:rPr lang="sv-SE" dirty="0"/>
              <a:t>In RDBES the </a:t>
            </a:r>
            <a:r>
              <a:rPr lang="sv-SE" dirty="0" err="1"/>
              <a:t>following</a:t>
            </a:r>
            <a:r>
              <a:rPr lang="sv-SE" dirty="0"/>
              <a:t> situations </a:t>
            </a:r>
            <a:r>
              <a:rPr lang="sv-SE" dirty="0" err="1"/>
              <a:t>will</a:t>
            </a:r>
            <a:r>
              <a:rPr lang="sv-SE" dirty="0"/>
              <a:t> </a:t>
            </a:r>
            <a:r>
              <a:rPr lang="sv-SE" dirty="0" err="1"/>
              <a:t>yield</a:t>
            </a:r>
            <a:r>
              <a:rPr lang="sv-SE" dirty="0"/>
              <a:t> different end-</a:t>
            </a:r>
            <a:r>
              <a:rPr lang="sv-SE" dirty="0" err="1"/>
              <a:t>results</a:t>
            </a:r>
            <a:endParaRPr lang="sv-SE" dirty="0"/>
          </a:p>
          <a:p>
            <a:pPr marL="0" indent="0">
              <a:buNone/>
            </a:pPr>
            <a:endParaRPr lang="sv-SE" dirty="0"/>
          </a:p>
          <a:p>
            <a:endParaRPr lang="sv-SE" dirty="0"/>
          </a:p>
          <a:p>
            <a:endParaRPr lang="sv-SE" dirty="0"/>
          </a:p>
          <a:p>
            <a:endParaRPr lang="sv-SE" dirty="0"/>
          </a:p>
          <a:p>
            <a:endParaRPr lang="sv-SE" dirty="0"/>
          </a:p>
          <a:p>
            <a:endParaRPr lang="sv-SE" dirty="0"/>
          </a:p>
          <a:p>
            <a:endParaRPr lang="sv-SE" dirty="0"/>
          </a:p>
          <a:p>
            <a:endParaRPr lang="sv-SE" dirty="0"/>
          </a:p>
          <a:p>
            <a:pPr marL="0" indent="0">
              <a:buNone/>
            </a:pPr>
            <a:endParaRPr lang="sv-SE" dirty="0"/>
          </a:p>
        </p:txBody>
      </p:sp>
      <p:graphicFrame>
        <p:nvGraphicFramePr>
          <p:cNvPr id="4" name="Table 3"/>
          <p:cNvGraphicFramePr>
            <a:graphicFrameLocks noGrp="1"/>
          </p:cNvGraphicFramePr>
          <p:nvPr>
            <p:extLst>
              <p:ext uri="{D42A27DB-BD31-4B8C-83A1-F6EECF244321}">
                <p14:modId xmlns:p14="http://schemas.microsoft.com/office/powerpoint/2010/main" val="107430334"/>
              </p:ext>
            </p:extLst>
          </p:nvPr>
        </p:nvGraphicFramePr>
        <p:xfrm>
          <a:off x="1057276" y="2202986"/>
          <a:ext cx="7428246" cy="972820"/>
        </p:xfrm>
        <a:graphic>
          <a:graphicData uri="http://schemas.openxmlformats.org/drawingml/2006/table">
            <a:tbl>
              <a:tblPr firstRow="1" firstCol="1" bandRow="1"/>
              <a:tblGrid>
                <a:gridCol w="752448">
                  <a:extLst>
                    <a:ext uri="{9D8B030D-6E8A-4147-A177-3AD203B41FA5}">
                      <a16:colId xmlns:a16="http://schemas.microsoft.com/office/drawing/2014/main" val="2119763257"/>
                    </a:ext>
                  </a:extLst>
                </a:gridCol>
                <a:gridCol w="740762">
                  <a:extLst>
                    <a:ext uri="{9D8B030D-6E8A-4147-A177-3AD203B41FA5}">
                      <a16:colId xmlns:a16="http://schemas.microsoft.com/office/drawing/2014/main" val="3149028541"/>
                    </a:ext>
                  </a:extLst>
                </a:gridCol>
                <a:gridCol w="727777">
                  <a:extLst>
                    <a:ext uri="{9D8B030D-6E8A-4147-A177-3AD203B41FA5}">
                      <a16:colId xmlns:a16="http://schemas.microsoft.com/office/drawing/2014/main" val="2003286365"/>
                    </a:ext>
                  </a:extLst>
                </a:gridCol>
                <a:gridCol w="625850">
                  <a:extLst>
                    <a:ext uri="{9D8B030D-6E8A-4147-A177-3AD203B41FA5}">
                      <a16:colId xmlns:a16="http://schemas.microsoft.com/office/drawing/2014/main" val="3803328741"/>
                    </a:ext>
                  </a:extLst>
                </a:gridCol>
                <a:gridCol w="870607">
                  <a:extLst>
                    <a:ext uri="{9D8B030D-6E8A-4147-A177-3AD203B41FA5}">
                      <a16:colId xmlns:a16="http://schemas.microsoft.com/office/drawing/2014/main" val="3949074491"/>
                    </a:ext>
                  </a:extLst>
                </a:gridCol>
                <a:gridCol w="963445">
                  <a:extLst>
                    <a:ext uri="{9D8B030D-6E8A-4147-A177-3AD203B41FA5}">
                      <a16:colId xmlns:a16="http://schemas.microsoft.com/office/drawing/2014/main" val="2542248754"/>
                    </a:ext>
                  </a:extLst>
                </a:gridCol>
                <a:gridCol w="612532">
                  <a:extLst>
                    <a:ext uri="{9D8B030D-6E8A-4147-A177-3AD203B41FA5}">
                      <a16:colId xmlns:a16="http://schemas.microsoft.com/office/drawing/2014/main" val="3680122920"/>
                    </a:ext>
                  </a:extLst>
                </a:gridCol>
                <a:gridCol w="637870">
                  <a:extLst>
                    <a:ext uri="{9D8B030D-6E8A-4147-A177-3AD203B41FA5}">
                      <a16:colId xmlns:a16="http://schemas.microsoft.com/office/drawing/2014/main" val="3396986459"/>
                    </a:ext>
                  </a:extLst>
                </a:gridCol>
                <a:gridCol w="683552">
                  <a:extLst>
                    <a:ext uri="{9D8B030D-6E8A-4147-A177-3AD203B41FA5}">
                      <a16:colId xmlns:a16="http://schemas.microsoft.com/office/drawing/2014/main" val="1598663023"/>
                    </a:ext>
                  </a:extLst>
                </a:gridCol>
                <a:gridCol w="813403">
                  <a:extLst>
                    <a:ext uri="{9D8B030D-6E8A-4147-A177-3AD203B41FA5}">
                      <a16:colId xmlns:a16="http://schemas.microsoft.com/office/drawing/2014/main" val="3921756686"/>
                    </a:ext>
                  </a:extLst>
                </a:gridCol>
              </a:tblGrid>
              <a:tr h="0">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SAid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SAcatch</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Fraction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SAspecies</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Code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SAstratum</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SAcomm</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SizeCat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US"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SAselectionMethod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SAtotal</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SAsample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sv-SE" sz="9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900" b="1" dirty="0" err="1"/>
                        <a:t>SAreasonNotSampled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74140359"/>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CENSUS</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2933051"/>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65710"/>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2832770"/>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4</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4</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96341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82943881"/>
              </p:ext>
            </p:extLst>
          </p:nvPr>
        </p:nvGraphicFramePr>
        <p:xfrm>
          <a:off x="1057275" y="5371998"/>
          <a:ext cx="7458075" cy="1121030"/>
        </p:xfrm>
        <a:graphic>
          <a:graphicData uri="http://schemas.openxmlformats.org/drawingml/2006/table">
            <a:tbl>
              <a:tblPr firstRow="1" firstCol="1" bandRow="1"/>
              <a:tblGrid>
                <a:gridCol w="759698">
                  <a:extLst>
                    <a:ext uri="{9D8B030D-6E8A-4147-A177-3AD203B41FA5}">
                      <a16:colId xmlns:a16="http://schemas.microsoft.com/office/drawing/2014/main" val="2119763257"/>
                    </a:ext>
                  </a:extLst>
                </a:gridCol>
                <a:gridCol w="747900">
                  <a:extLst>
                    <a:ext uri="{9D8B030D-6E8A-4147-A177-3AD203B41FA5}">
                      <a16:colId xmlns:a16="http://schemas.microsoft.com/office/drawing/2014/main" val="3149028541"/>
                    </a:ext>
                  </a:extLst>
                </a:gridCol>
                <a:gridCol w="734790">
                  <a:extLst>
                    <a:ext uri="{9D8B030D-6E8A-4147-A177-3AD203B41FA5}">
                      <a16:colId xmlns:a16="http://schemas.microsoft.com/office/drawing/2014/main" val="2003286365"/>
                    </a:ext>
                  </a:extLst>
                </a:gridCol>
                <a:gridCol w="631881">
                  <a:extLst>
                    <a:ext uri="{9D8B030D-6E8A-4147-A177-3AD203B41FA5}">
                      <a16:colId xmlns:a16="http://schemas.microsoft.com/office/drawing/2014/main" val="3803328741"/>
                    </a:ext>
                  </a:extLst>
                </a:gridCol>
                <a:gridCol w="878995">
                  <a:extLst>
                    <a:ext uri="{9D8B030D-6E8A-4147-A177-3AD203B41FA5}">
                      <a16:colId xmlns:a16="http://schemas.microsoft.com/office/drawing/2014/main" val="3949074491"/>
                    </a:ext>
                  </a:extLst>
                </a:gridCol>
                <a:gridCol w="972731">
                  <a:extLst>
                    <a:ext uri="{9D8B030D-6E8A-4147-A177-3AD203B41FA5}">
                      <a16:colId xmlns:a16="http://schemas.microsoft.com/office/drawing/2014/main" val="2542248754"/>
                    </a:ext>
                  </a:extLst>
                </a:gridCol>
                <a:gridCol w="580998">
                  <a:extLst>
                    <a:ext uri="{9D8B030D-6E8A-4147-A177-3AD203B41FA5}">
                      <a16:colId xmlns:a16="http://schemas.microsoft.com/office/drawing/2014/main" val="3680122920"/>
                    </a:ext>
                  </a:extLst>
                </a:gridCol>
                <a:gridCol w="665501">
                  <a:extLst>
                    <a:ext uri="{9D8B030D-6E8A-4147-A177-3AD203B41FA5}">
                      <a16:colId xmlns:a16="http://schemas.microsoft.com/office/drawing/2014/main" val="3396986459"/>
                    </a:ext>
                  </a:extLst>
                </a:gridCol>
                <a:gridCol w="678686">
                  <a:extLst>
                    <a:ext uri="{9D8B030D-6E8A-4147-A177-3AD203B41FA5}">
                      <a16:colId xmlns:a16="http://schemas.microsoft.com/office/drawing/2014/main" val="878763323"/>
                    </a:ext>
                  </a:extLst>
                </a:gridCol>
                <a:gridCol w="806895">
                  <a:extLst>
                    <a:ext uri="{9D8B030D-6E8A-4147-A177-3AD203B41FA5}">
                      <a16:colId xmlns:a16="http://schemas.microsoft.com/office/drawing/2014/main" val="4267584498"/>
                    </a:ext>
                  </a:extLst>
                </a:gridCol>
              </a:tblGrid>
              <a:tr h="0">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SAid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SAcatch</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Fraction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SAspecies</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Code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SAstratum</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SAcomm</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SizeCat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US"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SAselectionMethod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SAtotal</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SAsample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sv-SE" sz="9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900" b="1" dirty="0" err="1"/>
                        <a:t>SAreasonNotSampled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74140359"/>
                  </a:ext>
                </a:extLst>
              </a:tr>
              <a:tr h="0">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CENSUS</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2933051"/>
                  </a:ext>
                </a:extLst>
              </a:tr>
              <a:tr h="0">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65710"/>
                  </a:ext>
                </a:extLst>
              </a:tr>
              <a:tr h="0">
                <a:tc>
                  <a:txBody>
                    <a:bodyPr/>
                    <a:lstStyle/>
                    <a:p>
                      <a:pPr algn="ctr">
                        <a:lnSpc>
                          <a:spcPct val="107000"/>
                        </a:lnSpc>
                        <a:spcAft>
                          <a:spcPts val="0"/>
                        </a:spcAft>
                      </a:pPr>
                      <a:r>
                        <a:rPr lang="en-GB" sz="900" b="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v-SE"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900" b="0" dirty="0">
                          <a:effectLst/>
                          <a:latin typeface="Calibri" panose="020F0502020204030204" pitchFamily="34" charset="0"/>
                          <a:ea typeface="Calibri" panose="020F0502020204030204" pitchFamily="34" charset="0"/>
                          <a:cs typeface="Times New Roman" panose="02020603050405020304" pitchFamily="18" charset="0"/>
                        </a:rPr>
                        <a:t>2</a:t>
                      </a: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900" b="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2832770"/>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4</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4</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err="1">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notApplicable</a:t>
                      </a:r>
                      <a:endParaRPr lang="sv-SE" sz="1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err="1">
                          <a:effectLst/>
                          <a:latin typeface="Calibri" panose="020F0502020204030204" pitchFamily="34" charset="0"/>
                          <a:ea typeface="Calibri" panose="020F0502020204030204" pitchFamily="34" charset="0"/>
                          <a:cs typeface="Times New Roman" panose="02020603050405020304" pitchFamily="18" charset="0"/>
                        </a:rPr>
                        <a:t>OutOfFrame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963410"/>
                  </a:ext>
                </a:extLst>
              </a:tr>
            </a:tbl>
          </a:graphicData>
        </a:graphic>
      </p:graphicFrame>
      <p:sp>
        <p:nvSpPr>
          <p:cNvPr id="8" name="TextBox 7"/>
          <p:cNvSpPr txBox="1"/>
          <p:nvPr/>
        </p:nvSpPr>
        <p:spPr>
          <a:xfrm>
            <a:off x="8643891" y="3571725"/>
            <a:ext cx="3035683" cy="923330"/>
          </a:xfrm>
          <a:prstGeom prst="rect">
            <a:avLst/>
          </a:prstGeom>
          <a:noFill/>
        </p:spPr>
        <p:txBody>
          <a:bodyPr wrap="square" rtlCol="0">
            <a:spAutoFit/>
          </a:bodyPr>
          <a:lstStyle/>
          <a:p>
            <a:r>
              <a:rPr lang="sv-SE" dirty="0" err="1"/>
              <a:t>Produces</a:t>
            </a:r>
            <a:r>
              <a:rPr lang="sv-SE" dirty="0"/>
              <a:t> </a:t>
            </a:r>
            <a:r>
              <a:rPr lang="sv-SE" dirty="0" err="1"/>
              <a:t>size</a:t>
            </a:r>
            <a:r>
              <a:rPr lang="sv-SE" dirty="0"/>
              <a:t> distribution </a:t>
            </a:r>
            <a:r>
              <a:rPr lang="sv-SE" dirty="0" err="1"/>
              <a:t>with</a:t>
            </a:r>
            <a:r>
              <a:rPr lang="sv-SE" dirty="0"/>
              <a:t> all </a:t>
            </a:r>
            <a:r>
              <a:rPr lang="sv-SE" dirty="0" err="1"/>
              <a:t>sizes</a:t>
            </a:r>
            <a:r>
              <a:rPr lang="sv-SE" dirty="0"/>
              <a:t> [1,2,3]. Implicit </a:t>
            </a:r>
            <a:r>
              <a:rPr lang="sv-SE" dirty="0" err="1"/>
              <a:t>that</a:t>
            </a:r>
            <a:r>
              <a:rPr lang="sv-SE" dirty="0"/>
              <a:t> </a:t>
            </a:r>
            <a:r>
              <a:rPr lang="sv-SE" dirty="0" err="1"/>
              <a:t>Size</a:t>
            </a:r>
            <a:r>
              <a:rPr lang="sv-SE" dirty="0"/>
              <a:t> 4 </a:t>
            </a:r>
            <a:r>
              <a:rPr lang="sv-SE" dirty="0" err="1"/>
              <a:t>was</a:t>
            </a:r>
            <a:r>
              <a:rPr lang="sv-SE" dirty="0"/>
              <a:t> absent</a:t>
            </a:r>
          </a:p>
        </p:txBody>
      </p:sp>
      <p:sp>
        <p:nvSpPr>
          <p:cNvPr id="9" name="TextBox 8"/>
          <p:cNvSpPr txBox="1"/>
          <p:nvPr/>
        </p:nvSpPr>
        <p:spPr>
          <a:xfrm>
            <a:off x="8564243" y="5721315"/>
            <a:ext cx="3194978" cy="646331"/>
          </a:xfrm>
          <a:prstGeom prst="rect">
            <a:avLst/>
          </a:prstGeom>
          <a:noFill/>
        </p:spPr>
        <p:txBody>
          <a:bodyPr wrap="square" rtlCol="0">
            <a:spAutoFit/>
          </a:bodyPr>
          <a:lstStyle/>
          <a:p>
            <a:r>
              <a:rPr lang="sv-SE" dirty="0" err="1"/>
              <a:t>Produces</a:t>
            </a:r>
            <a:r>
              <a:rPr lang="sv-SE" dirty="0"/>
              <a:t> </a:t>
            </a:r>
            <a:r>
              <a:rPr lang="sv-SE" dirty="0" err="1"/>
              <a:t>size</a:t>
            </a:r>
            <a:r>
              <a:rPr lang="sv-SE" dirty="0"/>
              <a:t> distribution </a:t>
            </a:r>
            <a:r>
              <a:rPr lang="sv-SE" b="1" dirty="0"/>
              <a:t>NA </a:t>
            </a:r>
            <a:r>
              <a:rPr lang="sv-SE" dirty="0" err="1"/>
              <a:t>during</a:t>
            </a:r>
            <a:r>
              <a:rPr lang="sv-SE" dirty="0"/>
              <a:t> </a:t>
            </a:r>
            <a:r>
              <a:rPr lang="sv-SE" dirty="0" err="1"/>
              <a:t>estimation</a:t>
            </a:r>
            <a:endParaRPr lang="sv-SE" dirty="0"/>
          </a:p>
        </p:txBody>
      </p:sp>
      <p:sp>
        <p:nvSpPr>
          <p:cNvPr id="10" name="TextBox 9"/>
          <p:cNvSpPr txBox="1"/>
          <p:nvPr/>
        </p:nvSpPr>
        <p:spPr>
          <a:xfrm>
            <a:off x="8564243" y="2448831"/>
            <a:ext cx="3194978" cy="646331"/>
          </a:xfrm>
          <a:prstGeom prst="rect">
            <a:avLst/>
          </a:prstGeom>
          <a:noFill/>
        </p:spPr>
        <p:txBody>
          <a:bodyPr wrap="square" rtlCol="0">
            <a:spAutoFit/>
          </a:bodyPr>
          <a:lstStyle/>
          <a:p>
            <a:r>
              <a:rPr lang="sv-SE" dirty="0" err="1"/>
              <a:t>Produces</a:t>
            </a:r>
            <a:r>
              <a:rPr lang="sv-SE" dirty="0"/>
              <a:t> </a:t>
            </a:r>
            <a:r>
              <a:rPr lang="sv-SE" dirty="0" err="1"/>
              <a:t>size</a:t>
            </a:r>
            <a:r>
              <a:rPr lang="sv-SE" dirty="0"/>
              <a:t> distribution </a:t>
            </a:r>
            <a:r>
              <a:rPr lang="sv-SE" dirty="0" err="1"/>
              <a:t>with</a:t>
            </a:r>
            <a:r>
              <a:rPr lang="sv-SE" dirty="0"/>
              <a:t> all </a:t>
            </a:r>
            <a:r>
              <a:rPr lang="sv-SE" dirty="0" err="1"/>
              <a:t>sizes</a:t>
            </a:r>
            <a:r>
              <a:rPr lang="sv-SE" dirty="0"/>
              <a:t> [1,2,3,4]</a:t>
            </a:r>
          </a:p>
        </p:txBody>
      </p:sp>
      <p:sp>
        <p:nvSpPr>
          <p:cNvPr id="14" name="Title 1"/>
          <p:cNvSpPr>
            <a:spLocks noGrp="1"/>
          </p:cNvSpPr>
          <p:nvPr>
            <p:ph type="title"/>
          </p:nvPr>
        </p:nvSpPr>
        <p:spPr>
          <a:xfrm>
            <a:off x="838200" y="365125"/>
            <a:ext cx="10515600" cy="1325563"/>
          </a:xfrm>
        </p:spPr>
        <p:txBody>
          <a:bodyPr>
            <a:normAutofit/>
          </a:bodyPr>
          <a:lstStyle/>
          <a:p>
            <a:r>
              <a:rPr lang="sv-SE" sz="4000" dirty="0"/>
              <a:t>RDBES: </a:t>
            </a:r>
            <a:r>
              <a:rPr lang="sv-SE" sz="4000" dirty="0" err="1"/>
              <a:t>capabilities</a:t>
            </a:r>
            <a:r>
              <a:rPr lang="sv-SE" sz="4000" dirty="0"/>
              <a:t> to </a:t>
            </a:r>
            <a:r>
              <a:rPr lang="sv-SE" sz="4000" dirty="0" err="1"/>
              <a:t>generate</a:t>
            </a:r>
            <a:r>
              <a:rPr lang="sv-SE" sz="4000" dirty="0"/>
              <a:t> </a:t>
            </a:r>
            <a:r>
              <a:rPr lang="sv-SE" sz="4000" dirty="0" err="1"/>
              <a:t>zeros</a:t>
            </a:r>
            <a:r>
              <a:rPr lang="sv-SE" sz="4000" dirty="0"/>
              <a:t> and NAs</a:t>
            </a:r>
          </a:p>
        </p:txBody>
      </p:sp>
      <p:graphicFrame>
        <p:nvGraphicFramePr>
          <p:cNvPr id="11" name="Table 10"/>
          <p:cNvGraphicFramePr>
            <a:graphicFrameLocks noGrp="1"/>
          </p:cNvGraphicFramePr>
          <p:nvPr>
            <p:extLst>
              <p:ext uri="{D42A27DB-BD31-4B8C-83A1-F6EECF244321}">
                <p14:modId xmlns:p14="http://schemas.microsoft.com/office/powerpoint/2010/main" val="2421929743"/>
              </p:ext>
            </p:extLst>
          </p:nvPr>
        </p:nvGraphicFramePr>
        <p:xfrm>
          <a:off x="1057277" y="3638692"/>
          <a:ext cx="7439741" cy="770192"/>
        </p:xfrm>
        <a:graphic>
          <a:graphicData uri="http://schemas.openxmlformats.org/drawingml/2006/table">
            <a:tbl>
              <a:tblPr firstRow="1" firstCol="1" bandRow="1"/>
              <a:tblGrid>
                <a:gridCol w="752397">
                  <a:extLst>
                    <a:ext uri="{9D8B030D-6E8A-4147-A177-3AD203B41FA5}">
                      <a16:colId xmlns:a16="http://schemas.microsoft.com/office/drawing/2014/main" val="2119763257"/>
                    </a:ext>
                  </a:extLst>
                </a:gridCol>
                <a:gridCol w="740712">
                  <a:extLst>
                    <a:ext uri="{9D8B030D-6E8A-4147-A177-3AD203B41FA5}">
                      <a16:colId xmlns:a16="http://schemas.microsoft.com/office/drawing/2014/main" val="3149028541"/>
                    </a:ext>
                  </a:extLst>
                </a:gridCol>
                <a:gridCol w="727729">
                  <a:extLst>
                    <a:ext uri="{9D8B030D-6E8A-4147-A177-3AD203B41FA5}">
                      <a16:colId xmlns:a16="http://schemas.microsoft.com/office/drawing/2014/main" val="2003286365"/>
                    </a:ext>
                  </a:extLst>
                </a:gridCol>
                <a:gridCol w="625807">
                  <a:extLst>
                    <a:ext uri="{9D8B030D-6E8A-4147-A177-3AD203B41FA5}">
                      <a16:colId xmlns:a16="http://schemas.microsoft.com/office/drawing/2014/main" val="3803328741"/>
                    </a:ext>
                  </a:extLst>
                </a:gridCol>
                <a:gridCol w="870547">
                  <a:extLst>
                    <a:ext uri="{9D8B030D-6E8A-4147-A177-3AD203B41FA5}">
                      <a16:colId xmlns:a16="http://schemas.microsoft.com/office/drawing/2014/main" val="3949074491"/>
                    </a:ext>
                  </a:extLst>
                </a:gridCol>
                <a:gridCol w="963382">
                  <a:extLst>
                    <a:ext uri="{9D8B030D-6E8A-4147-A177-3AD203B41FA5}">
                      <a16:colId xmlns:a16="http://schemas.microsoft.com/office/drawing/2014/main" val="2542248754"/>
                    </a:ext>
                  </a:extLst>
                </a:gridCol>
                <a:gridCol w="582687">
                  <a:extLst>
                    <a:ext uri="{9D8B030D-6E8A-4147-A177-3AD203B41FA5}">
                      <a16:colId xmlns:a16="http://schemas.microsoft.com/office/drawing/2014/main" val="3680122920"/>
                    </a:ext>
                  </a:extLst>
                </a:gridCol>
                <a:gridCol w="667630">
                  <a:extLst>
                    <a:ext uri="{9D8B030D-6E8A-4147-A177-3AD203B41FA5}">
                      <a16:colId xmlns:a16="http://schemas.microsoft.com/office/drawing/2014/main" val="3396986459"/>
                    </a:ext>
                  </a:extLst>
                </a:gridCol>
                <a:gridCol w="683509">
                  <a:extLst>
                    <a:ext uri="{9D8B030D-6E8A-4147-A177-3AD203B41FA5}">
                      <a16:colId xmlns:a16="http://schemas.microsoft.com/office/drawing/2014/main" val="2148008377"/>
                    </a:ext>
                  </a:extLst>
                </a:gridCol>
                <a:gridCol w="825341">
                  <a:extLst>
                    <a:ext uri="{9D8B030D-6E8A-4147-A177-3AD203B41FA5}">
                      <a16:colId xmlns:a16="http://schemas.microsoft.com/office/drawing/2014/main" val="600646287"/>
                    </a:ext>
                  </a:extLst>
                </a:gridCol>
              </a:tblGrid>
              <a:tr h="0">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SAid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SAcatch</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Fraction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SAspecies</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Code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SAstratum</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SAcomm</a:t>
                      </a:r>
                      <a:r>
                        <a:rPr lang="en-GB" sz="9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SizeCat</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US"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SAselectionMethod</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SAtotal</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9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SAsample</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sv-SE" sz="900" b="1" dirty="0" err="1">
                          <a:effectLst/>
                          <a:latin typeface="Calibri" panose="020F0502020204030204" pitchFamily="34" charset="0"/>
                          <a:ea typeface="Calibri" panose="020F0502020204030204" pitchFamily="34" charset="0"/>
                          <a:cs typeface="Times New Roman" panose="02020603050405020304" pitchFamily="18" charset="0"/>
                        </a:rPr>
                        <a:t>SAsampled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US" sz="900" b="1" dirty="0" err="1"/>
                        <a:t>SAreasonNotSampled</a:t>
                      </a:r>
                      <a:endParaRPr lang="sv-SE"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974140359"/>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CENSUS</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2933051"/>
                  </a:ext>
                </a:extLst>
              </a:tr>
              <a:tr h="0">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10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65710"/>
                  </a:ext>
                </a:extLst>
              </a:tr>
              <a:tr h="0">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Lan</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a:effectLst/>
                          <a:latin typeface="Calibri" panose="020F0502020204030204" pitchFamily="34" charset="0"/>
                          <a:ea typeface="Calibri" panose="020F0502020204030204" pitchFamily="34" charset="0"/>
                          <a:cs typeface="Times New Roman" panose="02020603050405020304" pitchFamily="18" charset="0"/>
                        </a:rPr>
                        <a:t>126436</a:t>
                      </a:r>
                      <a:endParaRPr lang="sv-S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Size 3</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GB" sz="900" b="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900" b="0" dirty="0">
                          <a:effectLst/>
                          <a:latin typeface="Calibri" panose="020F0502020204030204" pitchFamily="34" charset="0"/>
                          <a:ea typeface="Calibri" panose="020F0502020204030204" pitchFamily="34" charset="0"/>
                          <a:cs typeface="Times New Roman" panose="02020603050405020304" pitchFamily="18" charset="0"/>
                        </a:rPr>
                        <a:t>2</a:t>
                      </a: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900" b="0" dirty="0">
                          <a:effectLst/>
                          <a:latin typeface="Calibri" panose="020F0502020204030204" pitchFamily="34" charset="0"/>
                          <a:ea typeface="Calibri" panose="020F0502020204030204" pitchFamily="34" charset="0"/>
                          <a:cs typeface="Times New Roman" panose="02020603050405020304" pitchFamily="18" charset="0"/>
                        </a:rPr>
                        <a: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endParaRPr lang="sv-SE" sz="9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963410"/>
                  </a:ext>
                </a:extLst>
              </a:tr>
            </a:tbl>
          </a:graphicData>
        </a:graphic>
      </p:graphicFrame>
      <p:sp>
        <p:nvSpPr>
          <p:cNvPr id="2" name="TextBox 1"/>
          <p:cNvSpPr txBox="1"/>
          <p:nvPr/>
        </p:nvSpPr>
        <p:spPr>
          <a:xfrm>
            <a:off x="4276725" y="4965557"/>
            <a:ext cx="1508939" cy="369332"/>
          </a:xfrm>
          <a:prstGeom prst="rect">
            <a:avLst/>
          </a:prstGeom>
          <a:noFill/>
        </p:spPr>
        <p:txBody>
          <a:bodyPr wrap="none" rtlCol="0">
            <a:spAutoFit/>
          </a:bodyPr>
          <a:lstStyle/>
          <a:p>
            <a:r>
              <a:rPr lang="en-US" dirty="0"/>
              <a:t>Compare with</a:t>
            </a:r>
          </a:p>
        </p:txBody>
      </p:sp>
    </p:spTree>
    <p:extLst>
      <p:ext uri="{BB962C8B-B14F-4D97-AF65-F5344CB8AC3E}">
        <p14:creationId xmlns:p14="http://schemas.microsoft.com/office/powerpoint/2010/main" val="356801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4. Other types of non-response, failed sampling and refusals</a:t>
            </a:r>
          </a:p>
        </p:txBody>
      </p:sp>
      <p:sp>
        <p:nvSpPr>
          <p:cNvPr id="5" name="Content Placeholder 2"/>
          <p:cNvSpPr txBox="1">
            <a:spLocks/>
          </p:cNvSpPr>
          <p:nvPr/>
        </p:nvSpPr>
        <p:spPr>
          <a:xfrm>
            <a:off x="0" y="1341154"/>
            <a:ext cx="10515600" cy="40456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GB" dirty="0"/>
          </a:p>
          <a:p>
            <a:pPr lvl="2"/>
            <a:endParaRPr lang="en-GB" dirty="0"/>
          </a:p>
          <a:p>
            <a:pPr lvl="2"/>
            <a:r>
              <a:rPr lang="en-GB" dirty="0"/>
              <a:t>Did we fail to sample something we wanted to sample?</a:t>
            </a:r>
          </a:p>
        </p:txBody>
      </p:sp>
      <p:sp>
        <p:nvSpPr>
          <p:cNvPr id="6" name="Right Brace 5"/>
          <p:cNvSpPr/>
          <p:nvPr/>
        </p:nvSpPr>
        <p:spPr>
          <a:xfrm flipV="1">
            <a:off x="7090789" y="2053640"/>
            <a:ext cx="281562" cy="375234"/>
          </a:xfrm>
          <a:prstGeom prst="rightBrace">
            <a:avLst>
              <a:gd name="adj1" fmla="val 8333"/>
              <a:gd name="adj2" fmla="val 49554"/>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 name="TextBox 6"/>
          <p:cNvSpPr txBox="1"/>
          <p:nvPr/>
        </p:nvSpPr>
        <p:spPr>
          <a:xfrm>
            <a:off x="7602153" y="1973572"/>
            <a:ext cx="4611647" cy="584775"/>
          </a:xfrm>
          <a:prstGeom prst="rect">
            <a:avLst/>
          </a:prstGeom>
          <a:noFill/>
        </p:spPr>
        <p:txBody>
          <a:bodyPr wrap="none" rtlCol="0">
            <a:spAutoFit/>
          </a:bodyPr>
          <a:lstStyle/>
          <a:p>
            <a:r>
              <a:rPr lang="en-US" sz="1600" dirty="0"/>
              <a:t>The RDBES handles this issue via its </a:t>
            </a:r>
            <a:r>
              <a:rPr lang="en-US" sz="1600" b="1" dirty="0"/>
              <a:t>Design Variables </a:t>
            </a:r>
            <a:br>
              <a:rPr lang="en-US" sz="1600" b="1" dirty="0"/>
            </a:br>
            <a:r>
              <a:rPr lang="en-US" sz="1600" b="1" dirty="0"/>
              <a:t>“</a:t>
            </a:r>
            <a:r>
              <a:rPr lang="en-US" sz="1600" b="1" dirty="0" err="1">
                <a:solidFill>
                  <a:srgbClr val="FF0000"/>
                </a:solidFill>
              </a:rPr>
              <a:t>XX</a:t>
            </a:r>
            <a:r>
              <a:rPr lang="en-US" sz="1600" b="1" dirty="0" err="1"/>
              <a:t>sampled</a:t>
            </a:r>
            <a:r>
              <a:rPr lang="en-US" sz="1600" b="1" dirty="0"/>
              <a:t>” and “</a:t>
            </a:r>
            <a:r>
              <a:rPr lang="en-US" sz="1600" b="1" dirty="0" err="1">
                <a:solidFill>
                  <a:srgbClr val="FF0000"/>
                </a:solidFill>
              </a:rPr>
              <a:t>XX</a:t>
            </a:r>
            <a:r>
              <a:rPr lang="en-US" sz="1600" b="1" dirty="0" err="1"/>
              <a:t>reasonNotSampled</a:t>
            </a:r>
            <a:r>
              <a:rPr lang="en-US" sz="1600" b="1" dirty="0"/>
              <a:t>”</a:t>
            </a:r>
            <a:endParaRPr lang="sv-SE" sz="1600" b="1" dirty="0"/>
          </a:p>
        </p:txBody>
      </p:sp>
      <p:sp>
        <p:nvSpPr>
          <p:cNvPr id="8" name="Rectangle 7"/>
          <p:cNvSpPr/>
          <p:nvPr/>
        </p:nvSpPr>
        <p:spPr>
          <a:xfrm>
            <a:off x="10215015" y="2702731"/>
            <a:ext cx="1703030" cy="276999"/>
          </a:xfrm>
          <a:prstGeom prst="rect">
            <a:avLst/>
          </a:prstGeom>
        </p:spPr>
        <p:txBody>
          <a:bodyPr wrap="none">
            <a:spAutoFit/>
          </a:bodyPr>
          <a:lstStyle/>
          <a:p>
            <a:r>
              <a:rPr lang="en-US" sz="1200" dirty="0"/>
              <a:t>Where </a:t>
            </a:r>
            <a:r>
              <a:rPr lang="en-US" sz="1200" dirty="0">
                <a:solidFill>
                  <a:srgbClr val="FF0000"/>
                </a:solidFill>
              </a:rPr>
              <a:t>XX =</a:t>
            </a:r>
            <a:r>
              <a:rPr lang="en-US" sz="1200" dirty="0"/>
              <a:t> Table name</a:t>
            </a:r>
            <a:r>
              <a:rPr lang="en-US" sz="1200" dirty="0">
                <a:solidFill>
                  <a:srgbClr val="FF0000"/>
                </a:solidFill>
              </a:rPr>
              <a:t> </a:t>
            </a:r>
            <a:endParaRPr lang="en-US" sz="1200" dirty="0"/>
          </a:p>
        </p:txBody>
      </p:sp>
      <p:graphicFrame>
        <p:nvGraphicFramePr>
          <p:cNvPr id="9" name="Table 8"/>
          <p:cNvGraphicFramePr>
            <a:graphicFrameLocks noGrp="1"/>
          </p:cNvGraphicFramePr>
          <p:nvPr>
            <p:extLst>
              <p:ext uri="{D42A27DB-BD31-4B8C-83A1-F6EECF244321}">
                <p14:modId xmlns:p14="http://schemas.microsoft.com/office/powerpoint/2010/main" val="4259195308"/>
              </p:ext>
            </p:extLst>
          </p:nvPr>
        </p:nvGraphicFramePr>
        <p:xfrm>
          <a:off x="1897472" y="3278296"/>
          <a:ext cx="9467228" cy="2223587"/>
        </p:xfrm>
        <a:graphic>
          <a:graphicData uri="http://schemas.openxmlformats.org/drawingml/2006/table">
            <a:tbl>
              <a:tblPr firstRow="1" firstCol="1" bandRow="1"/>
              <a:tblGrid>
                <a:gridCol w="1233472">
                  <a:extLst>
                    <a:ext uri="{9D8B030D-6E8A-4147-A177-3AD203B41FA5}">
                      <a16:colId xmlns:a16="http://schemas.microsoft.com/office/drawing/2014/main" val="3279004374"/>
                    </a:ext>
                  </a:extLst>
                </a:gridCol>
                <a:gridCol w="1728356">
                  <a:extLst>
                    <a:ext uri="{9D8B030D-6E8A-4147-A177-3AD203B41FA5}">
                      <a16:colId xmlns:a16="http://schemas.microsoft.com/office/drawing/2014/main" val="4019017148"/>
                    </a:ext>
                  </a:extLst>
                </a:gridCol>
                <a:gridCol w="1480914">
                  <a:extLst>
                    <a:ext uri="{9D8B030D-6E8A-4147-A177-3AD203B41FA5}">
                      <a16:colId xmlns:a16="http://schemas.microsoft.com/office/drawing/2014/main" val="1815845220"/>
                    </a:ext>
                  </a:extLst>
                </a:gridCol>
                <a:gridCol w="1682770">
                  <a:extLst>
                    <a:ext uri="{9D8B030D-6E8A-4147-A177-3AD203B41FA5}">
                      <a16:colId xmlns:a16="http://schemas.microsoft.com/office/drawing/2014/main" val="3328996334"/>
                    </a:ext>
                  </a:extLst>
                </a:gridCol>
                <a:gridCol w="1279058">
                  <a:extLst>
                    <a:ext uri="{9D8B030D-6E8A-4147-A177-3AD203B41FA5}">
                      <a16:colId xmlns:a16="http://schemas.microsoft.com/office/drawing/2014/main" val="2600518372"/>
                    </a:ext>
                  </a:extLst>
                </a:gridCol>
                <a:gridCol w="2062658">
                  <a:extLst>
                    <a:ext uri="{9D8B030D-6E8A-4147-A177-3AD203B41FA5}">
                      <a16:colId xmlns:a16="http://schemas.microsoft.com/office/drawing/2014/main" val="1053564819"/>
                    </a:ext>
                  </a:extLst>
                </a:gridCol>
              </a:tblGrid>
              <a:tr h="437385">
                <a:tc>
                  <a:txBody>
                    <a:bodyPr/>
                    <a:lstStyle/>
                    <a:p>
                      <a:pPr algn="ctr">
                        <a:lnSpc>
                          <a:spcPct val="107000"/>
                        </a:lnSpc>
                        <a:spcAft>
                          <a:spcPts val="0"/>
                        </a:spcAft>
                      </a:pPr>
                      <a:r>
                        <a:rPr lang="sv-SE" sz="1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VSid</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1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VSselectionMethod</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1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VsnumberTotal</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en-GB" sz="16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VSnumberSample</a:t>
                      </a:r>
                      <a:r>
                        <a:rPr lang="en-GB" sz="16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algn="ctr" defTabSz="914400" rtl="0" eaLnBrk="1" latinLnBrk="0" hangingPunct="1">
                        <a:lnSpc>
                          <a:spcPct val="107000"/>
                        </a:lnSpc>
                        <a:spcAft>
                          <a:spcPts val="0"/>
                        </a:spcAft>
                      </a:pPr>
                      <a:r>
                        <a:rPr lang="en-US" sz="1600" b="1" kern="12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VSsampled</a:t>
                      </a:r>
                      <a:endParaRPr lang="sv-SE" sz="1600" b="1"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07000"/>
                        </a:lnSpc>
                        <a:spcAft>
                          <a:spcPts val="0"/>
                        </a:spcAft>
                      </a:pPr>
                      <a:r>
                        <a:rPr lang="sv-SE" sz="1600" b="1" dirty="0" err="1">
                          <a:effectLst/>
                          <a:latin typeface="Calibri" panose="020F0502020204030204" pitchFamily="34" charset="0"/>
                          <a:ea typeface="Times New Roman" panose="02020603050405020304" pitchFamily="18" charset="0"/>
                          <a:cs typeface="Times New Roman" panose="02020603050405020304" pitchFamily="18" charset="0"/>
                        </a:rPr>
                        <a:t>VSnoSampReason</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91155347"/>
                  </a:ext>
                </a:extLst>
              </a:tr>
              <a:tr h="253587">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dirty="0"/>
                        <a:t>Y</a:t>
                      </a:r>
                      <a:endParaRPr lang="sv-SE" sz="1600" dirty="0"/>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66331"/>
                  </a:ext>
                </a:extLst>
              </a:tr>
              <a:tr h="253587">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dirty="0"/>
                        <a:t>Y</a:t>
                      </a:r>
                      <a:endParaRPr lang="sv-SE" sz="1600" dirty="0"/>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8097623"/>
                  </a:ext>
                </a:extLst>
              </a:tr>
              <a:tr h="253587">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dirty="0"/>
                        <a:t>Y</a:t>
                      </a:r>
                      <a:endParaRPr lang="sv-SE" sz="1600" dirty="0"/>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1331061"/>
                  </a:ext>
                </a:extLst>
              </a:tr>
              <a:tr h="253587">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dirty="0"/>
                        <a:t>Y</a:t>
                      </a:r>
                      <a:endParaRPr lang="sv-SE" sz="1600" dirty="0"/>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4298203"/>
                  </a:ext>
                </a:extLst>
              </a:tr>
              <a:tr h="771854">
                <a:tc>
                  <a:txBody>
                    <a:bodyPr/>
                    <a:lstStyle/>
                    <a:p>
                      <a:pPr algn="ctr">
                        <a:lnSpc>
                          <a:spcPct val="107000"/>
                        </a:lnSpc>
                        <a:spcAft>
                          <a:spcPts val="0"/>
                        </a:spcAft>
                      </a:pPr>
                      <a:r>
                        <a:rPr lang="sv-SE" sz="16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v-SE" sz="160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SRSWOR</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a:t>
                      </a:r>
                      <a:endParaRPr lang="sv-S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dirty="0"/>
                        <a:t>N</a:t>
                      </a:r>
                      <a:endParaRPr lang="sv-SE" sz="1600" dirty="0"/>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sv-SE" sz="16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IndustrialDecline</a:t>
                      </a:r>
                      <a:endParaRPr lang="sv-SE" sz="16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28641" marR="2864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0687252"/>
                  </a:ext>
                </a:extLst>
              </a:tr>
            </a:tbl>
          </a:graphicData>
        </a:graphic>
      </p:graphicFrame>
      <p:sp>
        <p:nvSpPr>
          <p:cNvPr id="10" name="TextBox 9"/>
          <p:cNvSpPr txBox="1"/>
          <p:nvPr/>
        </p:nvSpPr>
        <p:spPr>
          <a:xfrm>
            <a:off x="4789714" y="6178202"/>
            <a:ext cx="6564085" cy="369332"/>
          </a:xfrm>
          <a:prstGeom prst="rect">
            <a:avLst/>
          </a:prstGeom>
          <a:noFill/>
        </p:spPr>
        <p:txBody>
          <a:bodyPr wrap="square" rtlCol="0">
            <a:spAutoFit/>
          </a:bodyPr>
          <a:lstStyle/>
          <a:p>
            <a:r>
              <a:rPr lang="en-US" dirty="0"/>
              <a:t>*Present guidelines: declare the number of vessels actually sampled </a:t>
            </a:r>
            <a:endParaRPr lang="sv-SE" dirty="0"/>
          </a:p>
        </p:txBody>
      </p:sp>
    </p:spTree>
    <p:extLst>
      <p:ext uri="{BB962C8B-B14F-4D97-AF65-F5344CB8AC3E}">
        <p14:creationId xmlns:p14="http://schemas.microsoft.com/office/powerpoint/2010/main" val="2602878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err="1"/>
              <a:t>Current</a:t>
            </a:r>
            <a:r>
              <a:rPr lang="sv-SE" sz="3600" dirty="0"/>
              <a:t> </a:t>
            </a:r>
            <a:r>
              <a:rPr lang="sv-SE" sz="3600" dirty="0" err="1"/>
              <a:t>code</a:t>
            </a:r>
            <a:r>
              <a:rPr lang="sv-SE" sz="3600" dirty="0"/>
              <a:t> list for </a:t>
            </a:r>
            <a:r>
              <a:rPr lang="en-US" sz="3600" dirty="0" err="1"/>
              <a:t>ReasonForNotSampling</a:t>
            </a:r>
            <a:r>
              <a:rPr lang="en-US" sz="3600" dirty="0"/>
              <a:t> (*)</a:t>
            </a:r>
            <a:endParaRPr lang="sv-SE" sz="3600" dirty="0"/>
          </a:p>
        </p:txBody>
      </p:sp>
      <p:graphicFrame>
        <p:nvGraphicFramePr>
          <p:cNvPr id="4" name="Table 3"/>
          <p:cNvGraphicFramePr>
            <a:graphicFrameLocks noGrp="1"/>
          </p:cNvGraphicFramePr>
          <p:nvPr>
            <p:extLst>
              <p:ext uri="{D42A27DB-BD31-4B8C-83A1-F6EECF244321}">
                <p14:modId xmlns:p14="http://schemas.microsoft.com/office/powerpoint/2010/main" val="334782008"/>
              </p:ext>
            </p:extLst>
          </p:nvPr>
        </p:nvGraphicFramePr>
        <p:xfrm>
          <a:off x="2241429" y="1483884"/>
          <a:ext cx="7709141" cy="3372993"/>
        </p:xfrm>
        <a:graphic>
          <a:graphicData uri="http://schemas.openxmlformats.org/drawingml/2006/table">
            <a:tbl>
              <a:tblPr>
                <a:tableStyleId>{5C22544A-7EE6-4342-B048-85BDC9FD1C3A}</a:tableStyleId>
              </a:tblPr>
              <a:tblGrid>
                <a:gridCol w="2101971">
                  <a:extLst>
                    <a:ext uri="{9D8B030D-6E8A-4147-A177-3AD203B41FA5}">
                      <a16:colId xmlns:a16="http://schemas.microsoft.com/office/drawing/2014/main" val="2285284163"/>
                    </a:ext>
                  </a:extLst>
                </a:gridCol>
                <a:gridCol w="5607170">
                  <a:extLst>
                    <a:ext uri="{9D8B030D-6E8A-4147-A177-3AD203B41FA5}">
                      <a16:colId xmlns:a16="http://schemas.microsoft.com/office/drawing/2014/main" val="3728876055"/>
                    </a:ext>
                  </a:extLst>
                </a:gridCol>
              </a:tblGrid>
              <a:tr h="200025">
                <a:tc>
                  <a:txBody>
                    <a:bodyPr/>
                    <a:lstStyle/>
                    <a:p>
                      <a:pPr algn="l" fontAlgn="b"/>
                      <a:r>
                        <a:rPr lang="sv-SE" sz="1400" b="1" u="none" strike="noStrike" dirty="0" err="1">
                          <a:effectLst/>
                        </a:rPr>
                        <a:t>Code</a:t>
                      </a:r>
                      <a:endParaRPr lang="sv-SE" sz="1400" b="1"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fontAlgn="b"/>
                      <a:r>
                        <a:rPr lang="sv-SE" sz="1400" b="1" u="none" strike="noStrike" dirty="0" err="1">
                          <a:effectLst/>
                        </a:rPr>
                        <a:t>Description</a:t>
                      </a:r>
                      <a:endParaRPr lang="sv-SE" sz="1400" b="1"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970008693"/>
                  </a:ext>
                </a:extLst>
              </a:tr>
              <a:tr h="161925">
                <a:tc>
                  <a:txBody>
                    <a:bodyPr/>
                    <a:lstStyle/>
                    <a:p>
                      <a:pPr algn="l" fontAlgn="b">
                        <a:lnSpc>
                          <a:spcPct val="150000"/>
                        </a:lnSpc>
                      </a:pPr>
                      <a:r>
                        <a:rPr lang="sv-SE" sz="1400" u="none" strike="noStrike" dirty="0" err="1">
                          <a:effectLst/>
                        </a:rPr>
                        <a:t>CameraNotWorking</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a:effectLst/>
                        </a:rPr>
                        <a:t>Camera not </a:t>
                      </a:r>
                      <a:r>
                        <a:rPr lang="sv-SE" sz="1400" u="none" strike="noStrike" dirty="0" err="1">
                          <a:effectLst/>
                        </a:rPr>
                        <a:t>working</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823802"/>
                  </a:ext>
                </a:extLst>
              </a:tr>
              <a:tr h="161925">
                <a:tc>
                  <a:txBody>
                    <a:bodyPr/>
                    <a:lstStyle/>
                    <a:p>
                      <a:pPr algn="l" fontAlgn="b">
                        <a:lnSpc>
                          <a:spcPct val="150000"/>
                        </a:lnSpc>
                      </a:pPr>
                      <a:r>
                        <a:rPr lang="sv-SE" sz="1400" u="none" strike="noStrike" dirty="0" err="1">
                          <a:effectLst/>
                        </a:rPr>
                        <a:t>CameraViewObstructed</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err="1">
                          <a:effectLst/>
                        </a:rPr>
                        <a:t>Obstruction</a:t>
                      </a:r>
                      <a:r>
                        <a:rPr lang="sv-SE" sz="1400" u="none" strike="noStrike" dirty="0">
                          <a:effectLst/>
                        </a:rPr>
                        <a:t> </a:t>
                      </a:r>
                      <a:r>
                        <a:rPr lang="sv-SE" sz="1400" u="none" strike="noStrike" dirty="0" err="1">
                          <a:effectLst/>
                        </a:rPr>
                        <a:t>of</a:t>
                      </a:r>
                      <a:r>
                        <a:rPr lang="sv-SE" sz="1400" u="none" strike="noStrike" dirty="0">
                          <a:effectLst/>
                        </a:rPr>
                        <a:t> </a:t>
                      </a:r>
                      <a:r>
                        <a:rPr lang="sv-SE" sz="1400" u="none" strike="noStrike" dirty="0" err="1">
                          <a:effectLst/>
                        </a:rPr>
                        <a:t>camera</a:t>
                      </a:r>
                      <a:r>
                        <a:rPr lang="sv-SE" sz="1400" u="none" strike="noStrike" dirty="0">
                          <a:effectLst/>
                        </a:rPr>
                        <a:t> </a:t>
                      </a:r>
                      <a:r>
                        <a:rPr lang="sv-SE" sz="1400" u="none" strike="noStrike" dirty="0" err="1">
                          <a:effectLst/>
                        </a:rPr>
                        <a:t>view</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073762"/>
                  </a:ext>
                </a:extLst>
              </a:tr>
              <a:tr h="161925">
                <a:tc>
                  <a:txBody>
                    <a:bodyPr/>
                    <a:lstStyle/>
                    <a:p>
                      <a:pPr algn="l" fontAlgn="b">
                        <a:lnSpc>
                          <a:spcPct val="150000"/>
                        </a:lnSpc>
                      </a:pPr>
                      <a:r>
                        <a:rPr lang="sv-SE" sz="1400" u="none" strike="noStrike" dirty="0" err="1">
                          <a:effectLst/>
                        </a:rPr>
                        <a:t>IndustrialDecline</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a:effectLst/>
                        </a:rPr>
                        <a:t>Industrial </a:t>
                      </a:r>
                      <a:r>
                        <a:rPr lang="sv-SE" sz="1400" u="none" strike="noStrike" dirty="0" err="1">
                          <a:effectLst/>
                        </a:rPr>
                        <a:t>Decline</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7796937"/>
                  </a:ext>
                </a:extLst>
              </a:tr>
              <a:tr h="161925">
                <a:tc>
                  <a:txBody>
                    <a:bodyPr/>
                    <a:lstStyle/>
                    <a:p>
                      <a:pPr algn="l" fontAlgn="b">
                        <a:lnSpc>
                          <a:spcPct val="150000"/>
                        </a:lnSpc>
                      </a:pPr>
                      <a:r>
                        <a:rPr lang="sv-SE" sz="1400" u="none" strike="noStrike" dirty="0" err="1">
                          <a:effectLst/>
                        </a:rPr>
                        <a:t>NoAnswer</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a:effectLst/>
                        </a:rPr>
                        <a:t>No Answer</a:t>
                      </a:r>
                      <a:endParaRPr lang="sv-SE" sz="1400" b="0" i="0" u="none" strike="noStrike">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5138852"/>
                  </a:ext>
                </a:extLst>
              </a:tr>
              <a:tr h="161925">
                <a:tc>
                  <a:txBody>
                    <a:bodyPr/>
                    <a:lstStyle/>
                    <a:p>
                      <a:pPr algn="l" fontAlgn="b">
                        <a:lnSpc>
                          <a:spcPct val="150000"/>
                        </a:lnSpc>
                      </a:pPr>
                      <a:r>
                        <a:rPr lang="sv-SE" sz="1400" u="none" strike="noStrike" dirty="0" err="1">
                          <a:effectLst/>
                        </a:rPr>
                        <a:t>NoContactDetails</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a:effectLst/>
                        </a:rPr>
                        <a:t>No Contact </a:t>
                      </a:r>
                      <a:r>
                        <a:rPr lang="sv-SE" sz="1400" u="none" strike="noStrike" dirty="0" err="1">
                          <a:effectLst/>
                        </a:rPr>
                        <a:t>Details</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189578"/>
                  </a:ext>
                </a:extLst>
              </a:tr>
              <a:tr h="161925">
                <a:tc>
                  <a:txBody>
                    <a:bodyPr/>
                    <a:lstStyle/>
                    <a:p>
                      <a:pPr algn="l" fontAlgn="b">
                        <a:lnSpc>
                          <a:spcPct val="150000"/>
                        </a:lnSpc>
                      </a:pPr>
                      <a:r>
                        <a:rPr lang="sv-SE" sz="1400" u="none" strike="noStrike" dirty="0" err="1">
                          <a:effectLst/>
                        </a:rPr>
                        <a:t>NotAvailable</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a:effectLst/>
                        </a:rPr>
                        <a:t>Not </a:t>
                      </a:r>
                      <a:r>
                        <a:rPr lang="sv-SE" sz="1400" u="none" strike="noStrike" dirty="0" err="1">
                          <a:effectLst/>
                        </a:rPr>
                        <a:t>Available</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952812"/>
                  </a:ext>
                </a:extLst>
              </a:tr>
              <a:tr h="161925">
                <a:tc>
                  <a:txBody>
                    <a:bodyPr/>
                    <a:lstStyle/>
                    <a:p>
                      <a:pPr algn="l" fontAlgn="b">
                        <a:lnSpc>
                          <a:spcPct val="150000"/>
                        </a:lnSpc>
                      </a:pPr>
                      <a:r>
                        <a:rPr lang="sv-SE" sz="1400" u="none" strike="noStrike" dirty="0" err="1">
                          <a:effectLst/>
                        </a:rPr>
                        <a:t>ObserverDeclined</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a:effectLst/>
                        </a:rPr>
                        <a:t>Observer </a:t>
                      </a:r>
                      <a:r>
                        <a:rPr lang="sv-SE" sz="1400" u="none" strike="noStrike" dirty="0" err="1">
                          <a:effectLst/>
                        </a:rPr>
                        <a:t>Decline</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4854067"/>
                  </a:ext>
                </a:extLst>
              </a:tr>
              <a:tr h="161925">
                <a:tc>
                  <a:txBody>
                    <a:bodyPr/>
                    <a:lstStyle/>
                    <a:p>
                      <a:pPr algn="l" fontAlgn="b">
                        <a:lnSpc>
                          <a:spcPct val="150000"/>
                        </a:lnSpc>
                      </a:pPr>
                      <a:r>
                        <a:rPr lang="sv-SE" sz="1400" u="none" strike="noStrike" dirty="0" err="1">
                          <a:effectLst/>
                        </a:rPr>
                        <a:t>PoorImageQuality</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err="1">
                          <a:effectLst/>
                        </a:rPr>
                        <a:t>Poor</a:t>
                      </a:r>
                      <a:r>
                        <a:rPr lang="sv-SE" sz="1400" u="none" strike="noStrike" dirty="0">
                          <a:effectLst/>
                        </a:rPr>
                        <a:t> Image </a:t>
                      </a:r>
                      <a:r>
                        <a:rPr lang="sv-SE" sz="1400" u="none" strike="noStrike" dirty="0" err="1">
                          <a:effectLst/>
                        </a:rPr>
                        <a:t>Quality</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0167901"/>
                  </a:ext>
                </a:extLst>
              </a:tr>
              <a:tr h="161925">
                <a:tc>
                  <a:txBody>
                    <a:bodyPr/>
                    <a:lstStyle/>
                    <a:p>
                      <a:pPr algn="l" fontAlgn="b">
                        <a:lnSpc>
                          <a:spcPct val="150000"/>
                        </a:lnSpc>
                      </a:pPr>
                      <a:r>
                        <a:rPr lang="sv-SE" sz="1400" u="none" strike="noStrike" dirty="0" err="1">
                          <a:effectLst/>
                        </a:rPr>
                        <a:t>QuotaReached</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err="1">
                          <a:effectLst/>
                        </a:rPr>
                        <a:t>Quota</a:t>
                      </a:r>
                      <a:r>
                        <a:rPr lang="sv-SE" sz="1400" u="none" strike="noStrike" dirty="0">
                          <a:effectLst/>
                        </a:rPr>
                        <a:t> </a:t>
                      </a:r>
                      <a:r>
                        <a:rPr lang="sv-SE" sz="1400" u="none" strike="noStrike" dirty="0" err="1">
                          <a:effectLst/>
                        </a:rPr>
                        <a:t>Reached</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9236503"/>
                  </a:ext>
                </a:extLst>
              </a:tr>
              <a:tr h="161925">
                <a:tc>
                  <a:txBody>
                    <a:bodyPr/>
                    <a:lstStyle/>
                    <a:p>
                      <a:pPr algn="l" fontAlgn="b">
                        <a:lnSpc>
                          <a:spcPct val="150000"/>
                        </a:lnSpc>
                      </a:pPr>
                      <a:r>
                        <a:rPr lang="sv-SE" sz="1400" u="none" strike="noStrike" dirty="0" err="1">
                          <a:effectLst/>
                        </a:rPr>
                        <a:t>Other</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sv-SE" sz="1400" u="none" strike="noStrike" dirty="0" err="1">
                          <a:effectLst/>
                        </a:rPr>
                        <a:t>Other</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259768"/>
                  </a:ext>
                </a:extLst>
              </a:tr>
              <a:tr h="200025">
                <a:tc>
                  <a:txBody>
                    <a:bodyPr/>
                    <a:lstStyle/>
                    <a:p>
                      <a:pPr algn="l" fontAlgn="b">
                        <a:lnSpc>
                          <a:spcPct val="150000"/>
                        </a:lnSpc>
                      </a:pPr>
                      <a:r>
                        <a:rPr lang="sv-SE" sz="1400" u="none" strike="noStrike" dirty="0" err="1">
                          <a:effectLst/>
                        </a:rPr>
                        <a:t>Unknown</a:t>
                      </a:r>
                      <a:endParaRPr lang="sv-SE"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en-US" sz="1400" u="none" strike="noStrike" dirty="0">
                          <a:effectLst/>
                        </a:rPr>
                        <a:t>Non-response for unknown reason or reason not recorded</a:t>
                      </a:r>
                      <a:endParaRPr lang="en-US" sz="14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1256840"/>
                  </a:ext>
                </a:extLst>
              </a:tr>
              <a:tr h="200025">
                <a:tc>
                  <a:txBody>
                    <a:bodyPr/>
                    <a:lstStyle/>
                    <a:p>
                      <a:pPr algn="l" fontAlgn="b">
                        <a:lnSpc>
                          <a:spcPct val="150000"/>
                        </a:lnSpc>
                      </a:pPr>
                      <a:r>
                        <a:rPr lang="sv-SE" sz="1400" b="0" i="0" u="none" strike="noStrike" dirty="0" err="1">
                          <a:solidFill>
                            <a:schemeClr val="accent3">
                              <a:lumMod val="75000"/>
                            </a:schemeClr>
                          </a:solidFill>
                          <a:effectLst/>
                          <a:latin typeface="+mn-lt"/>
                        </a:rPr>
                        <a:t>OutOfFrame</a:t>
                      </a:r>
                      <a:r>
                        <a:rPr lang="sv-SE" sz="1400" b="0" i="0" u="none" strike="noStrike" dirty="0">
                          <a:solidFill>
                            <a:schemeClr val="accent3">
                              <a:lumMod val="75000"/>
                            </a:schemeClr>
                          </a:solidFill>
                          <a:effectLst/>
                          <a:latin typeface="+mn-lt"/>
                        </a:rPr>
                        <a:t>*</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lnSpc>
                          <a:spcPct val="150000"/>
                        </a:lnSpc>
                      </a:pPr>
                      <a:r>
                        <a:rPr lang="en-US" sz="1400" dirty="0">
                          <a:solidFill>
                            <a:schemeClr val="accent3">
                              <a:lumMod val="75000"/>
                            </a:schemeClr>
                          </a:solidFill>
                        </a:rPr>
                        <a:t>Not included in sampling frame*</a:t>
                      </a:r>
                      <a:endParaRPr lang="en-US" sz="1400" b="0" i="0" u="none" strike="noStrike" dirty="0">
                        <a:solidFill>
                          <a:schemeClr val="accent3">
                            <a:lumMod val="75000"/>
                          </a:schemeClr>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940886"/>
                  </a:ext>
                </a:extLst>
              </a:tr>
            </a:tbl>
          </a:graphicData>
        </a:graphic>
      </p:graphicFrame>
      <p:sp>
        <p:nvSpPr>
          <p:cNvPr id="5" name="TextBox 4"/>
          <p:cNvSpPr txBox="1"/>
          <p:nvPr/>
        </p:nvSpPr>
        <p:spPr>
          <a:xfrm>
            <a:off x="5101614" y="5955420"/>
            <a:ext cx="6646178" cy="646331"/>
          </a:xfrm>
          <a:prstGeom prst="rect">
            <a:avLst/>
          </a:prstGeom>
          <a:solidFill>
            <a:schemeClr val="accent6">
              <a:lumMod val="40000"/>
              <a:lumOff val="60000"/>
            </a:schemeClr>
          </a:solidFill>
          <a:ln>
            <a:solidFill>
              <a:srgbClr val="002060"/>
            </a:solidFill>
          </a:ln>
        </p:spPr>
        <p:txBody>
          <a:bodyPr wrap="none" rtlCol="0">
            <a:spAutoFit/>
          </a:bodyPr>
          <a:lstStyle/>
          <a:p>
            <a:r>
              <a:rPr lang="en-US" i="1" dirty="0"/>
              <a:t>Help the core group improve this list</a:t>
            </a:r>
          </a:p>
          <a:p>
            <a:r>
              <a:rPr lang="en-US" i="1" dirty="0"/>
              <a:t>	– provide examples of </a:t>
            </a:r>
            <a:r>
              <a:rPr lang="en-US" i="1" dirty="0" err="1"/>
              <a:t>NAreasons</a:t>
            </a:r>
            <a:r>
              <a:rPr lang="en-US" i="1" dirty="0"/>
              <a:t> based on your experience</a:t>
            </a:r>
            <a:endParaRPr lang="sv-SE" i="1" dirty="0"/>
          </a:p>
        </p:txBody>
      </p:sp>
      <p:sp>
        <p:nvSpPr>
          <p:cNvPr id="3" name="TextBox 2"/>
          <p:cNvSpPr txBox="1"/>
          <p:nvPr/>
        </p:nvSpPr>
        <p:spPr>
          <a:xfrm>
            <a:off x="5535019" y="5586088"/>
            <a:ext cx="5844420" cy="369332"/>
          </a:xfrm>
          <a:prstGeom prst="rect">
            <a:avLst/>
          </a:prstGeom>
          <a:noFill/>
        </p:spPr>
        <p:txBody>
          <a:bodyPr wrap="none" rtlCol="0">
            <a:spAutoFit/>
          </a:bodyPr>
          <a:lstStyle/>
          <a:p>
            <a:r>
              <a:rPr lang="en-US" dirty="0"/>
              <a:t>*</a:t>
            </a:r>
            <a:r>
              <a:rPr lang="en-US" dirty="0" err="1"/>
              <a:t>outOfFrame</a:t>
            </a:r>
            <a:r>
              <a:rPr lang="en-US" dirty="0"/>
              <a:t> still being discussed at core-group (issue </a:t>
            </a:r>
            <a:r>
              <a:rPr lang="en-US" b="1" dirty="0"/>
              <a:t>#142</a:t>
            </a:r>
            <a:r>
              <a:rPr lang="en-US" dirty="0"/>
              <a:t>)</a:t>
            </a:r>
          </a:p>
        </p:txBody>
      </p:sp>
    </p:spTree>
    <p:extLst>
      <p:ext uri="{BB962C8B-B14F-4D97-AF65-F5344CB8AC3E}">
        <p14:creationId xmlns:p14="http://schemas.microsoft.com/office/powerpoint/2010/main" val="3254404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a:t>5. Some highlights of by-catch related potental of RDBES</a:t>
            </a:r>
          </a:p>
        </p:txBody>
      </p:sp>
      <p:sp>
        <p:nvSpPr>
          <p:cNvPr id="3" name="Content Placeholder 2"/>
          <p:cNvSpPr>
            <a:spLocks noGrp="1"/>
          </p:cNvSpPr>
          <p:nvPr>
            <p:ph idx="1"/>
          </p:nvPr>
        </p:nvSpPr>
        <p:spPr/>
        <p:txBody>
          <a:bodyPr>
            <a:normAutofit/>
          </a:bodyPr>
          <a:lstStyle/>
          <a:p>
            <a:r>
              <a:rPr lang="sv-SE" dirty="0" err="1"/>
              <a:t>Result</a:t>
            </a:r>
            <a:r>
              <a:rPr lang="sv-SE" dirty="0"/>
              <a:t> </a:t>
            </a:r>
            <a:r>
              <a:rPr lang="sv-SE" dirty="0" err="1"/>
              <a:t>Intersessional</a:t>
            </a:r>
            <a:r>
              <a:rPr lang="sv-SE" dirty="0"/>
              <a:t> </a:t>
            </a:r>
            <a:r>
              <a:rPr lang="sv-SE" dirty="0" err="1"/>
              <a:t>work</a:t>
            </a:r>
            <a:r>
              <a:rPr lang="sv-SE" dirty="0"/>
              <a:t> </a:t>
            </a:r>
            <a:r>
              <a:rPr lang="sv-SE" dirty="0" err="1"/>
              <a:t>with</a:t>
            </a:r>
            <a:r>
              <a:rPr lang="sv-SE" dirty="0"/>
              <a:t> WGBYC </a:t>
            </a:r>
            <a:r>
              <a:rPr lang="sv-SE" dirty="0" err="1"/>
              <a:t>members</a:t>
            </a:r>
            <a:endParaRPr lang="sv-SE" dirty="0"/>
          </a:p>
          <a:p>
            <a:pPr lvl="1"/>
            <a:r>
              <a:rPr lang="sv-SE" dirty="0" err="1"/>
              <a:t>SSobservationType</a:t>
            </a:r>
            <a:r>
              <a:rPr lang="sv-SE" dirty="0"/>
              <a:t> (SS table)</a:t>
            </a:r>
          </a:p>
          <a:p>
            <a:pPr lvl="1"/>
            <a:endParaRPr lang="sv-SE" dirty="0"/>
          </a:p>
          <a:p>
            <a:pPr lvl="1"/>
            <a:endParaRPr lang="sv-SE" dirty="0"/>
          </a:p>
          <a:p>
            <a:pPr lvl="1"/>
            <a:endParaRPr lang="sv-SE" dirty="0"/>
          </a:p>
        </p:txBody>
      </p:sp>
      <p:pic>
        <p:nvPicPr>
          <p:cNvPr id="5" name="Picture 4"/>
          <p:cNvPicPr>
            <a:picLocks noChangeAspect="1"/>
          </p:cNvPicPr>
          <p:nvPr/>
        </p:nvPicPr>
        <p:blipFill>
          <a:blip r:embed="rId2"/>
          <a:stretch>
            <a:fillRect/>
          </a:stretch>
        </p:blipFill>
        <p:spPr>
          <a:xfrm>
            <a:off x="2885645" y="3139632"/>
            <a:ext cx="6154009" cy="3172268"/>
          </a:xfrm>
          <a:prstGeom prst="rect">
            <a:avLst/>
          </a:prstGeom>
          <a:ln>
            <a:solidFill>
              <a:schemeClr val="tx1"/>
            </a:solidFill>
          </a:ln>
        </p:spPr>
      </p:pic>
    </p:spTree>
    <p:extLst>
      <p:ext uri="{BB962C8B-B14F-4D97-AF65-F5344CB8AC3E}">
        <p14:creationId xmlns:p14="http://schemas.microsoft.com/office/powerpoint/2010/main" val="48085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err="1"/>
              <a:t>Some</a:t>
            </a:r>
            <a:r>
              <a:rPr lang="sv-SE" sz="3600" dirty="0"/>
              <a:t> </a:t>
            </a:r>
            <a:r>
              <a:rPr lang="sv-SE" sz="3600" dirty="0" err="1"/>
              <a:t>highlights</a:t>
            </a:r>
            <a:r>
              <a:rPr lang="sv-SE" sz="3600" dirty="0"/>
              <a:t> </a:t>
            </a:r>
            <a:r>
              <a:rPr lang="sv-SE" sz="3600" dirty="0" err="1"/>
              <a:t>of</a:t>
            </a:r>
            <a:r>
              <a:rPr lang="sv-SE" sz="3600" dirty="0"/>
              <a:t> by-</a:t>
            </a:r>
            <a:r>
              <a:rPr lang="sv-SE" sz="3600" dirty="0" err="1"/>
              <a:t>catch</a:t>
            </a:r>
            <a:r>
              <a:rPr lang="sv-SE" sz="3600" dirty="0"/>
              <a:t> </a:t>
            </a:r>
            <a:r>
              <a:rPr lang="sv-SE" sz="3600" dirty="0" err="1"/>
              <a:t>related</a:t>
            </a:r>
            <a:r>
              <a:rPr lang="sv-SE" sz="3600" dirty="0"/>
              <a:t> </a:t>
            </a:r>
            <a:r>
              <a:rPr lang="sv-SE" sz="3600" dirty="0" err="1"/>
              <a:t>potental</a:t>
            </a:r>
            <a:r>
              <a:rPr lang="sv-SE" sz="3600" dirty="0"/>
              <a:t> </a:t>
            </a:r>
            <a:r>
              <a:rPr lang="sv-SE" sz="3600" dirty="0" err="1"/>
              <a:t>of</a:t>
            </a:r>
            <a:r>
              <a:rPr lang="sv-SE" sz="3600" dirty="0"/>
              <a:t> RDBES</a:t>
            </a:r>
          </a:p>
        </p:txBody>
      </p:sp>
      <p:sp>
        <p:nvSpPr>
          <p:cNvPr id="3" name="Content Placeholder 2"/>
          <p:cNvSpPr>
            <a:spLocks noGrp="1"/>
          </p:cNvSpPr>
          <p:nvPr>
            <p:ph idx="1"/>
          </p:nvPr>
        </p:nvSpPr>
        <p:spPr/>
        <p:txBody>
          <a:bodyPr>
            <a:normAutofit/>
          </a:bodyPr>
          <a:lstStyle/>
          <a:p>
            <a:r>
              <a:rPr lang="sv-SE" dirty="0" err="1"/>
              <a:t>SpecimenState</a:t>
            </a:r>
            <a:r>
              <a:rPr lang="sv-SE" dirty="0"/>
              <a:t> (BV table)</a:t>
            </a:r>
          </a:p>
          <a:p>
            <a:pPr lvl="1"/>
            <a:endParaRPr lang="sv-SE" dirty="0"/>
          </a:p>
          <a:p>
            <a:pPr lvl="1"/>
            <a:endParaRPr lang="sv-SE" dirty="0"/>
          </a:p>
          <a:p>
            <a:pPr lvl="1"/>
            <a:endParaRPr lang="sv-SE" dirty="0"/>
          </a:p>
        </p:txBody>
      </p:sp>
      <p:pic>
        <p:nvPicPr>
          <p:cNvPr id="4" name="Picture 3"/>
          <p:cNvPicPr>
            <a:picLocks noChangeAspect="1"/>
          </p:cNvPicPr>
          <p:nvPr/>
        </p:nvPicPr>
        <p:blipFill>
          <a:blip r:embed="rId2"/>
          <a:stretch>
            <a:fillRect/>
          </a:stretch>
        </p:blipFill>
        <p:spPr>
          <a:xfrm>
            <a:off x="3715482" y="2976148"/>
            <a:ext cx="5191065" cy="3200815"/>
          </a:xfrm>
          <a:prstGeom prst="rect">
            <a:avLst/>
          </a:prstGeom>
          <a:ln>
            <a:solidFill>
              <a:schemeClr val="tx1"/>
            </a:solidFill>
          </a:ln>
        </p:spPr>
      </p:pic>
    </p:spTree>
    <p:extLst>
      <p:ext uri="{BB962C8B-B14F-4D97-AF65-F5344CB8AC3E}">
        <p14:creationId xmlns:p14="http://schemas.microsoft.com/office/powerpoint/2010/main" val="187432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err="1"/>
              <a:t>Some</a:t>
            </a:r>
            <a:r>
              <a:rPr lang="sv-SE" sz="3600" dirty="0"/>
              <a:t> </a:t>
            </a:r>
            <a:r>
              <a:rPr lang="sv-SE" sz="3600" dirty="0" err="1"/>
              <a:t>highlights</a:t>
            </a:r>
            <a:r>
              <a:rPr lang="sv-SE" sz="3600" dirty="0"/>
              <a:t> </a:t>
            </a:r>
            <a:r>
              <a:rPr lang="sv-SE" sz="3600" dirty="0" err="1"/>
              <a:t>of</a:t>
            </a:r>
            <a:r>
              <a:rPr lang="sv-SE" sz="3600" dirty="0"/>
              <a:t> by-</a:t>
            </a:r>
            <a:r>
              <a:rPr lang="sv-SE" sz="3600" dirty="0" err="1"/>
              <a:t>catch</a:t>
            </a:r>
            <a:r>
              <a:rPr lang="sv-SE" sz="3600" dirty="0"/>
              <a:t> </a:t>
            </a:r>
            <a:r>
              <a:rPr lang="sv-SE" sz="3600" dirty="0" err="1"/>
              <a:t>related</a:t>
            </a:r>
            <a:r>
              <a:rPr lang="sv-SE" sz="3600" dirty="0"/>
              <a:t> </a:t>
            </a:r>
            <a:r>
              <a:rPr lang="sv-SE" sz="3600" dirty="0" err="1"/>
              <a:t>potental</a:t>
            </a:r>
            <a:r>
              <a:rPr lang="sv-SE" sz="3600" dirty="0"/>
              <a:t> </a:t>
            </a:r>
            <a:r>
              <a:rPr lang="sv-SE" sz="3600" dirty="0" err="1"/>
              <a:t>of</a:t>
            </a:r>
            <a:r>
              <a:rPr lang="sv-SE" sz="3600" dirty="0"/>
              <a:t> RDBES</a:t>
            </a:r>
          </a:p>
        </p:txBody>
      </p:sp>
      <p:sp>
        <p:nvSpPr>
          <p:cNvPr id="3" name="Content Placeholder 2"/>
          <p:cNvSpPr>
            <a:spLocks noGrp="1"/>
          </p:cNvSpPr>
          <p:nvPr>
            <p:ph idx="1"/>
          </p:nvPr>
        </p:nvSpPr>
        <p:spPr/>
        <p:txBody>
          <a:bodyPr>
            <a:normAutofit/>
          </a:bodyPr>
          <a:lstStyle/>
          <a:p>
            <a:r>
              <a:rPr lang="sv-SE" dirty="0" err="1"/>
              <a:t>Bycatch</a:t>
            </a:r>
            <a:r>
              <a:rPr lang="sv-SE" dirty="0"/>
              <a:t> </a:t>
            </a:r>
            <a:r>
              <a:rPr lang="sv-SE" dirty="0" err="1"/>
              <a:t>mitigation</a:t>
            </a:r>
            <a:r>
              <a:rPr lang="sv-SE" dirty="0"/>
              <a:t> </a:t>
            </a:r>
            <a:r>
              <a:rPr lang="sv-SE" dirty="0" err="1"/>
              <a:t>devices</a:t>
            </a:r>
            <a:r>
              <a:rPr lang="sv-SE" dirty="0"/>
              <a:t> and </a:t>
            </a:r>
            <a:r>
              <a:rPr lang="sv-SE" dirty="0" err="1"/>
              <a:t>targets</a:t>
            </a:r>
            <a:r>
              <a:rPr lang="sv-SE" dirty="0"/>
              <a:t> (FO table)</a:t>
            </a:r>
          </a:p>
          <a:p>
            <a:pPr lvl="1"/>
            <a:endParaRPr lang="sv-SE" dirty="0"/>
          </a:p>
          <a:p>
            <a:pPr lvl="1"/>
            <a:endParaRPr lang="sv-SE" dirty="0"/>
          </a:p>
          <a:p>
            <a:pPr lvl="1"/>
            <a:endParaRPr lang="sv-SE" dirty="0"/>
          </a:p>
        </p:txBody>
      </p:sp>
      <p:pic>
        <p:nvPicPr>
          <p:cNvPr id="5" name="Picture 4"/>
          <p:cNvPicPr>
            <a:picLocks noChangeAspect="1"/>
          </p:cNvPicPr>
          <p:nvPr/>
        </p:nvPicPr>
        <p:blipFill>
          <a:blip r:embed="rId2"/>
          <a:stretch>
            <a:fillRect/>
          </a:stretch>
        </p:blipFill>
        <p:spPr>
          <a:xfrm>
            <a:off x="1211732" y="2848790"/>
            <a:ext cx="3972601" cy="3715045"/>
          </a:xfrm>
          <a:prstGeom prst="rect">
            <a:avLst/>
          </a:prstGeom>
          <a:ln>
            <a:solidFill>
              <a:schemeClr val="tx1"/>
            </a:solidFill>
          </a:ln>
        </p:spPr>
      </p:pic>
      <p:pic>
        <p:nvPicPr>
          <p:cNvPr id="6" name="Picture 5"/>
          <p:cNvPicPr>
            <a:picLocks noChangeAspect="1"/>
          </p:cNvPicPr>
          <p:nvPr/>
        </p:nvPicPr>
        <p:blipFill>
          <a:blip r:embed="rId3"/>
          <a:stretch>
            <a:fillRect/>
          </a:stretch>
        </p:blipFill>
        <p:spPr>
          <a:xfrm>
            <a:off x="5870828" y="2848790"/>
            <a:ext cx="6169467" cy="2524409"/>
          </a:xfrm>
          <a:prstGeom prst="rect">
            <a:avLst/>
          </a:prstGeom>
          <a:ln>
            <a:solidFill>
              <a:schemeClr val="tx1"/>
            </a:solidFill>
          </a:ln>
        </p:spPr>
      </p:pic>
    </p:spTree>
    <p:extLst>
      <p:ext uri="{BB962C8B-B14F-4D97-AF65-F5344CB8AC3E}">
        <p14:creationId xmlns:p14="http://schemas.microsoft.com/office/powerpoint/2010/main" val="28568300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sz="3600" dirty="0" err="1"/>
              <a:t>Some</a:t>
            </a:r>
            <a:r>
              <a:rPr lang="sv-SE" sz="3600" dirty="0"/>
              <a:t> </a:t>
            </a:r>
            <a:r>
              <a:rPr lang="sv-SE" sz="3600" dirty="0" err="1"/>
              <a:t>highlights</a:t>
            </a:r>
            <a:r>
              <a:rPr lang="sv-SE" sz="3600" dirty="0"/>
              <a:t> </a:t>
            </a:r>
            <a:r>
              <a:rPr lang="sv-SE" sz="3600" dirty="0" err="1"/>
              <a:t>of</a:t>
            </a:r>
            <a:r>
              <a:rPr lang="sv-SE" sz="3600" dirty="0"/>
              <a:t> by-</a:t>
            </a:r>
            <a:r>
              <a:rPr lang="sv-SE" sz="3600" dirty="0" err="1"/>
              <a:t>catch</a:t>
            </a:r>
            <a:r>
              <a:rPr lang="sv-SE" sz="3600" dirty="0"/>
              <a:t> </a:t>
            </a:r>
            <a:r>
              <a:rPr lang="sv-SE" sz="3600" dirty="0" err="1"/>
              <a:t>related</a:t>
            </a:r>
            <a:r>
              <a:rPr lang="sv-SE" sz="3600" dirty="0"/>
              <a:t> </a:t>
            </a:r>
            <a:r>
              <a:rPr lang="sv-SE" sz="3600" dirty="0" err="1"/>
              <a:t>potental</a:t>
            </a:r>
            <a:r>
              <a:rPr lang="sv-SE" sz="3600" dirty="0"/>
              <a:t> </a:t>
            </a:r>
            <a:r>
              <a:rPr lang="sv-SE" sz="3600" dirty="0" err="1"/>
              <a:t>of</a:t>
            </a:r>
            <a:r>
              <a:rPr lang="sv-SE" sz="3600" dirty="0"/>
              <a:t> RDBES</a:t>
            </a:r>
          </a:p>
        </p:txBody>
      </p:sp>
      <p:sp>
        <p:nvSpPr>
          <p:cNvPr id="3" name="Content Placeholder 2"/>
          <p:cNvSpPr>
            <a:spLocks noGrp="1"/>
          </p:cNvSpPr>
          <p:nvPr>
            <p:ph idx="1"/>
          </p:nvPr>
        </p:nvSpPr>
        <p:spPr/>
        <p:txBody>
          <a:bodyPr>
            <a:normAutofit/>
          </a:bodyPr>
          <a:lstStyle/>
          <a:p>
            <a:r>
              <a:rPr lang="sv-SE" dirty="0"/>
              <a:t>Variables on time observed: </a:t>
            </a:r>
          </a:p>
          <a:p>
            <a:pPr lvl="1"/>
            <a:endParaRPr lang="sv-SE" dirty="0"/>
          </a:p>
          <a:p>
            <a:pPr lvl="1"/>
            <a:endParaRPr lang="sv-SE" dirty="0"/>
          </a:p>
          <a:p>
            <a:pPr lvl="1"/>
            <a:endParaRPr lang="sv-SE" dirty="0"/>
          </a:p>
        </p:txBody>
      </p:sp>
      <p:pic>
        <p:nvPicPr>
          <p:cNvPr id="4" name="Picture 3"/>
          <p:cNvPicPr>
            <a:picLocks noChangeAspect="1"/>
          </p:cNvPicPr>
          <p:nvPr/>
        </p:nvPicPr>
        <p:blipFill>
          <a:blip r:embed="rId2"/>
          <a:stretch>
            <a:fillRect/>
          </a:stretch>
        </p:blipFill>
        <p:spPr>
          <a:xfrm>
            <a:off x="657224" y="2679954"/>
            <a:ext cx="11021289" cy="644321"/>
          </a:xfrm>
          <a:prstGeom prst="rect">
            <a:avLst/>
          </a:prstGeom>
        </p:spPr>
      </p:pic>
      <p:pic>
        <p:nvPicPr>
          <p:cNvPr id="8" name="Picture 7"/>
          <p:cNvPicPr>
            <a:picLocks noChangeAspect="1"/>
          </p:cNvPicPr>
          <p:nvPr/>
        </p:nvPicPr>
        <p:blipFill>
          <a:blip r:embed="rId3"/>
          <a:stretch>
            <a:fillRect/>
          </a:stretch>
        </p:blipFill>
        <p:spPr>
          <a:xfrm>
            <a:off x="2471241" y="4076633"/>
            <a:ext cx="7116168" cy="952633"/>
          </a:xfrm>
          <a:prstGeom prst="rect">
            <a:avLst/>
          </a:prstGeom>
        </p:spPr>
      </p:pic>
    </p:spTree>
    <p:extLst>
      <p:ext uri="{BB962C8B-B14F-4D97-AF65-F5344CB8AC3E}">
        <p14:creationId xmlns:p14="http://schemas.microsoft.com/office/powerpoint/2010/main" val="2634983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425701" y="1375835"/>
            <a:ext cx="6078219" cy="4052146"/>
          </a:xfrm>
          <a:prstGeom prst="rect">
            <a:avLst/>
          </a:prstGeom>
          <a:ln>
            <a:solidFill>
              <a:schemeClr val="tx1"/>
            </a:solidFill>
          </a:ln>
        </p:spPr>
      </p:pic>
      <p:sp>
        <p:nvSpPr>
          <p:cNvPr id="3" name="TextBox 2"/>
          <p:cNvSpPr txBox="1"/>
          <p:nvPr/>
        </p:nvSpPr>
        <p:spPr>
          <a:xfrm>
            <a:off x="876300" y="460157"/>
            <a:ext cx="3151440" cy="646331"/>
          </a:xfrm>
          <a:prstGeom prst="rect">
            <a:avLst/>
          </a:prstGeom>
          <a:noFill/>
        </p:spPr>
        <p:txBody>
          <a:bodyPr wrap="none" rtlCol="0">
            <a:spAutoFit/>
          </a:bodyPr>
          <a:lstStyle/>
          <a:p>
            <a:r>
              <a:rPr lang="sv-SE" sz="3600" dirty="0"/>
              <a:t>End: </a:t>
            </a:r>
            <a:r>
              <a:rPr lang="sv-SE" sz="3600" dirty="0" err="1"/>
              <a:t>questions</a:t>
            </a:r>
            <a:r>
              <a:rPr lang="sv-SE" sz="3600" dirty="0"/>
              <a:t>?</a:t>
            </a:r>
          </a:p>
        </p:txBody>
      </p:sp>
      <p:sp>
        <p:nvSpPr>
          <p:cNvPr id="2" name="Rectangle 1"/>
          <p:cNvSpPr/>
          <p:nvPr/>
        </p:nvSpPr>
        <p:spPr>
          <a:xfrm>
            <a:off x="10332896" y="6140896"/>
            <a:ext cx="1457322" cy="430887"/>
          </a:xfrm>
          <a:prstGeom prst="rect">
            <a:avLst/>
          </a:prstGeom>
        </p:spPr>
        <p:txBody>
          <a:bodyPr wrap="none">
            <a:spAutoFit/>
          </a:bodyPr>
          <a:lstStyle/>
          <a:p>
            <a:r>
              <a:rPr lang="sv-SE" sz="2200" dirty="0" err="1"/>
              <a:t>Thank</a:t>
            </a:r>
            <a:r>
              <a:rPr lang="sv-SE" sz="2200" dirty="0"/>
              <a:t> </a:t>
            </a:r>
            <a:r>
              <a:rPr lang="sv-SE" sz="2200" dirty="0" err="1"/>
              <a:t>you</a:t>
            </a:r>
            <a:r>
              <a:rPr lang="sv-SE" sz="2200" dirty="0"/>
              <a:t>!</a:t>
            </a:r>
          </a:p>
        </p:txBody>
      </p:sp>
      <p:sp>
        <p:nvSpPr>
          <p:cNvPr id="4" name="Cloud Callout 3"/>
          <p:cNvSpPr/>
          <p:nvPr/>
        </p:nvSpPr>
        <p:spPr>
          <a:xfrm>
            <a:off x="7019925" y="497550"/>
            <a:ext cx="5057775" cy="1756570"/>
          </a:xfrm>
          <a:prstGeom prst="cloudCallout">
            <a:avLst>
              <a:gd name="adj1" fmla="val -33796"/>
              <a:gd name="adj2" fmla="val 72753"/>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rPr>
              <a:t>I like true zeros! </a:t>
            </a:r>
          </a:p>
          <a:p>
            <a:pPr algn="ctr"/>
            <a:r>
              <a:rPr lang="en-US" sz="1600" b="1" dirty="0">
                <a:solidFill>
                  <a:schemeClr val="tx1"/>
                </a:solidFill>
              </a:rPr>
              <a:t>(they produce good forecasts on me)</a:t>
            </a:r>
            <a:endParaRPr lang="sv-SE" sz="1600" b="1" dirty="0">
              <a:solidFill>
                <a:schemeClr val="tx1"/>
              </a:solidFill>
            </a:endParaRPr>
          </a:p>
        </p:txBody>
      </p:sp>
    </p:spTree>
    <p:extLst>
      <p:ext uri="{BB962C8B-B14F-4D97-AF65-F5344CB8AC3E}">
        <p14:creationId xmlns:p14="http://schemas.microsoft.com/office/powerpoint/2010/main" val="195822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518B484055E284C84386157274E17E1" ma:contentTypeVersion="1" ma:contentTypeDescription="Create a new document." ma:contentTypeScope="" ma:versionID="70f45ad91d3bcde0200e23bbdb530ae9">
  <xsd:schema xmlns:xsd="http://www.w3.org/2001/XMLSchema" xmlns:xs="http://www.w3.org/2001/XMLSchema" xmlns:p="http://schemas.microsoft.com/office/2006/metadata/properties" xmlns:ns2="4d5313c0-c1e6-4122-afa9-da1ccdba405d" xmlns:ns3="362c980f-4e38-4cca-bd06-5104ee5993c5" targetNamespace="http://schemas.microsoft.com/office/2006/metadata/properties" ma:root="true" ma:fieldsID="9f98ca6881a668db0da870722b40e1ec" ns2:_="" ns3:_="">
    <xsd:import namespace="4d5313c0-c1e6-4122-afa9-da1ccdba405d"/>
    <xsd:import namespace="362c980f-4e38-4cca-bd06-5104ee5993c5"/>
    <xsd:element name="properties">
      <xsd:complexType>
        <xsd:sequence>
          <xsd:element name="documentManagement">
            <xsd:complexType>
              <xsd:all>
                <xsd:element ref="ns2:TaxKeywordTaxHTField" minOccurs="0"/>
                <xsd:element ref="ns2:TaxCatchAll" minOccurs="0"/>
                <xsd:element ref="ns2:TaxCatchAllLabel"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readOnly="false" ma:fieldId="{23f27201-bee3-471e-b2e7-b64fd8b7ca38}" ma:taxonomyMulti="true" ma:sspId="d535ea34-4ec8-4f57-b85b-d8a79460f026"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b2cc2698-5fc4-4ff6-b1d3-64e75efa1efc}" ma:internalName="TaxCatchAll" ma:readOnly="false" ma:showField="CatchAllData" ma:web="4d5313c0-c1e6-4122-afa9-da1ccdba405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2cc2698-5fc4-4ff6-b1d3-64e75efa1efc}" ma:internalName="TaxCatchAllLabel" ma:readOnly="false" ma:showField="CatchAllDataLabel" ma:web="4d5313c0-c1e6-4122-afa9-da1ccdba405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2c980f-4e38-4cca-bd06-5104ee5993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d5313c0-c1e6-4122-afa9-da1ccdba405d"/>
    <TaxCatchAllLabel xmlns="4d5313c0-c1e6-4122-afa9-da1ccdba405d"/>
    <TaxKeywordTaxHTField xmlns="4d5313c0-c1e6-4122-afa9-da1ccdba405d">
      <Terms xmlns="http://schemas.microsoft.com/office/infopath/2007/PartnerControls"/>
    </TaxKeywordTaxHTField>
  </documentManagement>
</p:properties>
</file>

<file path=customXml/itemProps1.xml><?xml version="1.0" encoding="utf-8"?>
<ds:datastoreItem xmlns:ds="http://schemas.openxmlformats.org/officeDocument/2006/customXml" ds:itemID="{22146438-ADD8-48AE-9605-9EB5F2A9DBD7}">
  <ds:schemaRefs>
    <ds:schemaRef ds:uri="http://schemas.microsoft.com/sharepoint/v3/contenttype/forms"/>
  </ds:schemaRefs>
</ds:datastoreItem>
</file>

<file path=customXml/itemProps2.xml><?xml version="1.0" encoding="utf-8"?>
<ds:datastoreItem xmlns:ds="http://schemas.openxmlformats.org/officeDocument/2006/customXml" ds:itemID="{3319A483-F34D-4363-9E84-932FE715856B}"/>
</file>

<file path=customXml/itemProps3.xml><?xml version="1.0" encoding="utf-8"?>
<ds:datastoreItem xmlns:ds="http://schemas.openxmlformats.org/officeDocument/2006/customXml" ds:itemID="{E03B286A-82E6-473B-A48E-42662FC0EE11}">
  <ds:schemaRefs>
    <ds:schemaRef ds:uri="http://schemas.microsoft.com/office/2006/metadata/properties"/>
    <ds:schemaRef ds:uri="http://schemas.microsoft.com/office/infopath/2007/PartnerControls"/>
    <ds:schemaRef ds:uri="4d5313c0-c1e6-4122-afa9-da1ccdba405d"/>
  </ds:schemaRefs>
</ds:datastoreItem>
</file>

<file path=docProps/app.xml><?xml version="1.0" encoding="utf-8"?>
<Properties xmlns="http://schemas.openxmlformats.org/officeDocument/2006/extended-properties" xmlns:vt="http://schemas.openxmlformats.org/officeDocument/2006/docPropsVTypes">
  <TotalTime>1858</TotalTime>
  <Words>3333</Words>
  <Application>Microsoft Office PowerPoint</Application>
  <PresentationFormat>Widescreen</PresentationFormat>
  <Paragraphs>968</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Calibri Light</vt:lpstr>
      <vt:lpstr>Office Theme</vt:lpstr>
      <vt:lpstr>True Zeros, Missing Values and by-catch in the RDBES (an intro to tables SL and SLDetails, and to “stratification” variables in all selection tables)</vt:lpstr>
      <vt:lpstr>Summary</vt:lpstr>
      <vt:lpstr>True Zeros vs. Missing Values</vt:lpstr>
      <vt:lpstr>True Zeros vs. Missing Values</vt:lpstr>
      <vt:lpstr>1.</vt:lpstr>
      <vt:lpstr>Motivation example 1</vt:lpstr>
      <vt:lpstr>Motivation example 2</vt:lpstr>
      <vt:lpstr>How are these examples handled in RDBES</vt:lpstr>
      <vt:lpstr>PowerPoint Presentation</vt:lpstr>
      <vt:lpstr>Recall: Motivation example 1</vt:lpstr>
      <vt:lpstr>How RDBES will differentiate true 0s and NAs</vt:lpstr>
      <vt:lpstr>Recall: Motivation example 2</vt:lpstr>
      <vt:lpstr>How RDBES will differentiate true 0s and NAs</vt:lpstr>
      <vt:lpstr>If only Lophius piscatorius was in the sampling targets</vt:lpstr>
      <vt:lpstr>2.</vt:lpstr>
      <vt:lpstr>Motivation example 3</vt:lpstr>
      <vt:lpstr>How is this example handled in RDBES</vt:lpstr>
      <vt:lpstr>PowerPoint Presentation</vt:lpstr>
      <vt:lpstr>Recall: Motivation example 3</vt:lpstr>
      <vt:lpstr>Conceptual analysis of example</vt:lpstr>
      <vt:lpstr>RDBES: capabilities to generate zeros and NAs</vt:lpstr>
      <vt:lpstr>Other combinations of vessel areas are possible</vt:lpstr>
      <vt:lpstr>Different types of SLs</vt:lpstr>
      <vt:lpstr>3.</vt:lpstr>
      <vt:lpstr>Motivation example 5</vt:lpstr>
      <vt:lpstr>Motivation example 6</vt:lpstr>
      <vt:lpstr>How are these examples handled in RDBES</vt:lpstr>
      <vt:lpstr>How are these examples handled in RDBES</vt:lpstr>
      <vt:lpstr>Recall: Motivation example 5</vt:lpstr>
      <vt:lpstr>RDBES: capabilities to generate zeros and NAs</vt:lpstr>
      <vt:lpstr>RDBES: capabilities to generate zeros and NAs</vt:lpstr>
      <vt:lpstr>Recall: Motivation example 6</vt:lpstr>
      <vt:lpstr>RDBES: capabilities to generate zeros and NAs</vt:lpstr>
      <vt:lpstr>4. Other types of non-response, failed sampling and refusals</vt:lpstr>
      <vt:lpstr>Current code list for ReasonForNotSampling (*)</vt:lpstr>
      <vt:lpstr>5. Some highlights of by-catch related potental of RDBES</vt:lpstr>
      <vt:lpstr>Some highlights of by-catch related potental of RDBES</vt:lpstr>
      <vt:lpstr>Some highlights of by-catch related potental of RDBES</vt:lpstr>
      <vt:lpstr>Some highlights of by-catch related potental of RDBES</vt:lpstr>
      <vt:lpstr>PowerPoint Presentation</vt:lpstr>
    </vt:vector>
  </TitlesOfParts>
  <Company>SLU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Species Selection and True Zeros in RDBES</dc:title>
  <dc:creator>Nuno Prista</dc:creator>
  <cp:lastModifiedBy>Liz Clarke</cp:lastModifiedBy>
  <cp:revision>106</cp:revision>
  <dcterms:created xsi:type="dcterms:W3CDTF">2020-06-03T05:55:28Z</dcterms:created>
  <dcterms:modified xsi:type="dcterms:W3CDTF">2024-09-24T10:57:48Z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0x0101005518B484055E284C84386157274E17E1</vt:lpwstr>
  </property>
  <property fmtid="{D5CDD505-2E9C-101B-9397-08002B2CF9AE}" pid="3" name="TaxKeyword">
    <vt:lpwstr/>
  </property>
</Properties>
</file>