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handoutMasterIdLst>
    <p:handoutMasterId r:id="rId18"/>
  </p:handoutMasterIdLst>
  <p:sldIdLst>
    <p:sldId id="257" r:id="rId5"/>
    <p:sldId id="265" r:id="rId6"/>
    <p:sldId id="263" r:id="rId7"/>
    <p:sldId id="268" r:id="rId8"/>
    <p:sldId id="270" r:id="rId9"/>
    <p:sldId id="269" r:id="rId10"/>
    <p:sldId id="267" r:id="rId11"/>
    <p:sldId id="272" r:id="rId12"/>
    <p:sldId id="273" r:id="rId13"/>
    <p:sldId id="276" r:id="rId14"/>
    <p:sldId id="274" r:id="rId15"/>
    <p:sldId id="277" r:id="rId16"/>
    <p:sldId id="278" r:id="rId17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278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66E911-F793-4838-A7E0-22F5DC2E219F}" type="datetimeFigureOut">
              <a:rPr lang="da-DK" smtClean="0"/>
              <a:t>25-09-2024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9DA88-E9CB-4BD6-A3AA-E9F01D61D701}" type="slidenum">
              <a:rPr lang="da-DK" smtClean="0"/>
              <a:t>‹nº›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86495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3209F14E-8D1D-40C6-A539-73D6BEFEED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74" y="769938"/>
            <a:ext cx="9220202" cy="2323445"/>
          </a:xfrm>
        </p:spPr>
        <p:txBody>
          <a:bodyPr anchor="b">
            <a:no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Pladsholder til tekst 18">
            <a:extLst>
              <a:ext uri="{FF2B5EF4-FFF2-40B4-BE49-F238E27FC236}">
                <a16:creationId xmlns:a16="http://schemas.microsoft.com/office/drawing/2014/main" id="{4AAD550C-3146-4C57-AB2D-C76A65C79F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276" y="3093383"/>
            <a:ext cx="9182100" cy="1349223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GB" dirty="0"/>
              <a:t>Click to add </a:t>
            </a:r>
            <a:r>
              <a:rPr lang="en-GB" dirty="0" err="1"/>
              <a:t>subheader</a:t>
            </a:r>
            <a:endParaRPr lang="en-GB" dirty="0"/>
          </a:p>
        </p:txBody>
      </p:sp>
      <p:pic>
        <p:nvPicPr>
          <p:cNvPr id="7" name="Billed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75" y="5345359"/>
            <a:ext cx="1724025" cy="898278"/>
          </a:xfrm>
          <a:prstGeom prst="rect">
            <a:avLst/>
          </a:prstGeom>
        </p:spPr>
      </p:pic>
      <p:pic>
        <p:nvPicPr>
          <p:cNvPr id="9" name="Billede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83" y="6195173"/>
            <a:ext cx="2560542" cy="3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310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6C7311DF-2A29-4CE6-AEB9-357814EE58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74" y="769938"/>
            <a:ext cx="9220202" cy="2323445"/>
          </a:xfrm>
        </p:spPr>
        <p:txBody>
          <a:bodyPr anchor="b">
            <a:no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Pladsholder til tekst 18">
            <a:extLst>
              <a:ext uri="{FF2B5EF4-FFF2-40B4-BE49-F238E27FC236}">
                <a16:creationId xmlns:a16="http://schemas.microsoft.com/office/drawing/2014/main" id="{4A07E728-4615-42A6-B1E8-908674A12F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276" y="3093383"/>
            <a:ext cx="9182100" cy="1349223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GB" dirty="0"/>
              <a:t>Click to add </a:t>
            </a:r>
            <a:r>
              <a:rPr lang="en-GB" dirty="0" err="1"/>
              <a:t>subheader</a:t>
            </a:r>
            <a:endParaRPr lang="en-GB" dirty="0"/>
          </a:p>
        </p:txBody>
      </p:sp>
      <p:pic>
        <p:nvPicPr>
          <p:cNvPr id="7" name="Billed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75" y="5345359"/>
            <a:ext cx="1724025" cy="898278"/>
          </a:xfrm>
          <a:prstGeom prst="rect">
            <a:avLst/>
          </a:prstGeom>
        </p:spPr>
      </p:pic>
      <p:pic>
        <p:nvPicPr>
          <p:cNvPr id="9" name="Billede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83" y="6195173"/>
            <a:ext cx="2560542" cy="3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04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647700" y="427037"/>
            <a:ext cx="9343323" cy="1063625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265A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pic>
        <p:nvPicPr>
          <p:cNvPr id="6" name="Billed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733" y="6418914"/>
            <a:ext cx="2560542" cy="38408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69C79-234C-42BF-93BB-D4FFA57123F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47700" y="1825200"/>
            <a:ext cx="10763249" cy="440034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0801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objects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647700" y="427037"/>
            <a:ext cx="9343323" cy="1063625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265A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021D9-F37F-4846-AD9E-FB2231C6F2F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47700" y="1825625"/>
            <a:ext cx="3792220" cy="42262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841EB9-3042-4108-98CF-EA57B3983B8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810250" y="1825624"/>
            <a:ext cx="5600700" cy="37391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Rektangel 8"/>
          <p:cNvSpPr/>
          <p:nvPr userDrawn="1"/>
        </p:nvSpPr>
        <p:spPr>
          <a:xfrm>
            <a:off x="-1" y="6296025"/>
            <a:ext cx="12192001" cy="561975"/>
          </a:xfrm>
          <a:prstGeom prst="rect">
            <a:avLst/>
          </a:prstGeom>
          <a:solidFill>
            <a:srgbClr val="002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Billed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733" y="6418914"/>
            <a:ext cx="2560542" cy="3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038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objects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647700" y="427037"/>
            <a:ext cx="9343323" cy="1063625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265A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4463921-33CB-4908-B5A9-1060D340A50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47700" y="1825625"/>
            <a:ext cx="3792220" cy="42262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116F9FD3-3D16-4DB5-AD5C-E8098D87A87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810250" y="1825624"/>
            <a:ext cx="5600700" cy="37391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Rektangel 11"/>
          <p:cNvSpPr/>
          <p:nvPr userDrawn="1"/>
        </p:nvSpPr>
        <p:spPr>
          <a:xfrm>
            <a:off x="-1" y="6296025"/>
            <a:ext cx="12192001" cy="561975"/>
          </a:xfrm>
          <a:prstGeom prst="rect">
            <a:avLst/>
          </a:prstGeom>
          <a:solidFill>
            <a:srgbClr val="EC5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733" y="6418914"/>
            <a:ext cx="2560542" cy="3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370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objects - Turquo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647700" y="427037"/>
            <a:ext cx="9343323" cy="1063625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265A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21D465C-25A6-4B18-9B14-0DBDE3EF467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47700" y="1825625"/>
            <a:ext cx="3792220" cy="42262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F222F2F0-F6B4-4E5B-8718-B38DF1BB96E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810250" y="1825624"/>
            <a:ext cx="5600700" cy="37391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Rektangel 11"/>
          <p:cNvSpPr/>
          <p:nvPr userDrawn="1"/>
        </p:nvSpPr>
        <p:spPr>
          <a:xfrm>
            <a:off x="-1" y="6296025"/>
            <a:ext cx="12192001" cy="561975"/>
          </a:xfrm>
          <a:prstGeom prst="rect">
            <a:avLst/>
          </a:prstGeom>
          <a:solidFill>
            <a:srgbClr val="00A6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733" y="6418914"/>
            <a:ext cx="2560542" cy="3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265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647700" y="427037"/>
            <a:ext cx="9343323" cy="1063625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265A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1100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6141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 userDrawn="1"/>
        </p:nvSpPr>
        <p:spPr>
          <a:xfrm>
            <a:off x="442913" y="692150"/>
            <a:ext cx="11306176" cy="11525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870912"/>
            <a:ext cx="10944225" cy="84504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888" y="2276475"/>
            <a:ext cx="10944225" cy="3485054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1399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24">
          <p15:clr>
            <a:srgbClr val="FBAE40"/>
          </p15:clr>
        </p15:guide>
        <p15:guide id="2" orient="horz" pos="383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6" y="5495721"/>
            <a:ext cx="11301271" cy="9050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888" y="3191721"/>
            <a:ext cx="10944225" cy="138980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693389"/>
            <a:ext cx="10944225" cy="61915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6404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1359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redigere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redigere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master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Fjerde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Femte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.</a:t>
            </a:r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.</a:t>
            </a:r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">
                <a:noFill/>
              </a:defRPr>
            </a:lvl1pPr>
          </a:lstStyle>
          <a:p>
            <a:endParaRPr lang="en-GB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5501499D-F55E-49F4-B2E9-CBEF800A041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174" y="627063"/>
            <a:ext cx="1247775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487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2" r:id="rId4"/>
    <p:sldLayoutId id="2147483661" r:id="rId5"/>
    <p:sldLayoutId id="2147483662" r:id="rId6"/>
    <p:sldLayoutId id="2147483654" r:id="rId7"/>
    <p:sldLayoutId id="2147483655" r:id="rId8"/>
    <p:sldLayoutId id="2147483663" r:id="rId9"/>
    <p:sldLayoutId id="214748366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90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90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90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A1C458-7B80-44E1-A4F2-09E73FF56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800" dirty="0"/>
              <a:t>WGRDBES GOV ISSG Data Quality</a:t>
            </a:r>
            <a:br>
              <a:rPr lang="en-GB" sz="4800" dirty="0"/>
            </a:br>
            <a:r>
              <a:rPr lang="en-GB" sz="4800" dirty="0"/>
              <a:t>Presentation for RDBES-INTRO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5F2DF7-8E3D-4DFE-B339-34EE2A2973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Karolina Molla Gazi</a:t>
            </a:r>
          </a:p>
          <a:p>
            <a:r>
              <a:rPr lang="en-GB" dirty="0"/>
              <a:t>Ana Cláudia Fernandes</a:t>
            </a:r>
          </a:p>
        </p:txBody>
      </p:sp>
    </p:spTree>
    <p:extLst>
      <p:ext uri="{BB962C8B-B14F-4D97-AF65-F5344CB8AC3E}">
        <p14:creationId xmlns:p14="http://schemas.microsoft.com/office/powerpoint/2010/main" val="559743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was the ISSG Quality formed?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888" y="1993556"/>
            <a:ext cx="10944225" cy="44319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Need for a Quality check system and workflow of data submitted to RDBES for data submitters and end-users</a:t>
            </a:r>
          </a:p>
          <a:p>
            <a:pPr marL="0" indent="0">
              <a:buNone/>
            </a:pPr>
            <a:r>
              <a:rPr lang="en-GB" dirty="0"/>
              <a:t>Tasks: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/>
              <a:t>To develop a plan to integrate quality procedure, taking into account three levels of quality checks.</a:t>
            </a:r>
            <a:endParaRPr lang="en-US" b="1" dirty="0"/>
          </a:p>
          <a:p>
            <a:pPr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/>
              <a:t>To start developing further the Data Quality report for data submitters</a:t>
            </a:r>
            <a:endParaRPr lang="en-US" b="1" dirty="0"/>
          </a:p>
          <a:p>
            <a:pPr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To present the concept, roadmap and a draft Data Quality Report, at the RCG NANSEA &amp; Baltic Technical Meeting in June, asking the RCG for feedback and endorsement on this.</a:t>
            </a:r>
            <a:endParaRPr lang="en-US" dirty="0"/>
          </a:p>
          <a:p>
            <a:pPr algn="just">
              <a:lnSpc>
                <a:spcPct val="200000"/>
              </a:lnSpc>
              <a:spcBef>
                <a:spcPts val="0"/>
              </a:spcBef>
            </a:pPr>
            <a:r>
              <a:rPr lang="en-GB" dirty="0">
                <a:solidFill>
                  <a:schemeClr val="tx1"/>
                </a:solidFill>
              </a:rPr>
              <a:t>T</a:t>
            </a:r>
            <a:r>
              <a:rPr lang="en-GB" dirty="0"/>
              <a:t>he draft data Quality Report will also be presented to the </a:t>
            </a:r>
            <a:r>
              <a:rPr lang="en-GB" dirty="0" err="1"/>
              <a:t>WKQuality</a:t>
            </a:r>
            <a:r>
              <a:rPr lang="en-GB" dirty="0"/>
              <a:t> to see where it fits in the total approach of ICES quality procedure.</a:t>
            </a:r>
            <a:endParaRPr lang="en-US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6873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/>
              <a:t>Task 1: To develop a plan to integrate quality procedure, taking into account three levels of quality checks.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888" y="2276475"/>
            <a:ext cx="3060345" cy="3067882"/>
          </a:xfrm>
        </p:spPr>
        <p:txBody>
          <a:bodyPr/>
          <a:lstStyle/>
          <a:p>
            <a:pPr marL="342900" indent="-342900">
              <a:buFont typeface="+mj-lt"/>
              <a:buAutoNum type="alphaLcPeriod"/>
            </a:pPr>
            <a:r>
              <a:rPr lang="en-GB" dirty="0"/>
              <a:t>RDBES data upload checks</a:t>
            </a:r>
          </a:p>
          <a:p>
            <a:pPr lvl="1"/>
            <a:r>
              <a:rPr lang="en-GB" dirty="0"/>
              <a:t>Format </a:t>
            </a:r>
          </a:p>
          <a:p>
            <a:pPr lvl="1"/>
            <a:r>
              <a:rPr lang="en-GB" dirty="0"/>
              <a:t>Codes</a:t>
            </a:r>
          </a:p>
          <a:p>
            <a:pPr lvl="1"/>
            <a:r>
              <a:rPr lang="en-GB" dirty="0"/>
              <a:t>Duplicates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6" name="Picture 5" descr="A diagram of data processing&#10;&#10;Description automatically generated">
            <a:extLst>
              <a:ext uri="{FF2B5EF4-FFF2-40B4-BE49-F238E27FC236}">
                <a16:creationId xmlns:a16="http://schemas.microsoft.com/office/drawing/2014/main" id="{9CC5BA74-F8DD-8612-BD48-FF973BD63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567" y="2149424"/>
            <a:ext cx="5731510" cy="323469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9B5BC23-4D90-923B-F1AA-08E0CA85648C}"/>
              </a:ext>
            </a:extLst>
          </p:cNvPr>
          <p:cNvSpPr/>
          <p:nvPr/>
        </p:nvSpPr>
        <p:spPr>
          <a:xfrm>
            <a:off x="5069150" y="2343705"/>
            <a:ext cx="1633491" cy="816745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35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/>
              <a:t>Task 1: To develop a plan to integrate quality procedure, taking into account three levels of quality checks.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888" y="2276475"/>
            <a:ext cx="3060345" cy="3067882"/>
          </a:xfrm>
        </p:spPr>
        <p:txBody>
          <a:bodyPr/>
          <a:lstStyle/>
          <a:p>
            <a:pPr marL="342900" indent="-342900">
              <a:buFont typeface="+mj-lt"/>
              <a:buAutoNum type="alphaLcPeriod" startAt="2"/>
            </a:pPr>
            <a:r>
              <a:rPr lang="en-US" dirty="0"/>
              <a:t>Data Quality report for data submitter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Completeness</a:t>
            </a:r>
          </a:p>
          <a:p>
            <a:pPr lvl="1"/>
            <a:r>
              <a:rPr lang="en-GB" dirty="0"/>
              <a:t>Outliers</a:t>
            </a:r>
          </a:p>
          <a:p>
            <a:pPr lvl="1"/>
            <a:r>
              <a:rPr lang="en-GB" dirty="0"/>
              <a:t>Cross checks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6" name="Picture 5" descr="A diagram of data processing&#10;&#10;Description automatically generated">
            <a:extLst>
              <a:ext uri="{FF2B5EF4-FFF2-40B4-BE49-F238E27FC236}">
                <a16:creationId xmlns:a16="http://schemas.microsoft.com/office/drawing/2014/main" id="{9CC5BA74-F8DD-8612-BD48-FF973BD63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567" y="2149424"/>
            <a:ext cx="5731510" cy="323469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9B5BC23-4D90-923B-F1AA-08E0CA85648C}"/>
              </a:ext>
            </a:extLst>
          </p:cNvPr>
          <p:cNvSpPr/>
          <p:nvPr/>
        </p:nvSpPr>
        <p:spPr>
          <a:xfrm>
            <a:off x="6835806" y="2352583"/>
            <a:ext cx="3524435" cy="825623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82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/>
              <a:t>Task 1: To develop a plan to integrate quality procedure, taking into account three levels of quality checks.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888" y="2276475"/>
            <a:ext cx="3060345" cy="3067882"/>
          </a:xfrm>
        </p:spPr>
        <p:txBody>
          <a:bodyPr/>
          <a:lstStyle/>
          <a:p>
            <a:pPr marL="342900" indent="-342900">
              <a:buFont typeface="+mj-lt"/>
              <a:buAutoNum type="alphaLcPeriod" startAt="3"/>
            </a:pPr>
            <a:r>
              <a:rPr lang="en-US" dirty="0"/>
              <a:t>End users</a:t>
            </a:r>
            <a:endParaRPr lang="en-GB" dirty="0"/>
          </a:p>
          <a:p>
            <a:pPr lvl="1"/>
            <a:r>
              <a:rPr lang="en-GB" dirty="0"/>
              <a:t>Thorough checks relating to the use of data</a:t>
            </a:r>
          </a:p>
          <a:p>
            <a:pPr lvl="1"/>
            <a:r>
              <a:rPr lang="en-GB" dirty="0"/>
              <a:t>Feedback if errors are spotted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6" name="Picture 5" descr="A diagram of data processing&#10;&#10;Description automatically generated">
            <a:extLst>
              <a:ext uri="{FF2B5EF4-FFF2-40B4-BE49-F238E27FC236}">
                <a16:creationId xmlns:a16="http://schemas.microsoft.com/office/drawing/2014/main" id="{9CC5BA74-F8DD-8612-BD48-FF973BD63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567" y="2149424"/>
            <a:ext cx="5731510" cy="323469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9B5BC23-4D90-923B-F1AA-08E0CA85648C}"/>
              </a:ext>
            </a:extLst>
          </p:cNvPr>
          <p:cNvSpPr/>
          <p:nvPr/>
        </p:nvSpPr>
        <p:spPr>
          <a:xfrm>
            <a:off x="6844684" y="3810416"/>
            <a:ext cx="3524435" cy="1454042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9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FC2A5-9BEC-088D-2721-73D184E57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/>
              <a:t>Task 1: To develop a plan to integrate quality procedure, taking into account three levels of quality checks.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46716-3162-23AB-4891-D7553BE5B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QA the data in order to minimize the errors for the end - users? </a:t>
            </a:r>
          </a:p>
          <a:p>
            <a:r>
              <a:rPr lang="en-US" dirty="0"/>
              <a:t>How to document the changes in the data </a:t>
            </a:r>
            <a:r>
              <a:rPr lang="en-US" b="1" dirty="0"/>
              <a:t>while considering the dynamic nature of RDBES</a:t>
            </a:r>
            <a:r>
              <a:rPr lang="en-US" dirty="0"/>
              <a:t>?</a:t>
            </a:r>
          </a:p>
          <a:p>
            <a:r>
              <a:rPr lang="en-US" dirty="0"/>
              <a:t>How to ensure feedback when errors are spotted is fast, simple and reaches the data submitters on time? </a:t>
            </a:r>
          </a:p>
          <a:p>
            <a:r>
              <a:rPr lang="en-US" dirty="0"/>
              <a:t>Timeline </a:t>
            </a:r>
          </a:p>
          <a:p>
            <a:pPr lvl="1"/>
            <a:r>
              <a:rPr lang="en-US" dirty="0"/>
              <a:t>When do we want the process ready? </a:t>
            </a:r>
          </a:p>
          <a:p>
            <a:pPr lvl="1"/>
            <a:r>
              <a:rPr lang="en-US" dirty="0"/>
              <a:t>Interim goal and long-term goal.</a:t>
            </a:r>
          </a:p>
        </p:txBody>
      </p:sp>
    </p:spTree>
    <p:extLst>
      <p:ext uri="{BB962C8B-B14F-4D97-AF65-F5344CB8AC3E}">
        <p14:creationId xmlns:p14="http://schemas.microsoft.com/office/powerpoint/2010/main" val="3917323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681" y="791608"/>
            <a:ext cx="11007125" cy="942779"/>
          </a:xfrm>
        </p:spPr>
        <p:txBody>
          <a:bodyPr>
            <a:normAutofit/>
          </a:bodyPr>
          <a:lstStyle/>
          <a:p>
            <a:r>
              <a:rPr lang="en-GB" sz="2500" dirty="0">
                <a:solidFill>
                  <a:srgbClr val="FFFEFF"/>
                </a:solidFill>
              </a:rPr>
              <a:t>Task 1: To develop a plan to integrate quality procedure,  taking into account three levels of quality checks.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FE9BB36-A3A7-394E-5B13-DCDADCFE037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37854" y="2254701"/>
          <a:ext cx="10716291" cy="38116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8367">
                  <a:extLst>
                    <a:ext uri="{9D8B030D-6E8A-4147-A177-3AD203B41FA5}">
                      <a16:colId xmlns:a16="http://schemas.microsoft.com/office/drawing/2014/main" val="3296599035"/>
                    </a:ext>
                  </a:extLst>
                </a:gridCol>
                <a:gridCol w="1463621">
                  <a:extLst>
                    <a:ext uri="{9D8B030D-6E8A-4147-A177-3AD203B41FA5}">
                      <a16:colId xmlns:a16="http://schemas.microsoft.com/office/drawing/2014/main" val="1142416908"/>
                    </a:ext>
                  </a:extLst>
                </a:gridCol>
                <a:gridCol w="4321777">
                  <a:extLst>
                    <a:ext uri="{9D8B030D-6E8A-4147-A177-3AD203B41FA5}">
                      <a16:colId xmlns:a16="http://schemas.microsoft.com/office/drawing/2014/main" val="3180377989"/>
                    </a:ext>
                  </a:extLst>
                </a:gridCol>
                <a:gridCol w="3442526">
                  <a:extLst>
                    <a:ext uri="{9D8B030D-6E8A-4147-A177-3AD203B41FA5}">
                      <a16:colId xmlns:a16="http://schemas.microsoft.com/office/drawing/2014/main" val="1412599467"/>
                    </a:ext>
                  </a:extLst>
                </a:gridCol>
              </a:tblGrid>
              <a:tr h="254224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00">
                          <a:effectLst/>
                        </a:rPr>
                        <a:t>System</a:t>
                      </a:r>
                      <a:endParaRPr lang="en-US" sz="900" kern="100">
                        <a:effectLst/>
                        <a:latin typeface="Verdana" panose="020B060403050404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476" marR="284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00">
                          <a:effectLst/>
                        </a:rPr>
                        <a:t>User</a:t>
                      </a:r>
                      <a:endParaRPr lang="en-US" sz="900" kern="100">
                        <a:effectLst/>
                        <a:latin typeface="Verdana" panose="020B060403050404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476" marR="284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00" dirty="0">
                          <a:effectLst/>
                        </a:rPr>
                        <a:t>Pros</a:t>
                      </a:r>
                      <a:endParaRPr lang="en-US" sz="900" kern="100" dirty="0">
                        <a:effectLst/>
                        <a:latin typeface="Verdana" panose="020B060403050404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476" marR="284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00">
                          <a:effectLst/>
                        </a:rPr>
                        <a:t>Cons</a:t>
                      </a:r>
                      <a:endParaRPr lang="en-US" sz="900" kern="100">
                        <a:effectLst/>
                        <a:latin typeface="Verdana" panose="020B060403050404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476" marR="28476" marT="0" marB="0"/>
                </a:tc>
                <a:extLst>
                  <a:ext uri="{0D108BD9-81ED-4DB2-BD59-A6C34878D82A}">
                    <a16:rowId xmlns:a16="http://schemas.microsoft.com/office/drawing/2014/main" val="1565463252"/>
                  </a:ext>
                </a:extLst>
              </a:tr>
              <a:tr h="747713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 kern="100" dirty="0">
                          <a:effectLst/>
                        </a:rPr>
                        <a:t>R markdown HTML report</a:t>
                      </a:r>
                      <a:endParaRPr lang="en-US" sz="900" kern="100" dirty="0">
                        <a:effectLst/>
                        <a:latin typeface="Verdana" panose="020B060403050404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476" marR="284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 kern="100" dirty="0">
                          <a:effectLst/>
                        </a:rPr>
                        <a:t>Data submitter</a:t>
                      </a:r>
                      <a:endParaRPr lang="en-US" sz="900" kern="100" dirty="0">
                        <a:effectLst/>
                        <a:latin typeface="Verdana" panose="020B060403050404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476" marR="28476" marT="0" marB="0"/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>
                          <a:effectLst/>
                        </a:rPr>
                        <a:t>Low cost </a:t>
                      </a:r>
                      <a:endParaRPr lang="en-US" sz="1100" kern="10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>
                          <a:effectLst/>
                        </a:rPr>
                        <a:t>Easy to develop </a:t>
                      </a:r>
                      <a:endParaRPr lang="en-US" sz="1100" kern="10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>
                          <a:effectLst/>
                        </a:rPr>
                        <a:t>Short term </a:t>
                      </a:r>
                      <a:endParaRPr lang="en-US" sz="11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Verdana" panose="020B0604030504040204" pitchFamily="34" charset="0"/>
                      </a:endParaRPr>
                    </a:p>
                  </a:txBody>
                  <a:tcPr marL="28476" marR="28476" marT="0" marB="0"/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>
                          <a:effectLst/>
                        </a:rPr>
                        <a:t>R knowledge</a:t>
                      </a:r>
                      <a:endParaRPr lang="en-US" sz="1100" kern="10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>
                          <a:effectLst/>
                        </a:rPr>
                        <a:t>Dedicated subgroup for maintenance, development </a:t>
                      </a:r>
                      <a:endParaRPr lang="en-US" sz="1100" kern="10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>
                          <a:effectLst/>
                        </a:rPr>
                        <a:t>Use is optional</a:t>
                      </a:r>
                      <a:endParaRPr lang="en-US" sz="1100" kern="10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>
                          <a:effectLst/>
                        </a:rPr>
                        <a:t>Directed mainly to data submitter</a:t>
                      </a:r>
                      <a:endParaRPr lang="en-US" sz="11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Verdana" panose="020B0604030504040204" pitchFamily="34" charset="0"/>
                      </a:endParaRPr>
                    </a:p>
                  </a:txBody>
                  <a:tcPr marL="28476" marR="28476" marT="0" marB="0"/>
                </a:tc>
                <a:extLst>
                  <a:ext uri="{0D108BD9-81ED-4DB2-BD59-A6C34878D82A}">
                    <a16:rowId xmlns:a16="http://schemas.microsoft.com/office/drawing/2014/main" val="4228358080"/>
                  </a:ext>
                </a:extLst>
              </a:tr>
              <a:tr h="747713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 kern="100">
                          <a:effectLst/>
                        </a:rPr>
                        <a:t>RDBES automated report</a:t>
                      </a:r>
                      <a:endParaRPr lang="en-US" sz="900" kern="100">
                        <a:effectLst/>
                        <a:latin typeface="Verdana" panose="020B060403050404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476" marR="284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 kern="100">
                          <a:effectLst/>
                        </a:rPr>
                        <a:t>Data submitter</a:t>
                      </a:r>
                      <a:endParaRPr lang="en-US" sz="900" kern="100">
                        <a:effectLst/>
                        <a:latin typeface="Verdana" panose="020B060403050404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476" marR="28476" marT="0" marB="0"/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 dirty="0">
                          <a:effectLst/>
                        </a:rPr>
                        <a:t>Automatic</a:t>
                      </a:r>
                      <a:endParaRPr lang="en-US" sz="1100" kern="100" dirty="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 dirty="0">
                          <a:effectLst/>
                        </a:rPr>
                        <a:t>R knowledge not needed</a:t>
                      </a:r>
                      <a:endParaRPr lang="en-US" sz="1100" kern="100" dirty="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 dirty="0">
                          <a:effectLst/>
                        </a:rPr>
                        <a:t>User will have instant access to the report with the data upload</a:t>
                      </a:r>
                      <a:endParaRPr lang="en-US" sz="1100" kern="100" dirty="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Verdana" panose="020B0604030504040204" pitchFamily="34" charset="0"/>
                      </a:endParaRPr>
                    </a:p>
                  </a:txBody>
                  <a:tcPr marL="28476" marR="28476" marT="0" marB="0"/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>
                          <a:effectLst/>
                        </a:rPr>
                        <a:t>ICES needs to develop it </a:t>
                      </a:r>
                      <a:endParaRPr lang="en-US" sz="1100" kern="10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>
                          <a:effectLst/>
                        </a:rPr>
                        <a:t>Funding</a:t>
                      </a:r>
                      <a:endParaRPr lang="en-US" sz="1100" kern="10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>
                          <a:effectLst/>
                        </a:rPr>
                        <a:t>Integrating changes might be difficult</a:t>
                      </a:r>
                      <a:endParaRPr lang="en-US" sz="1100" kern="10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>
                          <a:effectLst/>
                        </a:rPr>
                        <a:t>Long term </a:t>
                      </a:r>
                      <a:endParaRPr lang="en-US" sz="1100" kern="10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>
                          <a:effectLst/>
                        </a:rPr>
                        <a:t>Directed mainly to data submitter</a:t>
                      </a:r>
                      <a:endParaRPr lang="en-US" sz="11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Verdana" panose="020B0604030504040204" pitchFamily="34" charset="0"/>
                      </a:endParaRPr>
                    </a:p>
                  </a:txBody>
                  <a:tcPr marL="28476" marR="28476" marT="0" marB="0"/>
                </a:tc>
                <a:extLst>
                  <a:ext uri="{0D108BD9-81ED-4DB2-BD59-A6C34878D82A}">
                    <a16:rowId xmlns:a16="http://schemas.microsoft.com/office/drawing/2014/main" val="1847088435"/>
                  </a:ext>
                </a:extLst>
              </a:tr>
              <a:tr h="604737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 kern="100" dirty="0">
                          <a:effectLst/>
                        </a:rPr>
                        <a:t>Dedicated Working Group</a:t>
                      </a:r>
                      <a:endParaRPr lang="en-US" sz="900" kern="100" dirty="0">
                        <a:effectLst/>
                        <a:latin typeface="Verdana" panose="020B060403050404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476" marR="284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 kern="100">
                          <a:effectLst/>
                        </a:rPr>
                        <a:t>Data submitter &amp; end-users </a:t>
                      </a:r>
                      <a:endParaRPr lang="en-US" sz="900" kern="100">
                        <a:effectLst/>
                        <a:latin typeface="Verdana" panose="020B060403050404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476" marR="28476" marT="0" marB="0"/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>
                          <a:effectLst/>
                        </a:rPr>
                        <a:t>Thorough checks </a:t>
                      </a:r>
                      <a:endParaRPr lang="en-US" sz="1100" kern="10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>
                          <a:effectLst/>
                        </a:rPr>
                        <a:t>Could be combined with existing ISSGs/WGs to reduce workload (e.g., Fisheries Overviews)</a:t>
                      </a:r>
                      <a:endParaRPr lang="en-US" sz="1100" kern="10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>
                          <a:effectLst/>
                        </a:rPr>
                        <a:t>Checks will cover the data submitter and end user needs</a:t>
                      </a:r>
                      <a:endParaRPr lang="en-US" sz="11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Verdana" panose="020B0604030504040204" pitchFamily="34" charset="0"/>
                      </a:endParaRPr>
                    </a:p>
                  </a:txBody>
                  <a:tcPr marL="28476" marR="28476" marT="0" marB="0"/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>
                          <a:effectLst/>
                        </a:rPr>
                        <a:t>Funding </a:t>
                      </a:r>
                      <a:endParaRPr lang="en-US" sz="1100" kern="10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>
                          <a:effectLst/>
                        </a:rPr>
                        <a:t>Expert capacity </a:t>
                      </a:r>
                      <a:endParaRPr lang="en-US" sz="1100" kern="10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>
                          <a:effectLst/>
                        </a:rPr>
                        <a:t>Annual Working Group</a:t>
                      </a:r>
                      <a:endParaRPr lang="en-US" sz="11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Verdana" panose="020B0604030504040204" pitchFamily="34" charset="0"/>
                      </a:endParaRPr>
                    </a:p>
                  </a:txBody>
                  <a:tcPr marL="28476" marR="28476" marT="0" marB="0"/>
                </a:tc>
                <a:extLst>
                  <a:ext uri="{0D108BD9-81ED-4DB2-BD59-A6C34878D82A}">
                    <a16:rowId xmlns:a16="http://schemas.microsoft.com/office/drawing/2014/main" val="2965243974"/>
                  </a:ext>
                </a:extLst>
              </a:tr>
              <a:tr h="1323853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 kern="100" dirty="0">
                          <a:effectLst/>
                        </a:rPr>
                        <a:t>R package</a:t>
                      </a:r>
                      <a:endParaRPr lang="en-US" sz="900" kern="100" dirty="0">
                        <a:effectLst/>
                        <a:latin typeface="Verdana" panose="020B060403050404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476" marR="284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 kern="100" dirty="0">
                          <a:effectLst/>
                        </a:rPr>
                        <a:t>Data submitters &amp; end users </a:t>
                      </a:r>
                      <a:endParaRPr lang="en-US" sz="900" kern="100" dirty="0">
                        <a:effectLst/>
                        <a:latin typeface="Verdana" panose="020B060403050404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476" marR="28476" marT="0" marB="0"/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>
                          <a:effectLst/>
                        </a:rPr>
                        <a:t>Checks will cover the data submitter and end user needs</a:t>
                      </a:r>
                      <a:endParaRPr lang="en-US" sz="1100" kern="10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>
                          <a:effectLst/>
                        </a:rPr>
                        <a:t>Easily accessible for all users with R knowledge</a:t>
                      </a:r>
                      <a:endParaRPr lang="en-US" sz="1100" kern="100">
                        <a:effectLst/>
                        <a:latin typeface="Palatino Linotype" panose="02040502050505030304" pitchFamily="18" charset="0"/>
                        <a:ea typeface="Calibri" panose="020F0502020204030204" pitchFamily="34" charset="0"/>
                        <a:cs typeface="Verdana" panose="020B0604030504040204" pitchFamily="34" charset="0"/>
                      </a:endParaRPr>
                    </a:p>
                  </a:txBody>
                  <a:tcPr marL="28476" marR="28476" marT="0" marB="0"/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 dirty="0">
                          <a:effectLst/>
                        </a:rPr>
                        <a:t>R knowledge</a:t>
                      </a:r>
                      <a:endParaRPr lang="en-US" sz="1100" kern="100" dirty="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 dirty="0">
                          <a:effectLst/>
                        </a:rPr>
                        <a:t>Dedicated Working Group to develop the package </a:t>
                      </a:r>
                      <a:endParaRPr lang="en-US" sz="1100" kern="100" dirty="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 dirty="0">
                          <a:effectLst/>
                        </a:rPr>
                        <a:t>Dedicated subgroup for maintenance, development </a:t>
                      </a:r>
                      <a:endParaRPr lang="en-US" sz="1100" kern="100" dirty="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 dirty="0">
                          <a:effectLst/>
                        </a:rPr>
                        <a:t>Use is optional</a:t>
                      </a:r>
                      <a:endParaRPr lang="en-US" sz="1100" kern="100" dirty="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 dirty="0">
                          <a:effectLst/>
                        </a:rPr>
                        <a:t>Long term </a:t>
                      </a:r>
                      <a:endParaRPr lang="en-US" sz="1100" kern="100" dirty="0">
                        <a:effectLst/>
                      </a:endParaRPr>
                    </a:p>
                    <a:p>
                      <a:pPr marL="342900" marR="0" lvl="0" indent="-342900" algn="just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 kern="100" dirty="0">
                          <a:effectLst/>
                        </a:rPr>
                        <a:t>Expert capacity </a:t>
                      </a:r>
                      <a:endParaRPr lang="en-US" sz="1100" kern="100" dirty="0">
                        <a:effectLst/>
                      </a:endParaRPr>
                    </a:p>
                    <a:p>
                      <a:pPr marL="22860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 kern="100" dirty="0">
                          <a:effectLst/>
                        </a:rPr>
                        <a:t> </a:t>
                      </a:r>
                      <a:endParaRPr lang="en-US" sz="900" kern="100" dirty="0">
                        <a:effectLst/>
                        <a:latin typeface="Verdana" panose="020B060403050404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28476" marR="28476" marT="0" marB="0"/>
                </a:tc>
                <a:extLst>
                  <a:ext uri="{0D108BD9-81ED-4DB2-BD59-A6C34878D82A}">
                    <a16:rowId xmlns:a16="http://schemas.microsoft.com/office/drawing/2014/main" val="2768413092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B3D4CD-A37A-BA00-35DE-D1AF17904C24}"/>
              </a:ext>
            </a:extLst>
          </p:cNvPr>
          <p:cNvSpPr txBox="1">
            <a:spLocks/>
          </p:cNvSpPr>
          <p:nvPr/>
        </p:nvSpPr>
        <p:spPr>
          <a:xfrm>
            <a:off x="737854" y="2031811"/>
            <a:ext cx="1953286" cy="4457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How to QA? </a:t>
            </a:r>
            <a:endParaRPr lang="en-GB" b="1" dirty="0"/>
          </a:p>
          <a:p>
            <a:pPr marL="0" indent="0">
              <a:buFont typeface="Wingdings 2" panose="05020102010507070707" pitchFamily="18" charset="2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267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GB" sz="2500" dirty="0">
                <a:solidFill>
                  <a:srgbClr val="FFFEFF"/>
                </a:solidFill>
              </a:rPr>
              <a:t>Task 1: To develop a plan to integrate quality procedure,  taking into account three levels of quality checks.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B3D4CD-A37A-BA00-35DE-D1AF17904C24}"/>
              </a:ext>
            </a:extLst>
          </p:cNvPr>
          <p:cNvSpPr txBox="1">
            <a:spLocks/>
          </p:cNvSpPr>
          <p:nvPr/>
        </p:nvSpPr>
        <p:spPr>
          <a:xfrm>
            <a:off x="737854" y="2182854"/>
            <a:ext cx="4313540" cy="4358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How to document? – Current state </a:t>
            </a:r>
            <a:endParaRPr lang="en-GB" b="1" dirty="0"/>
          </a:p>
          <a:p>
            <a:pPr marL="0" indent="0">
              <a:buFont typeface="Wingdings 2" panose="05020102010507070707" pitchFamily="18" charset="2"/>
              <a:buNone/>
            </a:pP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5995C6-5045-6288-1485-3C56A152E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2809131"/>
            <a:ext cx="10944225" cy="3485054"/>
          </a:xfrm>
        </p:spPr>
        <p:txBody>
          <a:bodyPr/>
          <a:lstStyle/>
          <a:p>
            <a:r>
              <a:rPr lang="en-US" b="1" dirty="0"/>
              <a:t>Upload log </a:t>
            </a:r>
          </a:p>
          <a:p>
            <a:pPr lvl="1"/>
            <a:r>
              <a:rPr lang="en-US" dirty="0"/>
              <a:t>Difficult to capture the multiple uploads and changes over time </a:t>
            </a:r>
          </a:p>
          <a:p>
            <a:pPr lvl="1"/>
            <a:r>
              <a:rPr lang="en-US" dirty="0"/>
              <a:t>Compilation of multiple excel documents</a:t>
            </a:r>
          </a:p>
          <a:p>
            <a:pPr lvl="1"/>
            <a:r>
              <a:rPr lang="en-US" dirty="0"/>
              <a:t>Time consuming and prone to errors </a:t>
            </a:r>
          </a:p>
          <a:p>
            <a:pPr lvl="1"/>
            <a:r>
              <a:rPr lang="en-US" dirty="0"/>
              <a:t>Rough overview of data completeness </a:t>
            </a:r>
          </a:p>
          <a:p>
            <a:pPr lvl="1"/>
            <a:r>
              <a:rPr lang="en-US" dirty="0"/>
              <a:t>Short term solution</a:t>
            </a:r>
          </a:p>
          <a:p>
            <a:pPr marL="3240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459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GB" sz="2500" dirty="0">
                <a:solidFill>
                  <a:srgbClr val="FFFEFF"/>
                </a:solidFill>
              </a:rPr>
              <a:t>Task 1: To develop a plan to integrate quality procedure,  taking into account three levels of quality checks.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B3D4CD-A37A-BA00-35DE-D1AF17904C24}"/>
              </a:ext>
            </a:extLst>
          </p:cNvPr>
          <p:cNvSpPr txBox="1">
            <a:spLocks/>
          </p:cNvSpPr>
          <p:nvPr/>
        </p:nvSpPr>
        <p:spPr>
          <a:xfrm>
            <a:off x="737853" y="2165096"/>
            <a:ext cx="4908345" cy="4535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How to document? – Future development </a:t>
            </a:r>
            <a:endParaRPr lang="en-GB" b="1" dirty="0"/>
          </a:p>
          <a:p>
            <a:pPr marL="0" indent="0">
              <a:buFont typeface="Wingdings 2" panose="05020102010507070707" pitchFamily="18" charset="2"/>
              <a:buNone/>
            </a:pP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5995C6-5045-6288-1485-3C56A152E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2702604"/>
            <a:ext cx="10944225" cy="3485054"/>
          </a:xfrm>
        </p:spPr>
        <p:txBody>
          <a:bodyPr/>
          <a:lstStyle/>
          <a:p>
            <a:r>
              <a:rPr lang="en-US" b="1" dirty="0"/>
              <a:t>ICES interface </a:t>
            </a:r>
          </a:p>
          <a:p>
            <a:pPr lvl="1"/>
            <a:r>
              <a:rPr lang="en-US" dirty="0"/>
              <a:t>Data submitters will be able to report any changes in real time</a:t>
            </a:r>
          </a:p>
          <a:p>
            <a:pPr lvl="1"/>
            <a:r>
              <a:rPr lang="en-US" dirty="0"/>
              <a:t>End users will have an overview of errors/completeness by MS in real time</a:t>
            </a:r>
          </a:p>
          <a:p>
            <a:pPr lvl="1"/>
            <a:r>
              <a:rPr lang="en-US" dirty="0"/>
              <a:t>Reduces workload and capacity requirements – No need for processing files </a:t>
            </a:r>
          </a:p>
          <a:p>
            <a:pPr lvl="1"/>
            <a:r>
              <a:rPr lang="en-US" dirty="0"/>
              <a:t>Requires funding and development </a:t>
            </a:r>
          </a:p>
          <a:p>
            <a:pPr lvl="1"/>
            <a:r>
              <a:rPr lang="en-US" dirty="0"/>
              <a:t>System that accommodates the RDBES dynamic nature</a:t>
            </a:r>
          </a:p>
          <a:p>
            <a:pPr lvl="1"/>
            <a:r>
              <a:rPr lang="en-US" dirty="0"/>
              <a:t>Should be prioritized</a:t>
            </a:r>
          </a:p>
          <a:p>
            <a:pPr marL="3240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357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GB" sz="2500" dirty="0">
                <a:solidFill>
                  <a:srgbClr val="FFFEFF"/>
                </a:solidFill>
              </a:rPr>
              <a:t>Task 1: To develop a plan to integrate quality procedure,  taking into account three levels of quality checks.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B3D4CD-A37A-BA00-35DE-D1AF17904C24}"/>
              </a:ext>
            </a:extLst>
          </p:cNvPr>
          <p:cNvSpPr txBox="1">
            <a:spLocks/>
          </p:cNvSpPr>
          <p:nvPr/>
        </p:nvSpPr>
        <p:spPr>
          <a:xfrm>
            <a:off x="737853" y="2129588"/>
            <a:ext cx="4908345" cy="4535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How should the feedback process work? </a:t>
            </a:r>
            <a:endParaRPr lang="en-GB" b="1" dirty="0"/>
          </a:p>
          <a:p>
            <a:pPr marL="0" indent="0">
              <a:buFont typeface="Wingdings 2" panose="05020102010507070707" pitchFamily="18" charset="2"/>
              <a:buNone/>
            </a:pP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5995C6-5045-6288-1485-3C56A152E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2627554"/>
            <a:ext cx="10944225" cy="3485054"/>
          </a:xfrm>
        </p:spPr>
        <p:txBody>
          <a:bodyPr/>
          <a:lstStyle/>
          <a:p>
            <a:r>
              <a:rPr lang="en-US" dirty="0"/>
              <a:t>Feedback process should be fast and straightforward to ensure the work of the end-users is not disrupted and the delays are minimized: </a:t>
            </a:r>
          </a:p>
          <a:p>
            <a:pPr lvl="1"/>
            <a:r>
              <a:rPr lang="en-US" dirty="0"/>
              <a:t>Countries should provide the contact information of two people responsible for the data submission,</a:t>
            </a:r>
          </a:p>
          <a:p>
            <a:pPr lvl="1"/>
            <a:r>
              <a:rPr lang="en-US" dirty="0"/>
              <a:t>When errors are spotted an email should be send directly by the end-users to the data submitters, including an ICES person in cc assigned to keep track of the correspondence as well as the chair of the subsidiary body. </a:t>
            </a:r>
          </a:p>
          <a:p>
            <a:pPr lvl="1"/>
            <a:r>
              <a:rPr lang="en-US" dirty="0"/>
              <a:t>If there is no response by the data submitters within XX working days, the NC should be informed as well. </a:t>
            </a:r>
          </a:p>
          <a:p>
            <a:pPr lvl="1"/>
            <a:r>
              <a:rPr lang="en-US" dirty="0"/>
              <a:t>An ICES interface which allows the user to document errors/changes in real time could have a built-in functionality to send an email to the data submitter when the end user spots an error, or to the end user when a change has occurred. </a:t>
            </a:r>
          </a:p>
          <a:p>
            <a:pPr marL="324000" lvl="1" indent="0">
              <a:buNone/>
            </a:pPr>
            <a:endParaRPr lang="en-US" dirty="0"/>
          </a:p>
          <a:p>
            <a:pPr marL="3240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889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 fontScale="90000"/>
          </a:bodyPr>
          <a:lstStyle/>
          <a:p>
            <a:r>
              <a:rPr lang="en-US"/>
              <a:t>TASK 2: To start developing further the Data Quality report for data submitters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5866C5-3948-7B42-DB30-C56B56C4BC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55" r="36750"/>
          <a:stretch/>
        </p:blipFill>
        <p:spPr>
          <a:xfrm>
            <a:off x="657225" y="2361056"/>
            <a:ext cx="4962525" cy="364921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5995C6-5045-6288-1485-3C56A152E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r>
              <a:rPr lang="en-US" dirty="0"/>
              <a:t>Quality report (currently only for CL &amp; CE)</a:t>
            </a:r>
          </a:p>
          <a:p>
            <a:pPr lvl="1"/>
            <a:r>
              <a:rPr lang="en-US" dirty="0"/>
              <a:t>Public ICES repository </a:t>
            </a:r>
          </a:p>
          <a:p>
            <a:pPr lvl="1"/>
            <a:r>
              <a:rPr lang="en-US" dirty="0"/>
              <a:t>User can download the code and run the report</a:t>
            </a:r>
          </a:p>
          <a:p>
            <a:pPr lvl="1"/>
            <a:r>
              <a:rPr lang="en-US" dirty="0"/>
              <a:t>Optional use of auxiliary data (Eurostat, ICES preliminary catches, Fleet register)</a:t>
            </a:r>
          </a:p>
          <a:p>
            <a:pPr lvl="1"/>
            <a:r>
              <a:rPr lang="en-US" dirty="0"/>
              <a:t>Spatial checks </a:t>
            </a:r>
          </a:p>
          <a:p>
            <a:pPr lvl="1"/>
            <a:r>
              <a:rPr lang="en-US" dirty="0"/>
              <a:t>CL &amp; CE cross checks </a:t>
            </a:r>
          </a:p>
          <a:p>
            <a:pPr lvl="1"/>
            <a:r>
              <a:rPr lang="en-US" dirty="0"/>
              <a:t>Development ongoing</a:t>
            </a:r>
          </a:p>
          <a:p>
            <a:r>
              <a:rPr lang="en-US" dirty="0"/>
              <a:t>Feedback &amp; development</a:t>
            </a:r>
          </a:p>
          <a:p>
            <a:pPr lvl="1"/>
            <a:r>
              <a:rPr lang="en-US" dirty="0"/>
              <a:t>User will be able to open an issue in the repository</a:t>
            </a:r>
          </a:p>
          <a:p>
            <a:pPr marL="3240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263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/>
              <a:t>Plan for testing the quality script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14CC8EA2-1801-E97E-A9B4-B2C78B591F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4991" y="2296143"/>
            <a:ext cx="11402017" cy="2951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da-DK" dirty="0">
                <a:solidFill>
                  <a:schemeClr val="tx1"/>
                </a:solidFill>
                <a:ea typeface="Aptos" panose="020B0004020202020204" pitchFamily="34" charset="0"/>
                <a:cs typeface="Calibri" panose="020F0502020204030204" pitchFamily="34" charset="0"/>
              </a:rPr>
              <a:t>The script was presented and discussed at EU Regional Coordination Group (RCG NANSEA &amp; Baltic)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da-D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Calibri" panose="020F0502020204030204" pitchFamily="34" charset="0"/>
              </a:rPr>
              <a:t>The group recommended MS to start running the markdown Quality script for CL and CE tables and give feedback to the WGRDBESGOV in November.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da-D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Calibri" panose="020F0502020204030204" pitchFamily="34" charset="0"/>
              </a:rPr>
              <a:t>If issues are encountered, NC will be able to resubmit their data (in this case, it is important to notify Henrik about the resubmission).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da-D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Calibri" panose="020F0502020204030204" pitchFamily="34" charset="0"/>
              </a:rPr>
              <a:t>A Teams meeting will be organized around October 22</a:t>
            </a:r>
            <a:r>
              <a:rPr kumimoji="0" lang="en-US" altLang="da-DK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Calibri" panose="020F0502020204030204" pitchFamily="34" charset="0"/>
              </a:rPr>
              <a:t>nd</a:t>
            </a:r>
            <a:r>
              <a:rPr kumimoji="0" lang="en-US" altLang="da-D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Calibri" panose="020F0502020204030204" pitchFamily="34" charset="0"/>
              </a:rPr>
              <a:t> (to be confirmed) to explain how to run the code and a follow up meeting.</a:t>
            </a:r>
            <a:endParaRPr kumimoji="0" lang="en-US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937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3887" y="2039196"/>
            <a:ext cx="10944225" cy="1389804"/>
          </a:xfrm>
        </p:spPr>
        <p:txBody>
          <a:bodyPr>
            <a:normAutofit/>
          </a:bodyPr>
          <a:lstStyle/>
          <a:p>
            <a:pPr algn="ctr"/>
            <a:r>
              <a:rPr lang="en-GB" sz="4400" dirty="0"/>
              <a:t>Questions? </a:t>
            </a:r>
          </a:p>
        </p:txBody>
      </p:sp>
    </p:spTree>
    <p:extLst>
      <p:ext uri="{BB962C8B-B14F-4D97-AF65-F5344CB8AC3E}">
        <p14:creationId xmlns:p14="http://schemas.microsoft.com/office/powerpoint/2010/main" val="4290782822"/>
      </p:ext>
    </p:extLst>
  </p:cSld>
  <p:clrMapOvr>
    <a:masterClrMapping/>
  </p:clrMapOvr>
</p:sld>
</file>

<file path=ppt/theme/theme1.xml><?xml version="1.0" encoding="utf-8"?>
<a:theme xmlns:a="http://schemas.openxmlformats.org/drawingml/2006/main" name="ICES">
  <a:themeElements>
    <a:clrScheme name="ICE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265A"/>
      </a:accent1>
      <a:accent2>
        <a:srgbClr val="EE522C"/>
      </a:accent2>
      <a:accent3>
        <a:srgbClr val="00A695"/>
      </a:accent3>
      <a:accent4>
        <a:srgbClr val="73A9B9"/>
      </a:accent4>
      <a:accent5>
        <a:srgbClr val="B2CCC4"/>
      </a:accent5>
      <a:accent6>
        <a:srgbClr val="3FB8F3"/>
      </a:accent6>
      <a:hlink>
        <a:srgbClr val="0563C1"/>
      </a:hlink>
      <a:folHlink>
        <a:srgbClr val="954F72"/>
      </a:folHlink>
    </a:clrScheme>
    <a:fontScheme name="ICE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 anchor="t">
        <a:noAutofit/>
      </a:bodyPr>
      <a:lstStyle>
        <a:defPPr algn="l">
          <a:defRPr sz="2000" dirty="0" err="1" smtClean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CES.pptx" id="{9FA9E144-3DF8-49BB-A711-22C11A301E2D}" vid="{395643DC-4C3F-488B-B8A5-D974C95F350A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d5313c0-c1e6-4122-afa9-da1ccdba405d"/>
    <TaxCatchAllLabel xmlns="4d5313c0-c1e6-4122-afa9-da1ccdba405d"/>
    <TaxKeywordTaxHTField xmlns="4d5313c0-c1e6-4122-afa9-da1ccdba405d">
      <Terms xmlns="http://schemas.microsoft.com/office/infopath/2007/PartnerControls"/>
    </TaxKeywordTaxHTField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8B484055E284C84386157274E17E1" ma:contentTypeVersion="1" ma:contentTypeDescription="Create a new document." ma:contentTypeScope="" ma:versionID="70f45ad91d3bcde0200e23bbdb530ae9">
  <xsd:schema xmlns:xsd="http://www.w3.org/2001/XMLSchema" xmlns:xs="http://www.w3.org/2001/XMLSchema" xmlns:p="http://schemas.microsoft.com/office/2006/metadata/properties" xmlns:ns2="4d5313c0-c1e6-4122-afa9-da1ccdba405d" xmlns:ns3="362c980f-4e38-4cca-bd06-5104ee5993c5" targetNamespace="http://schemas.microsoft.com/office/2006/metadata/properties" ma:root="true" ma:fieldsID="9f98ca6881a668db0da870722b40e1ec" ns2:_="" ns3:_="">
    <xsd:import namespace="4d5313c0-c1e6-4122-afa9-da1ccdba405d"/>
    <xsd:import namespace="362c980f-4e38-4cca-bd06-5104ee5993c5"/>
    <xsd:element name="properties">
      <xsd:complexType>
        <xsd:sequence>
          <xsd:element name="documentManagement">
            <xsd:complexType>
              <xsd:all>
                <xsd:element ref="ns2:TaxKeywordTaxHTField" minOccurs="0"/>
                <xsd:element ref="ns2:TaxCatchAll" minOccurs="0"/>
                <xsd:element ref="ns2:TaxCatchAllLabel" minOccurs="0"/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5313c0-c1e6-4122-afa9-da1ccdba405d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8" nillable="true" ma:taxonomy="true" ma:internalName="TaxKeywordTaxHTField" ma:taxonomyFieldName="TaxKeyword" ma:displayName="Enterprise Keywords" ma:readOnly="false" ma:fieldId="{23f27201-bee3-471e-b2e7-b64fd8b7ca38}" ma:taxonomyMulti="true" ma:sspId="d535ea34-4ec8-4f57-b85b-d8a79460f026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b2cc2698-5fc4-4ff6-b1d3-64e75efa1efc}" ma:internalName="TaxCatchAll" ma:readOnly="false" ma:showField="CatchAllData" ma:web="4d5313c0-c1e6-4122-afa9-da1ccdba40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b2cc2698-5fc4-4ff6-b1d3-64e75efa1efc}" ma:internalName="TaxCatchAllLabel" ma:readOnly="false" ma:showField="CatchAllDataLabel" ma:web="4d5313c0-c1e6-4122-afa9-da1ccdba40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2c980f-4e38-4cca-bd06-5104ee5993c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7766D45-EAD8-4B35-81C7-D364DC0604F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1FEFB4A-93BB-42CE-991E-3137591E04A2}">
  <ds:schemaRefs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www.w3.org/XML/1998/namespace"/>
    <ds:schemaRef ds:uri="http://purl.org/dc/dcmitype/"/>
    <ds:schemaRef ds:uri="http://schemas.openxmlformats.org/package/2006/metadata/core-properties"/>
    <ds:schemaRef ds:uri="11e1a505-f2ec-4707-88a3-f15caeffffa3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F99E504-FF85-4D4C-8453-F1C18BB967E5}"/>
</file>

<file path=docProps/app.xml><?xml version="1.0" encoding="utf-8"?>
<Properties xmlns="http://schemas.openxmlformats.org/officeDocument/2006/extended-properties" xmlns:vt="http://schemas.openxmlformats.org/officeDocument/2006/docPropsVTypes">
  <Template>ICES PowerPoint template 2019</Template>
  <TotalTime>1513</TotalTime>
  <Words>1001</Words>
  <Application>Microsoft Office PowerPoint</Application>
  <PresentationFormat>Ecrã Panorâmico</PresentationFormat>
  <Paragraphs>116</Paragraphs>
  <Slides>13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13</vt:i4>
      </vt:variant>
    </vt:vector>
  </HeadingPairs>
  <TitlesOfParts>
    <vt:vector size="21" baseType="lpstr">
      <vt:lpstr>Aptos</vt:lpstr>
      <vt:lpstr>Arial</vt:lpstr>
      <vt:lpstr>Calibri</vt:lpstr>
      <vt:lpstr>Palatino Linotype</vt:lpstr>
      <vt:lpstr>Symbol</vt:lpstr>
      <vt:lpstr>Verdana</vt:lpstr>
      <vt:lpstr>Wingdings 2</vt:lpstr>
      <vt:lpstr>ICES</vt:lpstr>
      <vt:lpstr>WGRDBES GOV ISSG Data Quality Presentation for RDBES-INTRO</vt:lpstr>
      <vt:lpstr>Why was the ISSG Quality formed?</vt:lpstr>
      <vt:lpstr>Task 1: To develop a plan to integrate quality procedure, taking into account three levels of quality checks.</vt:lpstr>
      <vt:lpstr>Task 1: To develop a plan to integrate quality procedure, taking into account three levels of quality checks.</vt:lpstr>
      <vt:lpstr>Task 1: To develop a plan to integrate quality procedure, taking into account three levels of quality checks.</vt:lpstr>
      <vt:lpstr>Task 1: To develop a plan to integrate quality procedure, taking into account three levels of quality checks.</vt:lpstr>
      <vt:lpstr>Task 1: To develop a plan to integrate quality procedure,  taking into account three levels of quality checks.</vt:lpstr>
      <vt:lpstr>Task 1: To develop a plan to integrate quality procedure,  taking into account three levels of quality checks.</vt:lpstr>
      <vt:lpstr>Task 1: To develop a plan to integrate quality procedure,  taking into account three levels of quality checks.</vt:lpstr>
      <vt:lpstr>Task 1: To develop a plan to integrate quality procedure,  taking into account three levels of quality checks.</vt:lpstr>
      <vt:lpstr>TASK 2: To start developing further the Data Quality report for data submitters</vt:lpstr>
      <vt:lpstr>Plan for testing the quality script</vt:lpstr>
      <vt:lpstr>Questions? </vt:lpstr>
    </vt:vector>
  </TitlesOfParts>
  <Company>DTU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WGRDBES GOV ISSG Data Quality Presentation for RDBES-INTRO</dc:title>
  <dc:creator>Josefine Egekvist</dc:creator>
  <cp:lastModifiedBy>Ana Cláudia Fernandes</cp:lastModifiedBy>
  <cp:revision>4</cp:revision>
  <dcterms:created xsi:type="dcterms:W3CDTF">2024-09-24T04:58:56Z</dcterms:created>
  <dcterms:modified xsi:type="dcterms:W3CDTF">2024-09-25T12:54:00Z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0x0101005518B484055E284C84386157274E17E1</vt:lpwstr>
  </property>
</Properties>
</file>