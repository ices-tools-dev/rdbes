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8"/>
  </p:notesMasterIdLst>
  <p:handoutMasterIdLst>
    <p:handoutMasterId r:id="rId29"/>
  </p:handoutMasterIdLst>
  <p:sldIdLst>
    <p:sldId id="256" r:id="rId2"/>
    <p:sldId id="362" r:id="rId3"/>
    <p:sldId id="373" r:id="rId4"/>
    <p:sldId id="412" r:id="rId5"/>
    <p:sldId id="397" r:id="rId6"/>
    <p:sldId id="413" r:id="rId7"/>
    <p:sldId id="375" r:id="rId8"/>
    <p:sldId id="320" r:id="rId9"/>
    <p:sldId id="366" r:id="rId10"/>
    <p:sldId id="391" r:id="rId11"/>
    <p:sldId id="321" r:id="rId12"/>
    <p:sldId id="401" r:id="rId13"/>
    <p:sldId id="418" r:id="rId14"/>
    <p:sldId id="370" r:id="rId15"/>
    <p:sldId id="385" r:id="rId16"/>
    <p:sldId id="386" r:id="rId17"/>
    <p:sldId id="388" r:id="rId18"/>
    <p:sldId id="390" r:id="rId19"/>
    <p:sldId id="410" r:id="rId20"/>
    <p:sldId id="387" r:id="rId21"/>
    <p:sldId id="393" r:id="rId22"/>
    <p:sldId id="406" r:id="rId23"/>
    <p:sldId id="396" r:id="rId24"/>
    <p:sldId id="364" r:id="rId25"/>
    <p:sldId id="269" r:id="rId26"/>
    <p:sldId id="308" r:id="rId27"/>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3F3"/>
    <a:srgbClr val="00265A"/>
    <a:srgbClr val="73A9B9"/>
    <a:srgbClr val="EC5232"/>
    <a:srgbClr val="00A6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26" autoAdjust="0"/>
    <p:restoredTop sz="88079" autoAdjust="0"/>
  </p:normalViewPr>
  <p:slideViewPr>
    <p:cSldViewPr snapToGrid="0">
      <p:cViewPr varScale="1">
        <p:scale>
          <a:sx n="70" d="100"/>
          <a:sy n="70" d="100"/>
        </p:scale>
        <p:origin x="288"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278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66E911-F793-4838-A7E0-22F5DC2E219F}" type="datetimeFigureOut">
              <a:rPr lang="da-DK" smtClean="0"/>
              <a:t>24-09-2024</a:t>
            </a:fld>
            <a:endParaRPr lang="da-DK"/>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9DA88-E9CB-4BD6-A3AA-E9F01D61D701}" type="slidenum">
              <a:rPr lang="da-DK" smtClean="0"/>
              <a:t>‹#›</a:t>
            </a:fld>
            <a:endParaRPr lang="da-DK"/>
          </a:p>
        </p:txBody>
      </p:sp>
    </p:spTree>
    <p:extLst>
      <p:ext uri="{BB962C8B-B14F-4D97-AF65-F5344CB8AC3E}">
        <p14:creationId xmlns:p14="http://schemas.microsoft.com/office/powerpoint/2010/main" val="1386495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13728F-8162-45DA-9D2E-41AA768A9627}" type="datetimeFigureOut">
              <a:rPr lang="en-GB" smtClean="0"/>
              <a:t>24/09/2024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389040-A37A-456B-8A95-5B3C83B96160}" type="slidenum">
              <a:rPr lang="en-GB" smtClean="0"/>
              <a:t>‹#›</a:t>
            </a:fld>
            <a:endParaRPr lang="en-GB"/>
          </a:p>
        </p:txBody>
      </p:sp>
    </p:spTree>
    <p:extLst>
      <p:ext uri="{BB962C8B-B14F-4D97-AF65-F5344CB8AC3E}">
        <p14:creationId xmlns:p14="http://schemas.microsoft.com/office/powerpoint/2010/main" val="3588074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sp>
        <p:nvSpPr>
          <p:cNvPr id="14" name="Pladsholder til tekst 13"/>
          <p:cNvSpPr>
            <a:spLocks noGrp="1"/>
          </p:cNvSpPr>
          <p:nvPr>
            <p:ph type="body" sz="quarter" idx="10" hasCustomPrompt="1"/>
          </p:nvPr>
        </p:nvSpPr>
        <p:spPr>
          <a:xfrm>
            <a:off x="638174" y="769938"/>
            <a:ext cx="9220201" cy="997730"/>
          </a:xfrm>
        </p:spPr>
        <p:txBody>
          <a:bodyPr>
            <a:noAutofit/>
          </a:bodyPr>
          <a:lstStyle>
            <a:lvl1pPr marL="0" indent="0">
              <a:buNone/>
              <a:defRPr sz="7000" baseline="0">
                <a:solidFill>
                  <a:schemeClr val="bg1"/>
                </a:solidFill>
              </a:defRPr>
            </a:lvl1pPr>
            <a:lvl2pPr>
              <a:defRPr sz="4000"/>
            </a:lvl2pPr>
            <a:lvl3pPr>
              <a:defRPr sz="4000"/>
            </a:lvl3pPr>
            <a:lvl4pPr>
              <a:defRPr sz="4000"/>
            </a:lvl4pPr>
            <a:lvl5pPr>
              <a:defRPr sz="4000"/>
            </a:lvl5pPr>
          </a:lstStyle>
          <a:p>
            <a:pPr lvl="0"/>
            <a:r>
              <a:rPr lang="da-DK" dirty="0" err="1"/>
              <a:t>Powerpoint</a:t>
            </a:r>
            <a:r>
              <a:rPr lang="da-DK" dirty="0"/>
              <a:t> </a:t>
            </a:r>
            <a:r>
              <a:rPr lang="da-DK" dirty="0" err="1"/>
              <a:t>title</a:t>
            </a:r>
            <a:endParaRPr lang="da-DK" dirty="0"/>
          </a:p>
        </p:txBody>
      </p:sp>
      <p:sp>
        <p:nvSpPr>
          <p:cNvPr id="20" name="Pladsholder til tekst 18"/>
          <p:cNvSpPr>
            <a:spLocks noGrp="1"/>
          </p:cNvSpPr>
          <p:nvPr>
            <p:ph type="body" sz="quarter" idx="12" hasCustomPrompt="1"/>
          </p:nvPr>
        </p:nvSpPr>
        <p:spPr>
          <a:xfrm>
            <a:off x="676276" y="1767668"/>
            <a:ext cx="9182100" cy="2674938"/>
          </a:xfrm>
        </p:spPr>
        <p:txBody>
          <a:bodyPr/>
          <a:lstStyle>
            <a:lvl1pPr marL="0" indent="0">
              <a:buNone/>
              <a:defRPr>
                <a:solidFill>
                  <a:schemeClr val="bg1">
                    <a:lumMod val="85000"/>
                  </a:schemeClr>
                </a:solidFill>
              </a:defRPr>
            </a:lvl1pPr>
          </a:lstStyle>
          <a:p>
            <a:pPr lvl="0"/>
            <a:r>
              <a:rPr lang="da-DK" dirty="0"/>
              <a:t>Subheader</a:t>
            </a:r>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2301310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sp>
        <p:nvSpPr>
          <p:cNvPr id="14" name="Pladsholder til tekst 13"/>
          <p:cNvSpPr>
            <a:spLocks noGrp="1"/>
          </p:cNvSpPr>
          <p:nvPr>
            <p:ph type="body" sz="quarter" idx="10" hasCustomPrompt="1"/>
          </p:nvPr>
        </p:nvSpPr>
        <p:spPr>
          <a:xfrm>
            <a:off x="638174" y="769938"/>
            <a:ext cx="9220201" cy="997730"/>
          </a:xfrm>
        </p:spPr>
        <p:txBody>
          <a:bodyPr>
            <a:noAutofit/>
          </a:bodyPr>
          <a:lstStyle>
            <a:lvl1pPr marL="0" indent="0">
              <a:buNone/>
              <a:defRPr sz="7000" baseline="0">
                <a:solidFill>
                  <a:schemeClr val="bg1"/>
                </a:solidFill>
              </a:defRPr>
            </a:lvl1pPr>
            <a:lvl2pPr>
              <a:defRPr sz="4000"/>
            </a:lvl2pPr>
            <a:lvl3pPr>
              <a:defRPr sz="4000"/>
            </a:lvl3pPr>
            <a:lvl4pPr>
              <a:defRPr sz="4000"/>
            </a:lvl4pPr>
            <a:lvl5pPr>
              <a:defRPr sz="4000"/>
            </a:lvl5pPr>
          </a:lstStyle>
          <a:p>
            <a:pPr lvl="0"/>
            <a:r>
              <a:rPr lang="da-DK" dirty="0" err="1"/>
              <a:t>Powerpoint</a:t>
            </a:r>
            <a:r>
              <a:rPr lang="da-DK" dirty="0"/>
              <a:t> </a:t>
            </a:r>
            <a:r>
              <a:rPr lang="da-DK" dirty="0" err="1"/>
              <a:t>title</a:t>
            </a:r>
            <a:endParaRPr lang="da-DK" dirty="0"/>
          </a:p>
        </p:txBody>
      </p:sp>
      <p:sp>
        <p:nvSpPr>
          <p:cNvPr id="20" name="Pladsholder til tekst 18"/>
          <p:cNvSpPr>
            <a:spLocks noGrp="1"/>
          </p:cNvSpPr>
          <p:nvPr>
            <p:ph type="body" sz="quarter" idx="12" hasCustomPrompt="1"/>
          </p:nvPr>
        </p:nvSpPr>
        <p:spPr>
          <a:xfrm>
            <a:off x="676276" y="1767668"/>
            <a:ext cx="9182100" cy="2674938"/>
          </a:xfrm>
        </p:spPr>
        <p:txBody>
          <a:bodyPr/>
          <a:lstStyle>
            <a:lvl1pPr marL="0" indent="0">
              <a:buNone/>
              <a:defRPr>
                <a:solidFill>
                  <a:schemeClr val="bg1">
                    <a:lumMod val="85000"/>
                  </a:schemeClr>
                </a:solidFill>
              </a:defRPr>
            </a:lvl1pPr>
          </a:lstStyle>
          <a:p>
            <a:pPr lvl="0"/>
            <a:r>
              <a:rPr lang="da-DK" dirty="0"/>
              <a:t>Subheader</a:t>
            </a:r>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802804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6" name="Billed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0" name="Pladsholder til indhold 4"/>
          <p:cNvSpPr>
            <a:spLocks noGrp="1"/>
          </p:cNvSpPr>
          <p:nvPr>
            <p:ph sz="quarter" idx="10" hasCustomPrompt="1"/>
          </p:nvPr>
        </p:nvSpPr>
        <p:spPr>
          <a:xfrm>
            <a:off x="680720" y="1534160"/>
            <a:ext cx="10749280" cy="462280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r>
              <a:rPr lang="da-DK" dirty="0"/>
              <a:t> es </a:t>
            </a:r>
            <a:r>
              <a:rPr lang="da-DK" dirty="0" err="1"/>
              <a:t>quid</a:t>
            </a:r>
            <a:r>
              <a:rPr lang="da-DK" dirty="0"/>
              <a:t> </a:t>
            </a:r>
            <a:r>
              <a:rPr lang="da-DK" dirty="0" err="1"/>
              <a:t>utaturibus</a:t>
            </a:r>
            <a:r>
              <a:rPr lang="da-DK" dirty="0"/>
              <a:t> </a:t>
            </a:r>
            <a:r>
              <a:rPr lang="da-DK" dirty="0" err="1"/>
              <a:t>eum</a:t>
            </a:r>
            <a:r>
              <a:rPr lang="da-DK" dirty="0"/>
              <a:t> </a:t>
            </a:r>
            <a:r>
              <a:rPr lang="da-DK" dirty="0" err="1"/>
              <a:t>voleseque</a:t>
            </a:r>
            <a:r>
              <a:rPr lang="da-DK" dirty="0"/>
              <a:t> </a:t>
            </a:r>
            <a:r>
              <a:rPr lang="da-DK" dirty="0" err="1"/>
              <a:t>landell</a:t>
            </a:r>
            <a:r>
              <a:rPr lang="da-DK" dirty="0"/>
              <a:t> </a:t>
            </a:r>
            <a:r>
              <a:rPr lang="da-DK" dirty="0" err="1"/>
              <a:t>ectur</a:t>
            </a:r>
            <a:r>
              <a:rPr lang="da-DK" dirty="0"/>
              <a:t>? </a:t>
            </a:r>
            <a:r>
              <a:rPr lang="da-DK" dirty="0" err="1"/>
              <a:t>Qui</a:t>
            </a:r>
            <a:r>
              <a:rPr lang="da-DK" dirty="0"/>
              <a:t> </a:t>
            </a:r>
            <a:r>
              <a:rPr lang="da-DK" dirty="0" err="1"/>
              <a:t>nullandi</a:t>
            </a:r>
            <a:r>
              <a:rPr lang="da-DK" dirty="0"/>
              <a:t> dis et </a:t>
            </a:r>
            <a:r>
              <a:rPr lang="da-DK" dirty="0" err="1"/>
              <a:t>que</a:t>
            </a:r>
            <a:r>
              <a:rPr lang="da-DK" dirty="0"/>
              <a:t> </a:t>
            </a:r>
            <a:r>
              <a:rPr lang="da-DK" dirty="0" err="1"/>
              <a:t>perum</a:t>
            </a:r>
            <a:r>
              <a:rPr lang="da-DK" dirty="0"/>
              <a:t> </a:t>
            </a:r>
            <a:r>
              <a:rPr lang="da-DK" dirty="0" err="1"/>
              <a:t>rectusae</a:t>
            </a:r>
            <a:r>
              <a:rPr lang="da-DK" dirty="0"/>
              <a:t> et </a:t>
            </a:r>
            <a:r>
              <a:rPr lang="da-DK" dirty="0" err="1"/>
              <a:t>aditas</a:t>
            </a:r>
            <a:r>
              <a:rPr lang="da-DK" dirty="0"/>
              <a:t> </a:t>
            </a:r>
            <a:r>
              <a:rPr lang="da-DK" dirty="0" err="1"/>
              <a:t>dolor</a:t>
            </a:r>
            <a:r>
              <a:rPr lang="da-DK" dirty="0"/>
              <a:t> </a:t>
            </a:r>
            <a:r>
              <a:rPr lang="da-DK" dirty="0" err="1"/>
              <a:t>ant</a:t>
            </a:r>
            <a:r>
              <a:rPr lang="da-DK" dirty="0"/>
              <a:t> </a:t>
            </a:r>
            <a:r>
              <a:rPr lang="da-DK" dirty="0" err="1"/>
              <a:t>liquunt</a:t>
            </a:r>
            <a:r>
              <a:rPr lang="da-DK" dirty="0"/>
              <a:t> fuga. </a:t>
            </a:r>
            <a:r>
              <a:rPr lang="da-DK" dirty="0" err="1"/>
              <a:t>Itat</a:t>
            </a:r>
            <a:r>
              <a:rPr lang="da-DK" dirty="0"/>
              <a:t> </a:t>
            </a:r>
            <a:r>
              <a:rPr lang="da-DK" dirty="0" err="1"/>
              <a:t>earchilis</a:t>
            </a:r>
            <a:r>
              <a:rPr lang="da-DK" dirty="0"/>
              <a:t> </a:t>
            </a:r>
            <a:r>
              <a:rPr lang="da-DK" dirty="0" err="1"/>
              <a:t>accuptat</a:t>
            </a:r>
            <a:r>
              <a:rPr lang="da-DK" dirty="0"/>
              <a:t>.</a:t>
            </a:r>
          </a:p>
          <a:p>
            <a:r>
              <a:rPr lang="da-DK" dirty="0" err="1"/>
              <a:t>Ebis</a:t>
            </a:r>
            <a:r>
              <a:rPr lang="da-DK" dirty="0"/>
              <a:t> </a:t>
            </a:r>
            <a:r>
              <a:rPr lang="da-DK" dirty="0" err="1"/>
              <a:t>evelest</a:t>
            </a:r>
            <a:r>
              <a:rPr lang="da-DK" dirty="0"/>
              <a:t> et res rest </a:t>
            </a:r>
            <a:r>
              <a:rPr lang="da-DK" dirty="0" err="1"/>
              <a:t>que</a:t>
            </a:r>
            <a:r>
              <a:rPr lang="da-DK" dirty="0"/>
              <a:t> </a:t>
            </a:r>
            <a:r>
              <a:rPr lang="da-DK" dirty="0" err="1"/>
              <a:t>conserum</a:t>
            </a:r>
            <a:r>
              <a:rPr lang="da-DK" dirty="0"/>
              <a:t> </a:t>
            </a:r>
            <a:r>
              <a:rPr lang="da-DK" dirty="0" err="1"/>
              <a:t>lautaectem</a:t>
            </a:r>
            <a:r>
              <a:rPr lang="da-DK" dirty="0"/>
              <a:t> </a:t>
            </a:r>
            <a:r>
              <a:rPr lang="da-DK" dirty="0" err="1"/>
              <a:t>volorpo</a:t>
            </a:r>
            <a:r>
              <a:rPr lang="da-DK" dirty="0"/>
              <a:t> </a:t>
            </a:r>
            <a:r>
              <a:rPr lang="da-DK" dirty="0" err="1"/>
              <a:t>remporrum</a:t>
            </a:r>
            <a:r>
              <a:rPr lang="da-DK" dirty="0"/>
              <a:t> </a:t>
            </a:r>
            <a:r>
              <a:rPr lang="da-DK" dirty="0" err="1"/>
              <a:t>velloru</a:t>
            </a:r>
            <a:r>
              <a:rPr lang="da-DK" dirty="0"/>
              <a:t> </a:t>
            </a:r>
            <a:r>
              <a:rPr lang="da-DK" dirty="0" err="1"/>
              <a:t>ptatquia</a:t>
            </a:r>
            <a:r>
              <a:rPr lang="da-DK" dirty="0"/>
              <a:t> </a:t>
            </a:r>
            <a:r>
              <a:rPr lang="da-DK" dirty="0" err="1"/>
              <a:t>conserum</a:t>
            </a:r>
            <a:r>
              <a:rPr lang="da-DK" dirty="0"/>
              <a:t> </a:t>
            </a:r>
            <a:r>
              <a:rPr lang="da-DK" dirty="0" err="1"/>
              <a:t>velignis</a:t>
            </a:r>
            <a:r>
              <a:rPr lang="da-DK" dirty="0"/>
              <a:t> </a:t>
            </a:r>
            <a:r>
              <a:rPr lang="da-DK" dirty="0" err="1"/>
              <a:t>alique</a:t>
            </a:r>
            <a:r>
              <a:rPr lang="da-DK" dirty="0"/>
              <a:t> </a:t>
            </a:r>
            <a:r>
              <a:rPr lang="da-DK" dirty="0" err="1"/>
              <a:t>volupta</a:t>
            </a:r>
            <a:r>
              <a:rPr lang="da-DK" dirty="0"/>
              <a:t> </a:t>
            </a:r>
            <a:r>
              <a:rPr lang="da-DK" dirty="0" err="1"/>
              <a:t>tiusam</a:t>
            </a:r>
            <a:r>
              <a:rPr lang="da-DK" dirty="0"/>
              <a:t> sin nus, quos nitatur? </a:t>
            </a:r>
            <a:r>
              <a:rPr lang="da-DK" dirty="0" err="1"/>
              <a:t>Qui</a:t>
            </a:r>
            <a:r>
              <a:rPr lang="da-DK" dirty="0"/>
              <a:t> </a:t>
            </a:r>
            <a:r>
              <a:rPr lang="da-DK" dirty="0" err="1"/>
              <a:t>quis</a:t>
            </a:r>
            <a:r>
              <a:rPr lang="da-DK" dirty="0"/>
              <a:t> </a:t>
            </a:r>
            <a:r>
              <a:rPr lang="da-DK" dirty="0" err="1"/>
              <a:t>dolorem</a:t>
            </a:r>
            <a:r>
              <a:rPr lang="da-DK" dirty="0"/>
              <a:t> ea </a:t>
            </a:r>
            <a:r>
              <a:rPr lang="da-DK" dirty="0" err="1"/>
              <a:t>delasd</a:t>
            </a:r>
            <a:r>
              <a:rPr lang="da-DK" dirty="0"/>
              <a:t> </a:t>
            </a:r>
            <a:r>
              <a:rPr lang="da-DK" dirty="0" err="1"/>
              <a:t>asdm</a:t>
            </a:r>
            <a:r>
              <a:rPr lang="da-DK" dirty="0"/>
              <a:t>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r>
              <a:rPr lang="da-DK" dirty="0"/>
              <a:t> es </a:t>
            </a:r>
            <a:r>
              <a:rPr lang="da-DK" dirty="0" err="1"/>
              <a:t>quid</a:t>
            </a:r>
            <a:r>
              <a:rPr lang="da-DK" dirty="0"/>
              <a:t> </a:t>
            </a:r>
            <a:r>
              <a:rPr lang="da-DK" dirty="0" err="1"/>
              <a:t>utaturibus</a:t>
            </a:r>
            <a:r>
              <a:rPr lang="da-DK" dirty="0"/>
              <a:t> </a:t>
            </a:r>
            <a:r>
              <a:rPr lang="da-DK" dirty="0" err="1"/>
              <a:t>eum</a:t>
            </a:r>
            <a:r>
              <a:rPr lang="da-DK" dirty="0"/>
              <a:t> </a:t>
            </a:r>
            <a:r>
              <a:rPr lang="da-DK" dirty="0" err="1"/>
              <a:t>voleseque</a:t>
            </a:r>
            <a:r>
              <a:rPr lang="da-DK" dirty="0"/>
              <a:t> </a:t>
            </a:r>
            <a:r>
              <a:rPr lang="da-DK" dirty="0" err="1"/>
              <a:t>landell</a:t>
            </a:r>
            <a:r>
              <a:rPr lang="da-DK" dirty="0"/>
              <a:t> </a:t>
            </a:r>
            <a:r>
              <a:rPr lang="da-DK" dirty="0" err="1"/>
              <a:t>ectur</a:t>
            </a:r>
            <a:r>
              <a:rPr lang="da-DK" dirty="0"/>
              <a:t>? </a:t>
            </a:r>
            <a:r>
              <a:rPr lang="da-DK" dirty="0" err="1"/>
              <a:t>Qui</a:t>
            </a:r>
            <a:r>
              <a:rPr lang="da-DK" dirty="0"/>
              <a:t> </a:t>
            </a:r>
            <a:r>
              <a:rPr lang="da-DK" dirty="0" err="1"/>
              <a:t>nullandi</a:t>
            </a:r>
            <a:r>
              <a:rPr lang="da-DK" dirty="0"/>
              <a:t> dis et </a:t>
            </a:r>
            <a:r>
              <a:rPr lang="da-DK" dirty="0" err="1"/>
              <a:t>que</a:t>
            </a:r>
            <a:r>
              <a:rPr lang="da-DK" dirty="0"/>
              <a:t> </a:t>
            </a:r>
            <a:r>
              <a:rPr lang="da-DK" dirty="0" err="1"/>
              <a:t>perum</a:t>
            </a:r>
            <a:r>
              <a:rPr lang="da-DK" dirty="0"/>
              <a:t> </a:t>
            </a:r>
            <a:r>
              <a:rPr lang="da-DK" dirty="0" err="1"/>
              <a:t>rectusae</a:t>
            </a:r>
            <a:r>
              <a:rPr lang="da-DK" dirty="0"/>
              <a:t> et </a:t>
            </a:r>
            <a:r>
              <a:rPr lang="da-DK" dirty="0" err="1"/>
              <a:t>aditas</a:t>
            </a:r>
            <a:r>
              <a:rPr lang="da-DK" dirty="0"/>
              <a:t> </a:t>
            </a:r>
            <a:r>
              <a:rPr lang="da-DK" dirty="0" err="1"/>
              <a:t>dolor</a:t>
            </a:r>
            <a:r>
              <a:rPr lang="da-DK" dirty="0"/>
              <a:t> </a:t>
            </a:r>
            <a:r>
              <a:rPr lang="da-DK" dirty="0" err="1"/>
              <a:t>ant</a:t>
            </a:r>
            <a:r>
              <a:rPr lang="da-DK" dirty="0"/>
              <a:t> </a:t>
            </a:r>
            <a:r>
              <a:rPr lang="da-DK" dirty="0" err="1"/>
              <a:t>liquunt</a:t>
            </a:r>
            <a:r>
              <a:rPr lang="da-DK" dirty="0"/>
              <a:t> fuga. </a:t>
            </a:r>
            <a:r>
              <a:rPr lang="da-DK" dirty="0" err="1"/>
              <a:t>Itat</a:t>
            </a:r>
            <a:r>
              <a:rPr lang="da-DK" dirty="0"/>
              <a:t> </a:t>
            </a:r>
            <a:r>
              <a:rPr lang="da-DK" dirty="0" err="1"/>
              <a:t>earchilis</a:t>
            </a:r>
            <a:r>
              <a:rPr lang="da-DK" dirty="0"/>
              <a:t> </a:t>
            </a:r>
            <a:r>
              <a:rPr lang="da-DK" dirty="0" err="1"/>
              <a:t>accuptat</a:t>
            </a:r>
            <a:r>
              <a:rPr lang="da-DK" dirty="0"/>
              <a:t>.</a:t>
            </a:r>
          </a:p>
          <a:p>
            <a:r>
              <a:rPr lang="da-DK" dirty="0" err="1"/>
              <a:t>Ebis</a:t>
            </a:r>
            <a:r>
              <a:rPr lang="da-DK" dirty="0"/>
              <a:t> </a:t>
            </a:r>
            <a:r>
              <a:rPr lang="da-DK" dirty="0" err="1"/>
              <a:t>evelest</a:t>
            </a:r>
            <a:r>
              <a:rPr lang="da-DK" dirty="0"/>
              <a:t> et res rest </a:t>
            </a:r>
            <a:r>
              <a:rPr lang="da-DK" dirty="0" err="1"/>
              <a:t>que</a:t>
            </a:r>
            <a:r>
              <a:rPr lang="da-DK" dirty="0"/>
              <a:t> </a:t>
            </a:r>
            <a:r>
              <a:rPr lang="da-DK" dirty="0" err="1"/>
              <a:t>conserum</a:t>
            </a:r>
            <a:r>
              <a:rPr lang="da-DK" dirty="0"/>
              <a:t> </a:t>
            </a:r>
            <a:r>
              <a:rPr lang="da-DK" dirty="0" err="1"/>
              <a:t>lautaectem</a:t>
            </a:r>
            <a:r>
              <a:rPr lang="da-DK" dirty="0"/>
              <a:t> </a:t>
            </a:r>
            <a:r>
              <a:rPr lang="da-DK" dirty="0" err="1"/>
              <a:t>volorpo</a:t>
            </a:r>
            <a:r>
              <a:rPr lang="da-DK" dirty="0"/>
              <a:t> </a:t>
            </a:r>
            <a:r>
              <a:rPr lang="da-DK" dirty="0" err="1"/>
              <a:t>remporrum</a:t>
            </a:r>
            <a:r>
              <a:rPr lang="da-DK" dirty="0"/>
              <a:t> </a:t>
            </a:r>
            <a:r>
              <a:rPr lang="da-DK" dirty="0" err="1"/>
              <a:t>velloru</a:t>
            </a:r>
            <a:r>
              <a:rPr lang="da-DK" dirty="0"/>
              <a:t> </a:t>
            </a:r>
            <a:r>
              <a:rPr lang="da-DK" dirty="0" err="1"/>
              <a:t>ptatquia</a:t>
            </a:r>
            <a:r>
              <a:rPr lang="da-DK" dirty="0"/>
              <a:t> </a:t>
            </a:r>
            <a:r>
              <a:rPr lang="da-DK" dirty="0" err="1"/>
              <a:t>conserum</a:t>
            </a:r>
            <a:r>
              <a:rPr lang="da-DK" dirty="0"/>
              <a:t> </a:t>
            </a:r>
            <a:r>
              <a:rPr lang="da-DK" dirty="0" err="1"/>
              <a:t>velignis</a:t>
            </a:r>
            <a:r>
              <a:rPr lang="da-DK" dirty="0"/>
              <a:t> </a:t>
            </a:r>
            <a:r>
              <a:rPr lang="da-DK" dirty="0" err="1"/>
              <a:t>alique</a:t>
            </a:r>
            <a:r>
              <a:rPr lang="da-DK" dirty="0"/>
              <a:t> </a:t>
            </a:r>
            <a:r>
              <a:rPr lang="da-DK" dirty="0" err="1"/>
              <a:t>volupta</a:t>
            </a:r>
            <a:r>
              <a:rPr lang="da-DK" dirty="0"/>
              <a:t> </a:t>
            </a:r>
            <a:r>
              <a:rPr lang="da-DK" dirty="0" err="1"/>
              <a:t>tiusam</a:t>
            </a:r>
            <a:r>
              <a:rPr lang="da-DK" dirty="0"/>
              <a:t> sin nus, quos nitatur? </a:t>
            </a:r>
            <a:r>
              <a:rPr lang="da-DK" dirty="0" err="1"/>
              <a:t>Qui</a:t>
            </a:r>
            <a:r>
              <a:rPr lang="da-DK" dirty="0"/>
              <a:t> </a:t>
            </a:r>
            <a:r>
              <a:rPr lang="da-DK" dirty="0" err="1"/>
              <a:t>quis</a:t>
            </a:r>
            <a:r>
              <a:rPr lang="da-DK" dirty="0"/>
              <a:t> </a:t>
            </a:r>
            <a:r>
              <a:rPr lang="da-DK" dirty="0" err="1"/>
              <a:t>dolorem</a:t>
            </a:r>
            <a:r>
              <a:rPr lang="da-DK" dirty="0"/>
              <a:t> ea </a:t>
            </a:r>
            <a:r>
              <a:rPr lang="da-DK" dirty="0" err="1"/>
              <a:t>delasd</a:t>
            </a:r>
            <a:r>
              <a:rPr lang="da-DK" dirty="0"/>
              <a:t> </a:t>
            </a:r>
            <a:r>
              <a:rPr lang="da-DK" dirty="0" err="1"/>
              <a:t>asdlautaectem</a:t>
            </a:r>
            <a:r>
              <a:rPr lang="da-DK" dirty="0"/>
              <a:t> </a:t>
            </a:r>
            <a:r>
              <a:rPr lang="da-DK" dirty="0" err="1"/>
              <a:t>volorpo</a:t>
            </a:r>
            <a:r>
              <a:rPr lang="da-DK" dirty="0"/>
              <a:t> </a:t>
            </a:r>
            <a:r>
              <a:rPr lang="da-DK" dirty="0" err="1"/>
              <a:t>remporrum</a:t>
            </a:r>
            <a:r>
              <a:rPr lang="da-DK" dirty="0"/>
              <a:t> </a:t>
            </a:r>
            <a:r>
              <a:rPr lang="da-DK" dirty="0" err="1"/>
              <a:t>velloru</a:t>
            </a:r>
            <a:r>
              <a:rPr lang="da-DK" dirty="0"/>
              <a:t> </a:t>
            </a:r>
            <a:r>
              <a:rPr lang="da-DK" dirty="0" err="1"/>
              <a:t>ptatquia</a:t>
            </a:r>
            <a:r>
              <a:rPr lang="da-DK" dirty="0"/>
              <a:t> </a:t>
            </a:r>
            <a:r>
              <a:rPr lang="da-DK" dirty="0" err="1"/>
              <a:t>conserum</a:t>
            </a:r>
            <a:r>
              <a:rPr lang="da-DK" dirty="0"/>
              <a:t> </a:t>
            </a:r>
            <a:r>
              <a:rPr lang="da-DK" dirty="0" err="1"/>
              <a:t>velignis</a:t>
            </a:r>
            <a:r>
              <a:rPr lang="da-DK" dirty="0"/>
              <a:t> </a:t>
            </a:r>
            <a:r>
              <a:rPr lang="da-DK" dirty="0" err="1"/>
              <a:t>alique</a:t>
            </a:r>
            <a:r>
              <a:rPr lang="da-DK" dirty="0"/>
              <a:t> </a:t>
            </a:r>
            <a:r>
              <a:rPr lang="da-DK" dirty="0" err="1"/>
              <a:t>volupta</a:t>
            </a:r>
            <a:r>
              <a:rPr lang="da-DK" dirty="0"/>
              <a:t> </a:t>
            </a:r>
            <a:r>
              <a:rPr lang="da-DK" dirty="0" err="1"/>
              <a:t>tiusam</a:t>
            </a:r>
            <a:r>
              <a:rPr lang="da-DK" dirty="0"/>
              <a:t> sin nus, quos nitatur? </a:t>
            </a:r>
            <a:r>
              <a:rPr lang="da-DK" dirty="0" err="1"/>
              <a:t>Qui</a:t>
            </a:r>
            <a:r>
              <a:rPr lang="da-DK" dirty="0"/>
              <a:t> </a:t>
            </a:r>
            <a:r>
              <a:rPr lang="da-DK" dirty="0" err="1"/>
              <a:t>quis</a:t>
            </a:r>
            <a:r>
              <a:rPr lang="da-DK" dirty="0"/>
              <a:t> </a:t>
            </a:r>
            <a:r>
              <a:rPr lang="da-DK" dirty="0" err="1"/>
              <a:t>dolorem</a:t>
            </a:r>
            <a:r>
              <a:rPr lang="da-DK" dirty="0"/>
              <a:t> ea </a:t>
            </a:r>
            <a:r>
              <a:rPr lang="da-DK" dirty="0" err="1"/>
              <a:t>delasd</a:t>
            </a:r>
            <a:r>
              <a:rPr lang="da-DK" dirty="0"/>
              <a:t> </a:t>
            </a:r>
            <a:r>
              <a:rPr lang="da-DK" dirty="0" err="1"/>
              <a:t>asd</a:t>
            </a:r>
            <a:r>
              <a:rPr lang="da-DK" dirty="0"/>
              <a:t>.</a:t>
            </a:r>
          </a:p>
        </p:txBody>
      </p:sp>
    </p:spTree>
    <p:extLst>
      <p:ext uri="{BB962C8B-B14F-4D97-AF65-F5344CB8AC3E}">
        <p14:creationId xmlns:p14="http://schemas.microsoft.com/office/powerpoint/2010/main" val="770801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objects - Blue">
    <p:spTree>
      <p:nvGrpSpPr>
        <p:cNvPr id="1" name=""/>
        <p:cNvGrpSpPr/>
        <p:nvPr/>
      </p:nvGrpSpPr>
      <p:grpSpPr>
        <a:xfrm>
          <a:off x="0" y="0"/>
          <a:ext cx="0" cy="0"/>
          <a:chOff x="0" y="0"/>
          <a:chExt cx="0" cy="0"/>
        </a:xfrm>
      </p:grpSpPr>
      <p:sp>
        <p:nvSpPr>
          <p:cNvPr id="4" name="Pladsholder til indhold 3"/>
          <p:cNvSpPr>
            <a:spLocks noGrp="1"/>
          </p:cNvSpPr>
          <p:nvPr>
            <p:ph sz="half" idx="2"/>
          </p:nvPr>
        </p:nvSpPr>
        <p:spPr>
          <a:xfrm>
            <a:off x="5810249" y="1825625"/>
            <a:ext cx="5600700" cy="3739133"/>
          </a:xfrm>
          <a:blipFill>
            <a:blip r:embed="rId2"/>
            <a:stretch>
              <a:fillRect/>
            </a:stretch>
          </a:blipFill>
        </p:spPr>
        <p:txBody>
          <a:bodyPr/>
          <a:lstStyle/>
          <a:p>
            <a:pPr lvl="0"/>
            <a:r>
              <a:rPr lang="en-US"/>
              <a:t>Click to edit Master text styles</a:t>
            </a:r>
          </a:p>
        </p:txBody>
      </p:sp>
      <p:pic>
        <p:nvPicPr>
          <p:cNvPr id="8" name="Billed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9" name="Rektangel 8"/>
          <p:cNvSpPr/>
          <p:nvPr userDrawn="1"/>
        </p:nvSpPr>
        <p:spPr>
          <a:xfrm>
            <a:off x="-1" y="6296025"/>
            <a:ext cx="12192001" cy="561975"/>
          </a:xfrm>
          <a:prstGeom prst="rect">
            <a:avLst/>
          </a:prstGeom>
          <a:solidFill>
            <a:srgbClr val="002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12" name="Billed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3" name="Pladsholder til indhold 4"/>
          <p:cNvSpPr>
            <a:spLocks noGrp="1"/>
          </p:cNvSpPr>
          <p:nvPr>
            <p:ph sz="quarter" idx="11" hasCustomPrompt="1"/>
          </p:nvPr>
        </p:nvSpPr>
        <p:spPr>
          <a:xfrm>
            <a:off x="680720" y="1818640"/>
            <a:ext cx="3759200" cy="433832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endParaRPr lang="da-DK" dirty="0"/>
          </a:p>
        </p:txBody>
      </p:sp>
    </p:spTree>
    <p:extLst>
      <p:ext uri="{BB962C8B-B14F-4D97-AF65-F5344CB8AC3E}">
        <p14:creationId xmlns:p14="http://schemas.microsoft.com/office/powerpoint/2010/main" val="1995038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objects - Orange">
    <p:spTree>
      <p:nvGrpSpPr>
        <p:cNvPr id="1" name=""/>
        <p:cNvGrpSpPr/>
        <p:nvPr/>
      </p:nvGrpSpPr>
      <p:grpSpPr>
        <a:xfrm>
          <a:off x="0" y="0"/>
          <a:ext cx="0" cy="0"/>
          <a:chOff x="0" y="0"/>
          <a:chExt cx="0" cy="0"/>
        </a:xfrm>
      </p:grpSpPr>
      <p:sp>
        <p:nvSpPr>
          <p:cNvPr id="12" name="Rektangel 11"/>
          <p:cNvSpPr/>
          <p:nvPr userDrawn="1"/>
        </p:nvSpPr>
        <p:spPr>
          <a:xfrm>
            <a:off x="-1" y="6296025"/>
            <a:ext cx="12192001" cy="561975"/>
          </a:xfrm>
          <a:prstGeom prst="rect">
            <a:avLst/>
          </a:prstGeom>
          <a:solidFill>
            <a:srgbClr val="EC5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Pladsholder til indhold 3"/>
          <p:cNvSpPr>
            <a:spLocks noGrp="1"/>
          </p:cNvSpPr>
          <p:nvPr>
            <p:ph sz="half" idx="2"/>
          </p:nvPr>
        </p:nvSpPr>
        <p:spPr>
          <a:xfrm>
            <a:off x="5810249" y="1825625"/>
            <a:ext cx="5600700" cy="3739133"/>
          </a:xfrm>
          <a:blipFill>
            <a:blip r:embed="rId2"/>
            <a:stretch>
              <a:fillRect/>
            </a:stretch>
          </a:blipFill>
        </p:spPr>
        <p:txBody>
          <a:bodyPr/>
          <a:lstStyle/>
          <a:p>
            <a:pPr lvl="0"/>
            <a:r>
              <a:rPr lang="en-US"/>
              <a:t>Click to edit Master text styles</a:t>
            </a:r>
          </a:p>
        </p:txBody>
      </p:sp>
      <p:pic>
        <p:nvPicPr>
          <p:cNvPr id="8" name="Billed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0" name="Pladsholder til indhold 4"/>
          <p:cNvSpPr>
            <a:spLocks noGrp="1"/>
          </p:cNvSpPr>
          <p:nvPr>
            <p:ph sz="quarter" idx="11" hasCustomPrompt="1"/>
          </p:nvPr>
        </p:nvSpPr>
        <p:spPr>
          <a:xfrm>
            <a:off x="680720" y="1818640"/>
            <a:ext cx="3759200" cy="433832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endParaRPr lang="da-DK" dirty="0"/>
          </a:p>
        </p:txBody>
      </p:sp>
    </p:spTree>
    <p:extLst>
      <p:ext uri="{BB962C8B-B14F-4D97-AF65-F5344CB8AC3E}">
        <p14:creationId xmlns:p14="http://schemas.microsoft.com/office/powerpoint/2010/main" val="1725370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objects - Turquoise">
    <p:spTree>
      <p:nvGrpSpPr>
        <p:cNvPr id="1" name=""/>
        <p:cNvGrpSpPr/>
        <p:nvPr/>
      </p:nvGrpSpPr>
      <p:grpSpPr>
        <a:xfrm>
          <a:off x="0" y="0"/>
          <a:ext cx="0" cy="0"/>
          <a:chOff x="0" y="0"/>
          <a:chExt cx="0" cy="0"/>
        </a:xfrm>
      </p:grpSpPr>
      <p:sp>
        <p:nvSpPr>
          <p:cNvPr id="12" name="Rektangel 11"/>
          <p:cNvSpPr/>
          <p:nvPr userDrawn="1"/>
        </p:nvSpPr>
        <p:spPr>
          <a:xfrm>
            <a:off x="-1" y="6296025"/>
            <a:ext cx="12192001" cy="561975"/>
          </a:xfrm>
          <a:prstGeom prst="rect">
            <a:avLst/>
          </a:prstGeom>
          <a:solidFill>
            <a:srgbClr val="00A6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Pladsholder til indhold 3"/>
          <p:cNvSpPr>
            <a:spLocks noGrp="1"/>
          </p:cNvSpPr>
          <p:nvPr>
            <p:ph sz="half" idx="2"/>
          </p:nvPr>
        </p:nvSpPr>
        <p:spPr>
          <a:xfrm>
            <a:off x="5810249" y="1825625"/>
            <a:ext cx="5600700" cy="3739133"/>
          </a:xfrm>
          <a:blipFill>
            <a:blip r:embed="rId2"/>
            <a:stretch>
              <a:fillRect/>
            </a:stretch>
          </a:blipFill>
        </p:spPr>
        <p:txBody>
          <a:bodyPr/>
          <a:lstStyle/>
          <a:p>
            <a:pPr lvl="0"/>
            <a:r>
              <a:rPr lang="en-US"/>
              <a:t>Click to edit Master text styles</a:t>
            </a:r>
          </a:p>
        </p:txBody>
      </p:sp>
      <p:pic>
        <p:nvPicPr>
          <p:cNvPr id="8" name="Billed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0" name="Pladsholder til indhold 4"/>
          <p:cNvSpPr>
            <a:spLocks noGrp="1"/>
          </p:cNvSpPr>
          <p:nvPr>
            <p:ph sz="quarter" idx="11" hasCustomPrompt="1"/>
          </p:nvPr>
        </p:nvSpPr>
        <p:spPr>
          <a:xfrm>
            <a:off x="680720" y="1818640"/>
            <a:ext cx="3759200" cy="433832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endParaRPr lang="da-DK" dirty="0"/>
          </a:p>
        </p:txBody>
      </p:sp>
    </p:spTree>
    <p:extLst>
      <p:ext uri="{BB962C8B-B14F-4D97-AF65-F5344CB8AC3E}">
        <p14:creationId xmlns:p14="http://schemas.microsoft.com/office/powerpoint/2010/main" val="279826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7"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spTree>
    <p:extLst>
      <p:ext uri="{BB962C8B-B14F-4D97-AF65-F5344CB8AC3E}">
        <p14:creationId xmlns:p14="http://schemas.microsoft.com/office/powerpoint/2010/main" val="2781100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Tree>
    <p:extLst>
      <p:ext uri="{BB962C8B-B14F-4D97-AF65-F5344CB8AC3E}">
        <p14:creationId xmlns:p14="http://schemas.microsoft.com/office/powerpoint/2010/main" val="190614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810C6-D4A0-40C4-82BC-EA18A0A172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F925AA9-F9E2-40DA-A659-91B1B9EC4D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D66F05B-6452-4C22-8427-66ADD907F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C0888EB-894B-46BD-AD2D-31A9496016EE}"/>
              </a:ext>
            </a:extLst>
          </p:cNvPr>
          <p:cNvSpPr>
            <a:spLocks noGrp="1"/>
          </p:cNvSpPr>
          <p:nvPr>
            <p:ph type="dt" sz="half" idx="10"/>
          </p:nvPr>
        </p:nvSpPr>
        <p:spPr/>
        <p:txBody>
          <a:bodyPr/>
          <a:lstStyle/>
          <a:p>
            <a:fld id="{52B69CE6-FD4F-4702-8CB8-338FEAF39F76}" type="datetimeFigureOut">
              <a:rPr lang="en-GB" smtClean="0"/>
              <a:t>24/09/2024</a:t>
            </a:fld>
            <a:endParaRPr lang="en-GB"/>
          </a:p>
        </p:txBody>
      </p:sp>
      <p:sp>
        <p:nvSpPr>
          <p:cNvPr id="6" name="Footer Placeholder 5">
            <a:extLst>
              <a:ext uri="{FF2B5EF4-FFF2-40B4-BE49-F238E27FC236}">
                <a16:creationId xmlns:a16="http://schemas.microsoft.com/office/drawing/2014/main" id="{792EF94B-1D9E-44BF-A44E-A6903015A3D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9DBDECA-0A74-4EF9-A4B9-312CDEEB32CA}"/>
              </a:ext>
            </a:extLst>
          </p:cNvPr>
          <p:cNvSpPr>
            <a:spLocks noGrp="1"/>
          </p:cNvSpPr>
          <p:nvPr>
            <p:ph type="sldNum" sz="quarter" idx="12"/>
          </p:nvPr>
        </p:nvSpPr>
        <p:spPr/>
        <p:txBody>
          <a:bodyPr/>
          <a:lstStyle/>
          <a:p>
            <a:fld id="{6E761300-5F70-42F6-AAE0-9A9707F981D6}" type="slidenum">
              <a:rPr lang="en-GB" smtClean="0"/>
              <a:t>‹#›</a:t>
            </a:fld>
            <a:endParaRPr lang="en-GB"/>
          </a:p>
        </p:txBody>
      </p:sp>
    </p:spTree>
    <p:extLst>
      <p:ext uri="{BB962C8B-B14F-4D97-AF65-F5344CB8AC3E}">
        <p14:creationId xmlns:p14="http://schemas.microsoft.com/office/powerpoint/2010/main" val="739137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i master</a:t>
            </a:r>
          </a:p>
        </p:txBody>
      </p:sp>
      <p:sp>
        <p:nvSpPr>
          <p:cNvPr id="3" name="Pladsholder til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dirty="0"/>
              <a:t>Klik for at redigere i master</a:t>
            </a:r>
          </a:p>
          <a:p>
            <a:pPr lvl="1"/>
            <a:r>
              <a:rPr lang="da-DK" dirty="0"/>
              <a:t>Andet niveau</a:t>
            </a:r>
          </a:p>
          <a:p>
            <a:pPr lvl="2"/>
            <a:r>
              <a:rPr lang="da-DK" dirty="0"/>
              <a:t>Tredje niveau</a:t>
            </a:r>
          </a:p>
          <a:p>
            <a:pPr lvl="3"/>
            <a:r>
              <a:rPr lang="da-DK" dirty="0"/>
              <a:t>Fjerde niveau</a:t>
            </a:r>
          </a:p>
          <a:p>
            <a:pPr lvl="4"/>
            <a:r>
              <a:rPr lang="da-DK" dirty="0"/>
              <a:t>Femte niveau</a:t>
            </a:r>
          </a:p>
        </p:txBody>
      </p:sp>
      <p:sp>
        <p:nvSpPr>
          <p:cNvPr id="4" name="Pladsholder til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92D6F0-204A-4BC0-82EC-9EC76EE7100D}" type="datetimeFigureOut">
              <a:rPr lang="da-DK" smtClean="0"/>
              <a:t>24-09-2024</a:t>
            </a:fld>
            <a:endParaRPr lang="da-DK"/>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sp>
        <p:nvSpPr>
          <p:cNvPr id="6" name="Pladsholder til sli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44FF06-C454-4623-956E-1F8C554A9E70}" type="slidenum">
              <a:rPr lang="da-DK" smtClean="0"/>
              <a:t>‹#›</a:t>
            </a:fld>
            <a:endParaRPr lang="da-DK"/>
          </a:p>
        </p:txBody>
      </p:sp>
    </p:spTree>
    <p:extLst>
      <p:ext uri="{BB962C8B-B14F-4D97-AF65-F5344CB8AC3E}">
        <p14:creationId xmlns:p14="http://schemas.microsoft.com/office/powerpoint/2010/main" val="2069487236"/>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2" r:id="rId4"/>
    <p:sldLayoutId id="2147483661" r:id="rId5"/>
    <p:sldLayoutId id="2147483662" r:id="rId6"/>
    <p:sldLayoutId id="2147483654" r:id="rId7"/>
    <p:sldLayoutId id="2147483655" r:id="rId8"/>
    <p:sldLayoutId id="2147483663"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hyperlink" Target="mailto:Karolina.mollagazi@wur.nl" TargetMode="External"/><Relationship Id="rId3" Type="http://schemas.openxmlformats.org/officeDocument/2006/relationships/hyperlink" Target="mailto:Kibi@aqua.dtu.dk" TargetMode="External"/><Relationship Id="rId7" Type="http://schemas.openxmlformats.org/officeDocument/2006/relationships/hyperlink" Target="mailto:Jsv@aqua.dtu.dk" TargetMode="External"/><Relationship Id="rId2" Type="http://schemas.openxmlformats.org/officeDocument/2006/relationships/hyperlink" Target="mailto:Henrikkn@ices.dk" TargetMode="External"/><Relationship Id="rId1" Type="http://schemas.openxmlformats.org/officeDocument/2006/relationships/slideLayout" Target="../slideLayouts/slideLayout3.xml"/><Relationship Id="rId6" Type="http://schemas.openxmlformats.org/officeDocument/2006/relationships/hyperlink" Target="mailto:Liz.Clarke@gov.scot" TargetMode="External"/><Relationship Id="rId11" Type="http://schemas.openxmlformats.org/officeDocument/2006/relationships/hyperlink" Target="mailto:Jonathan.rault@ifremer.fr" TargetMode="External"/><Relationship Id="rId5" Type="http://schemas.openxmlformats.org/officeDocument/2006/relationships/hyperlink" Target="mailto:David.Currie@Marine.ie" TargetMode="External"/><Relationship Id="rId10" Type="http://schemas.openxmlformats.org/officeDocument/2006/relationships/hyperlink" Target="mailto:Msuska@mir.gdynia.pl" TargetMode="External"/><Relationship Id="rId4" Type="http://schemas.openxmlformats.org/officeDocument/2006/relationships/hyperlink" Target="mailto:Nuno.prista@slu.se" TargetMode="External"/><Relationship Id="rId9" Type="http://schemas.openxmlformats.org/officeDocument/2006/relationships/hyperlink" Target="mailto:acfernandes@ipma.p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ices-tools-dev/RDBES" TargetMode="External"/><Relationship Id="rId2" Type="http://schemas.openxmlformats.org/officeDocument/2006/relationships/hyperlink" Target="https://rdbes.ices.dk/" TargetMode="External"/><Relationship Id="rId1" Type="http://schemas.openxmlformats.org/officeDocument/2006/relationships/slideLayout" Target="../slideLayouts/slideLayout3.xml"/><Relationship Id="rId6" Type="http://schemas.openxmlformats.org/officeDocument/2006/relationships/hyperlink" Target="mailto:RDBsupport@ices.dk" TargetMode="External"/><Relationship Id="rId5" Type="http://schemas.openxmlformats.org/officeDocument/2006/relationships/hyperlink" Target="https://github.com/ices-tools-dev/RDBES/issues" TargetMode="External"/><Relationship Id="rId4" Type="http://schemas.openxmlformats.org/officeDocument/2006/relationships/hyperlink" Target="https://vocab.ices.dk/"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github.com/ices-tools-dev/RDBES" TargetMode="Externa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vocab.ices.dk/" TargetMode="Externa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hyperlink" Target="https://sboxrdbes.ices.dk/" TargetMode="External"/><Relationship Id="rId2" Type="http://schemas.openxmlformats.org/officeDocument/2006/relationships/hyperlink" Target="mailto:RDBsupport@ices.dk" TargetMode="Externa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hyperlink" Target="mailto:RDBsupport@ices.dk" TargetMode="External"/><Relationship Id="rId2" Type="http://schemas.openxmlformats.org/officeDocument/2006/relationships/hyperlink" Target="https://github.com/ices-tools-dev/RDBES/issues"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cid:image003.png@01D988AE.23769000" TargetMode="External"/><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hyperlink" Target="https://sboxrdbes.ices.dk/"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Pladsholder til tekst 8"/>
          <p:cNvSpPr>
            <a:spLocks noGrp="1"/>
          </p:cNvSpPr>
          <p:nvPr>
            <p:ph type="body" sz="quarter" idx="12"/>
          </p:nvPr>
        </p:nvSpPr>
        <p:spPr>
          <a:xfrm>
            <a:off x="676276" y="3128211"/>
            <a:ext cx="9382124" cy="1872413"/>
          </a:xfrm>
        </p:spPr>
        <p:txBody>
          <a:bodyPr>
            <a:normAutofit/>
          </a:bodyPr>
          <a:lstStyle/>
          <a:p>
            <a:endParaRPr lang="en-GB" dirty="0"/>
          </a:p>
          <a:p>
            <a:r>
              <a:rPr lang="en-GB" dirty="0"/>
              <a:t>Henrik Kjems-Nielsen</a:t>
            </a:r>
          </a:p>
          <a:p>
            <a:r>
              <a:rPr lang="en-GB" dirty="0"/>
              <a:t>ICES Secretariat</a:t>
            </a:r>
          </a:p>
        </p:txBody>
      </p:sp>
      <p:pic>
        <p:nvPicPr>
          <p:cNvPr id="4" name="Billed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sp>
        <p:nvSpPr>
          <p:cNvPr id="10" name="Pladsholder til tekst 9"/>
          <p:cNvSpPr>
            <a:spLocks noGrp="1"/>
          </p:cNvSpPr>
          <p:nvPr>
            <p:ph type="body" sz="quarter" idx="10"/>
          </p:nvPr>
        </p:nvSpPr>
        <p:spPr>
          <a:xfrm>
            <a:off x="638174" y="769937"/>
            <a:ext cx="9220201" cy="2358273"/>
          </a:xfrm>
        </p:spPr>
        <p:txBody>
          <a:bodyPr/>
          <a:lstStyle/>
          <a:p>
            <a:r>
              <a:rPr lang="en-GB" sz="7200" b="1" dirty="0"/>
              <a:t>WKRDBES-INTRO3 </a:t>
            </a:r>
          </a:p>
          <a:p>
            <a:r>
              <a:rPr lang="en-GB" sz="5400" b="1" dirty="0"/>
              <a:t>2024</a:t>
            </a:r>
          </a:p>
        </p:txBody>
      </p:sp>
    </p:spTree>
    <p:extLst>
      <p:ext uri="{BB962C8B-B14F-4D97-AF65-F5344CB8AC3E}">
        <p14:creationId xmlns:p14="http://schemas.microsoft.com/office/powerpoint/2010/main" val="836777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Reasons for developing RDBES</a:t>
            </a:r>
          </a:p>
        </p:txBody>
      </p:sp>
      <p:sp>
        <p:nvSpPr>
          <p:cNvPr id="3" name="Content Placeholder 2"/>
          <p:cNvSpPr>
            <a:spLocks noGrp="1"/>
          </p:cNvSpPr>
          <p:nvPr>
            <p:ph sz="quarter" idx="10"/>
          </p:nvPr>
        </p:nvSpPr>
        <p:spPr/>
        <p:txBody>
          <a:bodyPr/>
          <a:lstStyle/>
          <a:p>
            <a:pPr>
              <a:defRPr/>
            </a:pPr>
            <a:r>
              <a:rPr lang="en-US" sz="2400" dirty="0">
                <a:latin typeface="Arial" panose="020B0604020202020204" pitchFamily="34" charset="0"/>
                <a:cs typeface="Arial" panose="020B0604020202020204" pitchFamily="34" charset="0"/>
              </a:rPr>
              <a:t>Provide a regional estimation system for ICES stock assessments – including the possibility for statistical estimations</a:t>
            </a:r>
            <a:endParaRPr lang="en-IE" sz="24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Give Regional Coordination Groups access to detailed data in the way it was collected</a:t>
            </a:r>
          </a:p>
          <a:p>
            <a:pPr>
              <a:defRPr/>
            </a:pPr>
            <a:r>
              <a:rPr lang="en-US" sz="2400" dirty="0">
                <a:latin typeface="Arial" panose="020B0604020202020204" pitchFamily="34" charset="0"/>
                <a:cs typeface="Arial" panose="020B0604020202020204" pitchFamily="34" charset="0"/>
              </a:rPr>
              <a:t>Support data from design-based sampling collections</a:t>
            </a:r>
            <a:endParaRPr lang="en-IE" sz="24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To increase the data quality, documentation of data, and transparency of estimations</a:t>
            </a:r>
            <a:endParaRPr lang="en-IE" sz="24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To facilitate the production of fisheries management advice and reports</a:t>
            </a:r>
            <a:endParaRPr lang="en-IE" sz="24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To increase the awareness of fisheries data collected and the overall usage of these data.</a:t>
            </a:r>
            <a:endParaRPr lang="en-IE" sz="2400"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2499898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4012193" y="1716956"/>
            <a:ext cx="6858000" cy="4080510"/>
          </a:xfrm>
          <a:prstGeom prst="rect">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Commercial fisheries data today (RDBES IC)</a:t>
            </a:r>
          </a:p>
        </p:txBody>
      </p:sp>
      <p:sp>
        <p:nvSpPr>
          <p:cNvPr id="4" name="Flowchart: Magnetic Disk 3"/>
          <p:cNvSpPr/>
          <p:nvPr/>
        </p:nvSpPr>
        <p:spPr>
          <a:xfrm>
            <a:off x="1187777" y="3252837"/>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772996" y="2185128"/>
            <a:ext cx="1442302" cy="358220"/>
          </a:xfrm>
          <a:prstGeom prst="rect">
            <a:avLst/>
          </a:prstGeom>
        </p:spPr>
        <p:txBody>
          <a:bodyPr vert="horz" wrap="square" lIns="91440" tIns="45720" rIns="91440" bIns="45720" rtlCol="0" anchor="t">
            <a:noAutofit/>
          </a:bodyPr>
          <a:lstStyle/>
          <a:p>
            <a:r>
              <a:rPr lang="en-GB" dirty="0">
                <a:latin typeface="+mn-lt"/>
              </a:rPr>
              <a:t>National DBs</a:t>
            </a:r>
          </a:p>
        </p:txBody>
      </p:sp>
      <p:sp>
        <p:nvSpPr>
          <p:cNvPr id="6" name="Flowchart: Magnetic Disk 5"/>
          <p:cNvSpPr/>
          <p:nvPr/>
        </p:nvSpPr>
        <p:spPr>
          <a:xfrm>
            <a:off x="6054362" y="2797323"/>
            <a:ext cx="1074656" cy="70701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lowchart: Magnetic Disk 6"/>
          <p:cNvSpPr/>
          <p:nvPr/>
        </p:nvSpPr>
        <p:spPr>
          <a:xfrm>
            <a:off x="1187777" y="2776194"/>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lowchart: Magnetic Disk 8"/>
          <p:cNvSpPr/>
          <p:nvPr/>
        </p:nvSpPr>
        <p:spPr>
          <a:xfrm>
            <a:off x="1187777" y="3757211"/>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Magnetic Disk 9"/>
          <p:cNvSpPr/>
          <p:nvPr/>
        </p:nvSpPr>
        <p:spPr>
          <a:xfrm>
            <a:off x="1187776" y="4272861"/>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Magnetic Disk 10"/>
          <p:cNvSpPr/>
          <p:nvPr/>
        </p:nvSpPr>
        <p:spPr>
          <a:xfrm>
            <a:off x="1187776" y="4720786"/>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lowchart: Magnetic Disk 11"/>
          <p:cNvSpPr/>
          <p:nvPr/>
        </p:nvSpPr>
        <p:spPr>
          <a:xfrm>
            <a:off x="1187776" y="5253878"/>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2516956" y="3290545"/>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2516951" y="2821833"/>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p:cNvSpPr/>
          <p:nvPr/>
        </p:nvSpPr>
        <p:spPr>
          <a:xfrm>
            <a:off x="2516953" y="3826409"/>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2516952" y="4330011"/>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p:cNvSpPr/>
          <p:nvPr/>
        </p:nvSpPr>
        <p:spPr>
          <a:xfrm>
            <a:off x="2516952" y="4759896"/>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p:cNvSpPr/>
          <p:nvPr/>
        </p:nvSpPr>
        <p:spPr>
          <a:xfrm>
            <a:off x="2516951" y="5299598"/>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lowchart: Magnetic Disk 19"/>
          <p:cNvSpPr/>
          <p:nvPr/>
        </p:nvSpPr>
        <p:spPr>
          <a:xfrm>
            <a:off x="4501509" y="4763684"/>
            <a:ext cx="1074656" cy="707010"/>
          </a:xfrm>
          <a:prstGeom prst="flowChartMagneticDisk">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23" name="Straight Arrow Connector 22"/>
          <p:cNvCxnSpPr/>
          <p:nvPr/>
        </p:nvCxnSpPr>
        <p:spPr>
          <a:xfrm>
            <a:off x="1800519" y="3403666"/>
            <a:ext cx="71643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821468" y="3414857"/>
            <a:ext cx="2680040" cy="170233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7" idx="4"/>
            <a:endCxn id="14" idx="1"/>
          </p:cNvCxnSpPr>
          <p:nvPr/>
        </p:nvCxnSpPr>
        <p:spPr>
          <a:xfrm>
            <a:off x="1800520" y="2917596"/>
            <a:ext cx="716431" cy="1264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7" idx="4"/>
          </p:cNvCxnSpPr>
          <p:nvPr/>
        </p:nvCxnSpPr>
        <p:spPr>
          <a:xfrm>
            <a:off x="1800520" y="2917596"/>
            <a:ext cx="2700989" cy="214962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129365" y="2046039"/>
            <a:ext cx="1738992" cy="842035"/>
          </a:xfrm>
          <a:prstGeom prst="rect">
            <a:avLst/>
          </a:prstGeom>
        </p:spPr>
        <p:txBody>
          <a:bodyPr vert="horz" wrap="square" lIns="91440" tIns="45720" rIns="91440" bIns="45720" rtlCol="0" anchor="t">
            <a:noAutofit/>
          </a:bodyPr>
          <a:lstStyle/>
          <a:p>
            <a:r>
              <a:rPr lang="en-GB" sz="1400" dirty="0"/>
              <a:t>N</a:t>
            </a:r>
            <a:r>
              <a:rPr lang="en-GB" sz="1400" dirty="0">
                <a:latin typeface="+mn-lt"/>
              </a:rPr>
              <a:t>ational raising/est. procedures (not known/transparent)</a:t>
            </a:r>
            <a:r>
              <a:rPr lang="en-GB" dirty="0">
                <a:latin typeface="+mn-lt"/>
              </a:rPr>
              <a:t>	</a:t>
            </a:r>
          </a:p>
        </p:txBody>
      </p:sp>
      <p:sp>
        <p:nvSpPr>
          <p:cNvPr id="33" name="TextBox 32"/>
          <p:cNvSpPr txBox="1"/>
          <p:nvPr/>
        </p:nvSpPr>
        <p:spPr>
          <a:xfrm>
            <a:off x="6232433" y="4953336"/>
            <a:ext cx="819878" cy="601644"/>
          </a:xfrm>
          <a:prstGeom prst="rect">
            <a:avLst/>
          </a:prstGeom>
        </p:spPr>
        <p:txBody>
          <a:bodyPr vert="horz" wrap="square" lIns="91440" tIns="45720" rIns="91440" bIns="45720" rtlCol="0" anchor="t">
            <a:noAutofit/>
          </a:bodyPr>
          <a:lstStyle/>
          <a:p>
            <a:r>
              <a:rPr lang="en-GB" sz="2000" b="1" dirty="0">
                <a:latin typeface="+mn-lt"/>
              </a:rPr>
              <a:t>RCGs</a:t>
            </a:r>
          </a:p>
        </p:txBody>
      </p:sp>
      <p:sp>
        <p:nvSpPr>
          <p:cNvPr id="35" name="TextBox 34"/>
          <p:cNvSpPr txBox="1"/>
          <p:nvPr/>
        </p:nvSpPr>
        <p:spPr>
          <a:xfrm>
            <a:off x="5870539" y="2208068"/>
            <a:ext cx="1442302" cy="358220"/>
          </a:xfrm>
          <a:prstGeom prst="rect">
            <a:avLst/>
          </a:prstGeom>
        </p:spPr>
        <p:txBody>
          <a:bodyPr vert="horz" wrap="square" lIns="91440" tIns="45720" rIns="91440" bIns="45720" rtlCol="0" anchor="t">
            <a:noAutofit/>
          </a:bodyPr>
          <a:lstStyle/>
          <a:p>
            <a:r>
              <a:rPr lang="en-GB" b="1" dirty="0">
                <a:latin typeface="+mn-lt"/>
              </a:rPr>
              <a:t>InterCatch</a:t>
            </a:r>
          </a:p>
        </p:txBody>
      </p:sp>
      <p:sp>
        <p:nvSpPr>
          <p:cNvPr id="36" name="TextBox 35"/>
          <p:cNvSpPr txBox="1"/>
          <p:nvPr/>
        </p:nvSpPr>
        <p:spPr>
          <a:xfrm>
            <a:off x="7051536" y="2309322"/>
            <a:ext cx="2278392" cy="555457"/>
          </a:xfrm>
          <a:prstGeom prst="rect">
            <a:avLst/>
          </a:prstGeom>
        </p:spPr>
        <p:txBody>
          <a:bodyPr vert="horz" wrap="square" lIns="91440" tIns="45720" rIns="91440" bIns="45720" rtlCol="0" anchor="t">
            <a:noAutofit/>
          </a:bodyPr>
          <a:lstStyle/>
          <a:p>
            <a:r>
              <a:rPr lang="en-GB" sz="1400" dirty="0">
                <a:latin typeface="+mn-lt"/>
              </a:rPr>
              <a:t>Known standardised raising/ estimation procedures</a:t>
            </a:r>
          </a:p>
        </p:txBody>
      </p:sp>
      <p:cxnSp>
        <p:nvCxnSpPr>
          <p:cNvPr id="38" name="Straight Arrow Connector 37"/>
          <p:cNvCxnSpPr>
            <a:endCxn id="6" idx="2"/>
          </p:cNvCxnSpPr>
          <p:nvPr/>
        </p:nvCxnSpPr>
        <p:spPr>
          <a:xfrm>
            <a:off x="3280522" y="2930241"/>
            <a:ext cx="2773840" cy="22058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3280522" y="3251550"/>
            <a:ext cx="2773840" cy="15117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6" idx="3"/>
          </p:cNvCxnSpPr>
          <p:nvPr/>
        </p:nvCxnSpPr>
        <p:spPr>
          <a:xfrm flipV="1">
            <a:off x="3280524" y="3290546"/>
            <a:ext cx="2773838" cy="64427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1815760" y="3915816"/>
            <a:ext cx="716431" cy="1264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1815760" y="3915816"/>
            <a:ext cx="2685748" cy="125212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213024" y="1436290"/>
            <a:ext cx="4239586" cy="314722"/>
          </a:xfrm>
          <a:prstGeom prst="rect">
            <a:avLst/>
          </a:prstGeom>
        </p:spPr>
        <p:txBody>
          <a:bodyPr vert="horz" wrap="square" lIns="91440" tIns="45720" rIns="91440" bIns="45720" rtlCol="0" anchor="t">
            <a:noAutofit/>
          </a:bodyPr>
          <a:lstStyle/>
          <a:p>
            <a:r>
              <a:rPr lang="en-GB" dirty="0"/>
              <a:t>Transparent data and raising/estimations</a:t>
            </a:r>
          </a:p>
        </p:txBody>
      </p:sp>
      <p:sp>
        <p:nvSpPr>
          <p:cNvPr id="51" name="TextBox 50"/>
          <p:cNvSpPr txBox="1"/>
          <p:nvPr/>
        </p:nvSpPr>
        <p:spPr>
          <a:xfrm>
            <a:off x="4645345" y="4308950"/>
            <a:ext cx="837398" cy="422592"/>
          </a:xfrm>
          <a:prstGeom prst="rect">
            <a:avLst/>
          </a:prstGeom>
        </p:spPr>
        <p:txBody>
          <a:bodyPr vert="horz" wrap="square" lIns="91440" tIns="45720" rIns="91440" bIns="45720" rtlCol="0" anchor="t">
            <a:noAutofit/>
          </a:bodyPr>
          <a:lstStyle/>
          <a:p>
            <a:r>
              <a:rPr lang="en-GB" b="1" dirty="0">
                <a:latin typeface="+mn-lt"/>
              </a:rPr>
              <a:t>RDBES</a:t>
            </a:r>
          </a:p>
        </p:txBody>
      </p:sp>
      <p:cxnSp>
        <p:nvCxnSpPr>
          <p:cNvPr id="53" name="Straight Arrow Connector 52"/>
          <p:cNvCxnSpPr/>
          <p:nvPr/>
        </p:nvCxnSpPr>
        <p:spPr>
          <a:xfrm>
            <a:off x="1819570" y="4433976"/>
            <a:ext cx="716431" cy="1264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819570" y="4433976"/>
            <a:ext cx="2598023" cy="78246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1800520" y="4883556"/>
            <a:ext cx="716431" cy="1264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1800520" y="4883556"/>
            <a:ext cx="2700988" cy="38893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1804330" y="5401716"/>
            <a:ext cx="716431" cy="1264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V="1">
            <a:off x="1804330" y="5338759"/>
            <a:ext cx="2672801" cy="6295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V="1">
            <a:off x="3259575" y="3371944"/>
            <a:ext cx="2724024" cy="108066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V="1">
            <a:off x="3263385" y="3342350"/>
            <a:ext cx="2741163" cy="150481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V="1">
            <a:off x="3278772" y="3379689"/>
            <a:ext cx="2775590" cy="205382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5589391" y="5151881"/>
            <a:ext cx="716431" cy="1264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7129153" y="3178578"/>
            <a:ext cx="183688" cy="22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8489501" y="3011114"/>
            <a:ext cx="1035014" cy="403743"/>
          </a:xfrm>
          <a:prstGeom prst="rect">
            <a:avLst/>
          </a:prstGeom>
        </p:spPr>
        <p:txBody>
          <a:bodyPr vert="horz" wrap="square" lIns="91440" tIns="45720" rIns="91440" bIns="45720" rtlCol="0" anchor="t">
            <a:noAutofit/>
          </a:bodyPr>
          <a:lstStyle/>
          <a:p>
            <a:r>
              <a:rPr lang="en-GB" sz="2000" b="1" dirty="0">
                <a:latin typeface="+mn-lt"/>
              </a:rPr>
              <a:t>ICES EG </a:t>
            </a:r>
          </a:p>
        </p:txBody>
      </p:sp>
      <p:cxnSp>
        <p:nvCxnSpPr>
          <p:cNvPr id="48" name="Straight Arrow Connector 47"/>
          <p:cNvCxnSpPr/>
          <p:nvPr/>
        </p:nvCxnSpPr>
        <p:spPr>
          <a:xfrm flipV="1">
            <a:off x="5560616" y="3322686"/>
            <a:ext cx="2981840" cy="170822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7299710" y="3032147"/>
            <a:ext cx="966325" cy="2583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8" name="Straight Arrow Connector 57"/>
          <p:cNvCxnSpPr/>
          <p:nvPr/>
        </p:nvCxnSpPr>
        <p:spPr>
          <a:xfrm>
            <a:off x="8283174" y="3175601"/>
            <a:ext cx="259282" cy="297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901274" y="4974099"/>
            <a:ext cx="2746655" cy="503440"/>
          </a:xfrm>
          <a:prstGeom prst="rect">
            <a:avLst/>
          </a:prstGeom>
        </p:spPr>
        <p:txBody>
          <a:bodyPr vert="horz" wrap="square" lIns="91440" tIns="45720" rIns="91440" bIns="45720" rtlCol="0" anchor="t">
            <a:noAutofit/>
          </a:bodyPr>
          <a:lstStyle/>
          <a:p>
            <a:r>
              <a:rPr lang="en-GB" dirty="0">
                <a:latin typeface="+mn-lt"/>
              </a:rPr>
              <a:t>Baltic, NA, NS &amp; EA, LDF</a:t>
            </a:r>
          </a:p>
        </p:txBody>
      </p:sp>
      <p:cxnSp>
        <p:nvCxnSpPr>
          <p:cNvPr id="62" name="Straight Arrow Connector 61"/>
          <p:cNvCxnSpPr/>
          <p:nvPr/>
        </p:nvCxnSpPr>
        <p:spPr>
          <a:xfrm>
            <a:off x="9412136" y="3212249"/>
            <a:ext cx="183688" cy="22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9544454" y="3014951"/>
            <a:ext cx="1035014" cy="403743"/>
          </a:xfrm>
          <a:prstGeom prst="rect">
            <a:avLst/>
          </a:prstGeom>
        </p:spPr>
        <p:txBody>
          <a:bodyPr vert="horz" wrap="square" lIns="91440" tIns="45720" rIns="91440" bIns="45720" rtlCol="0" anchor="t">
            <a:noAutofit/>
          </a:bodyPr>
          <a:lstStyle/>
          <a:p>
            <a:r>
              <a:rPr lang="en-GB" sz="2000" b="1" dirty="0">
                <a:latin typeface="+mn-lt"/>
              </a:rPr>
              <a:t>Advice </a:t>
            </a:r>
          </a:p>
        </p:txBody>
      </p:sp>
      <p:sp>
        <p:nvSpPr>
          <p:cNvPr id="67" name="TextBox 66"/>
          <p:cNvSpPr txBox="1"/>
          <p:nvPr/>
        </p:nvSpPr>
        <p:spPr>
          <a:xfrm>
            <a:off x="6543678" y="5253878"/>
            <a:ext cx="508633" cy="449955"/>
          </a:xfrm>
          <a:prstGeom prst="rect">
            <a:avLst/>
          </a:prstGeom>
        </p:spPr>
        <p:txBody>
          <a:bodyPr vert="horz" wrap="square" lIns="91440" tIns="45720" rIns="91440" bIns="45720" rtlCol="0" anchor="t">
            <a:noAutofit/>
          </a:bodyPr>
          <a:lstStyle/>
          <a:p>
            <a:r>
              <a:rPr lang="en-GB" sz="2000" b="1" dirty="0">
                <a:latin typeface="+mn-lt"/>
              </a:rPr>
              <a:t>EU</a:t>
            </a:r>
          </a:p>
        </p:txBody>
      </p:sp>
    </p:spTree>
    <p:extLst>
      <p:ext uri="{BB962C8B-B14F-4D97-AF65-F5344CB8AC3E}">
        <p14:creationId xmlns:p14="http://schemas.microsoft.com/office/powerpoint/2010/main" val="3156803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2523388" y="1988100"/>
            <a:ext cx="6858000" cy="4080510"/>
          </a:xfrm>
          <a:prstGeom prst="rect">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Commercial fisheries future (RDBES)</a:t>
            </a:r>
          </a:p>
        </p:txBody>
      </p:sp>
      <p:sp>
        <p:nvSpPr>
          <p:cNvPr id="4" name="Flowchart: Magnetic Disk 3"/>
          <p:cNvSpPr/>
          <p:nvPr/>
        </p:nvSpPr>
        <p:spPr>
          <a:xfrm>
            <a:off x="1187777" y="3252837"/>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772996" y="2185128"/>
            <a:ext cx="1442302" cy="358220"/>
          </a:xfrm>
          <a:prstGeom prst="rect">
            <a:avLst/>
          </a:prstGeom>
        </p:spPr>
        <p:txBody>
          <a:bodyPr vert="horz" wrap="square" lIns="91440" tIns="45720" rIns="91440" bIns="45720" rtlCol="0" anchor="t">
            <a:noAutofit/>
          </a:bodyPr>
          <a:lstStyle/>
          <a:p>
            <a:r>
              <a:rPr lang="en-GB" dirty="0">
                <a:latin typeface="+mn-lt"/>
              </a:rPr>
              <a:t>National DBs</a:t>
            </a:r>
          </a:p>
        </p:txBody>
      </p:sp>
      <p:sp>
        <p:nvSpPr>
          <p:cNvPr id="7" name="Flowchart: Magnetic Disk 6"/>
          <p:cNvSpPr/>
          <p:nvPr/>
        </p:nvSpPr>
        <p:spPr>
          <a:xfrm>
            <a:off x="1187777" y="2776194"/>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lowchart: Magnetic Disk 8"/>
          <p:cNvSpPr/>
          <p:nvPr/>
        </p:nvSpPr>
        <p:spPr>
          <a:xfrm>
            <a:off x="1187777" y="3757211"/>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Magnetic Disk 9"/>
          <p:cNvSpPr/>
          <p:nvPr/>
        </p:nvSpPr>
        <p:spPr>
          <a:xfrm>
            <a:off x="1187776" y="4272861"/>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Magnetic Disk 10"/>
          <p:cNvSpPr/>
          <p:nvPr/>
        </p:nvSpPr>
        <p:spPr>
          <a:xfrm>
            <a:off x="1187776" y="4720786"/>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lowchart: Magnetic Disk 11"/>
          <p:cNvSpPr/>
          <p:nvPr/>
        </p:nvSpPr>
        <p:spPr>
          <a:xfrm>
            <a:off x="1187776" y="5253878"/>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5153783" y="3107760"/>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p:cNvSpPr/>
          <p:nvPr/>
        </p:nvSpPr>
        <p:spPr>
          <a:xfrm>
            <a:off x="5310145" y="3216168"/>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5439644" y="3357628"/>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p:cNvSpPr/>
          <p:nvPr/>
        </p:nvSpPr>
        <p:spPr>
          <a:xfrm>
            <a:off x="5550302" y="3466036"/>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p:cNvSpPr/>
          <p:nvPr/>
        </p:nvSpPr>
        <p:spPr>
          <a:xfrm>
            <a:off x="5660961" y="3564240"/>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lowchart: Magnetic Disk 19"/>
          <p:cNvSpPr/>
          <p:nvPr/>
        </p:nvSpPr>
        <p:spPr>
          <a:xfrm>
            <a:off x="3023671" y="3790646"/>
            <a:ext cx="1074656" cy="707010"/>
          </a:xfrm>
          <a:prstGeom prst="flowChartMagneticDisk">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23" name="Straight Arrow Connector 22"/>
          <p:cNvCxnSpPr/>
          <p:nvPr/>
        </p:nvCxnSpPr>
        <p:spPr>
          <a:xfrm flipV="1">
            <a:off x="1800519" y="4144151"/>
            <a:ext cx="1234891" cy="29049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821468" y="3414857"/>
            <a:ext cx="1213942" cy="66865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772650" y="3920461"/>
            <a:ext cx="1262760" cy="21578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7" idx="4"/>
          </p:cNvCxnSpPr>
          <p:nvPr/>
        </p:nvCxnSpPr>
        <p:spPr>
          <a:xfrm>
            <a:off x="1800520" y="2917596"/>
            <a:ext cx="1234890" cy="112241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208524" y="3117543"/>
            <a:ext cx="1032107" cy="552012"/>
          </a:xfrm>
          <a:prstGeom prst="rect">
            <a:avLst/>
          </a:prstGeom>
        </p:spPr>
        <p:txBody>
          <a:bodyPr vert="horz" wrap="square" lIns="91440" tIns="45720" rIns="91440" bIns="45720" rtlCol="0" anchor="t">
            <a:noAutofit/>
          </a:bodyPr>
          <a:lstStyle/>
          <a:p>
            <a:r>
              <a:rPr lang="en-GB" b="1" dirty="0">
                <a:latin typeface="+mn-lt"/>
              </a:rPr>
              <a:t>RDBES</a:t>
            </a:r>
            <a:r>
              <a:rPr lang="en-GB" dirty="0">
                <a:latin typeface="+mn-lt"/>
              </a:rPr>
              <a:t>	</a:t>
            </a:r>
          </a:p>
        </p:txBody>
      </p:sp>
      <p:sp>
        <p:nvSpPr>
          <p:cNvPr id="33" name="TextBox 32"/>
          <p:cNvSpPr txBox="1"/>
          <p:nvPr/>
        </p:nvSpPr>
        <p:spPr>
          <a:xfrm>
            <a:off x="5586713" y="5010405"/>
            <a:ext cx="1072122" cy="601644"/>
          </a:xfrm>
          <a:prstGeom prst="rect">
            <a:avLst/>
          </a:prstGeom>
        </p:spPr>
        <p:txBody>
          <a:bodyPr vert="horz" wrap="square" lIns="91440" tIns="45720" rIns="91440" bIns="45720" rtlCol="0" anchor="t">
            <a:noAutofit/>
          </a:bodyPr>
          <a:lstStyle/>
          <a:p>
            <a:r>
              <a:rPr lang="en-GB" sz="2000" b="1" dirty="0">
                <a:latin typeface="+mn-lt"/>
              </a:rPr>
              <a:t>RCGs</a:t>
            </a:r>
          </a:p>
        </p:txBody>
      </p:sp>
      <p:sp>
        <p:nvSpPr>
          <p:cNvPr id="35" name="TextBox 34"/>
          <p:cNvSpPr txBox="1"/>
          <p:nvPr/>
        </p:nvSpPr>
        <p:spPr>
          <a:xfrm>
            <a:off x="6235481" y="5029951"/>
            <a:ext cx="2707901" cy="447853"/>
          </a:xfrm>
          <a:prstGeom prst="rect">
            <a:avLst/>
          </a:prstGeom>
        </p:spPr>
        <p:txBody>
          <a:bodyPr vert="horz" wrap="square" lIns="91440" tIns="45720" rIns="91440" bIns="45720" rtlCol="0" anchor="t">
            <a:noAutofit/>
          </a:bodyPr>
          <a:lstStyle/>
          <a:p>
            <a:r>
              <a:rPr lang="en-GB" dirty="0">
                <a:latin typeface="+mn-lt"/>
              </a:rPr>
              <a:t>Baltic, NA, NS &amp; EA, LDF</a:t>
            </a:r>
          </a:p>
        </p:txBody>
      </p:sp>
      <p:sp>
        <p:nvSpPr>
          <p:cNvPr id="36" name="TextBox 35"/>
          <p:cNvSpPr txBox="1"/>
          <p:nvPr/>
        </p:nvSpPr>
        <p:spPr>
          <a:xfrm>
            <a:off x="3886200" y="2164516"/>
            <a:ext cx="4329752" cy="880272"/>
          </a:xfrm>
          <a:prstGeom prst="rect">
            <a:avLst/>
          </a:prstGeom>
        </p:spPr>
        <p:txBody>
          <a:bodyPr vert="horz" wrap="square" lIns="91440" tIns="45720" rIns="91440" bIns="45720" rtlCol="0" anchor="t">
            <a:noAutofit/>
          </a:bodyPr>
          <a:lstStyle/>
          <a:p>
            <a:r>
              <a:rPr lang="en-GB" sz="1800" b="1" dirty="0" err="1"/>
              <a:t>WGRDBESStockCoord</a:t>
            </a:r>
            <a:r>
              <a:rPr lang="en-GB" sz="1800" b="1" dirty="0"/>
              <a:t> </a:t>
            </a:r>
            <a:r>
              <a:rPr lang="en-GB" b="1" dirty="0">
                <a:latin typeface="+mn-lt"/>
              </a:rPr>
              <a:t>and Data Compilation/Benchmark Workshop </a:t>
            </a:r>
            <a:r>
              <a:rPr lang="en-GB" dirty="0">
                <a:latin typeface="+mn-lt"/>
              </a:rPr>
              <a:t>writing raising/estimation procedures in </a:t>
            </a:r>
            <a:r>
              <a:rPr lang="en-GB" b="1" dirty="0">
                <a:latin typeface="+mn-lt"/>
              </a:rPr>
              <a:t>TAF</a:t>
            </a:r>
          </a:p>
        </p:txBody>
      </p:sp>
      <p:cxnSp>
        <p:nvCxnSpPr>
          <p:cNvPr id="32" name="Straight Arrow Connector 31"/>
          <p:cNvCxnSpPr/>
          <p:nvPr/>
        </p:nvCxnSpPr>
        <p:spPr>
          <a:xfrm flipV="1">
            <a:off x="1692184" y="4241289"/>
            <a:ext cx="1330931" cy="65346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1800518" y="4316359"/>
            <a:ext cx="1203811" cy="108276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188830" y="1536051"/>
            <a:ext cx="4806580" cy="354808"/>
          </a:xfrm>
          <a:prstGeom prst="rect">
            <a:avLst/>
          </a:prstGeom>
        </p:spPr>
        <p:txBody>
          <a:bodyPr vert="horz" wrap="square" lIns="91440" tIns="45720" rIns="91440" bIns="45720" rtlCol="0" anchor="t">
            <a:noAutofit/>
          </a:bodyPr>
          <a:lstStyle/>
          <a:p>
            <a:r>
              <a:rPr lang="en-GB" b="1" dirty="0">
                <a:latin typeface="+mn-lt"/>
              </a:rPr>
              <a:t>Transparent data and raising/estimations</a:t>
            </a:r>
          </a:p>
        </p:txBody>
      </p:sp>
      <p:cxnSp>
        <p:nvCxnSpPr>
          <p:cNvPr id="40" name="Straight Arrow Connector 39"/>
          <p:cNvCxnSpPr/>
          <p:nvPr/>
        </p:nvCxnSpPr>
        <p:spPr>
          <a:xfrm>
            <a:off x="4161743" y="4385163"/>
            <a:ext cx="1318903" cy="80757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4124127" y="3535641"/>
            <a:ext cx="1110813" cy="39265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096474" y="5307176"/>
            <a:ext cx="508633" cy="449955"/>
          </a:xfrm>
          <a:prstGeom prst="rect">
            <a:avLst/>
          </a:prstGeom>
        </p:spPr>
        <p:txBody>
          <a:bodyPr vert="horz" wrap="square" lIns="91440" tIns="45720" rIns="91440" bIns="45720" rtlCol="0" anchor="t">
            <a:noAutofit/>
          </a:bodyPr>
          <a:lstStyle/>
          <a:p>
            <a:r>
              <a:rPr lang="en-GB" sz="2000" b="1" dirty="0">
                <a:latin typeface="+mn-lt"/>
              </a:rPr>
              <a:t>EU</a:t>
            </a:r>
          </a:p>
        </p:txBody>
      </p:sp>
      <p:sp>
        <p:nvSpPr>
          <p:cNvPr id="41" name="TextBox 40"/>
          <p:cNvSpPr txBox="1"/>
          <p:nvPr/>
        </p:nvSpPr>
        <p:spPr>
          <a:xfrm>
            <a:off x="6773723" y="3257690"/>
            <a:ext cx="1035014" cy="403743"/>
          </a:xfrm>
          <a:prstGeom prst="rect">
            <a:avLst/>
          </a:prstGeom>
        </p:spPr>
        <p:txBody>
          <a:bodyPr vert="horz" wrap="square" lIns="91440" tIns="45720" rIns="91440" bIns="45720" rtlCol="0" anchor="t">
            <a:noAutofit/>
          </a:bodyPr>
          <a:lstStyle/>
          <a:p>
            <a:r>
              <a:rPr lang="en-GB" sz="2000" b="1" dirty="0">
                <a:latin typeface="+mn-lt"/>
              </a:rPr>
              <a:t>ICES EG </a:t>
            </a:r>
          </a:p>
        </p:txBody>
      </p:sp>
      <p:cxnSp>
        <p:nvCxnSpPr>
          <p:cNvPr id="43" name="Straight Arrow Connector 42"/>
          <p:cNvCxnSpPr/>
          <p:nvPr/>
        </p:nvCxnSpPr>
        <p:spPr>
          <a:xfrm>
            <a:off x="6567396" y="3422177"/>
            <a:ext cx="259282" cy="297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7696358" y="3458825"/>
            <a:ext cx="183688" cy="22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7828676" y="3261527"/>
            <a:ext cx="1035014" cy="403743"/>
          </a:xfrm>
          <a:prstGeom prst="rect">
            <a:avLst/>
          </a:prstGeom>
        </p:spPr>
        <p:txBody>
          <a:bodyPr vert="horz" wrap="square" lIns="91440" tIns="45720" rIns="91440" bIns="45720" rtlCol="0" anchor="t">
            <a:noAutofit/>
          </a:bodyPr>
          <a:lstStyle/>
          <a:p>
            <a:r>
              <a:rPr lang="en-GB" sz="2000" b="1" dirty="0">
                <a:latin typeface="+mn-lt"/>
              </a:rPr>
              <a:t>Advice </a:t>
            </a:r>
          </a:p>
        </p:txBody>
      </p:sp>
      <p:sp>
        <p:nvSpPr>
          <p:cNvPr id="50" name="Freeform 49"/>
          <p:cNvSpPr/>
          <p:nvPr/>
        </p:nvSpPr>
        <p:spPr>
          <a:xfrm>
            <a:off x="4165600" y="3848100"/>
            <a:ext cx="1905000" cy="279400"/>
          </a:xfrm>
          <a:custGeom>
            <a:avLst/>
            <a:gdLst>
              <a:gd name="connsiteX0" fmla="*/ 1892300 w 1905000"/>
              <a:gd name="connsiteY0" fmla="*/ 0 h 279400"/>
              <a:gd name="connsiteX1" fmla="*/ 1905000 w 1905000"/>
              <a:gd name="connsiteY1" fmla="*/ 254000 h 279400"/>
              <a:gd name="connsiteX2" fmla="*/ 0 w 1905000"/>
              <a:gd name="connsiteY2" fmla="*/ 279400 h 279400"/>
            </a:gdLst>
            <a:ahLst/>
            <a:cxnLst>
              <a:cxn ang="0">
                <a:pos x="connsiteX0" y="connsiteY0"/>
              </a:cxn>
              <a:cxn ang="0">
                <a:pos x="connsiteX1" y="connsiteY1"/>
              </a:cxn>
              <a:cxn ang="0">
                <a:pos x="connsiteX2" y="connsiteY2"/>
              </a:cxn>
            </a:cxnLst>
            <a:rect l="l" t="t" r="r" b="b"/>
            <a:pathLst>
              <a:path w="1905000" h="279400">
                <a:moveTo>
                  <a:pt x="1892300" y="0"/>
                </a:moveTo>
                <a:lnTo>
                  <a:pt x="1905000" y="254000"/>
                </a:lnTo>
                <a:lnTo>
                  <a:pt x="0" y="279400"/>
                </a:lnTo>
              </a:path>
            </a:pathLst>
          </a:custGeom>
          <a:noFill/>
          <a:ln w="254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2" name="Straight Arrow Connector 51"/>
          <p:cNvCxnSpPr/>
          <p:nvPr/>
        </p:nvCxnSpPr>
        <p:spPr>
          <a:xfrm>
            <a:off x="4188830" y="4221863"/>
            <a:ext cx="1728524" cy="24749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981598" y="4304581"/>
            <a:ext cx="3225902" cy="346444"/>
          </a:xfrm>
          <a:prstGeom prst="rect">
            <a:avLst/>
          </a:prstGeom>
        </p:spPr>
        <p:txBody>
          <a:bodyPr vert="horz" wrap="square" lIns="91440" tIns="45720" rIns="91440" bIns="45720" rtlCol="0" anchor="t">
            <a:noAutofit/>
          </a:bodyPr>
          <a:lstStyle/>
          <a:p>
            <a:r>
              <a:rPr lang="en-GB" dirty="0">
                <a:latin typeface="+mn-lt"/>
              </a:rPr>
              <a:t>Potentially: Annual reports, FDI</a:t>
            </a:r>
          </a:p>
        </p:txBody>
      </p:sp>
      <p:sp>
        <p:nvSpPr>
          <p:cNvPr id="3" name="TextBox 2">
            <a:extLst>
              <a:ext uri="{FF2B5EF4-FFF2-40B4-BE49-F238E27FC236}">
                <a16:creationId xmlns:a16="http://schemas.microsoft.com/office/drawing/2014/main" id="{EE743AC4-9473-718F-BFBD-9EF5AC7C2A1D}"/>
              </a:ext>
            </a:extLst>
          </p:cNvPr>
          <p:cNvSpPr txBox="1"/>
          <p:nvPr/>
        </p:nvSpPr>
        <p:spPr>
          <a:xfrm>
            <a:off x="2036634" y="2676491"/>
            <a:ext cx="1308384" cy="660779"/>
          </a:xfrm>
          <a:prstGeom prst="rect">
            <a:avLst/>
          </a:prstGeom>
        </p:spPr>
        <p:txBody>
          <a:bodyPr vert="horz" wrap="square" lIns="91440" tIns="45720" rIns="91440" bIns="45720" rtlCol="0" anchor="t">
            <a:noAutofit/>
          </a:bodyPr>
          <a:lstStyle/>
          <a:p>
            <a:r>
              <a:rPr lang="en-GB" b="1" dirty="0"/>
              <a:t>Data call upload</a:t>
            </a:r>
            <a:endParaRPr lang="en-GB" b="1" dirty="0">
              <a:latin typeface="+mn-lt"/>
            </a:endParaRPr>
          </a:p>
        </p:txBody>
      </p:sp>
    </p:spTree>
    <p:extLst>
      <p:ext uri="{BB962C8B-B14F-4D97-AF65-F5344CB8AC3E}">
        <p14:creationId xmlns:p14="http://schemas.microsoft.com/office/powerpoint/2010/main" val="160474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D60F-F408-4271-96F5-617D239E2C0D}"/>
              </a:ext>
            </a:extLst>
          </p:cNvPr>
          <p:cNvSpPr>
            <a:spLocks noGrp="1"/>
          </p:cNvSpPr>
          <p:nvPr>
            <p:ph type="title"/>
          </p:nvPr>
        </p:nvSpPr>
        <p:spPr/>
        <p:txBody>
          <a:bodyPr>
            <a:normAutofit/>
          </a:bodyPr>
          <a:lstStyle/>
          <a:p>
            <a:r>
              <a:rPr lang="en-GB" dirty="0"/>
              <a:t>How is the RDBES specified and developed</a:t>
            </a:r>
          </a:p>
        </p:txBody>
      </p:sp>
      <p:sp>
        <p:nvSpPr>
          <p:cNvPr id="3" name="Content Placeholder 2">
            <a:extLst>
              <a:ext uri="{FF2B5EF4-FFF2-40B4-BE49-F238E27FC236}">
                <a16:creationId xmlns:a16="http://schemas.microsoft.com/office/drawing/2014/main" id="{0FE02E59-106B-43F8-B2C5-3FFDBFF45BE9}"/>
              </a:ext>
            </a:extLst>
          </p:cNvPr>
          <p:cNvSpPr>
            <a:spLocks noGrp="1"/>
          </p:cNvSpPr>
          <p:nvPr>
            <p:ph sz="quarter" idx="10"/>
          </p:nvPr>
        </p:nvSpPr>
        <p:spPr>
          <a:xfrm>
            <a:off x="680720" y="1534160"/>
            <a:ext cx="10749280" cy="4622801"/>
          </a:xfrm>
        </p:spPr>
        <p:txBody>
          <a:bodyPr>
            <a:normAutofit/>
          </a:bodyPr>
          <a:lstStyle/>
          <a:p>
            <a:pPr marL="0" indent="0">
              <a:buNone/>
            </a:pPr>
            <a:r>
              <a:rPr lang="en-IE" sz="2800" dirty="0"/>
              <a:t>The Core Group specifies the data model and the documentation. The Core Group </a:t>
            </a:r>
            <a:r>
              <a:rPr lang="en-GB" sz="2800" dirty="0"/>
              <a:t>is </a:t>
            </a:r>
            <a:r>
              <a:rPr lang="en-IE" sz="2800" dirty="0"/>
              <a:t>a subgroup of the WGRDBESGOV and the official name is ‘</a:t>
            </a:r>
            <a:r>
              <a:rPr lang="en-GB" sz="2800" dirty="0"/>
              <a:t>RDBES development support group’. The meetings are chaired by ICES Sec. and the last 4½ year there have been about 140 online meetings</a:t>
            </a:r>
            <a:endParaRPr lang="en-IE" sz="2800" dirty="0"/>
          </a:p>
          <a:p>
            <a:pPr marL="0" indent="0">
              <a:buNone/>
            </a:pPr>
            <a:endParaRPr lang="en-IE" sz="2800" dirty="0"/>
          </a:p>
          <a:p>
            <a:pPr marL="0" indent="0">
              <a:buNone/>
            </a:pPr>
            <a:r>
              <a:rPr lang="en-GB" sz="2800" dirty="0"/>
              <a:t>ICES Sec. is then according the specifications developing the RDBES</a:t>
            </a:r>
          </a:p>
          <a:p>
            <a:pPr marL="0" indent="0">
              <a:buNone/>
            </a:pPr>
            <a:endParaRPr lang="en-GB" sz="2800" dirty="0"/>
          </a:p>
          <a:p>
            <a:pPr marL="0" indent="0">
              <a:buNone/>
            </a:pPr>
            <a:r>
              <a:rPr lang="en-GB" sz="2800" dirty="0"/>
              <a:t>ICES Sec. are sending out the RDBES data call, which so far have been specified by the WGRDBESGOV</a:t>
            </a:r>
          </a:p>
        </p:txBody>
      </p:sp>
    </p:spTree>
    <p:extLst>
      <p:ext uri="{BB962C8B-B14F-4D97-AF65-F5344CB8AC3E}">
        <p14:creationId xmlns:p14="http://schemas.microsoft.com/office/powerpoint/2010/main" val="9720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The participants of the Core Group</a:t>
            </a:r>
          </a:p>
        </p:txBody>
      </p:sp>
      <p:sp>
        <p:nvSpPr>
          <p:cNvPr id="3" name="Content Placeholder 2"/>
          <p:cNvSpPr>
            <a:spLocks noGrp="1"/>
          </p:cNvSpPr>
          <p:nvPr>
            <p:ph sz="quarter" idx="10"/>
          </p:nvPr>
        </p:nvSpPr>
        <p:spPr>
          <a:xfrm>
            <a:off x="1030779" y="1313411"/>
            <a:ext cx="10643062" cy="5056909"/>
          </a:xfrm>
        </p:spPr>
        <p:txBody>
          <a:bodyPr>
            <a:normAutofit/>
          </a:bodyPr>
          <a:lstStyle/>
          <a:p>
            <a:r>
              <a:rPr lang="en-GB" sz="2000" dirty="0"/>
              <a:t>Henrik Kjems-Nielsen, ICES, chair			</a:t>
            </a:r>
            <a:r>
              <a:rPr lang="en-GB" sz="2000" dirty="0">
                <a:hlinkClick r:id="rId2"/>
              </a:rPr>
              <a:t>Henrikkn@ices.dk</a:t>
            </a:r>
            <a:endParaRPr lang="en-GB" sz="2000" dirty="0"/>
          </a:p>
          <a:p>
            <a:r>
              <a:rPr lang="en-GB" sz="2000" dirty="0"/>
              <a:t>Kirsten Birch Håkansson, DTU Aqua, Denmark	</a:t>
            </a:r>
            <a:r>
              <a:rPr lang="en-GB" sz="2000" u="sng" dirty="0">
                <a:hlinkClick r:id="rId3"/>
              </a:rPr>
              <a:t>Kibi@aqua.dtu.dk</a:t>
            </a:r>
            <a:r>
              <a:rPr lang="en-GB" sz="2000" u="sng" dirty="0"/>
              <a:t> </a:t>
            </a:r>
            <a:endParaRPr lang="en-GB" sz="2000" dirty="0"/>
          </a:p>
          <a:p>
            <a:r>
              <a:rPr lang="en-GB" sz="2000" dirty="0"/>
              <a:t>Nuno Prista, SLU Aqua, Sweden			</a:t>
            </a:r>
            <a:r>
              <a:rPr lang="en-GB" sz="2000" u="sng" dirty="0">
                <a:hlinkClick r:id="rId4"/>
              </a:rPr>
              <a:t>Nuno.prista@slu.se</a:t>
            </a:r>
            <a:r>
              <a:rPr lang="en-GB" sz="2000" u="sng" dirty="0"/>
              <a:t> </a:t>
            </a:r>
            <a:r>
              <a:rPr lang="en-GB" sz="2000" dirty="0"/>
              <a:t> </a:t>
            </a:r>
          </a:p>
          <a:p>
            <a:r>
              <a:rPr lang="en-GB" sz="2000" dirty="0"/>
              <a:t>David Currie, Marine Institute, Ireland		</a:t>
            </a:r>
            <a:r>
              <a:rPr lang="en-GB" sz="2000" u="sng" dirty="0">
                <a:hlinkClick r:id="rId5"/>
              </a:rPr>
              <a:t>David.Currie@Marine.ie</a:t>
            </a:r>
            <a:r>
              <a:rPr lang="en-GB" sz="2000" dirty="0"/>
              <a:t> </a:t>
            </a:r>
          </a:p>
          <a:p>
            <a:r>
              <a:rPr lang="en-GB" sz="2000" dirty="0"/>
              <a:t>Liz Clarke, Marine Scotland, Scotland		</a:t>
            </a:r>
            <a:r>
              <a:rPr lang="en-GB" sz="2000" dirty="0" err="1">
                <a:hlinkClick r:id="rId6"/>
              </a:rPr>
              <a:t>Liz.Clarke@gov.scot</a:t>
            </a:r>
            <a:r>
              <a:rPr lang="en-GB" sz="2000" dirty="0"/>
              <a:t> </a:t>
            </a:r>
          </a:p>
          <a:p>
            <a:r>
              <a:rPr lang="en-GB" sz="2000" dirty="0"/>
              <a:t>Josefine Egekvist, DTU Aqua, Denmark		</a:t>
            </a:r>
            <a:r>
              <a:rPr lang="en-GB" sz="2000" dirty="0">
                <a:hlinkClick r:id="rId7"/>
              </a:rPr>
              <a:t>Jsv@aqua.dtu.dk</a:t>
            </a:r>
            <a:r>
              <a:rPr lang="en-GB" sz="2000" dirty="0"/>
              <a:t> </a:t>
            </a:r>
          </a:p>
          <a:p>
            <a:r>
              <a:rPr lang="en-GB" sz="2000" dirty="0"/>
              <a:t>Karolina Molla Gazi, WUR, Netherlands	 	</a:t>
            </a:r>
            <a:r>
              <a:rPr lang="en-GB" sz="2000" u="sng" dirty="0">
                <a:hlinkClick r:id="rId8"/>
              </a:rPr>
              <a:t>Karolina.mollagazi@wur.nl</a:t>
            </a:r>
            <a:r>
              <a:rPr lang="en-GB" sz="2000" u="sng" dirty="0"/>
              <a:t>   </a:t>
            </a:r>
          </a:p>
          <a:p>
            <a:r>
              <a:rPr lang="en-GB" sz="2000" dirty="0"/>
              <a:t>Ana Claudia Fernandes, IPMA, Portugal		</a:t>
            </a:r>
            <a:r>
              <a:rPr lang="en-GB" sz="2000" dirty="0">
                <a:hlinkClick r:id="rId9"/>
              </a:rPr>
              <a:t>Acfernandes@ipma.pt</a:t>
            </a:r>
            <a:r>
              <a:rPr lang="en-GB" sz="2000" dirty="0"/>
              <a:t>  </a:t>
            </a:r>
          </a:p>
          <a:p>
            <a:r>
              <a:rPr lang="en-GB" sz="2000" dirty="0"/>
              <a:t>Marta Suska, MIR, Poland			</a:t>
            </a:r>
            <a:r>
              <a:rPr lang="en-GB" sz="2000" dirty="0">
                <a:hlinkClick r:id="rId10"/>
              </a:rPr>
              <a:t>Msuska@mir.gdynia.pl</a:t>
            </a:r>
            <a:r>
              <a:rPr lang="en-GB" sz="2000" dirty="0"/>
              <a:t> </a:t>
            </a:r>
          </a:p>
          <a:p>
            <a:r>
              <a:rPr lang="en-GB" sz="2000" dirty="0"/>
              <a:t>Jonathan Rault, </a:t>
            </a:r>
            <a:r>
              <a:rPr lang="en-GB" sz="2000" dirty="0" err="1"/>
              <a:t>ifremer</a:t>
            </a:r>
            <a:r>
              <a:rPr lang="en-GB" sz="2000" dirty="0"/>
              <a:t>, France 			</a:t>
            </a:r>
            <a:r>
              <a:rPr lang="en-GB" sz="2000" dirty="0">
                <a:hlinkClick r:id="rId11"/>
              </a:rPr>
              <a:t>Jonathan.rault@ifremer.fr</a:t>
            </a:r>
            <a:r>
              <a:rPr lang="en-GB" sz="2000" dirty="0"/>
              <a:t> </a:t>
            </a:r>
          </a:p>
          <a:p>
            <a:pPr marL="0" indent="0">
              <a:buNone/>
            </a:pPr>
            <a:r>
              <a:rPr lang="en-GB" sz="2000" dirty="0"/>
              <a:t>All countries can participate in the Core Group and contribute to the specifications and testing of the RDBES. </a:t>
            </a:r>
          </a:p>
        </p:txBody>
      </p:sp>
    </p:spTree>
    <p:extLst>
      <p:ext uri="{BB962C8B-B14F-4D97-AF65-F5344CB8AC3E}">
        <p14:creationId xmlns:p14="http://schemas.microsoft.com/office/powerpoint/2010/main" val="2417648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1146-E6E6-4C40-9898-56921F36995B}"/>
              </a:ext>
            </a:extLst>
          </p:cNvPr>
          <p:cNvSpPr>
            <a:spLocks noGrp="1"/>
          </p:cNvSpPr>
          <p:nvPr>
            <p:ph type="title"/>
          </p:nvPr>
        </p:nvSpPr>
        <p:spPr/>
        <p:txBody>
          <a:bodyPr/>
          <a:lstStyle/>
          <a:p>
            <a:r>
              <a:rPr lang="en-GB" dirty="0"/>
              <a:t>The RDBES data model </a:t>
            </a:r>
          </a:p>
        </p:txBody>
      </p:sp>
      <p:sp>
        <p:nvSpPr>
          <p:cNvPr id="3" name="Content Placeholder 2">
            <a:extLst>
              <a:ext uri="{FF2B5EF4-FFF2-40B4-BE49-F238E27FC236}">
                <a16:creationId xmlns:a16="http://schemas.microsoft.com/office/drawing/2014/main" id="{E9949CB9-5040-44A1-BCCA-8E94F24B2EF3}"/>
              </a:ext>
            </a:extLst>
          </p:cNvPr>
          <p:cNvSpPr>
            <a:spLocks noGrp="1"/>
          </p:cNvSpPr>
          <p:nvPr>
            <p:ph sz="quarter" idx="10"/>
          </p:nvPr>
        </p:nvSpPr>
        <p:spPr>
          <a:xfrm>
            <a:off x="1320800" y="1998133"/>
            <a:ext cx="10109200" cy="4158828"/>
          </a:xfrm>
        </p:spPr>
        <p:txBody>
          <a:bodyPr>
            <a:normAutofit/>
          </a:bodyPr>
          <a:lstStyle/>
          <a:p>
            <a:pPr marL="0" indent="0">
              <a:buNone/>
            </a:pPr>
            <a:r>
              <a:rPr lang="en-GB" sz="2800" dirty="0"/>
              <a:t>The RDBES data model consists of different data types</a:t>
            </a:r>
          </a:p>
          <a:p>
            <a:pPr marL="0" indent="0">
              <a:buNone/>
            </a:pPr>
            <a:endParaRPr lang="en-GB" sz="2800" dirty="0"/>
          </a:p>
          <a:p>
            <a:r>
              <a:rPr lang="en-GB" sz="2800" dirty="0"/>
              <a:t>Commercial Landing (CL) and effort (CE) </a:t>
            </a:r>
          </a:p>
          <a:p>
            <a:r>
              <a:rPr lang="en-GB" sz="2800" dirty="0"/>
              <a:t>Vessel detail (VD) and Species List (SL)</a:t>
            </a:r>
          </a:p>
          <a:p>
            <a:r>
              <a:rPr lang="en-GB" sz="2800" dirty="0"/>
              <a:t>Commercial Sampling (CS) which consists of many tables, starting with Design (DE), Sampling Details (SD), etc. and end with Sample (SA), Frequency Measure (FM) or Biological Variable (BV)</a:t>
            </a:r>
          </a:p>
        </p:txBody>
      </p:sp>
    </p:spTree>
    <p:extLst>
      <p:ext uri="{BB962C8B-B14F-4D97-AF65-F5344CB8AC3E}">
        <p14:creationId xmlns:p14="http://schemas.microsoft.com/office/powerpoint/2010/main" val="2772079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RDBES covers all commercial sampling types</a:t>
            </a:r>
          </a:p>
        </p:txBody>
      </p:sp>
      <p:pic>
        <p:nvPicPr>
          <p:cNvPr id="5" name="Picture 4"/>
          <p:cNvPicPr>
            <a:picLocks noChangeAspect="1"/>
          </p:cNvPicPr>
          <p:nvPr/>
        </p:nvPicPr>
        <p:blipFill>
          <a:blip r:embed="rId2"/>
          <a:stretch>
            <a:fillRect/>
          </a:stretch>
        </p:blipFill>
        <p:spPr>
          <a:xfrm>
            <a:off x="696122" y="1333500"/>
            <a:ext cx="9387678" cy="5329312"/>
          </a:xfrm>
          <a:prstGeom prst="rect">
            <a:avLst/>
          </a:prstGeom>
        </p:spPr>
      </p:pic>
      <p:sp>
        <p:nvSpPr>
          <p:cNvPr id="7" name="TextBox 6"/>
          <p:cNvSpPr txBox="1"/>
          <p:nvPr/>
        </p:nvSpPr>
        <p:spPr>
          <a:xfrm>
            <a:off x="7620000" y="4406900"/>
            <a:ext cx="3934656" cy="2024063"/>
          </a:xfrm>
          <a:prstGeom prst="rect">
            <a:avLst/>
          </a:prstGeom>
        </p:spPr>
        <p:txBody>
          <a:bodyPr vert="horz" wrap="square" lIns="91440" tIns="45720" rIns="91440" bIns="45720" rtlCol="0" anchor="t">
            <a:noAutofit/>
          </a:bodyPr>
          <a:lstStyle/>
          <a:p>
            <a:r>
              <a:rPr lang="en-GB" b="1" dirty="0"/>
              <a:t>RDBES data model</a:t>
            </a:r>
          </a:p>
          <a:p>
            <a:r>
              <a:rPr lang="en-GB" b="1" dirty="0"/>
              <a:t>This model is the first that covers all countries and potentially all species.</a:t>
            </a:r>
          </a:p>
          <a:p>
            <a:r>
              <a:rPr lang="en-GB" b="1" dirty="0"/>
              <a:t>15 tables, combined in 52 different hierarchies</a:t>
            </a:r>
          </a:p>
        </p:txBody>
      </p:sp>
      <p:sp>
        <p:nvSpPr>
          <p:cNvPr id="6" name="Content Placeholder 5">
            <a:extLst>
              <a:ext uri="{FF2B5EF4-FFF2-40B4-BE49-F238E27FC236}">
                <a16:creationId xmlns:a16="http://schemas.microsoft.com/office/drawing/2014/main" id="{2C87D3EB-CEDD-42BE-BADA-0A02F7197B04}"/>
              </a:ext>
            </a:extLst>
          </p:cNvPr>
          <p:cNvSpPr>
            <a:spLocks noGrp="1"/>
          </p:cNvSpPr>
          <p:nvPr>
            <p:ph sz="quarter" idx="10"/>
          </p:nvPr>
        </p:nvSpPr>
        <p:spPr>
          <a:xfrm>
            <a:off x="637344" y="2781300"/>
            <a:ext cx="10792656" cy="3375662"/>
          </a:xfrm>
        </p:spPr>
        <p:txBody>
          <a:bodyPr/>
          <a:lstStyle/>
          <a:p>
            <a:endParaRPr lang="en-GB" dirty="0"/>
          </a:p>
        </p:txBody>
      </p:sp>
    </p:spTree>
    <p:extLst>
      <p:ext uri="{BB962C8B-B14F-4D97-AF65-F5344CB8AC3E}">
        <p14:creationId xmlns:p14="http://schemas.microsoft.com/office/powerpoint/2010/main" val="3253203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13 Upper hierarchies</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4183925918"/>
              </p:ext>
            </p:extLst>
          </p:nvPr>
        </p:nvGraphicFramePr>
        <p:xfrm>
          <a:off x="681038" y="1533525"/>
          <a:ext cx="10748959" cy="3616833"/>
        </p:xfrm>
        <a:graphic>
          <a:graphicData uri="http://schemas.openxmlformats.org/drawingml/2006/table">
            <a:tbl>
              <a:tblPr firstRow="1" bandRow="1">
                <a:tableStyleId>{5C22544A-7EE6-4342-B048-85BDC9FD1C3A}</a:tableStyleId>
              </a:tblPr>
              <a:tblGrid>
                <a:gridCol w="826843">
                  <a:extLst>
                    <a:ext uri="{9D8B030D-6E8A-4147-A177-3AD203B41FA5}">
                      <a16:colId xmlns:a16="http://schemas.microsoft.com/office/drawing/2014/main" val="2032440840"/>
                    </a:ext>
                  </a:extLst>
                </a:gridCol>
                <a:gridCol w="826843">
                  <a:extLst>
                    <a:ext uri="{9D8B030D-6E8A-4147-A177-3AD203B41FA5}">
                      <a16:colId xmlns:a16="http://schemas.microsoft.com/office/drawing/2014/main" val="1005775070"/>
                    </a:ext>
                  </a:extLst>
                </a:gridCol>
                <a:gridCol w="826843">
                  <a:extLst>
                    <a:ext uri="{9D8B030D-6E8A-4147-A177-3AD203B41FA5}">
                      <a16:colId xmlns:a16="http://schemas.microsoft.com/office/drawing/2014/main" val="3563117422"/>
                    </a:ext>
                  </a:extLst>
                </a:gridCol>
                <a:gridCol w="826843">
                  <a:extLst>
                    <a:ext uri="{9D8B030D-6E8A-4147-A177-3AD203B41FA5}">
                      <a16:colId xmlns:a16="http://schemas.microsoft.com/office/drawing/2014/main" val="2976412385"/>
                    </a:ext>
                  </a:extLst>
                </a:gridCol>
                <a:gridCol w="826843">
                  <a:extLst>
                    <a:ext uri="{9D8B030D-6E8A-4147-A177-3AD203B41FA5}">
                      <a16:colId xmlns:a16="http://schemas.microsoft.com/office/drawing/2014/main" val="1893196610"/>
                    </a:ext>
                  </a:extLst>
                </a:gridCol>
                <a:gridCol w="826843">
                  <a:extLst>
                    <a:ext uri="{9D8B030D-6E8A-4147-A177-3AD203B41FA5}">
                      <a16:colId xmlns:a16="http://schemas.microsoft.com/office/drawing/2014/main" val="3917197296"/>
                    </a:ext>
                  </a:extLst>
                </a:gridCol>
                <a:gridCol w="826843">
                  <a:extLst>
                    <a:ext uri="{9D8B030D-6E8A-4147-A177-3AD203B41FA5}">
                      <a16:colId xmlns:a16="http://schemas.microsoft.com/office/drawing/2014/main" val="1054916221"/>
                    </a:ext>
                  </a:extLst>
                </a:gridCol>
                <a:gridCol w="826843">
                  <a:extLst>
                    <a:ext uri="{9D8B030D-6E8A-4147-A177-3AD203B41FA5}">
                      <a16:colId xmlns:a16="http://schemas.microsoft.com/office/drawing/2014/main" val="2556557094"/>
                    </a:ext>
                  </a:extLst>
                </a:gridCol>
                <a:gridCol w="826843">
                  <a:extLst>
                    <a:ext uri="{9D8B030D-6E8A-4147-A177-3AD203B41FA5}">
                      <a16:colId xmlns:a16="http://schemas.microsoft.com/office/drawing/2014/main" val="170142150"/>
                    </a:ext>
                  </a:extLst>
                </a:gridCol>
                <a:gridCol w="826843">
                  <a:extLst>
                    <a:ext uri="{9D8B030D-6E8A-4147-A177-3AD203B41FA5}">
                      <a16:colId xmlns:a16="http://schemas.microsoft.com/office/drawing/2014/main" val="118962055"/>
                    </a:ext>
                  </a:extLst>
                </a:gridCol>
                <a:gridCol w="826843">
                  <a:extLst>
                    <a:ext uri="{9D8B030D-6E8A-4147-A177-3AD203B41FA5}">
                      <a16:colId xmlns:a16="http://schemas.microsoft.com/office/drawing/2014/main" val="2036963566"/>
                    </a:ext>
                  </a:extLst>
                </a:gridCol>
                <a:gridCol w="826843">
                  <a:extLst>
                    <a:ext uri="{9D8B030D-6E8A-4147-A177-3AD203B41FA5}">
                      <a16:colId xmlns:a16="http://schemas.microsoft.com/office/drawing/2014/main" val="3030166852"/>
                    </a:ext>
                  </a:extLst>
                </a:gridCol>
                <a:gridCol w="826843">
                  <a:extLst>
                    <a:ext uri="{9D8B030D-6E8A-4147-A177-3AD203B41FA5}">
                      <a16:colId xmlns:a16="http://schemas.microsoft.com/office/drawing/2014/main" val="3734560917"/>
                    </a:ext>
                  </a:extLst>
                </a:gridCol>
              </a:tblGrid>
              <a:tr h="370840">
                <a:tc>
                  <a:txBody>
                    <a:bodyPr/>
                    <a:lstStyle/>
                    <a:p>
                      <a:pPr algn="ctr">
                        <a:lnSpc>
                          <a:spcPct val="107000"/>
                        </a:lnSpc>
                        <a:spcAft>
                          <a:spcPts val="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Hierarchy 1</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 2</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 3</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 4</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 5</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 6</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 7</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 </a:t>
                      </a:r>
                    </a:p>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 9</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 </a:t>
                      </a:r>
                    </a:p>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nchor="ctr"/>
                </a:tc>
                <a:tc>
                  <a:txBody>
                    <a:bodyPr/>
                    <a:lstStyle/>
                    <a:p>
                      <a:pPr algn="ctr">
                        <a:lnSpc>
                          <a:spcPct val="107000"/>
                        </a:lnSpc>
                        <a:spcAft>
                          <a:spcPts val="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Hierarchy 11</a:t>
                      </a:r>
                    </a:p>
                  </a:txBody>
                  <a:tcPr marL="68580" marR="68580" marT="0" marB="0" anchor="ctr"/>
                </a:tc>
                <a:tc>
                  <a:txBody>
                    <a:bodyPr/>
                    <a:lstStyle/>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Hierarchy</a:t>
                      </a:r>
                    </a:p>
                    <a:p>
                      <a:pPr algn="ct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nchor="ctr"/>
                </a:tc>
                <a:tc>
                  <a:txBody>
                    <a:bodyPr/>
                    <a:lstStyle/>
                    <a:p>
                      <a:pPr algn="ctr">
                        <a:lnSpc>
                          <a:spcPct val="107000"/>
                        </a:lnSpc>
                        <a:spcAft>
                          <a:spcPts val="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Hierarchy 13</a:t>
                      </a:r>
                    </a:p>
                  </a:txBody>
                  <a:tcPr marL="68580" marR="68580" marT="0" marB="0" anchor="ctr"/>
                </a:tc>
                <a:extLst>
                  <a:ext uri="{0D108BD9-81ED-4DB2-BD59-A6C34878D82A}">
                    <a16:rowId xmlns:a16="http://schemas.microsoft.com/office/drawing/2014/main" val="1324588075"/>
                  </a:ext>
                </a:extLst>
              </a:tr>
              <a:tr h="370840">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Design</a:t>
                      </a:r>
                    </a:p>
                  </a:txBody>
                  <a:tcPr marL="68580" marR="68580" marT="0" marB="0"/>
                </a:tc>
                <a:extLst>
                  <a:ext uri="{0D108BD9-81ED-4DB2-BD59-A6C34878D82A}">
                    <a16:rowId xmlns:a16="http://schemas.microsoft.com/office/drawing/2014/main" val="2403878193"/>
                  </a:ext>
                </a:extLst>
              </a:tr>
              <a:tr h="370840">
                <a:tc>
                  <a:txBody>
                    <a:bodyPr/>
                    <a:lstStyle/>
                    <a:p>
                      <a:pPr>
                        <a:lnSpc>
                          <a:spcPct val="107000"/>
                        </a:lnSpc>
                        <a:spcAft>
                          <a:spcPts val="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Sampling details</a:t>
                      </a:r>
                    </a:p>
                  </a:txBody>
                  <a:tcPr marL="68580" marR="68580" marT="0" marB="0"/>
                </a:tc>
                <a:extLst>
                  <a:ext uri="{0D108BD9-81ED-4DB2-BD59-A6C34878D82A}">
                    <a16:rowId xmlns:a16="http://schemas.microsoft.com/office/drawing/2014/main" val="1672984988"/>
                  </a:ext>
                </a:extLst>
              </a:tr>
              <a:tr h="370840">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Vessel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Trip</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Temporal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On-shore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On-shore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On-shore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On-shore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Temporal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Landing location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Vessel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Location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Location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Operation</a:t>
                      </a:r>
                    </a:p>
                  </a:txBody>
                  <a:tcPr marL="68580" marR="68580" marT="0" marB="0"/>
                </a:tc>
                <a:extLst>
                  <a:ext uri="{0D108BD9-81ED-4DB2-BD59-A6C34878D82A}">
                    <a16:rowId xmlns:a16="http://schemas.microsoft.com/office/drawing/2014/main" val="2406841278"/>
                  </a:ext>
                </a:extLst>
              </a:tr>
              <a:tr h="370840">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Trip</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Operation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Vessel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Trip</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Landing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Trip</a:t>
                      </a:r>
                    </a:p>
                  </a:txBody>
                  <a:tcPr marL="68580" marR="68580" marT="0" marB="0"/>
                </a:tc>
                <a:tc>
                  <a:txBody>
                    <a:bodyPr/>
                    <a:lstStyle/>
                    <a:p>
                      <a:pPr>
                        <a:lnSpc>
                          <a:spcPct val="107000"/>
                        </a:lnSpc>
                        <a:spcAft>
                          <a:spcPts val="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Landing Event  (b)</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Vessel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Temporal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Temporal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Temporal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Temporal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extLst>
                  <a:ext uri="{0D108BD9-81ED-4DB2-BD59-A6C34878D82A}">
                    <a16:rowId xmlns:a16="http://schemas.microsoft.com/office/drawing/2014/main" val="4228688667"/>
                  </a:ext>
                </a:extLst>
              </a:tr>
              <a:tr h="370840">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Operation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Trip</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Landing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Operation (a)</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 </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Landing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Trip</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Trip</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Landing Event</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extLst>
                  <a:ext uri="{0D108BD9-81ED-4DB2-BD59-A6C34878D82A}">
                    <a16:rowId xmlns:a16="http://schemas.microsoft.com/office/drawing/2014/main" val="178388031"/>
                  </a:ext>
                </a:extLst>
              </a:tr>
              <a:tr h="370840">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Operation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Landing Event (b)</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Fishing Operation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Landing Event </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extLst>
                  <a:ext uri="{0D108BD9-81ED-4DB2-BD59-A6C34878D82A}">
                    <a16:rowId xmlns:a16="http://schemas.microsoft.com/office/drawing/2014/main" val="3166671238"/>
                  </a:ext>
                </a:extLst>
              </a:tr>
              <a:tr h="370840">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endParaRPr lang="en-GB" sz="1200" b="1">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endParaRPr lang="en-GB" sz="1200" b="1">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Species Selection </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pPr>
                        <a:lnSpc>
                          <a:spcPct val="107000"/>
                        </a:lnSpc>
                        <a:spcAft>
                          <a:spcPts val="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extLst>
                  <a:ext uri="{0D108BD9-81ED-4DB2-BD59-A6C34878D82A}">
                    <a16:rowId xmlns:a16="http://schemas.microsoft.com/office/drawing/2014/main" val="2398986040"/>
                  </a:ext>
                </a:extLst>
              </a:tr>
              <a:tr h="370840">
                <a:tc>
                  <a:txBody>
                    <a:bodyPr/>
                    <a:lstStyle/>
                    <a:p>
                      <a:endParaRPr lang="en-GB" sz="1200" b="1">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endParaRPr lang="en-GB" sz="1200" b="1">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tc>
                  <a:txBody>
                    <a:bodyPr/>
                    <a:lstStyle/>
                    <a:p>
                      <a:endParaRPr lang="en-GB" sz="1200" b="1">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tc>
                  <a:txBody>
                    <a:bodyPr/>
                    <a:lstStyle/>
                    <a:p>
                      <a:pPr>
                        <a:lnSpc>
                          <a:spcPct val="107000"/>
                        </a:lnSpc>
                        <a:spcAft>
                          <a:spcPts val="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Sample</a:t>
                      </a:r>
                    </a:p>
                  </a:txBody>
                  <a:tcPr marL="68580" marR="68580" marT="0" marB="0"/>
                </a:tc>
                <a:tc>
                  <a:txBody>
                    <a:bodyPr/>
                    <a:lstStyle/>
                    <a:p>
                      <a:pPr>
                        <a:lnSpc>
                          <a:spcPct val="107000"/>
                        </a:lnSpc>
                        <a:spcAft>
                          <a:spcPts val="0"/>
                        </a:spcAft>
                      </a:pPr>
                      <a:r>
                        <a:rPr lang="en-GB" sz="1200" b="1">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tc>
                  <a:txBody>
                    <a:bodyPr/>
                    <a:lstStyle/>
                    <a:p>
                      <a:pPr>
                        <a:lnSpc>
                          <a:spcPct val="107000"/>
                        </a:lnSpc>
                        <a:spcAft>
                          <a:spcPts val="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tc>
                <a:extLst>
                  <a:ext uri="{0D108BD9-81ED-4DB2-BD59-A6C34878D82A}">
                    <a16:rowId xmlns:a16="http://schemas.microsoft.com/office/drawing/2014/main" val="3704796262"/>
                  </a:ext>
                </a:extLst>
              </a:tr>
            </a:tbl>
          </a:graphicData>
        </a:graphic>
      </p:graphicFrame>
      <p:sp>
        <p:nvSpPr>
          <p:cNvPr id="7" name="Rectangle 6"/>
          <p:cNvSpPr/>
          <p:nvPr/>
        </p:nvSpPr>
        <p:spPr>
          <a:xfrm>
            <a:off x="681037" y="5751609"/>
            <a:ext cx="10307666" cy="645754"/>
          </a:xfrm>
          <a:prstGeom prst="rect">
            <a:avLst/>
          </a:prstGeom>
        </p:spPr>
        <p:txBody>
          <a:bodyPr wrap="square">
            <a:spAutoFit/>
          </a:bodyPr>
          <a:lstStyle/>
          <a:p>
            <a:pPr>
              <a:lnSpc>
                <a:spcPct val="107000"/>
              </a:lnSpc>
              <a:spcAft>
                <a:spcPts val="800"/>
              </a:spcAft>
            </a:pPr>
            <a:r>
              <a:rPr lang="en-GB" sz="1400" dirty="0">
                <a:latin typeface="Calibri" panose="020F0502020204030204" pitchFamily="34" charset="0"/>
                <a:ea typeface="Calibri" panose="020F0502020204030204" pitchFamily="34" charset="0"/>
                <a:cs typeface="Times New Roman" panose="02020603050405020304" pitchFamily="18" charset="0"/>
              </a:rPr>
              <a:t>(a) only </a:t>
            </a:r>
            <a:r>
              <a:rPr lang="en-GB" sz="1400" dirty="0" err="1">
                <a:latin typeface="Calibri" panose="020F0502020204030204" pitchFamily="34" charset="0"/>
                <a:ea typeface="Calibri" panose="020F0502020204030204" pitchFamily="34" charset="0"/>
                <a:cs typeface="Times New Roman" panose="02020603050405020304" pitchFamily="18" charset="0"/>
              </a:rPr>
              <a:t>FOaggregationLevel</a:t>
            </a:r>
            <a:r>
              <a:rPr lang="en-GB" sz="1400" dirty="0">
                <a:latin typeface="Calibri" panose="020F0502020204030204" pitchFamily="34" charset="0"/>
                <a:ea typeface="Calibri" panose="020F0502020204030204" pitchFamily="34" charset="0"/>
                <a:cs typeface="Times New Roman" panose="02020603050405020304" pitchFamily="18" charset="0"/>
              </a:rPr>
              <a:t> ==T</a:t>
            </a:r>
          </a:p>
          <a:p>
            <a:pPr>
              <a:lnSpc>
                <a:spcPct val="107000"/>
              </a:lnSpc>
              <a:spcAft>
                <a:spcPts val="800"/>
              </a:spcAft>
            </a:pPr>
            <a:r>
              <a:rPr lang="en-GB" sz="1400" dirty="0">
                <a:latin typeface="Calibri" panose="020F0502020204030204" pitchFamily="34" charset="0"/>
                <a:ea typeface="Calibri" panose="020F0502020204030204" pitchFamily="34" charset="0"/>
                <a:cs typeface="Times New Roman" panose="02020603050405020304" pitchFamily="18" charset="0"/>
              </a:rPr>
              <a:t>(b) LE is not a part of the estimation hierarchy, </a:t>
            </a:r>
            <a:r>
              <a:rPr lang="en-US" sz="1400" dirty="0">
                <a:latin typeface="Calibri" panose="020F0502020204030204" pitchFamily="34" charset="0"/>
                <a:ea typeface="Calibri" panose="020F0502020204030204" pitchFamily="34" charset="0"/>
                <a:cs typeface="Times New Roman" panose="02020603050405020304" pitchFamily="18" charset="0"/>
              </a:rPr>
              <a:t>, please see annex for the specific hierarchy 7and 9</a:t>
            </a:r>
            <a:endParaRPr lang="en-GB"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57508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A68CE-2214-4FDB-8A16-06EEC55B7A37}"/>
              </a:ext>
            </a:extLst>
          </p:cNvPr>
          <p:cNvSpPr>
            <a:spLocks noGrp="1"/>
          </p:cNvSpPr>
          <p:nvPr>
            <p:ph type="title"/>
          </p:nvPr>
        </p:nvSpPr>
        <p:spPr/>
        <p:txBody>
          <a:bodyPr/>
          <a:lstStyle/>
          <a:p>
            <a:r>
              <a:rPr lang="en-GB" dirty="0"/>
              <a:t>Lower hierarchies</a:t>
            </a:r>
          </a:p>
        </p:txBody>
      </p:sp>
      <p:sp>
        <p:nvSpPr>
          <p:cNvPr id="3" name="Content Placeholder 2">
            <a:extLst>
              <a:ext uri="{FF2B5EF4-FFF2-40B4-BE49-F238E27FC236}">
                <a16:creationId xmlns:a16="http://schemas.microsoft.com/office/drawing/2014/main" id="{4244B105-E9D7-4F70-A092-9DA18EDD07B8}"/>
              </a:ext>
            </a:extLst>
          </p:cNvPr>
          <p:cNvSpPr>
            <a:spLocks noGrp="1"/>
          </p:cNvSpPr>
          <p:nvPr>
            <p:ph sz="quarter" idx="10"/>
          </p:nvPr>
        </p:nvSpPr>
        <p:spPr/>
        <p:txBody>
          <a:bodyPr/>
          <a:lstStyle/>
          <a:p>
            <a:pPr marL="0" indent="0">
              <a:buNone/>
            </a:pPr>
            <a:r>
              <a:rPr lang="en-GB" sz="2400" i="1" dirty="0"/>
              <a:t>Lower hierarchy tables:</a:t>
            </a:r>
            <a:endParaRPr lang="en-GB" sz="2400" dirty="0"/>
          </a:p>
          <a:p>
            <a:pPr lvl="0"/>
            <a:r>
              <a:rPr lang="en-GB" sz="2400" dirty="0"/>
              <a:t>Frequency Measure (FM) </a:t>
            </a:r>
          </a:p>
          <a:p>
            <a:pPr lvl="0"/>
            <a:r>
              <a:rPr lang="en-GB" sz="2400" dirty="0"/>
              <a:t>Biological Variable (BV)</a:t>
            </a:r>
          </a:p>
          <a:p>
            <a:pPr lvl="0"/>
            <a:endParaRPr lang="en-GB" sz="2400" dirty="0"/>
          </a:p>
          <a:p>
            <a:pPr lvl="0"/>
            <a:endParaRPr lang="en-GB" sz="2400" dirty="0"/>
          </a:p>
          <a:p>
            <a:pPr lvl="0"/>
            <a:endParaRPr lang="en-GB" sz="2400" dirty="0"/>
          </a:p>
          <a:p>
            <a:endParaRPr lang="en-GB" dirty="0"/>
          </a:p>
          <a:p>
            <a:endParaRPr lang="en-GB" dirty="0"/>
          </a:p>
          <a:p>
            <a:endParaRPr lang="en-GB" dirty="0"/>
          </a:p>
        </p:txBody>
      </p:sp>
      <p:pic>
        <p:nvPicPr>
          <p:cNvPr id="4" name="Picture 3" descr="\\storage-lk.slu.se\home$\nupr0001\My Documents\006 - ICES WGs\20180403_ICES_WKRDB_SPEC\20180615_v1.15\Hierarchy_A.png">
            <a:extLst>
              <a:ext uri="{FF2B5EF4-FFF2-40B4-BE49-F238E27FC236}">
                <a16:creationId xmlns:a16="http://schemas.microsoft.com/office/drawing/2014/main" id="{4248FCF7-4E33-49E3-84D1-0B4A84B8F4C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4500" y="1257300"/>
            <a:ext cx="5495925" cy="2638425"/>
          </a:xfrm>
          <a:prstGeom prst="rect">
            <a:avLst/>
          </a:prstGeom>
          <a:noFill/>
          <a:ln>
            <a:noFill/>
          </a:ln>
        </p:spPr>
      </p:pic>
      <p:graphicFrame>
        <p:nvGraphicFramePr>
          <p:cNvPr id="5" name="Table 4">
            <a:extLst>
              <a:ext uri="{FF2B5EF4-FFF2-40B4-BE49-F238E27FC236}">
                <a16:creationId xmlns:a16="http://schemas.microsoft.com/office/drawing/2014/main" id="{52167ED6-610F-40C9-B319-B56B89DEF0E2}"/>
              </a:ext>
            </a:extLst>
          </p:cNvPr>
          <p:cNvGraphicFramePr>
            <a:graphicFrameLocks noGrp="1"/>
          </p:cNvGraphicFramePr>
          <p:nvPr>
            <p:extLst>
              <p:ext uri="{D42A27DB-BD31-4B8C-83A1-F6EECF244321}">
                <p14:modId xmlns:p14="http://schemas.microsoft.com/office/powerpoint/2010/main" val="2465976204"/>
              </p:ext>
            </p:extLst>
          </p:nvPr>
        </p:nvGraphicFramePr>
        <p:xfrm>
          <a:off x="762000" y="4402137"/>
          <a:ext cx="10944223" cy="1474467"/>
        </p:xfrm>
        <a:graphic>
          <a:graphicData uri="http://schemas.openxmlformats.org/drawingml/2006/table">
            <a:tbl>
              <a:tblPr firstRow="1" firstCol="1" bandRow="1">
                <a:tableStyleId>{5C22544A-7EE6-4342-B048-85BDC9FD1C3A}</a:tableStyleId>
              </a:tblPr>
              <a:tblGrid>
                <a:gridCol w="1998509">
                  <a:extLst>
                    <a:ext uri="{9D8B030D-6E8A-4147-A177-3AD203B41FA5}">
                      <a16:colId xmlns:a16="http://schemas.microsoft.com/office/drawing/2014/main" val="3321148386"/>
                    </a:ext>
                  </a:extLst>
                </a:gridCol>
                <a:gridCol w="2284012">
                  <a:extLst>
                    <a:ext uri="{9D8B030D-6E8A-4147-A177-3AD203B41FA5}">
                      <a16:colId xmlns:a16="http://schemas.microsoft.com/office/drawing/2014/main" val="4134145603"/>
                    </a:ext>
                  </a:extLst>
                </a:gridCol>
                <a:gridCol w="2284012">
                  <a:extLst>
                    <a:ext uri="{9D8B030D-6E8A-4147-A177-3AD203B41FA5}">
                      <a16:colId xmlns:a16="http://schemas.microsoft.com/office/drawing/2014/main" val="3836932003"/>
                    </a:ext>
                  </a:extLst>
                </a:gridCol>
                <a:gridCol w="2255462">
                  <a:extLst>
                    <a:ext uri="{9D8B030D-6E8A-4147-A177-3AD203B41FA5}">
                      <a16:colId xmlns:a16="http://schemas.microsoft.com/office/drawing/2014/main" val="1125679711"/>
                    </a:ext>
                  </a:extLst>
                </a:gridCol>
                <a:gridCol w="2122228">
                  <a:extLst>
                    <a:ext uri="{9D8B030D-6E8A-4147-A177-3AD203B41FA5}">
                      <a16:colId xmlns:a16="http://schemas.microsoft.com/office/drawing/2014/main" val="873895136"/>
                    </a:ext>
                  </a:extLst>
                </a:gridCol>
              </a:tblGrid>
              <a:tr h="615555">
                <a:tc>
                  <a:txBody>
                    <a:bodyPr/>
                    <a:lstStyle/>
                    <a:p>
                      <a:endParaRPr lang="en-GB" sz="1800" dirty="0">
                        <a:effectLst/>
                        <a:latin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800" dirty="0">
                          <a:effectLst/>
                        </a:rPr>
                        <a:t>Lower Hierarchy A</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800" dirty="0">
                          <a:effectLst/>
                        </a:rPr>
                        <a:t>Lower Hierarchy B</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800">
                          <a:effectLst/>
                        </a:rPr>
                        <a:t>Lower Hierarchy C</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800">
                          <a:effectLst/>
                        </a:rPr>
                        <a:t>Lower Hierarchy D</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9073494"/>
                  </a:ext>
                </a:extLst>
              </a:tr>
              <a:tr h="429456">
                <a:tc rowSpan="2">
                  <a:txBody>
                    <a:bodyPr/>
                    <a:lstStyle/>
                    <a:p>
                      <a:pPr>
                        <a:lnSpc>
                          <a:spcPct val="107000"/>
                        </a:lnSpc>
                        <a:spcAft>
                          <a:spcPts val="0"/>
                        </a:spcAft>
                      </a:pPr>
                      <a:r>
                        <a:rPr lang="en-GB" sz="1800">
                          <a:effectLst/>
                        </a:rPr>
                        <a:t>Tables in the lower hierarchy</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800" dirty="0">
                          <a:effectLst/>
                        </a:rPr>
                        <a:t>Frequency Measure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800" dirty="0">
                          <a:effectLst/>
                        </a:rPr>
                        <a:t>Frequency Measure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800" dirty="0">
                          <a:effectLst/>
                        </a:rPr>
                        <a:t>Biological Variable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800" dirty="0">
                          <a:effectLst/>
                        </a:rPr>
                        <a: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41860542"/>
                  </a:ext>
                </a:extLst>
              </a:tr>
              <a:tr h="429456">
                <a:tc vMerge="1">
                  <a:txBody>
                    <a:bodyPr/>
                    <a:lstStyle/>
                    <a:p>
                      <a:endParaRPr lang="en-GB"/>
                    </a:p>
                  </a:txBody>
                  <a:tcPr/>
                </a:tc>
                <a:tc>
                  <a:txBody>
                    <a:bodyPr/>
                    <a:lstStyle/>
                    <a:p>
                      <a:pPr algn="ctr">
                        <a:lnSpc>
                          <a:spcPct val="107000"/>
                        </a:lnSpc>
                        <a:spcAft>
                          <a:spcPts val="0"/>
                        </a:spcAft>
                      </a:pPr>
                      <a:r>
                        <a:rPr lang="en-GB" sz="1800">
                          <a:effectLst/>
                        </a:rPr>
                        <a:t>Biological Variable</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800" dirty="0">
                          <a:effectLst/>
                        </a:rPr>
                        <a: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800">
                          <a:effectLst/>
                        </a:rPr>
                        <a:t> </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800" dirty="0">
                          <a:effectLst/>
                        </a:rPr>
                        <a: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03743739"/>
                  </a:ext>
                </a:extLst>
              </a:tr>
            </a:tbl>
          </a:graphicData>
        </a:graphic>
      </p:graphicFrame>
    </p:spTree>
    <p:extLst>
      <p:ext uri="{BB962C8B-B14F-4D97-AF65-F5344CB8AC3E}">
        <p14:creationId xmlns:p14="http://schemas.microsoft.com/office/powerpoint/2010/main" val="3712612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1236108" y="1736007"/>
            <a:ext cx="6604699" cy="3750066"/>
          </a:xfrm>
          <a:prstGeom prst="rect">
            <a:avLst/>
          </a:prstGeom>
        </p:spPr>
      </p:pic>
      <p:sp>
        <p:nvSpPr>
          <p:cNvPr id="2" name="Title 1"/>
          <p:cNvSpPr>
            <a:spLocks noGrp="1"/>
          </p:cNvSpPr>
          <p:nvPr>
            <p:ph type="title"/>
          </p:nvPr>
        </p:nvSpPr>
        <p:spPr/>
        <p:txBody>
          <a:bodyPr>
            <a:normAutofit fontScale="90000"/>
          </a:bodyPr>
          <a:lstStyle/>
          <a:p>
            <a:r>
              <a:rPr lang="en-GB" dirty="0"/>
              <a:t>RDBES table relations for 1 of the 13 sampling structures/hierarchies</a:t>
            </a:r>
          </a:p>
        </p:txBody>
      </p:sp>
      <p:sp>
        <p:nvSpPr>
          <p:cNvPr id="3" name="TextBox 2">
            <a:extLst>
              <a:ext uri="{FF2B5EF4-FFF2-40B4-BE49-F238E27FC236}">
                <a16:creationId xmlns:a16="http://schemas.microsoft.com/office/drawing/2014/main" id="{193D4B67-C7EE-49E5-A66D-2044100EF88F}"/>
              </a:ext>
            </a:extLst>
          </p:cNvPr>
          <p:cNvSpPr txBox="1"/>
          <p:nvPr/>
        </p:nvSpPr>
        <p:spPr>
          <a:xfrm>
            <a:off x="4064000" y="1490662"/>
            <a:ext cx="7637483" cy="842838"/>
          </a:xfrm>
          <a:prstGeom prst="rect">
            <a:avLst/>
          </a:prstGeom>
        </p:spPr>
        <p:txBody>
          <a:bodyPr vert="horz" wrap="square" lIns="91440" tIns="45720" rIns="91440" bIns="45720" rtlCol="0" anchor="t">
            <a:noAutofit/>
          </a:bodyPr>
          <a:lstStyle/>
          <a:p>
            <a:r>
              <a:rPr lang="en-GB" sz="3200" dirty="0">
                <a:latin typeface="+mn-lt"/>
              </a:rPr>
              <a:t>Hierarchy 2 as example</a:t>
            </a:r>
          </a:p>
        </p:txBody>
      </p:sp>
      <p:pic>
        <p:nvPicPr>
          <p:cNvPr id="7" name="Picture 6" descr="\\storage-lk.slu.se\home$\nupr0001\My Documents\006 - ICES WGs\20180403_ICES_WKRDB_SPEC\20180615_v1.15\Hierarchy_A.png">
            <a:extLst>
              <a:ext uri="{FF2B5EF4-FFF2-40B4-BE49-F238E27FC236}">
                <a16:creationId xmlns:a16="http://schemas.microsoft.com/office/drawing/2014/main" id="{96B20C79-DA2A-4B1A-A4E5-43EC7307C4B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5950" y="4400223"/>
            <a:ext cx="4772025" cy="2171700"/>
          </a:xfrm>
          <a:prstGeom prst="rect">
            <a:avLst/>
          </a:prstGeom>
          <a:noFill/>
          <a:ln>
            <a:noFill/>
          </a:ln>
        </p:spPr>
      </p:pic>
    </p:spTree>
    <p:extLst>
      <p:ext uri="{BB962C8B-B14F-4D97-AF65-F5344CB8AC3E}">
        <p14:creationId xmlns:p14="http://schemas.microsoft.com/office/powerpoint/2010/main" val="4071971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A2C3-9676-4314-9849-8C4EFD11DCA1}"/>
              </a:ext>
            </a:extLst>
          </p:cNvPr>
          <p:cNvSpPr>
            <a:spLocks noGrp="1"/>
          </p:cNvSpPr>
          <p:nvPr>
            <p:ph type="title"/>
          </p:nvPr>
        </p:nvSpPr>
        <p:spPr>
          <a:xfrm>
            <a:off x="647700" y="427038"/>
            <a:ext cx="9351323" cy="712994"/>
          </a:xfrm>
        </p:spPr>
        <p:txBody>
          <a:bodyPr>
            <a:normAutofit/>
          </a:bodyPr>
          <a:lstStyle/>
          <a:p>
            <a:r>
              <a:rPr lang="en-GB" dirty="0"/>
              <a:t>RDBES workshops in 2024</a:t>
            </a:r>
            <a:endParaRPr lang="en-GB" b="0" dirty="0"/>
          </a:p>
        </p:txBody>
      </p:sp>
      <p:sp>
        <p:nvSpPr>
          <p:cNvPr id="3" name="Content Placeholder 2">
            <a:extLst>
              <a:ext uri="{FF2B5EF4-FFF2-40B4-BE49-F238E27FC236}">
                <a16:creationId xmlns:a16="http://schemas.microsoft.com/office/drawing/2014/main" id="{D2210FB1-865F-4CDD-BBE2-2285B6674417}"/>
              </a:ext>
            </a:extLst>
          </p:cNvPr>
          <p:cNvSpPr>
            <a:spLocks noGrp="1"/>
          </p:cNvSpPr>
          <p:nvPr>
            <p:ph sz="quarter" idx="10"/>
          </p:nvPr>
        </p:nvSpPr>
        <p:spPr>
          <a:xfrm>
            <a:off x="647700" y="1140032"/>
            <a:ext cx="10782300" cy="5433046"/>
          </a:xfrm>
        </p:spPr>
        <p:txBody>
          <a:bodyPr>
            <a:normAutofit fontScale="70000" lnSpcReduction="20000"/>
          </a:bodyPr>
          <a:lstStyle/>
          <a:p>
            <a:r>
              <a:rPr lang="en-GB" sz="2400" b="1" dirty="0"/>
              <a:t>Stock coordinators </a:t>
            </a:r>
            <a:r>
              <a:rPr lang="en-GB" sz="2400" dirty="0"/>
              <a:t>can attend the </a:t>
            </a:r>
            <a:r>
              <a:rPr lang="en-US" sz="2400" b="1" dirty="0" err="1"/>
              <a:t>WKRDBES_RaiseStock</a:t>
            </a:r>
            <a:r>
              <a:rPr lang="en-US" sz="2400" b="1" dirty="0"/>
              <a:t> online 10-11 June and 18-19 Nov.</a:t>
            </a:r>
            <a:r>
              <a:rPr lang="en-GB" sz="2400" dirty="0"/>
              <a:t>, where estimations will be done for the </a:t>
            </a:r>
            <a:r>
              <a:rPr lang="en-IE" sz="2400" dirty="0"/>
              <a:t>Northeast Atlantic mackerel (mac.27.nea) using R scripts that start from national RDBES data</a:t>
            </a:r>
            <a:r>
              <a:rPr lang="en-GB" sz="2400" dirty="0"/>
              <a:t>. </a:t>
            </a:r>
          </a:p>
          <a:p>
            <a:pPr lvl="1"/>
            <a:r>
              <a:rPr lang="en-GB" i="1" dirty="0"/>
              <a:t>Chaired by David Currie, Ireland, and Siobhan Moran, Ireland</a:t>
            </a:r>
          </a:p>
          <a:p>
            <a:r>
              <a:rPr lang="en-GB" sz="2400" b="1" dirty="0"/>
              <a:t>National estimators </a:t>
            </a:r>
            <a:r>
              <a:rPr lang="en-GB" sz="2400" dirty="0"/>
              <a:t>can attend the </a:t>
            </a:r>
            <a:r>
              <a:rPr lang="en-GB" sz="2400" b="1" dirty="0" err="1"/>
              <a:t>WKNatEst</a:t>
            </a:r>
            <a:r>
              <a:rPr lang="en-GB" sz="2400" b="1" dirty="0"/>
              <a:t> online 24–28 June</a:t>
            </a:r>
            <a:r>
              <a:rPr lang="en-GB" sz="2400" dirty="0"/>
              <a:t>, where </a:t>
            </a:r>
            <a:r>
              <a:rPr lang="en-US" sz="2400" dirty="0"/>
              <a:t>R scripts will be develop and share for national estimates of landings, discards and biological data, using the RDBES format. </a:t>
            </a:r>
            <a:endParaRPr lang="en-GB" sz="2400" dirty="0"/>
          </a:p>
          <a:p>
            <a:pPr lvl="1"/>
            <a:r>
              <a:rPr lang="en-GB" i="1" dirty="0"/>
              <a:t>Chaired by </a:t>
            </a:r>
            <a:r>
              <a:rPr lang="en-GB" dirty="0"/>
              <a:t>Jessica Craig (UK-Scotland) and Ana Ribeiro Santos (UK-England)</a:t>
            </a:r>
            <a:endParaRPr lang="en-GB" b="1" dirty="0"/>
          </a:p>
          <a:p>
            <a:r>
              <a:rPr lang="en-GB" sz="2400" b="1" dirty="0"/>
              <a:t>Data submitters and national estimator </a:t>
            </a:r>
            <a:r>
              <a:rPr lang="en-GB" sz="2400" dirty="0"/>
              <a:t>can attend </a:t>
            </a:r>
            <a:r>
              <a:rPr lang="en-GB" sz="2400" b="1" dirty="0"/>
              <a:t>WKRDBES-INTRO</a:t>
            </a:r>
            <a:r>
              <a:rPr lang="en-GB" sz="2400" dirty="0"/>
              <a:t> online 24</a:t>
            </a:r>
            <a:r>
              <a:rPr lang="en-GB" sz="2400" baseline="30000" dirty="0"/>
              <a:t>th</a:t>
            </a:r>
            <a:r>
              <a:rPr lang="en-GB" sz="2400" dirty="0"/>
              <a:t> – 26</a:t>
            </a:r>
            <a:r>
              <a:rPr lang="en-GB" sz="2400" baseline="30000" dirty="0"/>
              <a:t>th</a:t>
            </a:r>
            <a:r>
              <a:rPr lang="en-GB" sz="2400" dirty="0"/>
              <a:t> Sep., where they will be introduced to the RDBES data model/format. </a:t>
            </a:r>
          </a:p>
          <a:p>
            <a:pPr lvl="1"/>
            <a:r>
              <a:rPr lang="en-GB" i="1" dirty="0"/>
              <a:t>Chaired by Henrik Kjems-Nielsen, ICES</a:t>
            </a:r>
          </a:p>
          <a:p>
            <a:r>
              <a:rPr lang="en-GB" sz="2400" b="1" dirty="0"/>
              <a:t>Stock coordinators </a:t>
            </a:r>
            <a:r>
              <a:rPr lang="en-GB" sz="2400" dirty="0"/>
              <a:t>can attend the </a:t>
            </a:r>
            <a:r>
              <a:rPr lang="en-GB" sz="2400" b="1" dirty="0" err="1"/>
              <a:t>WGRDBESStockCoord</a:t>
            </a:r>
            <a:r>
              <a:rPr lang="en-GB" sz="2400" dirty="0"/>
              <a:t> online 21</a:t>
            </a:r>
            <a:r>
              <a:rPr lang="en-GB" sz="2400" baseline="30000" dirty="0"/>
              <a:t>st</a:t>
            </a:r>
            <a:r>
              <a:rPr lang="en-GB" sz="2400" dirty="0"/>
              <a:t> – 25</a:t>
            </a:r>
            <a:r>
              <a:rPr lang="en-GB" sz="2400" baseline="30000" dirty="0"/>
              <a:t>th</a:t>
            </a:r>
            <a:r>
              <a:rPr lang="en-GB" sz="2400" dirty="0"/>
              <a:t> October to finalise the Regional Catch Estimation Format, RCEF, and </a:t>
            </a:r>
            <a:r>
              <a:rPr lang="en-US" sz="2400" dirty="0"/>
              <a:t>develop stock estimation R-functions in </a:t>
            </a:r>
            <a:r>
              <a:rPr lang="en-US" sz="2400" dirty="0" err="1"/>
              <a:t>RDBESstockCoord</a:t>
            </a:r>
            <a:r>
              <a:rPr lang="en-US" sz="2400" dirty="0"/>
              <a:t> package</a:t>
            </a:r>
            <a:r>
              <a:rPr lang="en-GB" sz="2400" dirty="0"/>
              <a:t>. </a:t>
            </a:r>
          </a:p>
          <a:p>
            <a:pPr lvl="1"/>
            <a:r>
              <a:rPr lang="en-GB" i="1" dirty="0"/>
              <a:t>Chaired by Sofie Nimmegeers, Belgium and Kirsten Birch Håkansson, Denmark</a:t>
            </a:r>
          </a:p>
          <a:p>
            <a:r>
              <a:rPr lang="en-GB" sz="2400" b="1" dirty="0"/>
              <a:t>If stock coordinators/persons have interest and are skilled in writing R scripts</a:t>
            </a:r>
            <a:r>
              <a:rPr lang="en-GB" sz="2400" dirty="0"/>
              <a:t>, then they can attend the </a:t>
            </a:r>
            <a:r>
              <a:rPr lang="en-GB" sz="2400" b="1" dirty="0"/>
              <a:t>WGRDBES-EST</a:t>
            </a:r>
            <a:r>
              <a:rPr lang="en-GB" sz="2400" dirty="0"/>
              <a:t> 14</a:t>
            </a:r>
            <a:r>
              <a:rPr lang="en-GB" sz="2400" baseline="30000" dirty="0"/>
              <a:t>th</a:t>
            </a:r>
            <a:r>
              <a:rPr lang="en-GB" sz="2400" dirty="0"/>
              <a:t> – 18</a:t>
            </a:r>
            <a:r>
              <a:rPr lang="en-GB" sz="2400" baseline="30000" dirty="0"/>
              <a:t>th</a:t>
            </a:r>
            <a:r>
              <a:rPr lang="en-GB" sz="2400" dirty="0"/>
              <a:t> October in Lisbon to work on developing statistical and ratio estimations in R scripts from the RDBES data. </a:t>
            </a:r>
          </a:p>
          <a:p>
            <a:pPr lvl="1"/>
            <a:r>
              <a:rPr lang="en-GB" i="1" dirty="0"/>
              <a:t>Chaired by </a:t>
            </a:r>
            <a:r>
              <a:rPr lang="en-US" i="1" dirty="0"/>
              <a:t>Ana </a:t>
            </a:r>
            <a:r>
              <a:rPr lang="en-US" i="1" dirty="0" err="1"/>
              <a:t>Claúdia</a:t>
            </a:r>
            <a:r>
              <a:rPr lang="en-US" i="1" dirty="0"/>
              <a:t> Fernandes, Portugal, and Richard Meitern, Estonia</a:t>
            </a:r>
            <a:endParaRPr lang="en-GB" i="1" dirty="0"/>
          </a:p>
          <a:p>
            <a:pPr marL="0" indent="0">
              <a:buNone/>
            </a:pPr>
            <a:r>
              <a:rPr lang="en-GB" sz="2400" dirty="0"/>
              <a:t>At </a:t>
            </a:r>
            <a:r>
              <a:rPr lang="en-US" sz="2400" dirty="0"/>
              <a:t>data compilation/benchmark WKs stock coordinators and stock assessors should also write raising/estimation procedures in R scripts in TAF</a:t>
            </a:r>
            <a:endParaRPr lang="en-GB" sz="2400" dirty="0"/>
          </a:p>
          <a:p>
            <a:endParaRPr lang="en-GB" sz="1400" dirty="0"/>
          </a:p>
          <a:p>
            <a:endParaRPr lang="en-GB" dirty="0"/>
          </a:p>
          <a:p>
            <a:endParaRPr lang="en-GB" dirty="0"/>
          </a:p>
        </p:txBody>
      </p:sp>
    </p:spTree>
    <p:extLst>
      <p:ext uri="{BB962C8B-B14F-4D97-AF65-F5344CB8AC3E}">
        <p14:creationId xmlns:p14="http://schemas.microsoft.com/office/powerpoint/2010/main" val="3282815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C070F-2EB8-4499-83CD-01CECD581D8C}"/>
              </a:ext>
            </a:extLst>
          </p:cNvPr>
          <p:cNvSpPr>
            <a:spLocks noGrp="1"/>
          </p:cNvSpPr>
          <p:nvPr>
            <p:ph type="title"/>
          </p:nvPr>
        </p:nvSpPr>
        <p:spPr/>
        <p:txBody>
          <a:bodyPr/>
          <a:lstStyle/>
          <a:p>
            <a:r>
              <a:rPr lang="en-GB" dirty="0"/>
              <a:t>Functionalities needed (WGRDBESGOV)</a:t>
            </a:r>
          </a:p>
        </p:txBody>
      </p:sp>
      <p:sp>
        <p:nvSpPr>
          <p:cNvPr id="5" name="Content Placeholder 4">
            <a:extLst>
              <a:ext uri="{FF2B5EF4-FFF2-40B4-BE49-F238E27FC236}">
                <a16:creationId xmlns:a16="http://schemas.microsoft.com/office/drawing/2014/main" id="{0A10D591-3C98-46A4-9F49-B7EE756FB968}"/>
              </a:ext>
            </a:extLst>
          </p:cNvPr>
          <p:cNvSpPr>
            <a:spLocks noGrp="1"/>
          </p:cNvSpPr>
          <p:nvPr>
            <p:ph sz="quarter" idx="10"/>
          </p:nvPr>
        </p:nvSpPr>
        <p:spPr>
          <a:xfrm>
            <a:off x="647700" y="1490662"/>
            <a:ext cx="10749280" cy="4622801"/>
          </a:xfrm>
        </p:spPr>
        <p:txBody>
          <a:bodyPr>
            <a:noAutofit/>
          </a:bodyPr>
          <a:lstStyle/>
          <a:p>
            <a:pPr marL="0" indent="0">
              <a:buNone/>
            </a:pPr>
            <a:r>
              <a:rPr lang="en-GB" sz="2400" b="1" dirty="0"/>
              <a:t>Short term developments</a:t>
            </a:r>
          </a:p>
          <a:p>
            <a:r>
              <a:rPr lang="en-GB" sz="2400" b="1" dirty="0"/>
              <a:t>Upload log; which explains the completeness of the countries’ data upload</a:t>
            </a:r>
          </a:p>
          <a:p>
            <a:r>
              <a:rPr lang="en-GB" sz="2400" b="1" dirty="0"/>
              <a:t>Develop roles further for access, viewing and download of data</a:t>
            </a:r>
          </a:p>
          <a:p>
            <a:r>
              <a:rPr lang="en-GB" sz="2400" b="1" dirty="0"/>
              <a:t>Split of species list</a:t>
            </a:r>
          </a:p>
          <a:p>
            <a:r>
              <a:rPr lang="en-GB" sz="2400" b="1" dirty="0"/>
              <a:t>Data validation only</a:t>
            </a:r>
          </a:p>
          <a:p>
            <a:r>
              <a:rPr lang="en-GB" sz="2400" b="1" dirty="0"/>
              <a:t>Stock definition list module</a:t>
            </a:r>
          </a:p>
          <a:p>
            <a:pPr lvl="0"/>
            <a:r>
              <a:rPr lang="en-GB" sz="2400" b="1" dirty="0"/>
              <a:t>Recreational fisheries data implemented in the RDBES</a:t>
            </a:r>
          </a:p>
          <a:p>
            <a:pPr lvl="0"/>
            <a:endParaRPr lang="en-GB" sz="2400" b="1" dirty="0"/>
          </a:p>
          <a:p>
            <a:pPr lvl="0"/>
            <a:r>
              <a:rPr lang="en-GB" sz="2400" b="1" dirty="0"/>
              <a:t>FDI data export </a:t>
            </a:r>
          </a:p>
          <a:p>
            <a:pPr marL="0" lvl="0" indent="0">
              <a:buNone/>
            </a:pPr>
            <a:endParaRPr lang="en-GB" sz="2000" b="1" dirty="0"/>
          </a:p>
        </p:txBody>
      </p:sp>
    </p:spTree>
    <p:extLst>
      <p:ext uri="{BB962C8B-B14F-4D97-AF65-F5344CB8AC3E}">
        <p14:creationId xmlns:p14="http://schemas.microsoft.com/office/powerpoint/2010/main" val="3189933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Where to get information</a:t>
            </a:r>
          </a:p>
        </p:txBody>
      </p:sp>
      <p:sp>
        <p:nvSpPr>
          <p:cNvPr id="3" name="Content Placeholder 2"/>
          <p:cNvSpPr>
            <a:spLocks noGrp="1"/>
          </p:cNvSpPr>
          <p:nvPr>
            <p:ph sz="quarter" idx="10"/>
          </p:nvPr>
        </p:nvSpPr>
        <p:spPr>
          <a:xfrm>
            <a:off x="647700" y="1356029"/>
            <a:ext cx="10749280" cy="4622801"/>
          </a:xfrm>
        </p:spPr>
        <p:txBody>
          <a:bodyPr>
            <a:normAutofit lnSpcReduction="10000"/>
          </a:bodyPr>
          <a:lstStyle/>
          <a:p>
            <a:r>
              <a:rPr lang="en-GB" sz="2000" dirty="0"/>
              <a:t>To access the RDBES:</a:t>
            </a:r>
          </a:p>
          <a:p>
            <a:pPr marL="457200" lvl="1" indent="0">
              <a:buNone/>
            </a:pPr>
            <a:r>
              <a:rPr lang="en-GB" sz="3000" dirty="0">
                <a:hlinkClick r:id="rId2"/>
              </a:rPr>
              <a:t>https://rdbes.ices.dk</a:t>
            </a:r>
            <a:endParaRPr lang="en-GB" sz="3000" dirty="0"/>
          </a:p>
          <a:p>
            <a:r>
              <a:rPr lang="en-GB" sz="2000" dirty="0"/>
              <a:t>Information on the data mode/format and documentation:</a:t>
            </a:r>
          </a:p>
          <a:p>
            <a:pPr marL="457200" lvl="1" indent="0">
              <a:buNone/>
            </a:pPr>
            <a:r>
              <a:rPr lang="en-GB" sz="3000" dirty="0">
                <a:hlinkClick r:id="rId3"/>
              </a:rPr>
              <a:t>https://github.com/ices-tools-dev/RDBES</a:t>
            </a:r>
            <a:endParaRPr lang="en-GB" sz="3000" dirty="0"/>
          </a:p>
          <a:p>
            <a:r>
              <a:rPr lang="en-GB" sz="2000" dirty="0"/>
              <a:t>Code lists:</a:t>
            </a:r>
          </a:p>
          <a:p>
            <a:pPr marL="457200" lvl="1" indent="0">
              <a:buNone/>
            </a:pPr>
            <a:r>
              <a:rPr lang="en-GB" sz="3100" dirty="0">
                <a:hlinkClick r:id="rId4"/>
              </a:rPr>
              <a:t>https://vocab.ices.dk/</a:t>
            </a:r>
            <a:r>
              <a:rPr lang="en-GB" sz="3100" dirty="0"/>
              <a:t> </a:t>
            </a:r>
          </a:p>
          <a:p>
            <a:r>
              <a:rPr lang="en-GB" sz="2000" dirty="0"/>
              <a:t>Issues regarding getting data into the right hierarchy etc.</a:t>
            </a:r>
          </a:p>
          <a:p>
            <a:pPr marL="457200" lvl="1" indent="0">
              <a:buNone/>
            </a:pPr>
            <a:r>
              <a:rPr lang="en-GB" sz="3000" dirty="0">
                <a:hlinkClick r:id="rId5"/>
              </a:rPr>
              <a:t>https://github.com/ices-tools-dev/RDBES/issues</a:t>
            </a:r>
            <a:endParaRPr lang="en-GB" sz="3000" dirty="0"/>
          </a:p>
          <a:p>
            <a:r>
              <a:rPr lang="en-GB" sz="2000" dirty="0"/>
              <a:t>Technical issues problems uploading files or missing codes etc.</a:t>
            </a:r>
          </a:p>
          <a:p>
            <a:pPr marL="457200" lvl="1" indent="0">
              <a:buNone/>
            </a:pPr>
            <a:r>
              <a:rPr lang="en-GB" sz="3000" dirty="0">
                <a:hlinkClick r:id="rId6"/>
              </a:rPr>
              <a:t>RDBsupport@ices.dk</a:t>
            </a:r>
            <a:endParaRPr lang="en-GB" sz="3000" dirty="0"/>
          </a:p>
          <a:p>
            <a:pPr marL="457200" lvl="1" indent="0">
              <a:buNone/>
            </a:pPr>
            <a:endParaRPr lang="en-GB" sz="3000" dirty="0"/>
          </a:p>
          <a:p>
            <a:endParaRPr lang="en-GB" dirty="0"/>
          </a:p>
        </p:txBody>
      </p:sp>
    </p:spTree>
    <p:extLst>
      <p:ext uri="{BB962C8B-B14F-4D97-AF65-F5344CB8AC3E}">
        <p14:creationId xmlns:p14="http://schemas.microsoft.com/office/powerpoint/2010/main" val="1791030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What are the steps? 1) Look into the data model</a:t>
            </a:r>
          </a:p>
        </p:txBody>
      </p:sp>
      <p:sp>
        <p:nvSpPr>
          <p:cNvPr id="3" name="Content Placeholder 2"/>
          <p:cNvSpPr>
            <a:spLocks noGrp="1"/>
          </p:cNvSpPr>
          <p:nvPr>
            <p:ph sz="quarter" idx="10"/>
          </p:nvPr>
        </p:nvSpPr>
        <p:spPr>
          <a:xfrm>
            <a:off x="647700" y="1356029"/>
            <a:ext cx="10749280" cy="4622801"/>
          </a:xfrm>
        </p:spPr>
        <p:txBody>
          <a:bodyPr>
            <a:normAutofit/>
          </a:bodyPr>
          <a:lstStyle/>
          <a:p>
            <a:pPr marL="0" indent="0">
              <a:buNone/>
            </a:pPr>
            <a:r>
              <a:rPr lang="en-GB" sz="2000" dirty="0"/>
              <a:t>Start by downloading the data model Information on the data model/format and documentation:</a:t>
            </a:r>
          </a:p>
          <a:p>
            <a:pPr marL="457200" lvl="1" indent="0">
              <a:buNone/>
            </a:pPr>
            <a:r>
              <a:rPr lang="en-GB" sz="3000" dirty="0">
                <a:hlinkClick r:id="rId2"/>
              </a:rPr>
              <a:t>https://github.com/ices-tools-dev/RDBES</a:t>
            </a:r>
            <a:endParaRPr lang="en-GB" sz="3000" dirty="0"/>
          </a:p>
          <a:p>
            <a:pPr marL="457200" lvl="1" indent="0">
              <a:buNone/>
            </a:pPr>
            <a:endParaRPr lang="en-GB" sz="3000" dirty="0"/>
          </a:p>
          <a:p>
            <a:endParaRPr lang="en-GB" dirty="0"/>
          </a:p>
        </p:txBody>
      </p:sp>
      <p:pic>
        <p:nvPicPr>
          <p:cNvPr id="5" name="Picture 4">
            <a:extLst>
              <a:ext uri="{FF2B5EF4-FFF2-40B4-BE49-F238E27FC236}">
                <a16:creationId xmlns:a16="http://schemas.microsoft.com/office/drawing/2014/main" id="{1F5C43B7-8D70-430A-B2F7-6F14519E326A}"/>
              </a:ext>
            </a:extLst>
          </p:cNvPr>
          <p:cNvPicPr>
            <a:picLocks noChangeAspect="1"/>
          </p:cNvPicPr>
          <p:nvPr/>
        </p:nvPicPr>
        <p:blipFill>
          <a:blip r:embed="rId3"/>
          <a:stretch>
            <a:fillRect/>
          </a:stretch>
        </p:blipFill>
        <p:spPr>
          <a:xfrm>
            <a:off x="995341" y="2333611"/>
            <a:ext cx="6777059" cy="4420311"/>
          </a:xfrm>
          <a:prstGeom prst="rect">
            <a:avLst/>
          </a:prstGeom>
        </p:spPr>
      </p:pic>
      <p:pic>
        <p:nvPicPr>
          <p:cNvPr id="6" name="Picture 5">
            <a:extLst>
              <a:ext uri="{FF2B5EF4-FFF2-40B4-BE49-F238E27FC236}">
                <a16:creationId xmlns:a16="http://schemas.microsoft.com/office/drawing/2014/main" id="{47619418-2474-4D36-A0CE-F06CC555C84D}"/>
              </a:ext>
            </a:extLst>
          </p:cNvPr>
          <p:cNvPicPr>
            <a:picLocks noChangeAspect="1"/>
          </p:cNvPicPr>
          <p:nvPr/>
        </p:nvPicPr>
        <p:blipFill>
          <a:blip r:embed="rId4"/>
          <a:stretch>
            <a:fillRect/>
          </a:stretch>
        </p:blipFill>
        <p:spPr>
          <a:xfrm>
            <a:off x="4683521" y="2333611"/>
            <a:ext cx="6873040" cy="4114101"/>
          </a:xfrm>
          <a:prstGeom prst="rect">
            <a:avLst/>
          </a:prstGeom>
        </p:spPr>
      </p:pic>
    </p:spTree>
    <p:extLst>
      <p:ext uri="{BB962C8B-B14F-4D97-AF65-F5344CB8AC3E}">
        <p14:creationId xmlns:p14="http://schemas.microsoft.com/office/powerpoint/2010/main" val="2747434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Find the available codes</a:t>
            </a:r>
          </a:p>
        </p:txBody>
      </p:sp>
      <p:sp>
        <p:nvSpPr>
          <p:cNvPr id="3" name="Content Placeholder 2"/>
          <p:cNvSpPr>
            <a:spLocks noGrp="1"/>
          </p:cNvSpPr>
          <p:nvPr>
            <p:ph sz="quarter" idx="10"/>
          </p:nvPr>
        </p:nvSpPr>
        <p:spPr>
          <a:xfrm>
            <a:off x="647700" y="1356029"/>
            <a:ext cx="10749280" cy="4622801"/>
          </a:xfrm>
        </p:spPr>
        <p:txBody>
          <a:bodyPr>
            <a:normAutofit/>
          </a:bodyPr>
          <a:lstStyle/>
          <a:p>
            <a:pPr marL="0" indent="0">
              <a:buNone/>
            </a:pPr>
            <a:r>
              <a:rPr lang="en-GB" sz="2000" dirty="0"/>
              <a:t>Find out which code to use for the data upload</a:t>
            </a:r>
          </a:p>
          <a:p>
            <a:r>
              <a:rPr lang="en-GB" sz="2000" dirty="0"/>
              <a:t>Code lists:    </a:t>
            </a:r>
            <a:r>
              <a:rPr lang="en-GB" sz="3100" dirty="0">
                <a:hlinkClick r:id="rId2"/>
              </a:rPr>
              <a:t>https://vocab.ices.dk/</a:t>
            </a:r>
            <a:r>
              <a:rPr lang="en-GB" sz="3100" dirty="0"/>
              <a:t> </a:t>
            </a:r>
          </a:p>
          <a:p>
            <a:pPr marL="457200" lvl="1" indent="0">
              <a:buNone/>
            </a:pPr>
            <a:endParaRPr lang="en-GB" sz="3000" dirty="0"/>
          </a:p>
          <a:p>
            <a:endParaRPr lang="en-GB" dirty="0"/>
          </a:p>
        </p:txBody>
      </p:sp>
      <p:pic>
        <p:nvPicPr>
          <p:cNvPr id="6" name="Picture 5">
            <a:extLst>
              <a:ext uri="{FF2B5EF4-FFF2-40B4-BE49-F238E27FC236}">
                <a16:creationId xmlns:a16="http://schemas.microsoft.com/office/drawing/2014/main" id="{B6CB58F1-6689-40B8-A6D7-2A236E782939}"/>
              </a:ext>
            </a:extLst>
          </p:cNvPr>
          <p:cNvPicPr>
            <a:picLocks noChangeAspect="1"/>
          </p:cNvPicPr>
          <p:nvPr/>
        </p:nvPicPr>
        <p:blipFill>
          <a:blip r:embed="rId3"/>
          <a:stretch>
            <a:fillRect/>
          </a:stretch>
        </p:blipFill>
        <p:spPr>
          <a:xfrm>
            <a:off x="647699" y="2419654"/>
            <a:ext cx="6873389" cy="3559176"/>
          </a:xfrm>
          <a:prstGeom prst="rect">
            <a:avLst/>
          </a:prstGeom>
        </p:spPr>
      </p:pic>
      <p:pic>
        <p:nvPicPr>
          <p:cNvPr id="7" name="Picture 6">
            <a:extLst>
              <a:ext uri="{FF2B5EF4-FFF2-40B4-BE49-F238E27FC236}">
                <a16:creationId xmlns:a16="http://schemas.microsoft.com/office/drawing/2014/main" id="{D3037CC6-9A06-4FCC-82E1-854EFF336B46}"/>
              </a:ext>
            </a:extLst>
          </p:cNvPr>
          <p:cNvPicPr>
            <a:picLocks noChangeAspect="1"/>
          </p:cNvPicPr>
          <p:nvPr/>
        </p:nvPicPr>
        <p:blipFill>
          <a:blip r:embed="rId4"/>
          <a:stretch>
            <a:fillRect/>
          </a:stretch>
        </p:blipFill>
        <p:spPr>
          <a:xfrm>
            <a:off x="7409705" y="1490662"/>
            <a:ext cx="4450523" cy="4622800"/>
          </a:xfrm>
          <a:prstGeom prst="rect">
            <a:avLst/>
          </a:prstGeom>
        </p:spPr>
      </p:pic>
    </p:spTree>
    <p:extLst>
      <p:ext uri="{BB962C8B-B14F-4D97-AF65-F5344CB8AC3E}">
        <p14:creationId xmlns:p14="http://schemas.microsoft.com/office/powerpoint/2010/main" val="1168239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Upload the data</a:t>
            </a:r>
          </a:p>
        </p:txBody>
      </p:sp>
      <p:sp>
        <p:nvSpPr>
          <p:cNvPr id="3" name="Content Placeholder 2"/>
          <p:cNvSpPr>
            <a:spLocks noGrp="1"/>
          </p:cNvSpPr>
          <p:nvPr>
            <p:ph sz="quarter" idx="10"/>
          </p:nvPr>
        </p:nvSpPr>
        <p:spPr>
          <a:xfrm>
            <a:off x="647700" y="1356029"/>
            <a:ext cx="10749280" cy="4622801"/>
          </a:xfrm>
        </p:spPr>
        <p:txBody>
          <a:bodyPr>
            <a:normAutofit/>
          </a:bodyPr>
          <a:lstStyle/>
          <a:p>
            <a:r>
              <a:rPr lang="en-GB" sz="2000" dirty="0"/>
              <a:t>Ask for access to the RDBES at: </a:t>
            </a:r>
            <a:r>
              <a:rPr lang="en-GB" sz="2000" dirty="0">
                <a:hlinkClick r:id="rId2"/>
              </a:rPr>
              <a:t>RDBsupport@ices.dk</a:t>
            </a:r>
            <a:endParaRPr lang="en-GB" sz="2000" dirty="0"/>
          </a:p>
          <a:p>
            <a:r>
              <a:rPr lang="en-GB" sz="2000" dirty="0"/>
              <a:t>Log into the RDBES and upload data files according to the order of files (doc. on RDBES GitHub)</a:t>
            </a:r>
          </a:p>
          <a:p>
            <a:r>
              <a:rPr lang="en-GB" sz="2000" dirty="0"/>
              <a:t>To access the RDBES:</a:t>
            </a:r>
          </a:p>
          <a:p>
            <a:pPr marL="457200" lvl="1" indent="0">
              <a:buNone/>
            </a:pPr>
            <a:r>
              <a:rPr lang="en-GB" sz="3000" dirty="0">
                <a:hlinkClick r:id="rId3"/>
              </a:rPr>
              <a:t>https://rdbes.ices.dk</a:t>
            </a:r>
            <a:endParaRPr lang="en-GB" sz="3000" dirty="0"/>
          </a:p>
          <a:p>
            <a:pPr marL="457200" lvl="1" indent="0">
              <a:buNone/>
            </a:pPr>
            <a:endParaRPr lang="en-GB" sz="3000" dirty="0"/>
          </a:p>
          <a:p>
            <a:endParaRPr lang="en-GB" dirty="0"/>
          </a:p>
        </p:txBody>
      </p:sp>
      <p:pic>
        <p:nvPicPr>
          <p:cNvPr id="4" name="Picture 3">
            <a:extLst>
              <a:ext uri="{FF2B5EF4-FFF2-40B4-BE49-F238E27FC236}">
                <a16:creationId xmlns:a16="http://schemas.microsoft.com/office/drawing/2014/main" id="{E74AE38E-F5A1-4115-9660-7653E40F0FA6}"/>
              </a:ext>
            </a:extLst>
          </p:cNvPr>
          <p:cNvPicPr>
            <a:picLocks noChangeAspect="1"/>
          </p:cNvPicPr>
          <p:nvPr/>
        </p:nvPicPr>
        <p:blipFill>
          <a:blip r:embed="rId4"/>
          <a:stretch>
            <a:fillRect/>
          </a:stretch>
        </p:blipFill>
        <p:spPr>
          <a:xfrm>
            <a:off x="2633291" y="3338502"/>
            <a:ext cx="5372139" cy="2905146"/>
          </a:xfrm>
          <a:prstGeom prst="rect">
            <a:avLst/>
          </a:prstGeom>
        </p:spPr>
      </p:pic>
      <p:pic>
        <p:nvPicPr>
          <p:cNvPr id="5" name="Content Placeholder 4">
            <a:extLst>
              <a:ext uri="{FF2B5EF4-FFF2-40B4-BE49-F238E27FC236}">
                <a16:creationId xmlns:a16="http://schemas.microsoft.com/office/drawing/2014/main" id="{D710389A-B884-4AD6-A4D7-C8FCCC0D49BA}"/>
              </a:ext>
            </a:extLst>
          </p:cNvPr>
          <p:cNvPicPr>
            <a:picLocks noChangeAspect="1"/>
          </p:cNvPicPr>
          <p:nvPr/>
        </p:nvPicPr>
        <p:blipFill>
          <a:blip r:embed="rId5"/>
          <a:stretch>
            <a:fillRect/>
          </a:stretch>
        </p:blipFill>
        <p:spPr>
          <a:xfrm>
            <a:off x="7300776" y="3122598"/>
            <a:ext cx="4331650" cy="3308365"/>
          </a:xfrm>
          <a:prstGeom prst="rect">
            <a:avLst/>
          </a:prstGeom>
        </p:spPr>
      </p:pic>
    </p:spTree>
    <p:extLst>
      <p:ext uri="{BB962C8B-B14F-4D97-AF65-F5344CB8AC3E}">
        <p14:creationId xmlns:p14="http://schemas.microsoft.com/office/powerpoint/2010/main" val="542186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If issues arises</a:t>
            </a:r>
          </a:p>
        </p:txBody>
      </p:sp>
      <p:sp>
        <p:nvSpPr>
          <p:cNvPr id="3" name="Content Placeholder 2"/>
          <p:cNvSpPr>
            <a:spLocks noGrp="1"/>
          </p:cNvSpPr>
          <p:nvPr>
            <p:ph sz="quarter" idx="10"/>
          </p:nvPr>
        </p:nvSpPr>
        <p:spPr>
          <a:xfrm>
            <a:off x="647700" y="1356029"/>
            <a:ext cx="10749280" cy="4622801"/>
          </a:xfrm>
        </p:spPr>
        <p:txBody>
          <a:bodyPr>
            <a:normAutofit fontScale="92500" lnSpcReduction="10000"/>
          </a:bodyPr>
          <a:lstStyle/>
          <a:p>
            <a:r>
              <a:rPr lang="en-GB" sz="2400" dirty="0"/>
              <a:t>Issues regarding:</a:t>
            </a:r>
          </a:p>
          <a:p>
            <a:pPr lvl="1"/>
            <a:r>
              <a:rPr lang="en-GB" dirty="0"/>
              <a:t>Getting data into the right hierarchy</a:t>
            </a:r>
          </a:p>
          <a:p>
            <a:pPr lvl="1"/>
            <a:r>
              <a:rPr lang="en-GB" dirty="0"/>
              <a:t>How to fill in the fields in Fishing Operation records or Sample records according to how the data was collected etc.</a:t>
            </a:r>
          </a:p>
          <a:p>
            <a:pPr marL="457200" lvl="1" indent="0">
              <a:buNone/>
            </a:pPr>
            <a:r>
              <a:rPr lang="en-GB" sz="3000" dirty="0">
                <a:hlinkClick r:id="rId2"/>
              </a:rPr>
              <a:t>https://github.com/ices-tools-dev/RDBES/issues</a:t>
            </a:r>
            <a:endParaRPr lang="en-GB" sz="3000" dirty="0"/>
          </a:p>
          <a:p>
            <a:endParaRPr lang="en-GB" sz="2000" dirty="0"/>
          </a:p>
          <a:p>
            <a:r>
              <a:rPr lang="en-GB" sz="2600" dirty="0"/>
              <a:t>Technical issues:</a:t>
            </a:r>
          </a:p>
          <a:p>
            <a:pPr lvl="1"/>
            <a:r>
              <a:rPr lang="en-GB" sz="2600" dirty="0"/>
              <a:t>Missing codes according to the code list in the vocabulary</a:t>
            </a:r>
          </a:p>
          <a:p>
            <a:pPr lvl="1"/>
            <a:r>
              <a:rPr lang="en-GB" sz="2600" dirty="0"/>
              <a:t>Problems uploading files etc.</a:t>
            </a:r>
          </a:p>
          <a:p>
            <a:endParaRPr lang="en-GB" sz="2000" dirty="0"/>
          </a:p>
          <a:p>
            <a:pPr marL="457200" lvl="1" indent="0">
              <a:buNone/>
            </a:pPr>
            <a:r>
              <a:rPr lang="en-GB" sz="3000" dirty="0">
                <a:hlinkClick r:id="rId3"/>
              </a:rPr>
              <a:t>RDBsupport@ices.dk</a:t>
            </a:r>
            <a:endParaRPr lang="en-GB" sz="3000" dirty="0"/>
          </a:p>
          <a:p>
            <a:pPr marL="457200" lvl="1" indent="0">
              <a:buNone/>
            </a:pPr>
            <a:endParaRPr lang="en-GB" sz="3000" dirty="0"/>
          </a:p>
          <a:p>
            <a:endParaRPr lang="en-GB" dirty="0"/>
          </a:p>
        </p:txBody>
      </p:sp>
    </p:spTree>
    <p:extLst>
      <p:ext uri="{BB962C8B-B14F-4D97-AF65-F5344CB8AC3E}">
        <p14:creationId xmlns:p14="http://schemas.microsoft.com/office/powerpoint/2010/main" val="3364853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BE5B5-9EB7-4F7E-99A0-B92E5DE1A14F}"/>
              </a:ext>
            </a:extLst>
          </p:cNvPr>
          <p:cNvSpPr>
            <a:spLocks noGrp="1"/>
          </p:cNvSpPr>
          <p:nvPr>
            <p:ph type="title"/>
          </p:nvPr>
        </p:nvSpPr>
        <p:spPr/>
        <p:txBody>
          <a:bodyPr/>
          <a:lstStyle/>
          <a:p>
            <a:r>
              <a:rPr lang="en-GB" dirty="0"/>
              <a:t>The use of the RDBES</a:t>
            </a:r>
          </a:p>
        </p:txBody>
      </p:sp>
      <p:sp>
        <p:nvSpPr>
          <p:cNvPr id="3" name="Content Placeholder 2">
            <a:extLst>
              <a:ext uri="{FF2B5EF4-FFF2-40B4-BE49-F238E27FC236}">
                <a16:creationId xmlns:a16="http://schemas.microsoft.com/office/drawing/2014/main" id="{CBAA9006-16BF-4943-AE5F-33E29CFB1D09}"/>
              </a:ext>
            </a:extLst>
          </p:cNvPr>
          <p:cNvSpPr>
            <a:spLocks noGrp="1"/>
          </p:cNvSpPr>
          <p:nvPr>
            <p:ph sz="quarter" idx="10"/>
          </p:nvPr>
        </p:nvSpPr>
        <p:spPr/>
        <p:txBody>
          <a:bodyPr>
            <a:normAutofit fontScale="92500"/>
          </a:bodyPr>
          <a:lstStyle/>
          <a:p>
            <a:pPr marL="0" indent="0">
              <a:buNone/>
            </a:pPr>
            <a:r>
              <a:rPr lang="en-GB" sz="2000" dirty="0"/>
              <a:t>The process of start using the RDBES</a:t>
            </a:r>
          </a:p>
          <a:p>
            <a:r>
              <a:rPr lang="en-GB" sz="2000" dirty="0"/>
              <a:t>Data submitters/countries upload all species data to the RDBES including commercial and bycatch according to the RCG ICES RDBES data call, which will substitute the ICES data call to InterCatch. This year the RCG ICES RDBES data call substituted the Regional Coordination Groups’ data call to the RDB.</a:t>
            </a:r>
          </a:p>
          <a:p>
            <a:r>
              <a:rPr lang="en-GB" sz="2000" dirty="0"/>
              <a:t>National estimators will do the estimations/raising to InterCatch input level (data by quarter and subdivision) in TAF using the Regional Catch Estimates Format, RCEF. </a:t>
            </a:r>
          </a:p>
          <a:p>
            <a:r>
              <a:rPr lang="en-GB" sz="2000" dirty="0"/>
              <a:t>A the </a:t>
            </a:r>
            <a:r>
              <a:rPr lang="en-GB" sz="2000" b="1" dirty="0" err="1"/>
              <a:t>WGRDBESStockCoord</a:t>
            </a:r>
            <a:r>
              <a:rPr lang="en-GB" sz="2000" dirty="0"/>
              <a:t> online 21–25 Oct.</a:t>
            </a:r>
            <a:r>
              <a:rPr lang="en-GB" sz="2000" b="1" dirty="0"/>
              <a:t> </a:t>
            </a:r>
            <a:r>
              <a:rPr lang="en-GB" sz="2000" dirty="0"/>
              <a:t>and </a:t>
            </a:r>
            <a:r>
              <a:rPr lang="en-GB" sz="2000" dirty="0" err="1"/>
              <a:t>WKRDBES_RaiseStock</a:t>
            </a:r>
            <a:r>
              <a:rPr lang="en-GB" sz="2000" b="1" dirty="0"/>
              <a:t> </a:t>
            </a:r>
            <a:r>
              <a:rPr lang="en-GB" sz="2000" dirty="0"/>
              <a:t>online 18-19 Nov. and at the relevant data compilation/benchmark workshop stock coordinators and national estimators will start using the RDBES data in the Transparent Assessment Framework, TAF. At the two WK and the benchmark workshop R estimations script will be made, generic R scripts from WGRDBES-EST can be copied for a start for stock coordinators. When the specific R estimation scripts have been verified for use in the WG. The WG can start using the data from the RDBES and the R estimation script in TAF to create the input data for the assessment. By the input data is meant total catch, numbers and mean weight at age or numbers at length, just like the InterCatch output, see the Stock Coordination Format, SCF.</a:t>
            </a:r>
          </a:p>
        </p:txBody>
      </p:sp>
    </p:spTree>
    <p:extLst>
      <p:ext uri="{BB962C8B-B14F-4D97-AF65-F5344CB8AC3E}">
        <p14:creationId xmlns:p14="http://schemas.microsoft.com/office/powerpoint/2010/main" val="132286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2523388" y="1988100"/>
            <a:ext cx="6858000" cy="4080510"/>
          </a:xfrm>
          <a:prstGeom prst="rect">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Commercial fisheries future (RDBES)</a:t>
            </a:r>
          </a:p>
        </p:txBody>
      </p:sp>
      <p:sp>
        <p:nvSpPr>
          <p:cNvPr id="4" name="Flowchart: Magnetic Disk 3"/>
          <p:cNvSpPr/>
          <p:nvPr/>
        </p:nvSpPr>
        <p:spPr>
          <a:xfrm>
            <a:off x="1187777" y="3252837"/>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772996" y="2185128"/>
            <a:ext cx="1442302" cy="358220"/>
          </a:xfrm>
          <a:prstGeom prst="rect">
            <a:avLst/>
          </a:prstGeom>
        </p:spPr>
        <p:txBody>
          <a:bodyPr vert="horz" wrap="square" lIns="91440" tIns="45720" rIns="91440" bIns="45720" rtlCol="0" anchor="t">
            <a:noAutofit/>
          </a:bodyPr>
          <a:lstStyle/>
          <a:p>
            <a:r>
              <a:rPr lang="en-GB" dirty="0">
                <a:latin typeface="+mn-lt"/>
              </a:rPr>
              <a:t>National DBs</a:t>
            </a:r>
          </a:p>
        </p:txBody>
      </p:sp>
      <p:sp>
        <p:nvSpPr>
          <p:cNvPr id="7" name="Flowchart: Magnetic Disk 6"/>
          <p:cNvSpPr/>
          <p:nvPr/>
        </p:nvSpPr>
        <p:spPr>
          <a:xfrm>
            <a:off x="1187777" y="2776194"/>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lowchart: Magnetic Disk 8"/>
          <p:cNvSpPr/>
          <p:nvPr/>
        </p:nvSpPr>
        <p:spPr>
          <a:xfrm>
            <a:off x="1187777" y="3757211"/>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Magnetic Disk 9"/>
          <p:cNvSpPr/>
          <p:nvPr/>
        </p:nvSpPr>
        <p:spPr>
          <a:xfrm>
            <a:off x="1187776" y="4272861"/>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Magnetic Disk 10"/>
          <p:cNvSpPr/>
          <p:nvPr/>
        </p:nvSpPr>
        <p:spPr>
          <a:xfrm>
            <a:off x="1187776" y="4720786"/>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lowchart: Magnetic Disk 11"/>
          <p:cNvSpPr/>
          <p:nvPr/>
        </p:nvSpPr>
        <p:spPr>
          <a:xfrm>
            <a:off x="1187776" y="5253878"/>
            <a:ext cx="612743" cy="28280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5153783" y="3107760"/>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p:cNvSpPr/>
          <p:nvPr/>
        </p:nvSpPr>
        <p:spPr>
          <a:xfrm>
            <a:off x="5310145" y="3216168"/>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5439644" y="3357628"/>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p:cNvSpPr/>
          <p:nvPr/>
        </p:nvSpPr>
        <p:spPr>
          <a:xfrm>
            <a:off x="5550302" y="3466036"/>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p:cNvSpPr/>
          <p:nvPr/>
        </p:nvSpPr>
        <p:spPr>
          <a:xfrm>
            <a:off x="5660961" y="3564240"/>
            <a:ext cx="763571" cy="216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lowchart: Magnetic Disk 19"/>
          <p:cNvSpPr/>
          <p:nvPr/>
        </p:nvSpPr>
        <p:spPr>
          <a:xfrm>
            <a:off x="3023671" y="3790646"/>
            <a:ext cx="1074656" cy="707010"/>
          </a:xfrm>
          <a:prstGeom prst="flowChartMagneticDisk">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23" name="Straight Arrow Connector 22"/>
          <p:cNvCxnSpPr/>
          <p:nvPr/>
        </p:nvCxnSpPr>
        <p:spPr>
          <a:xfrm flipV="1">
            <a:off x="1800519" y="4144151"/>
            <a:ext cx="1234891" cy="29049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821468" y="3414857"/>
            <a:ext cx="1213942" cy="66865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772650" y="3920461"/>
            <a:ext cx="1262760" cy="21578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7" idx="4"/>
          </p:cNvCxnSpPr>
          <p:nvPr/>
        </p:nvCxnSpPr>
        <p:spPr>
          <a:xfrm>
            <a:off x="1800520" y="2917596"/>
            <a:ext cx="1234890" cy="112241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208524" y="3117543"/>
            <a:ext cx="1032107" cy="552012"/>
          </a:xfrm>
          <a:prstGeom prst="rect">
            <a:avLst/>
          </a:prstGeom>
        </p:spPr>
        <p:txBody>
          <a:bodyPr vert="horz" wrap="square" lIns="91440" tIns="45720" rIns="91440" bIns="45720" rtlCol="0" anchor="t">
            <a:noAutofit/>
          </a:bodyPr>
          <a:lstStyle/>
          <a:p>
            <a:r>
              <a:rPr lang="en-GB" b="1" dirty="0">
                <a:latin typeface="+mn-lt"/>
              </a:rPr>
              <a:t>RDBES</a:t>
            </a:r>
            <a:r>
              <a:rPr lang="en-GB" dirty="0">
                <a:latin typeface="+mn-lt"/>
              </a:rPr>
              <a:t>	</a:t>
            </a:r>
          </a:p>
        </p:txBody>
      </p:sp>
      <p:sp>
        <p:nvSpPr>
          <p:cNvPr id="33" name="TextBox 32"/>
          <p:cNvSpPr txBox="1"/>
          <p:nvPr/>
        </p:nvSpPr>
        <p:spPr>
          <a:xfrm>
            <a:off x="5586713" y="5010405"/>
            <a:ext cx="1072122" cy="601644"/>
          </a:xfrm>
          <a:prstGeom prst="rect">
            <a:avLst/>
          </a:prstGeom>
        </p:spPr>
        <p:txBody>
          <a:bodyPr vert="horz" wrap="square" lIns="91440" tIns="45720" rIns="91440" bIns="45720" rtlCol="0" anchor="t">
            <a:noAutofit/>
          </a:bodyPr>
          <a:lstStyle/>
          <a:p>
            <a:r>
              <a:rPr lang="en-GB" sz="2000" b="1" dirty="0">
                <a:latin typeface="+mn-lt"/>
              </a:rPr>
              <a:t>RCGs</a:t>
            </a:r>
          </a:p>
        </p:txBody>
      </p:sp>
      <p:sp>
        <p:nvSpPr>
          <p:cNvPr id="35" name="TextBox 34"/>
          <p:cNvSpPr txBox="1"/>
          <p:nvPr/>
        </p:nvSpPr>
        <p:spPr>
          <a:xfrm>
            <a:off x="6235481" y="5029951"/>
            <a:ext cx="2707901" cy="447853"/>
          </a:xfrm>
          <a:prstGeom prst="rect">
            <a:avLst/>
          </a:prstGeom>
        </p:spPr>
        <p:txBody>
          <a:bodyPr vert="horz" wrap="square" lIns="91440" tIns="45720" rIns="91440" bIns="45720" rtlCol="0" anchor="t">
            <a:noAutofit/>
          </a:bodyPr>
          <a:lstStyle/>
          <a:p>
            <a:r>
              <a:rPr lang="en-GB" dirty="0">
                <a:latin typeface="+mn-lt"/>
              </a:rPr>
              <a:t>Baltic, NA, NS &amp; EA, LDF</a:t>
            </a:r>
          </a:p>
        </p:txBody>
      </p:sp>
      <p:sp>
        <p:nvSpPr>
          <p:cNvPr id="36" name="TextBox 35"/>
          <p:cNvSpPr txBox="1"/>
          <p:nvPr/>
        </p:nvSpPr>
        <p:spPr>
          <a:xfrm>
            <a:off x="3886200" y="2164516"/>
            <a:ext cx="4329752" cy="880272"/>
          </a:xfrm>
          <a:prstGeom prst="rect">
            <a:avLst/>
          </a:prstGeom>
        </p:spPr>
        <p:txBody>
          <a:bodyPr vert="horz" wrap="square" lIns="91440" tIns="45720" rIns="91440" bIns="45720" rtlCol="0" anchor="t">
            <a:noAutofit/>
          </a:bodyPr>
          <a:lstStyle/>
          <a:p>
            <a:r>
              <a:rPr lang="en-GB" b="1" dirty="0">
                <a:latin typeface="+mn-lt"/>
              </a:rPr>
              <a:t>WKRDBES-RAISE&amp;TAF and Data Compilation/Benchmark Workshop </a:t>
            </a:r>
            <a:r>
              <a:rPr lang="en-GB" dirty="0">
                <a:latin typeface="+mn-lt"/>
              </a:rPr>
              <a:t>writing raising/estimation procedures in </a:t>
            </a:r>
            <a:r>
              <a:rPr lang="en-GB" b="1" dirty="0">
                <a:latin typeface="+mn-lt"/>
              </a:rPr>
              <a:t>TAF</a:t>
            </a:r>
          </a:p>
        </p:txBody>
      </p:sp>
      <p:cxnSp>
        <p:nvCxnSpPr>
          <p:cNvPr id="32" name="Straight Arrow Connector 31"/>
          <p:cNvCxnSpPr/>
          <p:nvPr/>
        </p:nvCxnSpPr>
        <p:spPr>
          <a:xfrm flipV="1">
            <a:off x="1692184" y="4241289"/>
            <a:ext cx="1330931" cy="65346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1800518" y="4316359"/>
            <a:ext cx="1203811" cy="108276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188830" y="1536051"/>
            <a:ext cx="4806580" cy="354808"/>
          </a:xfrm>
          <a:prstGeom prst="rect">
            <a:avLst/>
          </a:prstGeom>
        </p:spPr>
        <p:txBody>
          <a:bodyPr vert="horz" wrap="square" lIns="91440" tIns="45720" rIns="91440" bIns="45720" rtlCol="0" anchor="t">
            <a:noAutofit/>
          </a:bodyPr>
          <a:lstStyle/>
          <a:p>
            <a:r>
              <a:rPr lang="en-GB" dirty="0">
                <a:latin typeface="+mn-lt"/>
              </a:rPr>
              <a:t>Transparent data and raising/estimations</a:t>
            </a:r>
          </a:p>
        </p:txBody>
      </p:sp>
      <p:cxnSp>
        <p:nvCxnSpPr>
          <p:cNvPr id="40" name="Straight Arrow Connector 39"/>
          <p:cNvCxnSpPr/>
          <p:nvPr/>
        </p:nvCxnSpPr>
        <p:spPr>
          <a:xfrm>
            <a:off x="4161743" y="4385163"/>
            <a:ext cx="1318903" cy="80757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4124127" y="3535641"/>
            <a:ext cx="1110813" cy="39265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096474" y="5307176"/>
            <a:ext cx="508633" cy="449955"/>
          </a:xfrm>
          <a:prstGeom prst="rect">
            <a:avLst/>
          </a:prstGeom>
        </p:spPr>
        <p:txBody>
          <a:bodyPr vert="horz" wrap="square" lIns="91440" tIns="45720" rIns="91440" bIns="45720" rtlCol="0" anchor="t">
            <a:noAutofit/>
          </a:bodyPr>
          <a:lstStyle/>
          <a:p>
            <a:r>
              <a:rPr lang="en-GB" sz="2000" b="1" dirty="0">
                <a:latin typeface="+mn-lt"/>
              </a:rPr>
              <a:t>EU</a:t>
            </a:r>
          </a:p>
        </p:txBody>
      </p:sp>
      <p:sp>
        <p:nvSpPr>
          <p:cNvPr id="41" name="TextBox 40"/>
          <p:cNvSpPr txBox="1"/>
          <p:nvPr/>
        </p:nvSpPr>
        <p:spPr>
          <a:xfrm>
            <a:off x="6773723" y="3257690"/>
            <a:ext cx="1035014" cy="403743"/>
          </a:xfrm>
          <a:prstGeom prst="rect">
            <a:avLst/>
          </a:prstGeom>
        </p:spPr>
        <p:txBody>
          <a:bodyPr vert="horz" wrap="square" lIns="91440" tIns="45720" rIns="91440" bIns="45720" rtlCol="0" anchor="t">
            <a:noAutofit/>
          </a:bodyPr>
          <a:lstStyle/>
          <a:p>
            <a:r>
              <a:rPr lang="en-GB" sz="2000" b="1" dirty="0">
                <a:latin typeface="+mn-lt"/>
              </a:rPr>
              <a:t>ICES EG </a:t>
            </a:r>
          </a:p>
        </p:txBody>
      </p:sp>
      <p:cxnSp>
        <p:nvCxnSpPr>
          <p:cNvPr id="43" name="Straight Arrow Connector 42"/>
          <p:cNvCxnSpPr/>
          <p:nvPr/>
        </p:nvCxnSpPr>
        <p:spPr>
          <a:xfrm>
            <a:off x="6567396" y="3422177"/>
            <a:ext cx="259282" cy="297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7696358" y="3458825"/>
            <a:ext cx="183688" cy="22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7828676" y="3261527"/>
            <a:ext cx="1035014" cy="403743"/>
          </a:xfrm>
          <a:prstGeom prst="rect">
            <a:avLst/>
          </a:prstGeom>
        </p:spPr>
        <p:txBody>
          <a:bodyPr vert="horz" wrap="square" lIns="91440" tIns="45720" rIns="91440" bIns="45720" rtlCol="0" anchor="t">
            <a:noAutofit/>
          </a:bodyPr>
          <a:lstStyle/>
          <a:p>
            <a:r>
              <a:rPr lang="en-GB" sz="2000" b="1" dirty="0">
                <a:latin typeface="+mn-lt"/>
              </a:rPr>
              <a:t>Advice </a:t>
            </a:r>
          </a:p>
        </p:txBody>
      </p:sp>
      <p:sp>
        <p:nvSpPr>
          <p:cNvPr id="50" name="Freeform 49"/>
          <p:cNvSpPr/>
          <p:nvPr/>
        </p:nvSpPr>
        <p:spPr>
          <a:xfrm>
            <a:off x="4165600" y="3848100"/>
            <a:ext cx="1905000" cy="279400"/>
          </a:xfrm>
          <a:custGeom>
            <a:avLst/>
            <a:gdLst>
              <a:gd name="connsiteX0" fmla="*/ 1892300 w 1905000"/>
              <a:gd name="connsiteY0" fmla="*/ 0 h 279400"/>
              <a:gd name="connsiteX1" fmla="*/ 1905000 w 1905000"/>
              <a:gd name="connsiteY1" fmla="*/ 254000 h 279400"/>
              <a:gd name="connsiteX2" fmla="*/ 0 w 1905000"/>
              <a:gd name="connsiteY2" fmla="*/ 279400 h 279400"/>
            </a:gdLst>
            <a:ahLst/>
            <a:cxnLst>
              <a:cxn ang="0">
                <a:pos x="connsiteX0" y="connsiteY0"/>
              </a:cxn>
              <a:cxn ang="0">
                <a:pos x="connsiteX1" y="connsiteY1"/>
              </a:cxn>
              <a:cxn ang="0">
                <a:pos x="connsiteX2" y="connsiteY2"/>
              </a:cxn>
            </a:cxnLst>
            <a:rect l="l" t="t" r="r" b="b"/>
            <a:pathLst>
              <a:path w="1905000" h="279400">
                <a:moveTo>
                  <a:pt x="1892300" y="0"/>
                </a:moveTo>
                <a:lnTo>
                  <a:pt x="1905000" y="254000"/>
                </a:lnTo>
                <a:lnTo>
                  <a:pt x="0" y="279400"/>
                </a:lnTo>
              </a:path>
            </a:pathLst>
          </a:custGeom>
          <a:noFill/>
          <a:ln w="254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2" name="Straight Arrow Connector 51"/>
          <p:cNvCxnSpPr/>
          <p:nvPr/>
        </p:nvCxnSpPr>
        <p:spPr>
          <a:xfrm>
            <a:off x="4188830" y="4221863"/>
            <a:ext cx="1728524" cy="24749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981598" y="4304581"/>
            <a:ext cx="3225902" cy="346444"/>
          </a:xfrm>
          <a:prstGeom prst="rect">
            <a:avLst/>
          </a:prstGeom>
        </p:spPr>
        <p:txBody>
          <a:bodyPr vert="horz" wrap="square" lIns="91440" tIns="45720" rIns="91440" bIns="45720" rtlCol="0" anchor="t">
            <a:noAutofit/>
          </a:bodyPr>
          <a:lstStyle/>
          <a:p>
            <a:r>
              <a:rPr lang="en-GB" dirty="0">
                <a:latin typeface="+mn-lt"/>
              </a:rPr>
              <a:t>Potentially: Annual reports, FDI</a:t>
            </a:r>
          </a:p>
        </p:txBody>
      </p:sp>
    </p:spTree>
    <p:extLst>
      <p:ext uri="{BB962C8B-B14F-4D97-AF65-F5344CB8AC3E}">
        <p14:creationId xmlns:p14="http://schemas.microsoft.com/office/powerpoint/2010/main" val="1319026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8F1F0-CA38-4C26-86B1-24D080CE2DE2}"/>
              </a:ext>
            </a:extLst>
          </p:cNvPr>
          <p:cNvSpPr>
            <a:spLocks noGrp="1"/>
          </p:cNvSpPr>
          <p:nvPr>
            <p:ph type="title"/>
          </p:nvPr>
        </p:nvSpPr>
        <p:spPr/>
        <p:txBody>
          <a:bodyPr/>
          <a:lstStyle/>
          <a:p>
            <a:r>
              <a:rPr lang="en-GB" dirty="0"/>
              <a:t>3 loops in TAF</a:t>
            </a:r>
          </a:p>
        </p:txBody>
      </p:sp>
      <p:sp>
        <p:nvSpPr>
          <p:cNvPr id="4" name="TextBox 3">
            <a:extLst>
              <a:ext uri="{FF2B5EF4-FFF2-40B4-BE49-F238E27FC236}">
                <a16:creationId xmlns:a16="http://schemas.microsoft.com/office/drawing/2014/main" id="{AC5A7370-66C0-404C-A3A9-2F6F6B09D1B8}"/>
              </a:ext>
            </a:extLst>
          </p:cNvPr>
          <p:cNvSpPr txBox="1"/>
          <p:nvPr/>
        </p:nvSpPr>
        <p:spPr>
          <a:xfrm>
            <a:off x="3356591" y="3559968"/>
            <a:ext cx="6404097" cy="2870947"/>
          </a:xfrm>
          <a:prstGeom prst="rect">
            <a:avLst/>
          </a:prstGeom>
        </p:spPr>
        <p:txBody>
          <a:bodyPr vert="horz" wrap="square" lIns="91440" tIns="45720" rIns="91440" bIns="45720" rtlCol="0" anchor="t">
            <a:noAutofit/>
          </a:bodyPr>
          <a:lstStyle/>
          <a:p>
            <a:r>
              <a:rPr lang="en-GB" sz="2000" dirty="0"/>
              <a:t>Depending on the stock category, but for category 1 stocks:</a:t>
            </a:r>
          </a:p>
          <a:p>
            <a:pPr marL="457200" indent="-457200">
              <a:buFont typeface="+mj-lt"/>
              <a:buAutoNum type="arabicPeriod"/>
            </a:pPr>
            <a:r>
              <a:rPr lang="en-GB" sz="2000" dirty="0"/>
              <a:t>The persons at the national institute who does the </a:t>
            </a:r>
            <a:r>
              <a:rPr lang="en-GB" sz="2000" b="1" dirty="0"/>
              <a:t>national estimation </a:t>
            </a:r>
            <a:r>
              <a:rPr lang="en-GB" sz="2000" dirty="0"/>
              <a:t>to the InterCatch input level (typically landing, effort and sampling at quarter, subdivision and metierlvl6) now RCEF.</a:t>
            </a:r>
          </a:p>
          <a:p>
            <a:pPr marL="457200" indent="-457200">
              <a:buFont typeface="+mj-lt"/>
              <a:buAutoNum type="arabicPeriod"/>
            </a:pPr>
            <a:r>
              <a:rPr lang="en-GB" sz="2000" dirty="0">
                <a:latin typeface="+mn-lt"/>
              </a:rPr>
              <a:t>The Stock Coordinator </a:t>
            </a:r>
            <a:r>
              <a:rPr lang="en-GB" sz="2000" b="1" dirty="0">
                <a:latin typeface="+mn-lt"/>
              </a:rPr>
              <a:t>estimating d</a:t>
            </a:r>
            <a:r>
              <a:rPr lang="en-GB" sz="2000" b="1" dirty="0"/>
              <a:t>iscard and age or length distributions</a:t>
            </a:r>
            <a:r>
              <a:rPr lang="en-GB" sz="2000" dirty="0"/>
              <a:t> for the stock (equivalent to the estimation in InterCatch), now SCF. </a:t>
            </a:r>
          </a:p>
          <a:p>
            <a:pPr marL="457200" indent="-457200">
              <a:buFont typeface="+mj-lt"/>
              <a:buAutoNum type="arabicPeriod"/>
            </a:pPr>
            <a:r>
              <a:rPr lang="en-GB" sz="2000" dirty="0"/>
              <a:t>The Stock Assessors </a:t>
            </a:r>
            <a:r>
              <a:rPr lang="en-GB" sz="2000" b="1" dirty="0"/>
              <a:t>modelling/estimating stock data</a:t>
            </a:r>
            <a:r>
              <a:rPr lang="en-GB" sz="2000" dirty="0"/>
              <a:t>. </a:t>
            </a:r>
          </a:p>
          <a:p>
            <a:pPr marL="457200" indent="-457200">
              <a:buFont typeface="+mj-lt"/>
              <a:buAutoNum type="arabicPeriod"/>
            </a:pPr>
            <a:endParaRPr lang="en-GB" sz="2000" dirty="0">
              <a:latin typeface="+mn-lt"/>
            </a:endParaRPr>
          </a:p>
        </p:txBody>
      </p:sp>
      <p:sp>
        <p:nvSpPr>
          <p:cNvPr id="5" name="TextBox 4">
            <a:extLst>
              <a:ext uri="{FF2B5EF4-FFF2-40B4-BE49-F238E27FC236}">
                <a16:creationId xmlns:a16="http://schemas.microsoft.com/office/drawing/2014/main" id="{FC31B5BE-C9EE-4515-891D-B461C89D6D56}"/>
              </a:ext>
            </a:extLst>
          </p:cNvPr>
          <p:cNvSpPr txBox="1"/>
          <p:nvPr/>
        </p:nvSpPr>
        <p:spPr>
          <a:xfrm>
            <a:off x="875061" y="2901937"/>
            <a:ext cx="1848770" cy="492124"/>
          </a:xfrm>
          <a:prstGeom prst="rect">
            <a:avLst/>
          </a:prstGeom>
        </p:spPr>
        <p:txBody>
          <a:bodyPr vert="horz" wrap="square" lIns="91440" tIns="45720" rIns="91440" bIns="45720" rtlCol="0" anchor="t">
            <a:noAutofit/>
          </a:bodyPr>
          <a:lstStyle/>
          <a:p>
            <a:r>
              <a:rPr lang="en-GB" sz="2800" dirty="0">
                <a:latin typeface="+mn-lt"/>
              </a:rPr>
              <a:t>RDBES data</a:t>
            </a:r>
          </a:p>
        </p:txBody>
      </p:sp>
      <p:sp>
        <p:nvSpPr>
          <p:cNvPr id="6" name="TextBox 5">
            <a:extLst>
              <a:ext uri="{FF2B5EF4-FFF2-40B4-BE49-F238E27FC236}">
                <a16:creationId xmlns:a16="http://schemas.microsoft.com/office/drawing/2014/main" id="{DA6CB85E-41B6-47FC-9364-5E39FA5C6609}"/>
              </a:ext>
            </a:extLst>
          </p:cNvPr>
          <p:cNvSpPr txBox="1"/>
          <p:nvPr/>
        </p:nvSpPr>
        <p:spPr>
          <a:xfrm>
            <a:off x="3909662" y="2936876"/>
            <a:ext cx="2186338" cy="492123"/>
          </a:xfrm>
          <a:prstGeom prst="rect">
            <a:avLst/>
          </a:prstGeom>
          <a:solidFill>
            <a:schemeClr val="accent2">
              <a:lumMod val="40000"/>
              <a:lumOff val="60000"/>
            </a:schemeClr>
          </a:solidFill>
        </p:spPr>
        <p:txBody>
          <a:bodyPr vert="horz" wrap="square" lIns="91440" tIns="45720" rIns="91440" bIns="45720" rtlCol="0" anchor="t">
            <a:noAutofit/>
          </a:bodyPr>
          <a:lstStyle/>
          <a:p>
            <a:pPr algn="ctr"/>
            <a:r>
              <a:rPr lang="en-GB" sz="2800" dirty="0">
                <a:latin typeface="+mn-lt"/>
              </a:rPr>
              <a:t>TAF</a:t>
            </a:r>
          </a:p>
        </p:txBody>
      </p:sp>
      <p:sp>
        <p:nvSpPr>
          <p:cNvPr id="9" name="TextBox 8">
            <a:extLst>
              <a:ext uri="{FF2B5EF4-FFF2-40B4-BE49-F238E27FC236}">
                <a16:creationId xmlns:a16="http://schemas.microsoft.com/office/drawing/2014/main" id="{F10DD1E3-E55C-4860-9C30-D05177131C7C}"/>
              </a:ext>
            </a:extLst>
          </p:cNvPr>
          <p:cNvSpPr txBox="1"/>
          <p:nvPr/>
        </p:nvSpPr>
        <p:spPr>
          <a:xfrm>
            <a:off x="6539985" y="1568720"/>
            <a:ext cx="2869684" cy="829766"/>
          </a:xfrm>
          <a:prstGeom prst="rect">
            <a:avLst/>
          </a:prstGeom>
        </p:spPr>
        <p:txBody>
          <a:bodyPr vert="horz" wrap="square" lIns="91440" tIns="45720" rIns="91440" bIns="45720" rtlCol="0" anchor="t">
            <a:noAutofit/>
          </a:bodyPr>
          <a:lstStyle/>
          <a:p>
            <a:r>
              <a:rPr lang="en-GB" sz="2000" dirty="0">
                <a:latin typeface="+mn-lt"/>
              </a:rPr>
              <a:t>Data is going through TAF 3 times</a:t>
            </a:r>
            <a:r>
              <a:rPr lang="en-GB" sz="2000" dirty="0"/>
              <a:t>. </a:t>
            </a:r>
            <a:endParaRPr lang="en-GB" sz="2000" dirty="0">
              <a:latin typeface="+mn-lt"/>
            </a:endParaRPr>
          </a:p>
        </p:txBody>
      </p:sp>
      <p:cxnSp>
        <p:nvCxnSpPr>
          <p:cNvPr id="16" name="Connector: Curved 15">
            <a:extLst>
              <a:ext uri="{FF2B5EF4-FFF2-40B4-BE49-F238E27FC236}">
                <a16:creationId xmlns:a16="http://schemas.microsoft.com/office/drawing/2014/main" id="{866BE238-A41A-464B-B736-00A3E7A75320}"/>
              </a:ext>
            </a:extLst>
          </p:cNvPr>
          <p:cNvCxnSpPr>
            <a:cxnSpLocks/>
            <a:stCxn id="6" idx="3"/>
            <a:endCxn id="6" idx="1"/>
          </p:cNvCxnSpPr>
          <p:nvPr/>
        </p:nvCxnSpPr>
        <p:spPr>
          <a:xfrm flipH="1">
            <a:off x="3909662" y="3182938"/>
            <a:ext cx="2186338" cy="12700"/>
          </a:xfrm>
          <a:prstGeom prst="curvedConnector5">
            <a:avLst>
              <a:gd name="adj1" fmla="val -10456"/>
              <a:gd name="adj2" fmla="val -5974134"/>
              <a:gd name="adj3" fmla="val 110456"/>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nector: Curved 23">
            <a:extLst>
              <a:ext uri="{FF2B5EF4-FFF2-40B4-BE49-F238E27FC236}">
                <a16:creationId xmlns:a16="http://schemas.microsoft.com/office/drawing/2014/main" id="{C654EB3B-3DAB-4E2F-A879-BAE42030B0DD}"/>
              </a:ext>
            </a:extLst>
          </p:cNvPr>
          <p:cNvCxnSpPr>
            <a:cxnSpLocks/>
            <a:stCxn id="6" idx="3"/>
            <a:endCxn id="6" idx="1"/>
          </p:cNvCxnSpPr>
          <p:nvPr/>
        </p:nvCxnSpPr>
        <p:spPr>
          <a:xfrm flipH="1">
            <a:off x="3909662" y="3182938"/>
            <a:ext cx="2186338" cy="12700"/>
          </a:xfrm>
          <a:prstGeom prst="curvedConnector5">
            <a:avLst>
              <a:gd name="adj1" fmla="val -26018"/>
              <a:gd name="adj2" fmla="val -10495063"/>
              <a:gd name="adj3" fmla="val 126018"/>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FD3CB14-F6AB-4765-A65C-CF70A006F54B}"/>
              </a:ext>
            </a:extLst>
          </p:cNvPr>
          <p:cNvCxnSpPr>
            <a:cxnSpLocks/>
          </p:cNvCxnSpPr>
          <p:nvPr/>
        </p:nvCxnSpPr>
        <p:spPr>
          <a:xfrm>
            <a:off x="2723831" y="3195638"/>
            <a:ext cx="1185831" cy="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70091D2-B1A3-4E72-862A-19612BA8280B}"/>
              </a:ext>
            </a:extLst>
          </p:cNvPr>
          <p:cNvCxnSpPr>
            <a:cxnSpLocks/>
          </p:cNvCxnSpPr>
          <p:nvPr/>
        </p:nvCxnSpPr>
        <p:spPr>
          <a:xfrm>
            <a:off x="6096000" y="3200849"/>
            <a:ext cx="1185831" cy="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2A51CBA-4E30-4CB2-8232-B49EDA8753F5}"/>
              </a:ext>
            </a:extLst>
          </p:cNvPr>
          <p:cNvSpPr txBox="1"/>
          <p:nvPr/>
        </p:nvSpPr>
        <p:spPr>
          <a:xfrm>
            <a:off x="5262076" y="2559845"/>
            <a:ext cx="427198" cy="492124"/>
          </a:xfrm>
          <a:prstGeom prst="rect">
            <a:avLst/>
          </a:prstGeom>
        </p:spPr>
        <p:txBody>
          <a:bodyPr vert="horz" wrap="square" lIns="91440" tIns="45720" rIns="91440" bIns="45720" rtlCol="0" anchor="t">
            <a:noAutofit/>
          </a:bodyPr>
          <a:lstStyle/>
          <a:p>
            <a:r>
              <a:rPr lang="en-GB" sz="2800" b="1" dirty="0"/>
              <a:t>1</a:t>
            </a:r>
          </a:p>
        </p:txBody>
      </p:sp>
      <p:sp>
        <p:nvSpPr>
          <p:cNvPr id="33" name="TextBox 32">
            <a:extLst>
              <a:ext uri="{FF2B5EF4-FFF2-40B4-BE49-F238E27FC236}">
                <a16:creationId xmlns:a16="http://schemas.microsoft.com/office/drawing/2014/main" id="{5A22A012-3A61-48C2-93D7-A183818A6DEF}"/>
              </a:ext>
            </a:extLst>
          </p:cNvPr>
          <p:cNvSpPr txBox="1"/>
          <p:nvPr/>
        </p:nvSpPr>
        <p:spPr>
          <a:xfrm>
            <a:off x="5475675" y="2087437"/>
            <a:ext cx="427198" cy="492124"/>
          </a:xfrm>
          <a:prstGeom prst="rect">
            <a:avLst/>
          </a:prstGeom>
        </p:spPr>
        <p:txBody>
          <a:bodyPr vert="horz" wrap="square" lIns="91440" tIns="45720" rIns="91440" bIns="45720" rtlCol="0" anchor="t">
            <a:noAutofit/>
          </a:bodyPr>
          <a:lstStyle/>
          <a:p>
            <a:r>
              <a:rPr lang="en-GB" sz="2800" b="1" dirty="0"/>
              <a:t>2</a:t>
            </a:r>
          </a:p>
        </p:txBody>
      </p:sp>
      <p:sp>
        <p:nvSpPr>
          <p:cNvPr id="34" name="TextBox 33">
            <a:extLst>
              <a:ext uri="{FF2B5EF4-FFF2-40B4-BE49-F238E27FC236}">
                <a16:creationId xmlns:a16="http://schemas.microsoft.com/office/drawing/2014/main" id="{71282A07-16EF-444B-86A3-E04B66219807}"/>
              </a:ext>
            </a:extLst>
          </p:cNvPr>
          <p:cNvSpPr txBox="1"/>
          <p:nvPr/>
        </p:nvSpPr>
        <p:spPr>
          <a:xfrm>
            <a:off x="5531434" y="1491479"/>
            <a:ext cx="427198" cy="492124"/>
          </a:xfrm>
          <a:prstGeom prst="rect">
            <a:avLst/>
          </a:prstGeom>
        </p:spPr>
        <p:txBody>
          <a:bodyPr vert="horz" wrap="square" lIns="91440" tIns="45720" rIns="91440" bIns="45720" rtlCol="0" anchor="t">
            <a:noAutofit/>
          </a:bodyPr>
          <a:lstStyle/>
          <a:p>
            <a:r>
              <a:rPr lang="en-GB" sz="2800" b="1" dirty="0"/>
              <a:t>3	</a:t>
            </a:r>
          </a:p>
        </p:txBody>
      </p:sp>
      <p:sp>
        <p:nvSpPr>
          <p:cNvPr id="14" name="TextBox 13">
            <a:extLst>
              <a:ext uri="{FF2B5EF4-FFF2-40B4-BE49-F238E27FC236}">
                <a16:creationId xmlns:a16="http://schemas.microsoft.com/office/drawing/2014/main" id="{F760D09D-4A20-40F1-9859-0FF2A31566F4}"/>
              </a:ext>
            </a:extLst>
          </p:cNvPr>
          <p:cNvSpPr txBox="1"/>
          <p:nvPr/>
        </p:nvSpPr>
        <p:spPr>
          <a:xfrm>
            <a:off x="7448414" y="2932267"/>
            <a:ext cx="2186338" cy="461794"/>
          </a:xfrm>
          <a:prstGeom prst="rect">
            <a:avLst/>
          </a:prstGeom>
        </p:spPr>
        <p:txBody>
          <a:bodyPr vert="horz" wrap="square" lIns="91440" tIns="45720" rIns="91440" bIns="45720" rtlCol="0" anchor="t">
            <a:noAutofit/>
          </a:bodyPr>
          <a:lstStyle/>
          <a:p>
            <a:r>
              <a:rPr lang="en-GB" sz="2800" dirty="0">
                <a:latin typeface="+mn-lt"/>
              </a:rPr>
              <a:t>Assessment</a:t>
            </a:r>
          </a:p>
        </p:txBody>
      </p:sp>
    </p:spTree>
    <p:extLst>
      <p:ext uri="{BB962C8B-B14F-4D97-AF65-F5344CB8AC3E}">
        <p14:creationId xmlns:p14="http://schemas.microsoft.com/office/powerpoint/2010/main" val="3503596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33BB-FD9E-4FCD-8C0C-46F5E446B3C3}"/>
              </a:ext>
            </a:extLst>
          </p:cNvPr>
          <p:cNvSpPr>
            <a:spLocks noGrp="1"/>
          </p:cNvSpPr>
          <p:nvPr>
            <p:ph type="title"/>
          </p:nvPr>
        </p:nvSpPr>
        <p:spPr/>
        <p:txBody>
          <a:bodyPr>
            <a:normAutofit fontScale="90000"/>
          </a:bodyPr>
          <a:lstStyle/>
          <a:p>
            <a:r>
              <a:rPr lang="en-GB" dirty="0"/>
              <a:t>Repositories suggested from </a:t>
            </a:r>
            <a:r>
              <a:rPr lang="en-GB" dirty="0" err="1"/>
              <a:t>WKRDBES-Raise&amp;TAF</a:t>
            </a:r>
            <a:endParaRPr lang="en-GB" dirty="0"/>
          </a:p>
        </p:txBody>
      </p:sp>
      <p:pic>
        <p:nvPicPr>
          <p:cNvPr id="4" name="Content Placeholder 3" descr="cid:image003.png@01D988AE.23769000">
            <a:extLst>
              <a:ext uri="{FF2B5EF4-FFF2-40B4-BE49-F238E27FC236}">
                <a16:creationId xmlns:a16="http://schemas.microsoft.com/office/drawing/2014/main" id="{802FE0E9-6262-4F1F-BE88-4BF4D06F1315}"/>
              </a:ext>
            </a:extLst>
          </p:cNvPr>
          <p:cNvPicPr>
            <a:picLocks noGrp="1"/>
          </p:cNvPicPr>
          <p:nvPr>
            <p:ph sz="quarter" idx="10"/>
          </p:nvPr>
        </p:nvPicPr>
        <p:blipFill>
          <a:blip r:embed="rId2" r:link="rId3">
            <a:extLst>
              <a:ext uri="{28A0092B-C50C-407E-A947-70E740481C1C}">
                <a14:useLocalDpi xmlns:a14="http://schemas.microsoft.com/office/drawing/2010/main" val="0"/>
              </a:ext>
            </a:extLst>
          </a:blip>
          <a:srcRect/>
          <a:stretch>
            <a:fillRect/>
          </a:stretch>
        </p:blipFill>
        <p:spPr bwMode="auto">
          <a:xfrm>
            <a:off x="2060028" y="1828800"/>
            <a:ext cx="7777655" cy="4602163"/>
          </a:xfrm>
          <a:prstGeom prst="rect">
            <a:avLst/>
          </a:prstGeom>
          <a:noFill/>
          <a:ln>
            <a:noFill/>
          </a:ln>
        </p:spPr>
      </p:pic>
    </p:spTree>
    <p:extLst>
      <p:ext uri="{BB962C8B-B14F-4D97-AF65-F5344CB8AC3E}">
        <p14:creationId xmlns:p14="http://schemas.microsoft.com/office/powerpoint/2010/main" val="1920179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9C8A6-C76A-472A-B8CF-54301524D258}"/>
              </a:ext>
            </a:extLst>
          </p:cNvPr>
          <p:cNvSpPr>
            <a:spLocks noGrp="1"/>
          </p:cNvSpPr>
          <p:nvPr>
            <p:ph type="title"/>
          </p:nvPr>
        </p:nvSpPr>
        <p:spPr>
          <a:xfrm>
            <a:off x="647700" y="170597"/>
            <a:ext cx="9343323" cy="1063625"/>
          </a:xfrm>
        </p:spPr>
        <p:txBody>
          <a:bodyPr>
            <a:normAutofit fontScale="90000"/>
          </a:bodyPr>
          <a:lstStyle/>
          <a:p>
            <a:r>
              <a:rPr lang="en-US" dirty="0"/>
              <a:t>Preparing input to assessment with RDBES/TAF</a:t>
            </a:r>
            <a:br>
              <a:rPr lang="en-US" dirty="0"/>
            </a:br>
            <a:r>
              <a:rPr lang="en-US" sz="2000" dirty="0"/>
              <a:t>WGRDBESGOV report 2021</a:t>
            </a:r>
            <a:endParaRPr lang="en-GB" dirty="0"/>
          </a:p>
        </p:txBody>
      </p:sp>
      <p:pic>
        <p:nvPicPr>
          <p:cNvPr id="4" name="Imagen 6" descr="Diagrama, Escala de tiempo&#10;&#10;Descripción generada automáticamente">
            <a:extLst>
              <a:ext uri="{FF2B5EF4-FFF2-40B4-BE49-F238E27FC236}">
                <a16:creationId xmlns:a16="http://schemas.microsoft.com/office/drawing/2014/main" id="{2A8729DA-470C-4EDA-8ACF-F5149EF85BCC}"/>
              </a:ext>
            </a:extLst>
          </p:cNvPr>
          <p:cNvPicPr>
            <a:picLocks noGrp="1"/>
          </p:cNvPicPr>
          <p:nvPr>
            <p:ph sz="quarter" idx="10"/>
          </p:nvPr>
        </p:nvPicPr>
        <p:blipFill rotWithShape="1">
          <a:blip r:embed="rId2"/>
          <a:srcRect t="4059" b="2121"/>
          <a:stretch/>
        </p:blipFill>
        <p:spPr bwMode="auto">
          <a:xfrm>
            <a:off x="647700" y="859808"/>
            <a:ext cx="10993840" cy="582759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70319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Data Call 2024 all species used for assessment</a:t>
            </a:r>
          </a:p>
        </p:txBody>
      </p:sp>
      <p:sp>
        <p:nvSpPr>
          <p:cNvPr id="3" name="Content Placeholder 2"/>
          <p:cNvSpPr>
            <a:spLocks noGrp="1"/>
          </p:cNvSpPr>
          <p:nvPr>
            <p:ph sz="quarter" idx="10"/>
          </p:nvPr>
        </p:nvSpPr>
        <p:spPr>
          <a:xfrm>
            <a:off x="647700" y="1801503"/>
            <a:ext cx="10749280" cy="4565641"/>
          </a:xfrm>
        </p:spPr>
        <p:txBody>
          <a:bodyPr>
            <a:normAutofit/>
          </a:bodyPr>
          <a:lstStyle/>
          <a:p>
            <a:r>
              <a:rPr lang="en-GB" sz="2400" dirty="0"/>
              <a:t>The RCG and ICES have specified the data call and data will be used for stock assessment</a:t>
            </a:r>
          </a:p>
          <a:p>
            <a:endParaRPr lang="en-GB" sz="2400" dirty="0"/>
          </a:p>
          <a:p>
            <a:r>
              <a:rPr lang="en-GB" sz="2400" dirty="0"/>
              <a:t>The sample data requested in the data call is for all species and incidental bycatch</a:t>
            </a:r>
          </a:p>
          <a:p>
            <a:endParaRPr lang="en-GB" sz="2400" dirty="0"/>
          </a:p>
          <a:p>
            <a:r>
              <a:rPr lang="en-GB" sz="2400" dirty="0"/>
              <a:t>The data call was sent 29</a:t>
            </a:r>
            <a:r>
              <a:rPr lang="en-GB" sz="2400" baseline="30000" dirty="0"/>
              <a:t>th</a:t>
            </a:r>
            <a:r>
              <a:rPr lang="en-GB" sz="2400" dirty="0"/>
              <a:t> January 2024 with a deadline of 2</a:t>
            </a:r>
            <a:r>
              <a:rPr lang="en-GB" sz="2400" baseline="30000" dirty="0"/>
              <a:t>nd</a:t>
            </a:r>
            <a:r>
              <a:rPr lang="en-GB" sz="2400" dirty="0"/>
              <a:t> April 2024</a:t>
            </a:r>
          </a:p>
        </p:txBody>
      </p:sp>
    </p:spTree>
    <p:extLst>
      <p:ext uri="{BB962C8B-B14F-4D97-AF65-F5344CB8AC3E}">
        <p14:creationId xmlns:p14="http://schemas.microsoft.com/office/powerpoint/2010/main" val="3803301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55575B72-33C9-4D99-9AB4-F204DF97CF6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6299180"/>
            <a:ext cx="1466436" cy="367460"/>
          </a:xfrm>
          <a:prstGeom prst="rect">
            <a:avLst/>
          </a:prstGeom>
        </p:spPr>
      </p:pic>
      <p:sp>
        <p:nvSpPr>
          <p:cNvPr id="17" name="Title 16">
            <a:extLst>
              <a:ext uri="{FF2B5EF4-FFF2-40B4-BE49-F238E27FC236}">
                <a16:creationId xmlns:a16="http://schemas.microsoft.com/office/drawing/2014/main" id="{B22D36D9-165B-411F-8B17-E2B7A7FA1F23}"/>
              </a:ext>
            </a:extLst>
          </p:cNvPr>
          <p:cNvSpPr>
            <a:spLocks noGrp="1"/>
          </p:cNvSpPr>
          <p:nvPr>
            <p:ph type="title"/>
          </p:nvPr>
        </p:nvSpPr>
        <p:spPr>
          <a:xfrm>
            <a:off x="839788" y="457200"/>
            <a:ext cx="9635707" cy="417786"/>
          </a:xfrm>
        </p:spPr>
        <p:txBody>
          <a:bodyPr>
            <a:noAutofit/>
          </a:bodyPr>
          <a:lstStyle/>
          <a:p>
            <a:r>
              <a:rPr lang="en-GB" b="1" dirty="0">
                <a:solidFill>
                  <a:srgbClr val="00265A"/>
                </a:solidFill>
                <a:latin typeface="+mn-lt"/>
              </a:rPr>
              <a:t>RDBES road map - </a:t>
            </a:r>
            <a:r>
              <a:rPr lang="en-US" b="1" dirty="0">
                <a:solidFill>
                  <a:srgbClr val="00265A"/>
                </a:solidFill>
                <a:latin typeface="+mn-lt"/>
              </a:rPr>
              <a:t>substitute InterCatch and the RDB</a:t>
            </a:r>
            <a:endParaRPr lang="en-GB" b="1" dirty="0">
              <a:solidFill>
                <a:srgbClr val="00265A"/>
              </a:solidFill>
              <a:latin typeface="+mn-lt"/>
            </a:endParaRPr>
          </a:p>
        </p:txBody>
      </p:sp>
      <p:graphicFrame>
        <p:nvGraphicFramePr>
          <p:cNvPr id="4" name="Table 3">
            <a:extLst>
              <a:ext uri="{FF2B5EF4-FFF2-40B4-BE49-F238E27FC236}">
                <a16:creationId xmlns:a16="http://schemas.microsoft.com/office/drawing/2014/main" id="{B7BE81CD-7F3B-40B1-93A2-6EB7E98932BF}"/>
              </a:ext>
            </a:extLst>
          </p:cNvPr>
          <p:cNvGraphicFramePr>
            <a:graphicFrameLocks noGrp="1"/>
          </p:cNvGraphicFramePr>
          <p:nvPr>
            <p:extLst>
              <p:ext uri="{D42A27DB-BD31-4B8C-83A1-F6EECF244321}">
                <p14:modId xmlns:p14="http://schemas.microsoft.com/office/powerpoint/2010/main" val="718566408"/>
              </p:ext>
            </p:extLst>
          </p:nvPr>
        </p:nvGraphicFramePr>
        <p:xfrm>
          <a:off x="731783" y="858198"/>
          <a:ext cx="10728433" cy="5552922"/>
        </p:xfrm>
        <a:graphic>
          <a:graphicData uri="http://schemas.openxmlformats.org/drawingml/2006/table">
            <a:tbl>
              <a:tblPr firstRow="1" firstCol="1" bandRow="1">
                <a:tableStyleId>{5C22544A-7EE6-4342-B048-85BDC9FD1C3A}</a:tableStyleId>
              </a:tblPr>
              <a:tblGrid>
                <a:gridCol w="1187649">
                  <a:extLst>
                    <a:ext uri="{9D8B030D-6E8A-4147-A177-3AD203B41FA5}">
                      <a16:colId xmlns:a16="http://schemas.microsoft.com/office/drawing/2014/main" val="124639595"/>
                    </a:ext>
                  </a:extLst>
                </a:gridCol>
                <a:gridCol w="2385196">
                  <a:extLst>
                    <a:ext uri="{9D8B030D-6E8A-4147-A177-3AD203B41FA5}">
                      <a16:colId xmlns:a16="http://schemas.microsoft.com/office/drawing/2014/main" val="1478059373"/>
                    </a:ext>
                  </a:extLst>
                </a:gridCol>
                <a:gridCol w="2385196">
                  <a:extLst>
                    <a:ext uri="{9D8B030D-6E8A-4147-A177-3AD203B41FA5}">
                      <a16:colId xmlns:a16="http://schemas.microsoft.com/office/drawing/2014/main" val="3017379612"/>
                    </a:ext>
                  </a:extLst>
                </a:gridCol>
                <a:gridCol w="2385196">
                  <a:extLst>
                    <a:ext uri="{9D8B030D-6E8A-4147-A177-3AD203B41FA5}">
                      <a16:colId xmlns:a16="http://schemas.microsoft.com/office/drawing/2014/main" val="1028682863"/>
                    </a:ext>
                  </a:extLst>
                </a:gridCol>
                <a:gridCol w="2385196">
                  <a:extLst>
                    <a:ext uri="{9D8B030D-6E8A-4147-A177-3AD203B41FA5}">
                      <a16:colId xmlns:a16="http://schemas.microsoft.com/office/drawing/2014/main" val="2324691828"/>
                    </a:ext>
                  </a:extLst>
                </a:gridCol>
              </a:tblGrid>
              <a:tr h="299545">
                <a:tc>
                  <a:txBody>
                    <a:bodyPr/>
                    <a:lstStyle/>
                    <a:p>
                      <a:pPr algn="just">
                        <a:lnSpc>
                          <a:spcPts val="1300"/>
                        </a:lnSpc>
                        <a:spcAft>
                          <a:spcPts val="0"/>
                        </a:spcAft>
                      </a:pPr>
                      <a:endParaRPr lang="en-GB" sz="18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b"/>
                </a:tc>
                <a:tc>
                  <a:txBody>
                    <a:bodyPr/>
                    <a:lstStyle/>
                    <a:p>
                      <a:pPr algn="ctr">
                        <a:lnSpc>
                          <a:spcPts val="1300"/>
                        </a:lnSpc>
                        <a:spcAft>
                          <a:spcPts val="0"/>
                        </a:spcAft>
                      </a:pPr>
                      <a:r>
                        <a:rPr lang="es-ES" sz="1800">
                          <a:effectLst/>
                        </a:rPr>
                        <a:t>2024</a:t>
                      </a:r>
                      <a:endParaRPr lang="en-GB" sz="18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ctr">
                        <a:lnSpc>
                          <a:spcPts val="1300"/>
                        </a:lnSpc>
                        <a:spcAft>
                          <a:spcPts val="0"/>
                        </a:spcAft>
                      </a:pPr>
                      <a:r>
                        <a:rPr lang="es-ES" sz="1800">
                          <a:effectLst/>
                        </a:rPr>
                        <a:t>2025</a:t>
                      </a:r>
                      <a:endParaRPr lang="en-GB" sz="18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ctr">
                        <a:lnSpc>
                          <a:spcPts val="1300"/>
                        </a:lnSpc>
                        <a:spcAft>
                          <a:spcPts val="0"/>
                        </a:spcAft>
                      </a:pPr>
                      <a:r>
                        <a:rPr lang="es-ES" sz="1800">
                          <a:effectLst/>
                        </a:rPr>
                        <a:t>2026</a:t>
                      </a:r>
                      <a:endParaRPr lang="en-GB" sz="18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ctr">
                        <a:lnSpc>
                          <a:spcPts val="1300"/>
                        </a:lnSpc>
                        <a:spcAft>
                          <a:spcPts val="0"/>
                        </a:spcAft>
                      </a:pPr>
                      <a:r>
                        <a:rPr lang="es-ES" sz="1800">
                          <a:effectLst/>
                        </a:rPr>
                        <a:t>2027</a:t>
                      </a:r>
                      <a:endParaRPr lang="en-GB" sz="18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extLst>
                  <a:ext uri="{0D108BD9-81ED-4DB2-BD59-A6C34878D82A}">
                    <a16:rowId xmlns:a16="http://schemas.microsoft.com/office/drawing/2014/main" val="2361981664"/>
                  </a:ext>
                </a:extLst>
              </a:tr>
              <a:tr h="271007">
                <a:tc>
                  <a:txBody>
                    <a:bodyPr/>
                    <a:lstStyle/>
                    <a:p>
                      <a:pPr algn="ctr">
                        <a:lnSpc>
                          <a:spcPts val="1300"/>
                        </a:lnSpc>
                        <a:spcAft>
                          <a:spcPts val="0"/>
                        </a:spcAft>
                      </a:pPr>
                      <a:r>
                        <a:rPr lang="en-GB" sz="1400">
                          <a:solidFill>
                            <a:srgbClr val="FFFF00"/>
                          </a:solidFill>
                          <a:effectLst/>
                        </a:rPr>
                        <a:t>RDB</a:t>
                      </a:r>
                      <a:endParaRPr lang="en-GB" sz="1400">
                        <a:solidFill>
                          <a:srgbClr val="FFFF00"/>
                        </a:solidFill>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just">
                        <a:lnSpc>
                          <a:spcPts val="1300"/>
                        </a:lnSpc>
                        <a:spcAft>
                          <a:spcPts val="0"/>
                        </a:spcAft>
                      </a:pPr>
                      <a:r>
                        <a:rPr lang="en-GB" sz="1400" b="1">
                          <a:effectLst/>
                        </a:rPr>
                        <a:t>Data download</a:t>
                      </a:r>
                      <a:endParaRPr lang="en-GB" sz="1400" b="1">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US" sz="1400" b="1">
                          <a:effectLst/>
                        </a:rPr>
                        <a:t>Data download</a:t>
                      </a:r>
                      <a:endParaRPr lang="en-GB" sz="1400" b="1">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US" sz="1400" b="1">
                          <a:effectLst/>
                        </a:rPr>
                        <a:t>Data download</a:t>
                      </a:r>
                      <a:endParaRPr lang="en-GB" sz="1400" b="1">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US" sz="1400" b="1">
                          <a:effectLst/>
                        </a:rPr>
                        <a:t>Data download </a:t>
                      </a:r>
                      <a:endParaRPr lang="en-GB" sz="1400" b="1">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extLst>
                  <a:ext uri="{0D108BD9-81ED-4DB2-BD59-A6C34878D82A}">
                    <a16:rowId xmlns:a16="http://schemas.microsoft.com/office/drawing/2014/main" val="851080935"/>
                  </a:ext>
                </a:extLst>
              </a:tr>
              <a:tr h="312683">
                <a:tc>
                  <a:txBody>
                    <a:bodyPr/>
                    <a:lstStyle/>
                    <a:p>
                      <a:pPr algn="ctr">
                        <a:lnSpc>
                          <a:spcPts val="1300"/>
                        </a:lnSpc>
                        <a:spcAft>
                          <a:spcPts val="0"/>
                        </a:spcAft>
                      </a:pPr>
                      <a:r>
                        <a:rPr lang="en-GB" sz="1400" err="1">
                          <a:solidFill>
                            <a:srgbClr val="FFFF00"/>
                          </a:solidFill>
                          <a:effectLst/>
                        </a:rPr>
                        <a:t>InterCatch</a:t>
                      </a:r>
                      <a:endParaRPr lang="en-GB" sz="1400" err="1">
                        <a:solidFill>
                          <a:srgbClr val="FFFF00"/>
                        </a:solidFill>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just">
                        <a:lnSpc>
                          <a:spcPts val="1300"/>
                        </a:lnSpc>
                        <a:spcAft>
                          <a:spcPts val="0"/>
                        </a:spcAft>
                      </a:pPr>
                      <a:r>
                        <a:rPr lang="en-GB" sz="1400" b="1" dirty="0">
                          <a:effectLst/>
                        </a:rPr>
                        <a:t>Data uploaded &amp; download*</a:t>
                      </a:r>
                      <a:endParaRPr lang="en-GB" sz="1400" b="1" dirty="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GB" sz="1400" b="1" dirty="0">
                          <a:effectLst/>
                        </a:rPr>
                        <a:t>Data uploaded &amp; download*</a:t>
                      </a:r>
                      <a:endParaRPr lang="en-GB" sz="1400" b="1" dirty="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GB" sz="1400" b="1" dirty="0">
                          <a:effectLst/>
                        </a:rPr>
                        <a:t>Data uploaded &amp; download*</a:t>
                      </a:r>
                    </a:p>
                    <a:p>
                      <a:pPr algn="just">
                        <a:lnSpc>
                          <a:spcPts val="1300"/>
                        </a:lnSpc>
                        <a:spcAft>
                          <a:spcPts val="0"/>
                        </a:spcAft>
                      </a:pPr>
                      <a:endParaRPr lang="en-GB" sz="1400" b="1" dirty="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US" sz="1400" b="1">
                          <a:effectLst/>
                        </a:rPr>
                        <a:t>Data download </a:t>
                      </a:r>
                      <a:endParaRPr lang="en-GB" sz="1400" b="1">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extLst>
                  <a:ext uri="{0D108BD9-81ED-4DB2-BD59-A6C34878D82A}">
                    <a16:rowId xmlns:a16="http://schemas.microsoft.com/office/drawing/2014/main" val="3379780529"/>
                  </a:ext>
                </a:extLst>
              </a:tr>
              <a:tr h="312683">
                <a:tc>
                  <a:txBody>
                    <a:bodyPr/>
                    <a:lstStyle/>
                    <a:p>
                      <a:pPr algn="ctr">
                        <a:lnSpc>
                          <a:spcPts val="1300"/>
                        </a:lnSpc>
                        <a:spcAft>
                          <a:spcPts val="0"/>
                        </a:spcAft>
                      </a:pPr>
                      <a:r>
                        <a:rPr lang="en-GB" sz="1400">
                          <a:solidFill>
                            <a:srgbClr val="FFFF00"/>
                          </a:solidFill>
                          <a:effectLst/>
                        </a:rPr>
                        <a:t>RDBES</a:t>
                      </a:r>
                      <a:endParaRPr lang="en-GB" sz="1400">
                        <a:solidFill>
                          <a:srgbClr val="FFFF00"/>
                        </a:solidFill>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just">
                        <a:lnSpc>
                          <a:spcPts val="1300"/>
                        </a:lnSpc>
                        <a:spcAft>
                          <a:spcPts val="0"/>
                        </a:spcAft>
                      </a:pPr>
                      <a:r>
                        <a:rPr lang="en-GB" sz="1400" b="1">
                          <a:effectLst/>
                        </a:rPr>
                        <a:t>Data uploaded &amp; download</a:t>
                      </a:r>
                      <a:endParaRPr lang="en-GB" sz="1400" b="1">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GB" sz="1400" b="1">
                          <a:effectLst/>
                        </a:rPr>
                        <a:t>Data uploaded &amp; download</a:t>
                      </a:r>
                      <a:endParaRPr lang="en-GB" sz="1400" b="1">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GB" sz="1400" b="1">
                          <a:effectLst/>
                        </a:rPr>
                        <a:t>Data uploaded &amp; download</a:t>
                      </a:r>
                      <a:endParaRPr lang="en-GB" sz="1400" b="1">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GB" sz="1400" b="1">
                          <a:effectLst/>
                        </a:rPr>
                        <a:t>Data uploaded &amp; download</a:t>
                      </a:r>
                    </a:p>
                    <a:p>
                      <a:pPr algn="just">
                        <a:lnSpc>
                          <a:spcPts val="1300"/>
                        </a:lnSpc>
                        <a:spcAft>
                          <a:spcPts val="0"/>
                        </a:spcAft>
                      </a:pPr>
                      <a:r>
                        <a:rPr lang="en-GB" sz="1400" b="1">
                          <a:effectLst/>
                        </a:rPr>
                        <a:t> </a:t>
                      </a:r>
                      <a:endParaRPr lang="en-GB" sz="1400" b="1">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extLst>
                  <a:ext uri="{0D108BD9-81ED-4DB2-BD59-A6C34878D82A}">
                    <a16:rowId xmlns:a16="http://schemas.microsoft.com/office/drawing/2014/main" val="400288421"/>
                  </a:ext>
                </a:extLst>
              </a:tr>
              <a:tr h="818642">
                <a:tc>
                  <a:txBody>
                    <a:bodyPr/>
                    <a:lstStyle/>
                    <a:p>
                      <a:pPr algn="ctr">
                        <a:lnSpc>
                          <a:spcPts val="1300"/>
                        </a:lnSpc>
                        <a:spcAft>
                          <a:spcPts val="0"/>
                        </a:spcAft>
                      </a:pPr>
                      <a:r>
                        <a:rPr lang="en-GB" sz="1400">
                          <a:effectLst/>
                        </a:rPr>
                        <a:t>RDBES Data Calls </a:t>
                      </a:r>
                      <a:endParaRPr lang="en-GB" sz="14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just">
                        <a:lnSpc>
                          <a:spcPts val="1300"/>
                        </a:lnSpc>
                        <a:spcAft>
                          <a:spcPts val="400"/>
                        </a:spcAft>
                      </a:pPr>
                      <a:r>
                        <a:rPr lang="en-US" sz="1200">
                          <a:effectLst/>
                        </a:rPr>
                        <a:t>. Joint RCG-ICES RDBES DC (April) </a:t>
                      </a:r>
                      <a:endParaRPr lang="en-GB" sz="1200">
                        <a:effectLst/>
                      </a:endParaRPr>
                    </a:p>
                    <a:p>
                      <a:pPr algn="just">
                        <a:lnSpc>
                          <a:spcPts val="1300"/>
                        </a:lnSpc>
                        <a:spcAft>
                          <a:spcPts val="400"/>
                        </a:spcAft>
                      </a:pPr>
                      <a:r>
                        <a:rPr lang="en-US" sz="1200">
                          <a:effectLst/>
                        </a:rPr>
                        <a:t>. HAWG RDBES data calls (n=2) (autumn)</a:t>
                      </a:r>
                      <a:endParaRPr lang="en-GB" sz="1200">
                        <a:effectLst/>
                      </a:endParaRPr>
                    </a:p>
                    <a:p>
                      <a:pPr algn="just">
                        <a:lnSpc>
                          <a:spcPts val="1300"/>
                        </a:lnSpc>
                        <a:spcAft>
                          <a:spcPts val="400"/>
                        </a:spcAft>
                      </a:pPr>
                      <a:r>
                        <a:rPr lang="en-GB" sz="1200">
                          <a:effectLst/>
                        </a:rPr>
                        <a:t>.</a:t>
                      </a:r>
                      <a:r>
                        <a:rPr lang="da-DK" sz="1200">
                          <a:effectLst/>
                        </a:rPr>
                        <a:t> RCG LDF RDBES DC (</a:t>
                      </a:r>
                      <a:r>
                        <a:rPr lang="da-DK" sz="1200" err="1">
                          <a:effectLst/>
                        </a:rPr>
                        <a:t>tbd</a:t>
                      </a:r>
                      <a:r>
                        <a:rPr lang="da-DK" sz="1200">
                          <a:effectLst/>
                        </a:rPr>
                        <a:t>)</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fr-FR" sz="1200">
                          <a:effectLst/>
                        </a:rPr>
                        <a:t>. Joint RCG-ICES RDBES DC (TBD)</a:t>
                      </a:r>
                      <a:endParaRPr lang="en-GB" sz="1200">
                        <a:effectLst/>
                      </a:endParaRPr>
                    </a:p>
                    <a:p>
                      <a:pPr algn="just">
                        <a:lnSpc>
                          <a:spcPts val="1300"/>
                        </a:lnSpc>
                        <a:spcAft>
                          <a:spcPts val="400"/>
                        </a:spcAft>
                      </a:pPr>
                      <a:r>
                        <a:rPr lang="da-DK" sz="1200">
                          <a:effectLst/>
                        </a:rPr>
                        <a:t>. RDBES </a:t>
                      </a:r>
                      <a:r>
                        <a:rPr lang="da-DK" sz="1200" err="1">
                          <a:effectLst/>
                        </a:rPr>
                        <a:t>older</a:t>
                      </a:r>
                      <a:r>
                        <a:rPr lang="da-DK" sz="1200">
                          <a:effectLst/>
                        </a:rPr>
                        <a:t> data? (TBD)</a:t>
                      </a:r>
                      <a:endParaRPr lang="en-GB" sz="1200">
                        <a:effectLst/>
                      </a:endParaRPr>
                    </a:p>
                    <a:p>
                      <a:pPr algn="just">
                        <a:lnSpc>
                          <a:spcPts val="1300"/>
                        </a:lnSpc>
                        <a:spcAft>
                          <a:spcPts val="400"/>
                        </a:spcAft>
                      </a:pPr>
                      <a:r>
                        <a:rPr lang="da-DK" sz="1200">
                          <a:effectLst/>
                        </a:rPr>
                        <a:t>. RCG LDF RDBES DC (TBD)</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fr-FR" sz="1200">
                          <a:effectLst/>
                        </a:rPr>
                        <a:t>. Joint RCG-ICES RDBES DC (TBD)</a:t>
                      </a:r>
                      <a:endParaRPr lang="en-GB" sz="1200">
                        <a:effectLst/>
                      </a:endParaRPr>
                    </a:p>
                    <a:p>
                      <a:pPr algn="just">
                        <a:lnSpc>
                          <a:spcPts val="1300"/>
                        </a:lnSpc>
                        <a:spcAft>
                          <a:spcPts val="400"/>
                        </a:spcAft>
                      </a:pPr>
                      <a:r>
                        <a:rPr lang="da-DK" sz="1200">
                          <a:effectLst/>
                        </a:rPr>
                        <a:t>. RDBES </a:t>
                      </a:r>
                      <a:r>
                        <a:rPr lang="da-DK" sz="1200" err="1">
                          <a:effectLst/>
                        </a:rPr>
                        <a:t>older</a:t>
                      </a:r>
                      <a:r>
                        <a:rPr lang="da-DK" sz="1200">
                          <a:effectLst/>
                        </a:rPr>
                        <a:t> data? (TBD)</a:t>
                      </a:r>
                      <a:endParaRPr lang="en-GB" sz="1200">
                        <a:effectLst/>
                      </a:endParaRPr>
                    </a:p>
                    <a:p>
                      <a:pPr algn="just">
                        <a:lnSpc>
                          <a:spcPts val="1300"/>
                        </a:lnSpc>
                        <a:spcAft>
                          <a:spcPts val="400"/>
                        </a:spcAft>
                      </a:pPr>
                      <a:r>
                        <a:rPr lang="da-DK" sz="1200">
                          <a:effectLst/>
                        </a:rPr>
                        <a:t>. RCG LDF RDBES DC (TBD)</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fr-FR" sz="1200">
                          <a:effectLst/>
                        </a:rPr>
                        <a:t>. Joint RCG-ICES RDBES DC (TBD)</a:t>
                      </a:r>
                      <a:endParaRPr lang="en-GB" sz="1200">
                        <a:effectLst/>
                      </a:endParaRPr>
                    </a:p>
                    <a:p>
                      <a:pPr algn="just">
                        <a:lnSpc>
                          <a:spcPts val="1300"/>
                        </a:lnSpc>
                        <a:spcAft>
                          <a:spcPts val="400"/>
                        </a:spcAft>
                      </a:pPr>
                      <a:r>
                        <a:rPr lang="da-DK" sz="1200">
                          <a:effectLst/>
                        </a:rPr>
                        <a:t>. RDBES </a:t>
                      </a:r>
                      <a:r>
                        <a:rPr lang="da-DK" sz="1200" err="1">
                          <a:effectLst/>
                        </a:rPr>
                        <a:t>older</a:t>
                      </a:r>
                      <a:r>
                        <a:rPr lang="da-DK" sz="1200">
                          <a:effectLst/>
                        </a:rPr>
                        <a:t> data? (TBD)</a:t>
                      </a:r>
                      <a:endParaRPr lang="en-GB" sz="1200">
                        <a:effectLst/>
                      </a:endParaRPr>
                    </a:p>
                    <a:p>
                      <a:pPr algn="just">
                        <a:lnSpc>
                          <a:spcPts val="1300"/>
                        </a:lnSpc>
                        <a:spcAft>
                          <a:spcPts val="400"/>
                        </a:spcAft>
                      </a:pPr>
                      <a:r>
                        <a:rPr lang="da-DK" sz="1200">
                          <a:effectLst/>
                        </a:rPr>
                        <a:t>. RCG LDF RDBES DC (TBD)</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extLst>
                  <a:ext uri="{0D108BD9-81ED-4DB2-BD59-A6C34878D82A}">
                    <a16:rowId xmlns:a16="http://schemas.microsoft.com/office/drawing/2014/main" val="1456063941"/>
                  </a:ext>
                </a:extLst>
              </a:tr>
              <a:tr h="489769">
                <a:tc>
                  <a:txBody>
                    <a:bodyPr/>
                    <a:lstStyle/>
                    <a:p>
                      <a:pPr algn="ctr">
                        <a:lnSpc>
                          <a:spcPts val="1300"/>
                        </a:lnSpc>
                        <a:spcAft>
                          <a:spcPts val="0"/>
                        </a:spcAft>
                      </a:pPr>
                      <a:r>
                        <a:rPr lang="en-GB" sz="1400">
                          <a:effectLst/>
                        </a:rPr>
                        <a:t>Other Data Calls</a:t>
                      </a:r>
                      <a:endParaRPr lang="en-GB" sz="14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just">
                        <a:lnSpc>
                          <a:spcPts val="1300"/>
                        </a:lnSpc>
                        <a:spcAft>
                          <a:spcPts val="400"/>
                        </a:spcAft>
                      </a:pPr>
                      <a:r>
                        <a:rPr lang="en-GB" sz="1200">
                          <a:effectLst/>
                        </a:rPr>
                        <a:t>. ICES Fisheries DC</a:t>
                      </a:r>
                    </a:p>
                    <a:p>
                      <a:pPr algn="just">
                        <a:lnSpc>
                          <a:spcPts val="1300"/>
                        </a:lnSpc>
                        <a:spcAft>
                          <a:spcPts val="400"/>
                        </a:spcAft>
                      </a:pPr>
                      <a:r>
                        <a:rPr lang="en-GB" sz="1200">
                          <a:effectLst/>
                        </a:rPr>
                        <a:t>. ICES Recreational DC</a:t>
                      </a:r>
                    </a:p>
                    <a:p>
                      <a:pPr algn="just">
                        <a:lnSpc>
                          <a:spcPts val="1300"/>
                        </a:lnSpc>
                        <a:spcAft>
                          <a:spcPts val="400"/>
                        </a:spcAft>
                      </a:pPr>
                      <a:r>
                        <a:rPr lang="en-GB" sz="1200">
                          <a:effectLst/>
                        </a:rPr>
                        <a:t>. ICES WGBYC DC</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en-GB" sz="1200">
                          <a:effectLst/>
                        </a:rPr>
                        <a:t>. ICES Fisheries DC</a:t>
                      </a:r>
                    </a:p>
                    <a:p>
                      <a:pPr algn="just">
                        <a:lnSpc>
                          <a:spcPts val="1300"/>
                        </a:lnSpc>
                        <a:spcAft>
                          <a:spcPts val="400"/>
                        </a:spcAft>
                      </a:pPr>
                      <a:r>
                        <a:rPr lang="en-GB" sz="1200">
                          <a:effectLst/>
                        </a:rPr>
                        <a:t>. ICES Recreational DC</a:t>
                      </a:r>
                    </a:p>
                    <a:p>
                      <a:pPr algn="just">
                        <a:lnSpc>
                          <a:spcPts val="1300"/>
                        </a:lnSpc>
                        <a:spcAft>
                          <a:spcPts val="400"/>
                        </a:spcAft>
                      </a:pPr>
                      <a:r>
                        <a:rPr lang="en-GB" sz="1200">
                          <a:effectLst/>
                        </a:rPr>
                        <a:t>. ICES WGBYC DC</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en-GB" sz="1200">
                          <a:effectLst/>
                        </a:rPr>
                        <a:t>. ICES Fisheries DC</a:t>
                      </a:r>
                    </a:p>
                    <a:p>
                      <a:pPr algn="just">
                        <a:lnSpc>
                          <a:spcPts val="1300"/>
                        </a:lnSpc>
                        <a:spcAft>
                          <a:spcPts val="400"/>
                        </a:spcAft>
                      </a:pPr>
                      <a:r>
                        <a:rPr lang="en-GB" sz="1200">
                          <a:effectLst/>
                        </a:rPr>
                        <a:t>. ICES Recreational DC</a:t>
                      </a:r>
                    </a:p>
                    <a:p>
                      <a:pPr algn="just">
                        <a:lnSpc>
                          <a:spcPts val="1300"/>
                        </a:lnSpc>
                        <a:spcAft>
                          <a:spcPts val="400"/>
                        </a:spcAft>
                      </a:pPr>
                      <a:r>
                        <a:rPr lang="en-GB" sz="1200">
                          <a:effectLst/>
                        </a:rPr>
                        <a:t>. ICES WGBYC DC</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extLst>
                  <a:ext uri="{0D108BD9-81ED-4DB2-BD59-A6C34878D82A}">
                    <a16:rowId xmlns:a16="http://schemas.microsoft.com/office/drawing/2014/main" val="2773673421"/>
                  </a:ext>
                </a:extLst>
              </a:tr>
              <a:tr h="531932">
                <a:tc>
                  <a:txBody>
                    <a:bodyPr/>
                    <a:lstStyle/>
                    <a:p>
                      <a:pPr algn="ctr">
                        <a:lnSpc>
                          <a:spcPts val="1300"/>
                        </a:lnSpc>
                        <a:spcAft>
                          <a:spcPts val="0"/>
                        </a:spcAft>
                      </a:pPr>
                      <a:r>
                        <a:rPr lang="en-GB" sz="1400">
                          <a:effectLst/>
                        </a:rPr>
                        <a:t>Use of RDBES in stock </a:t>
                      </a:r>
                    </a:p>
                    <a:p>
                      <a:pPr algn="ctr">
                        <a:lnSpc>
                          <a:spcPts val="1300"/>
                        </a:lnSpc>
                        <a:spcAft>
                          <a:spcPts val="0"/>
                        </a:spcAft>
                      </a:pPr>
                      <a:r>
                        <a:rPr lang="en-GB" sz="1400">
                          <a:effectLst/>
                        </a:rPr>
                        <a:t>assessment</a:t>
                      </a:r>
                      <a:endParaRPr lang="en-GB" sz="14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just">
                        <a:lnSpc>
                          <a:spcPts val="1300"/>
                        </a:lnSpc>
                        <a:spcAft>
                          <a:spcPts val="400"/>
                        </a:spcAft>
                      </a:pPr>
                      <a:r>
                        <a:rPr lang="en-GB" sz="1200">
                          <a:effectLst/>
                        </a:rPr>
                        <a:t>. Test of RDBES uploads and estimations ahead of some stock assessment groups </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en-GB" sz="1200">
                          <a:effectLst/>
                        </a:rPr>
                        <a:t>. Test of RDBES uploads and estimations ahead of some stock assessment groups </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en-GB" sz="1200">
                          <a:effectLst/>
                        </a:rPr>
                        <a:t>. Test of RDBES uploads and estimations ahead of some stock assessment groups </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en-GB" sz="1200">
                          <a:effectLst/>
                        </a:rPr>
                        <a:t>. Use of RDBES data in the assessment of stocks currently uploaded to IC (in TAF)</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extLst>
                  <a:ext uri="{0D108BD9-81ED-4DB2-BD59-A6C34878D82A}">
                    <a16:rowId xmlns:a16="http://schemas.microsoft.com/office/drawing/2014/main" val="379461337"/>
                  </a:ext>
                </a:extLst>
              </a:tr>
              <a:tr h="1501688">
                <a:tc>
                  <a:txBody>
                    <a:bodyPr/>
                    <a:lstStyle/>
                    <a:p>
                      <a:pPr algn="ctr">
                        <a:lnSpc>
                          <a:spcPts val="1300"/>
                        </a:lnSpc>
                        <a:spcAft>
                          <a:spcPts val="0"/>
                        </a:spcAft>
                      </a:pPr>
                      <a:r>
                        <a:rPr lang="en-GB" sz="1400">
                          <a:effectLst/>
                        </a:rPr>
                        <a:t>ICES &amp; DCF Community</a:t>
                      </a:r>
                      <a:endParaRPr lang="en-GB" sz="14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just">
                        <a:lnSpc>
                          <a:spcPts val="1300"/>
                        </a:lnSpc>
                        <a:spcAft>
                          <a:spcPts val="400"/>
                        </a:spcAft>
                      </a:pPr>
                      <a:r>
                        <a:rPr lang="en-GB" sz="1200">
                          <a:effectLst/>
                        </a:rPr>
                        <a:t>. WGRDBES-EST</a:t>
                      </a:r>
                    </a:p>
                    <a:p>
                      <a:pPr algn="just">
                        <a:lnSpc>
                          <a:spcPts val="1300"/>
                        </a:lnSpc>
                        <a:spcAft>
                          <a:spcPts val="400"/>
                        </a:spcAft>
                      </a:pPr>
                      <a:r>
                        <a:rPr lang="en-GB" sz="1200">
                          <a:effectLst/>
                        </a:rPr>
                        <a:t>. WGRDBES-</a:t>
                      </a:r>
                      <a:r>
                        <a:rPr lang="en-GB" sz="1200" err="1">
                          <a:effectLst/>
                        </a:rPr>
                        <a:t>StockCoord</a:t>
                      </a:r>
                      <a:r>
                        <a:rPr lang="en-GB" sz="1200">
                          <a:effectLst/>
                        </a:rPr>
                        <a:t> (tbc)</a:t>
                      </a:r>
                    </a:p>
                    <a:p>
                      <a:pPr algn="just">
                        <a:lnSpc>
                          <a:spcPts val="1300"/>
                        </a:lnSpc>
                        <a:spcAft>
                          <a:spcPts val="400"/>
                        </a:spcAft>
                      </a:pPr>
                      <a:r>
                        <a:rPr lang="en-GB" sz="1200">
                          <a:effectLst/>
                        </a:rPr>
                        <a:t>. WKRDBES-RaiseStock1 (tbc)</a:t>
                      </a:r>
                    </a:p>
                    <a:p>
                      <a:pPr algn="just">
                        <a:lnSpc>
                          <a:spcPts val="1300"/>
                        </a:lnSpc>
                        <a:spcAft>
                          <a:spcPts val="400"/>
                        </a:spcAft>
                      </a:pPr>
                      <a:r>
                        <a:rPr lang="en-GB" sz="1200">
                          <a:effectLst/>
                        </a:rPr>
                        <a:t>. WKRDBES-INTRO</a:t>
                      </a:r>
                    </a:p>
                    <a:p>
                      <a:pPr algn="just">
                        <a:lnSpc>
                          <a:spcPts val="1300"/>
                        </a:lnSpc>
                        <a:spcAft>
                          <a:spcPts val="400"/>
                        </a:spcAft>
                      </a:pPr>
                      <a:r>
                        <a:rPr lang="en-GB" sz="1200">
                          <a:effectLst/>
                        </a:rPr>
                        <a:t>. WGRDBESGOV – ISSG Quality</a:t>
                      </a:r>
                    </a:p>
                    <a:p>
                      <a:pPr algn="just">
                        <a:lnSpc>
                          <a:spcPts val="1300"/>
                        </a:lnSpc>
                        <a:spcAft>
                          <a:spcPts val="400"/>
                        </a:spcAft>
                      </a:pPr>
                      <a:r>
                        <a:rPr lang="en-GB" sz="1200">
                          <a:effectLst/>
                        </a:rPr>
                        <a:t>- WGRDBESGOV – ISSG Format</a:t>
                      </a:r>
                    </a:p>
                    <a:p>
                      <a:pPr algn="just">
                        <a:lnSpc>
                          <a:spcPts val="1300"/>
                        </a:lnSpc>
                        <a:spcAft>
                          <a:spcPts val="400"/>
                        </a:spcAft>
                      </a:pPr>
                      <a:r>
                        <a:rPr lang="en-GB" sz="1200">
                          <a:effectLst/>
                        </a:rPr>
                        <a:t>- WGRDBESGOV Core Group</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en-GB" sz="1200">
                          <a:effectLst/>
                        </a:rPr>
                        <a:t>. WGRDBES-EST</a:t>
                      </a:r>
                    </a:p>
                    <a:p>
                      <a:pPr algn="just">
                        <a:lnSpc>
                          <a:spcPts val="1300"/>
                        </a:lnSpc>
                        <a:spcAft>
                          <a:spcPts val="400"/>
                        </a:spcAft>
                      </a:pPr>
                      <a:r>
                        <a:rPr lang="en-GB" sz="1200">
                          <a:effectLst/>
                        </a:rPr>
                        <a:t>. WGRDBES-</a:t>
                      </a:r>
                      <a:r>
                        <a:rPr lang="en-GB" sz="1200" err="1">
                          <a:effectLst/>
                        </a:rPr>
                        <a:t>StockCoord</a:t>
                      </a:r>
                      <a:r>
                        <a:rPr lang="en-GB" sz="1200">
                          <a:effectLst/>
                        </a:rPr>
                        <a:t> (tbc)</a:t>
                      </a:r>
                    </a:p>
                    <a:p>
                      <a:pPr algn="just">
                        <a:lnSpc>
                          <a:spcPts val="1300"/>
                        </a:lnSpc>
                        <a:spcAft>
                          <a:spcPts val="400"/>
                        </a:spcAft>
                      </a:pPr>
                      <a:r>
                        <a:rPr lang="en-GB" sz="1200">
                          <a:effectLst/>
                        </a:rPr>
                        <a:t>. WKRDBES-RaiseStock2 (tbc)</a:t>
                      </a:r>
                    </a:p>
                    <a:p>
                      <a:pPr algn="just">
                        <a:lnSpc>
                          <a:spcPts val="1300"/>
                        </a:lnSpc>
                        <a:spcAft>
                          <a:spcPts val="400"/>
                        </a:spcAft>
                      </a:pPr>
                      <a:r>
                        <a:rPr lang="en-GB" sz="1200">
                          <a:effectLst/>
                        </a:rPr>
                        <a:t>. …</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400"/>
                        </a:spcAft>
                      </a:pPr>
                      <a:r>
                        <a:rPr lang="en-GB" sz="1200">
                          <a:effectLst/>
                        </a:rPr>
                        <a:t>. WGRDBES-EST</a:t>
                      </a:r>
                    </a:p>
                    <a:p>
                      <a:pPr algn="just">
                        <a:lnSpc>
                          <a:spcPts val="1300"/>
                        </a:lnSpc>
                        <a:spcAft>
                          <a:spcPts val="400"/>
                        </a:spcAft>
                      </a:pPr>
                      <a:r>
                        <a:rPr lang="en-GB" sz="1200">
                          <a:effectLst/>
                        </a:rPr>
                        <a:t>. WGRDBES-</a:t>
                      </a:r>
                      <a:r>
                        <a:rPr lang="en-GB" sz="1200" err="1">
                          <a:effectLst/>
                        </a:rPr>
                        <a:t>StockCoord</a:t>
                      </a:r>
                      <a:r>
                        <a:rPr lang="en-GB" sz="1200">
                          <a:effectLst/>
                        </a:rPr>
                        <a:t> (tbc)</a:t>
                      </a:r>
                    </a:p>
                    <a:p>
                      <a:pPr algn="just">
                        <a:lnSpc>
                          <a:spcPts val="1300"/>
                        </a:lnSpc>
                        <a:spcAft>
                          <a:spcPts val="400"/>
                        </a:spcAft>
                      </a:pPr>
                      <a:r>
                        <a:rPr lang="en-GB" sz="1200">
                          <a:effectLst/>
                        </a:rPr>
                        <a:t>. WKRDBES-RaiseStock3 (tbc)</a:t>
                      </a:r>
                    </a:p>
                    <a:p>
                      <a:pPr algn="just">
                        <a:lnSpc>
                          <a:spcPts val="1300"/>
                        </a:lnSpc>
                        <a:spcAft>
                          <a:spcPts val="400"/>
                        </a:spcAft>
                      </a:pPr>
                      <a:r>
                        <a:rPr lang="en-GB" sz="1200">
                          <a:effectLst/>
                        </a:rPr>
                        <a:t>. …</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GB" sz="1200">
                          <a:effectLst/>
                        </a:rPr>
                        <a:t>. TBD</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extLst>
                  <a:ext uri="{0D108BD9-81ED-4DB2-BD59-A6C34878D82A}">
                    <a16:rowId xmlns:a16="http://schemas.microsoft.com/office/drawing/2014/main" val="1038126097"/>
                  </a:ext>
                </a:extLst>
              </a:tr>
              <a:tr h="860806">
                <a:tc>
                  <a:txBody>
                    <a:bodyPr/>
                    <a:lstStyle/>
                    <a:p>
                      <a:pPr algn="ctr">
                        <a:lnSpc>
                          <a:spcPts val="1300"/>
                        </a:lnSpc>
                        <a:spcAft>
                          <a:spcPts val="0"/>
                        </a:spcAft>
                      </a:pPr>
                      <a:r>
                        <a:rPr lang="en-GB" sz="1400" kern="1200">
                          <a:effectLst/>
                        </a:rPr>
                        <a:t>Deliverables</a:t>
                      </a:r>
                      <a:endParaRPr lang="en-GB" sz="14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nchor="ctr"/>
                </a:tc>
                <a:tc>
                  <a:txBody>
                    <a:bodyPr/>
                    <a:lstStyle/>
                    <a:p>
                      <a:pPr algn="just">
                        <a:lnSpc>
                          <a:spcPts val="1300"/>
                        </a:lnSpc>
                        <a:spcAft>
                          <a:spcPts val="0"/>
                        </a:spcAft>
                      </a:pPr>
                      <a:r>
                        <a:rPr lang="en-GB" sz="1200">
                          <a:effectLst/>
                        </a:rPr>
                        <a:t>. R Package </a:t>
                      </a:r>
                      <a:r>
                        <a:rPr lang="en-GB" sz="1200" err="1">
                          <a:effectLst/>
                        </a:rPr>
                        <a:t>RDBEScore</a:t>
                      </a:r>
                      <a:r>
                        <a:rPr lang="en-GB" sz="1200">
                          <a:effectLst/>
                        </a:rPr>
                        <a:t> update </a:t>
                      </a:r>
                    </a:p>
                    <a:p>
                      <a:pPr algn="just">
                        <a:lnSpc>
                          <a:spcPts val="1300"/>
                        </a:lnSpc>
                        <a:spcAft>
                          <a:spcPts val="0"/>
                        </a:spcAft>
                      </a:pPr>
                      <a:r>
                        <a:rPr lang="en-GB" sz="1200">
                          <a:effectLst/>
                        </a:rPr>
                        <a:t>. R Package </a:t>
                      </a:r>
                      <a:r>
                        <a:rPr lang="en-GB" sz="1200" err="1">
                          <a:effectLst/>
                        </a:rPr>
                        <a:t>RDBESvisualize</a:t>
                      </a:r>
                      <a:r>
                        <a:rPr lang="en-GB" sz="1200">
                          <a:effectLst/>
                        </a:rPr>
                        <a:t> launch</a:t>
                      </a:r>
                    </a:p>
                    <a:p>
                      <a:pPr algn="just">
                        <a:lnSpc>
                          <a:spcPts val="1300"/>
                        </a:lnSpc>
                        <a:spcAft>
                          <a:spcPts val="0"/>
                        </a:spcAft>
                      </a:pPr>
                      <a:r>
                        <a:rPr lang="en-GB" sz="1200">
                          <a:effectLst/>
                        </a:rPr>
                        <a:t>. R Package </a:t>
                      </a:r>
                      <a:r>
                        <a:rPr lang="en-GB" sz="1200" err="1">
                          <a:effectLst/>
                        </a:rPr>
                        <a:t>RDBESstockCoord</a:t>
                      </a:r>
                      <a:r>
                        <a:rPr lang="en-GB" sz="1200">
                          <a:effectLst/>
                        </a:rPr>
                        <a:t> start</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GB" sz="1200">
                          <a:effectLst/>
                        </a:rPr>
                        <a:t>. R Package </a:t>
                      </a:r>
                      <a:r>
                        <a:rPr lang="en-GB" sz="1200" err="1">
                          <a:effectLst/>
                        </a:rPr>
                        <a:t>RDBEScore</a:t>
                      </a:r>
                      <a:r>
                        <a:rPr lang="en-GB" sz="1200">
                          <a:effectLst/>
                        </a:rPr>
                        <a:t> update, </a:t>
                      </a:r>
                    </a:p>
                    <a:p>
                      <a:pPr algn="just">
                        <a:lnSpc>
                          <a:spcPts val="1300"/>
                        </a:lnSpc>
                        <a:spcAft>
                          <a:spcPts val="0"/>
                        </a:spcAft>
                      </a:pPr>
                      <a:r>
                        <a:rPr lang="en-GB" sz="1200">
                          <a:effectLst/>
                        </a:rPr>
                        <a:t>. R Package </a:t>
                      </a:r>
                      <a:r>
                        <a:rPr lang="en-GB" sz="1200" err="1">
                          <a:effectLst/>
                        </a:rPr>
                        <a:t>RDBESvisualize</a:t>
                      </a:r>
                      <a:r>
                        <a:rPr lang="en-GB" sz="1200">
                          <a:effectLst/>
                        </a:rPr>
                        <a:t> update</a:t>
                      </a:r>
                    </a:p>
                    <a:p>
                      <a:pPr algn="just">
                        <a:lnSpc>
                          <a:spcPts val="1300"/>
                        </a:lnSpc>
                        <a:spcAft>
                          <a:spcPts val="0"/>
                        </a:spcAft>
                      </a:pPr>
                      <a:r>
                        <a:rPr lang="en-GB" sz="1200">
                          <a:effectLst/>
                        </a:rPr>
                        <a:t>. R Package </a:t>
                      </a:r>
                      <a:r>
                        <a:rPr lang="en-GB" sz="1200" err="1">
                          <a:effectLst/>
                        </a:rPr>
                        <a:t>RDBESstockCoord</a:t>
                      </a:r>
                      <a:r>
                        <a:rPr lang="en-GB" sz="1200">
                          <a:effectLst/>
                        </a:rPr>
                        <a:t> launch</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GB" sz="1200">
                          <a:effectLst/>
                        </a:rPr>
                        <a:t>. R Package </a:t>
                      </a:r>
                      <a:r>
                        <a:rPr lang="en-GB" sz="1200" err="1">
                          <a:effectLst/>
                        </a:rPr>
                        <a:t>RDBEScore</a:t>
                      </a:r>
                      <a:r>
                        <a:rPr lang="en-GB" sz="1200">
                          <a:effectLst/>
                        </a:rPr>
                        <a:t> update, </a:t>
                      </a:r>
                    </a:p>
                    <a:p>
                      <a:pPr algn="just">
                        <a:lnSpc>
                          <a:spcPts val="1300"/>
                        </a:lnSpc>
                        <a:spcAft>
                          <a:spcPts val="0"/>
                        </a:spcAft>
                      </a:pPr>
                      <a:r>
                        <a:rPr lang="en-GB" sz="1200">
                          <a:effectLst/>
                        </a:rPr>
                        <a:t>. R Package </a:t>
                      </a:r>
                      <a:r>
                        <a:rPr lang="en-GB" sz="1200" err="1">
                          <a:effectLst/>
                        </a:rPr>
                        <a:t>RDBESvisualize</a:t>
                      </a:r>
                      <a:r>
                        <a:rPr lang="en-GB" sz="1200">
                          <a:effectLst/>
                        </a:rPr>
                        <a:t> update</a:t>
                      </a:r>
                    </a:p>
                    <a:p>
                      <a:pPr algn="just">
                        <a:lnSpc>
                          <a:spcPts val="1300"/>
                        </a:lnSpc>
                        <a:spcAft>
                          <a:spcPts val="0"/>
                        </a:spcAft>
                      </a:pPr>
                      <a:r>
                        <a:rPr lang="en-GB" sz="1200">
                          <a:effectLst/>
                        </a:rPr>
                        <a:t>. R Package </a:t>
                      </a:r>
                      <a:r>
                        <a:rPr lang="en-GB" sz="1200" err="1">
                          <a:effectLst/>
                        </a:rPr>
                        <a:t>RDBESstockCoord</a:t>
                      </a:r>
                      <a:r>
                        <a:rPr lang="en-GB" sz="1200">
                          <a:effectLst/>
                        </a:rPr>
                        <a:t> update</a:t>
                      </a:r>
                      <a:endParaRPr lang="en-GB" sz="120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tc>
                  <a:txBody>
                    <a:bodyPr/>
                    <a:lstStyle/>
                    <a:p>
                      <a:pPr algn="just">
                        <a:lnSpc>
                          <a:spcPts val="1300"/>
                        </a:lnSpc>
                        <a:spcAft>
                          <a:spcPts val="0"/>
                        </a:spcAft>
                      </a:pPr>
                      <a:r>
                        <a:rPr lang="en-GB" sz="1200" dirty="0">
                          <a:effectLst/>
                        </a:rPr>
                        <a:t>. TBD</a:t>
                      </a:r>
                      <a:endParaRPr lang="en-GB" sz="1200" dirty="0">
                        <a:effectLst/>
                        <a:latin typeface="Palatino Linotype" panose="02040502050505030304" pitchFamily="18" charset="0"/>
                        <a:ea typeface="Calibri" panose="020F0502020204030204" pitchFamily="34" charset="0"/>
                        <a:cs typeface="Verdana" panose="020B0604030504040204" pitchFamily="34" charset="0"/>
                      </a:endParaRPr>
                    </a:p>
                  </a:txBody>
                  <a:tcPr marL="25591" marR="25591" marT="0" marB="0"/>
                </a:tc>
                <a:extLst>
                  <a:ext uri="{0D108BD9-81ED-4DB2-BD59-A6C34878D82A}">
                    <a16:rowId xmlns:a16="http://schemas.microsoft.com/office/drawing/2014/main" val="4230402688"/>
                  </a:ext>
                </a:extLst>
              </a:tr>
            </a:tbl>
          </a:graphicData>
        </a:graphic>
      </p:graphicFrame>
      <p:sp>
        <p:nvSpPr>
          <p:cNvPr id="2" name="Content Placeholder 2">
            <a:extLst>
              <a:ext uri="{FF2B5EF4-FFF2-40B4-BE49-F238E27FC236}">
                <a16:creationId xmlns:a16="http://schemas.microsoft.com/office/drawing/2014/main" id="{C6CE9BF5-904F-5C87-A421-8611A14D9335}"/>
              </a:ext>
            </a:extLst>
          </p:cNvPr>
          <p:cNvSpPr txBox="1">
            <a:spLocks/>
          </p:cNvSpPr>
          <p:nvPr/>
        </p:nvSpPr>
        <p:spPr>
          <a:xfrm>
            <a:off x="2304636" y="6482910"/>
            <a:ext cx="10749280" cy="490092"/>
          </a:xfrm>
          <a:prstGeom prst="rect">
            <a:avLst/>
          </a:prstGeom>
        </p:spPr>
        <p:txBody>
          <a:bodyPr vert="horz" lIns="91440" tIns="45720" rIns="91440" bIns="45720" rtlCol="0" anchor="ctr"/>
          <a:lstStyle>
            <a:defPPr>
              <a:defRPr lang="da-DK"/>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i="1">
                <a:solidFill>
                  <a:srgbClr val="FF0000"/>
                </a:solidFill>
                <a:latin typeface="Calibri" panose="020F0502020204030204" pitchFamily="34" charset="0"/>
                <a:ea typeface="Calibri" panose="020F0502020204030204" pitchFamily="34" charset="0"/>
                <a:cs typeface="Arial" panose="020B0604020202020204" pitchFamily="34" charset="0"/>
              </a:rPr>
              <a:t>* </a:t>
            </a:r>
            <a:r>
              <a:rPr lang="en-GB" sz="1600" i="1">
                <a:latin typeface="Calibri" panose="020F0502020204030204" pitchFamily="34" charset="0"/>
                <a:ea typeface="Calibri" panose="020F0502020204030204" pitchFamily="34" charset="0"/>
                <a:cs typeface="Arial" panose="020B0604020202020204" pitchFamily="34" charset="0"/>
              </a:rPr>
              <a:t>IC/WGBYC DB Progressively phasing out: the new estimates for some stocks will not be available in IC</a:t>
            </a:r>
            <a:endParaRPr lang="es-ES" sz="1600">
              <a:latin typeface="Palatino Linotype" panose="02040502050505030304" pitchFamily="18" charset="0"/>
              <a:ea typeface="Calibri" panose="020F0502020204030204" pitchFamily="34" charset="0"/>
              <a:cs typeface="Verdana" panose="020B0604030504040204" pitchFamily="34" charset="0"/>
            </a:endParaRPr>
          </a:p>
          <a:p>
            <a:endParaRPr lang="en-GB" dirty="0"/>
          </a:p>
        </p:txBody>
      </p:sp>
    </p:spTree>
    <p:extLst>
      <p:ext uri="{BB962C8B-B14F-4D97-AF65-F5344CB8AC3E}">
        <p14:creationId xmlns:p14="http://schemas.microsoft.com/office/powerpoint/2010/main" val="283710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sz="quarter" idx="10"/>
          </p:nvPr>
        </p:nvSpPr>
        <p:spPr>
          <a:xfrm>
            <a:off x="680720" y="1534160"/>
            <a:ext cx="10895796" cy="4852518"/>
          </a:xfrm>
        </p:spPr>
        <p:txBody>
          <a:bodyPr>
            <a:normAutofit fontScale="92500" lnSpcReduction="20000"/>
          </a:bodyPr>
          <a:lstStyle/>
          <a:p>
            <a:r>
              <a:rPr lang="en-GB" sz="2800" dirty="0"/>
              <a:t>The RDBES is being specified by the Core Group, who are doing a fantastic job. Countries have given feedback, which is incorporated, all countries support the data model.</a:t>
            </a:r>
          </a:p>
          <a:p>
            <a:r>
              <a:rPr lang="en-GB" sz="2800" dirty="0"/>
              <a:t>The RDBES web system is developed by ICES Secretariat</a:t>
            </a:r>
          </a:p>
          <a:p>
            <a:r>
              <a:rPr lang="en-GB" sz="2800" dirty="0"/>
              <a:t>5 WK in 2024: </a:t>
            </a:r>
            <a:r>
              <a:rPr lang="en-GB" sz="2800" dirty="0" err="1"/>
              <a:t>WKRDBES_RaiseStock</a:t>
            </a:r>
            <a:r>
              <a:rPr lang="en-GB" sz="2800" dirty="0"/>
              <a:t>, </a:t>
            </a:r>
            <a:r>
              <a:rPr lang="en-GB" sz="2800" dirty="0" err="1"/>
              <a:t>WKNatEst</a:t>
            </a:r>
            <a:r>
              <a:rPr lang="en-GB" sz="2800" dirty="0"/>
              <a:t>, WKRDB-INTRO, </a:t>
            </a:r>
            <a:r>
              <a:rPr lang="en-GB" sz="2800" dirty="0" err="1"/>
              <a:t>WGRDBESStockCoord</a:t>
            </a:r>
            <a:r>
              <a:rPr lang="en-GB" sz="2800" dirty="0"/>
              <a:t> and WGRDBES-EST</a:t>
            </a:r>
          </a:p>
          <a:p>
            <a:pPr marL="228600" lvl="1">
              <a:spcBef>
                <a:spcPts val="1000"/>
              </a:spcBef>
            </a:pPr>
            <a:r>
              <a:rPr lang="en-GB" sz="2800" dirty="0"/>
              <a:t>The RDBES is offline for updates around end Nov. 2024 to end Jan 2025. at: </a:t>
            </a:r>
            <a:r>
              <a:rPr lang="en-GB" sz="3000" dirty="0">
                <a:hlinkClick r:id="rId2"/>
              </a:rPr>
              <a:t>https://rdbes.ices.dk</a:t>
            </a:r>
            <a:endParaRPr lang="en-GB" sz="3000" dirty="0"/>
          </a:p>
          <a:p>
            <a:r>
              <a:rPr lang="en-GB" sz="2800" dirty="0"/>
              <a:t>The next data call for the RDBES for all species will be send around end January 2025, with a dead line around 1</a:t>
            </a:r>
            <a:r>
              <a:rPr lang="en-GB" sz="2800" baseline="30000" dirty="0"/>
              <a:t>st</a:t>
            </a:r>
            <a:r>
              <a:rPr lang="en-GB" sz="2800" dirty="0"/>
              <a:t> April. </a:t>
            </a:r>
          </a:p>
          <a:p>
            <a:r>
              <a:rPr lang="en-GB" sz="2800" dirty="0"/>
              <a:t>In 2024-26 RDBES and InterCatch will run in parallel, in 2027 only the RDBES will be used</a:t>
            </a:r>
          </a:p>
        </p:txBody>
      </p:sp>
    </p:spTree>
    <p:extLst>
      <p:ext uri="{BB962C8B-B14F-4D97-AF65-F5344CB8AC3E}">
        <p14:creationId xmlns:p14="http://schemas.microsoft.com/office/powerpoint/2010/main" val="3314207958"/>
      </p:ext>
    </p:extLst>
  </p:cSld>
  <p:clrMapOvr>
    <a:masterClrMapping/>
  </p:clrMapOvr>
</p:sld>
</file>

<file path=ppt/theme/theme1.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t">
        <a:noAutofit/>
      </a:bodyPr>
      <a:lstStyle>
        <a:defPPr>
          <a:defRPr sz="7000" dirty="0" err="1" smtClean="0">
            <a:solidFill>
              <a:schemeClr val="bg1"/>
            </a:solidFill>
            <a:latin typeface="+mn-lt"/>
          </a:defRPr>
        </a:defPPr>
      </a:lstStyle>
    </a:txDef>
  </a:objectDefaults>
  <a:extraClrSchemeLst/>
  <a:extLst>
    <a:ext uri="{05A4C25C-085E-4340-85A3-A5531E510DB2}">
      <thm15:themeFamily xmlns:thm15="http://schemas.microsoft.com/office/thememl/2012/main" name="21614 - Powerpoint_v8 [Read-Only]" id="{E328B5C0-2E05-43A3-AFF4-3FD2226CC58D}" vid="{48411100-B00E-4B38-8660-E8CE0F9E948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518B484055E284C84386157274E17E1" ma:contentTypeVersion="1" ma:contentTypeDescription="Create a new document." ma:contentTypeScope="" ma:versionID="70f45ad91d3bcde0200e23bbdb530ae9">
  <xsd:schema xmlns:xsd="http://www.w3.org/2001/XMLSchema" xmlns:xs="http://www.w3.org/2001/XMLSchema" xmlns:p="http://schemas.microsoft.com/office/2006/metadata/properties" xmlns:ns2="4d5313c0-c1e6-4122-afa9-da1ccdba405d" xmlns:ns3="362c980f-4e38-4cca-bd06-5104ee5993c5" targetNamespace="http://schemas.microsoft.com/office/2006/metadata/properties" ma:root="true" ma:fieldsID="9f98ca6881a668db0da870722b40e1ec" ns2:_="" ns3:_="">
    <xsd:import namespace="4d5313c0-c1e6-4122-afa9-da1ccdba405d"/>
    <xsd:import namespace="362c980f-4e38-4cca-bd06-5104ee5993c5"/>
    <xsd:element name="properties">
      <xsd:complexType>
        <xsd:sequence>
          <xsd:element name="documentManagement">
            <xsd:complexType>
              <xsd:all>
                <xsd:element ref="ns2:TaxKeywordTaxHTField" minOccurs="0"/>
                <xsd:element ref="ns2:TaxCatchAll" minOccurs="0"/>
                <xsd:element ref="ns2:TaxCatchAllLabel"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313c0-c1e6-4122-afa9-da1ccdba405d" elementFormDefault="qualified">
    <xsd:import namespace="http://schemas.microsoft.com/office/2006/documentManagement/types"/>
    <xsd:import namespace="http://schemas.microsoft.com/office/infopath/2007/PartnerControls"/>
    <xsd:element name="TaxKeywordTaxHTField" ma:index="8" nillable="true" ma:taxonomy="true" ma:internalName="TaxKeywordTaxHTField" ma:taxonomyFieldName="TaxKeyword" ma:displayName="Enterprise Keywords" ma:readOnly="false" ma:fieldId="{23f27201-bee3-471e-b2e7-b64fd8b7ca38}" ma:taxonomyMulti="true" ma:sspId="d535ea34-4ec8-4f57-b85b-d8a79460f026"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b2cc2698-5fc4-4ff6-b1d3-64e75efa1efc}" ma:internalName="TaxCatchAll" ma:readOnly="false" ma:showField="CatchAllData" ma:web="4d5313c0-c1e6-4122-afa9-da1ccdba405d">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2cc2698-5fc4-4ff6-b1d3-64e75efa1efc}" ma:internalName="TaxCatchAllLabel" ma:readOnly="false" ma:showField="CatchAllDataLabel" ma:web="4d5313c0-c1e6-4122-afa9-da1ccdba405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62c980f-4e38-4cca-bd06-5104ee5993c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d5313c0-c1e6-4122-afa9-da1ccdba405d"/>
    <TaxKeywordTaxHTField xmlns="4d5313c0-c1e6-4122-afa9-da1ccdba405d">
      <Terms xmlns="http://schemas.microsoft.com/office/infopath/2007/PartnerControls"/>
    </TaxKeywordTaxHTField>
    <TaxCatchAllLabel xmlns="4d5313c0-c1e6-4122-afa9-da1ccdba405d"/>
  </documentManagement>
</p:properties>
</file>

<file path=customXml/itemProps1.xml><?xml version="1.0" encoding="utf-8"?>
<ds:datastoreItem xmlns:ds="http://schemas.openxmlformats.org/officeDocument/2006/customXml" ds:itemID="{C05F0C08-4714-496D-9D3B-1E4D6BC7C306}"/>
</file>

<file path=customXml/itemProps2.xml><?xml version="1.0" encoding="utf-8"?>
<ds:datastoreItem xmlns:ds="http://schemas.openxmlformats.org/officeDocument/2006/customXml" ds:itemID="{735254AA-B512-4157-A8D4-9E239861F9FE}"/>
</file>

<file path=customXml/itemProps3.xml><?xml version="1.0" encoding="utf-8"?>
<ds:datastoreItem xmlns:ds="http://schemas.openxmlformats.org/officeDocument/2006/customXml" ds:itemID="{9A8566D9-1869-43B9-8CFC-AEEDB6377D62}"/>
</file>

<file path=docProps/app.xml><?xml version="1.0" encoding="utf-8"?>
<Properties xmlns="http://schemas.openxmlformats.org/officeDocument/2006/extended-properties" xmlns:vt="http://schemas.openxmlformats.org/officeDocument/2006/docPropsVTypes">
  <Template>2016 01 20 InterCatch and Regional DB How they work</Template>
  <TotalTime>33598</TotalTime>
  <Words>2428</Words>
  <Application>Microsoft Office PowerPoint</Application>
  <PresentationFormat>Widescreen</PresentationFormat>
  <Paragraphs>383</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Palatino Linotype</vt:lpstr>
      <vt:lpstr>Office-tema</vt:lpstr>
      <vt:lpstr>PowerPoint Presentation</vt:lpstr>
      <vt:lpstr>Reasons for developing RDBES</vt:lpstr>
      <vt:lpstr>Commercial fisheries data today (RDBES IC)</vt:lpstr>
      <vt:lpstr>Commercial fisheries future (RDBES)</vt:lpstr>
      <vt:lpstr>How is the RDBES specified and developed</vt:lpstr>
      <vt:lpstr>The participants of the Core Group</vt:lpstr>
      <vt:lpstr>The RDBES data model </vt:lpstr>
      <vt:lpstr>RDBES covers all commercial sampling types</vt:lpstr>
      <vt:lpstr>13 Upper hierarchies</vt:lpstr>
      <vt:lpstr>Lower hierarchies</vt:lpstr>
      <vt:lpstr>RDBES table relations for 1 of the 13 sampling structures/hierarchies</vt:lpstr>
      <vt:lpstr>RDBES workshops in 2024</vt:lpstr>
      <vt:lpstr>Functionalities needed (WGRDBESGOV)</vt:lpstr>
      <vt:lpstr>Where to get information</vt:lpstr>
      <vt:lpstr>What are the steps? 1) Look into the data model</vt:lpstr>
      <vt:lpstr>2) Find the available codes</vt:lpstr>
      <vt:lpstr>3) Upload the data</vt:lpstr>
      <vt:lpstr>4) If issues arises</vt:lpstr>
      <vt:lpstr>The use of the RDBES</vt:lpstr>
      <vt:lpstr>Commercial fisheries future (RDBES)</vt:lpstr>
      <vt:lpstr>3 loops in TAF</vt:lpstr>
      <vt:lpstr>Repositories suggested from WKRDBES-Raise&amp;TAF</vt:lpstr>
      <vt:lpstr>Preparing input to assessment with RDBES/TAF WGRDBESGOV report 2021</vt:lpstr>
      <vt:lpstr>Data Call 2024 all species used for assessment</vt:lpstr>
      <vt:lpstr>RDBES road map - substitute InterCatch and the RDB</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Henrik Kjems-Nielsen</dc:creator>
  <cp:lastModifiedBy>Henrik Kjems-Nielsen</cp:lastModifiedBy>
  <cp:revision>414</cp:revision>
  <dcterms:created xsi:type="dcterms:W3CDTF">2016-01-18T11:01:03Z</dcterms:created>
  <dcterms:modified xsi:type="dcterms:W3CDTF">2024-09-24T09:05:54Z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xKeyword">
    <vt:lpwstr/>
  </property>
  <property fmtid="{D5CDD505-2E9C-101B-9397-08002B2CF9AE}" pid="3" name="ContentTypeId">
    <vt:lpwstr>0x0101005518B484055E284C84386157274E17E1</vt:lpwstr>
  </property>
</Properties>
</file>