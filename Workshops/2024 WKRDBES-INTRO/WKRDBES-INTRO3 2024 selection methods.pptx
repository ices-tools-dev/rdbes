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61" r:id="rId6"/>
    <p:sldId id="257" r:id="rId7"/>
    <p:sldId id="264" r:id="rId8"/>
    <p:sldId id="258" r:id="rId9"/>
    <p:sldId id="260" r:id="rId10"/>
    <p:sldId id="265" r:id="rId11"/>
    <p:sldId id="262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EC29B9-D3AF-449C-A794-A7051EFE8749}" v="1" dt="2024-09-25T08:11:53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23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 Clarke" userId="9d7dc064-1a81-40bd-8dd3-d1cb9e1b54e0" providerId="ADAL" clId="{C0EC29B9-D3AF-449C-A794-A7051EFE8749}"/>
    <pc:docChg chg="undo custSel addSld delSld modSld">
      <pc:chgData name="Liz Clarke" userId="9d7dc064-1a81-40bd-8dd3-d1cb9e1b54e0" providerId="ADAL" clId="{C0EC29B9-D3AF-449C-A794-A7051EFE8749}" dt="2024-09-25T09:17:00.693" v="832" actId="21"/>
      <pc:docMkLst>
        <pc:docMk/>
      </pc:docMkLst>
      <pc:sldChg chg="modSp mod">
        <pc:chgData name="Liz Clarke" userId="9d7dc064-1a81-40bd-8dd3-d1cb9e1b54e0" providerId="ADAL" clId="{C0EC29B9-D3AF-449C-A794-A7051EFE8749}" dt="2024-09-25T08:01:41.599" v="7" actId="20577"/>
        <pc:sldMkLst>
          <pc:docMk/>
          <pc:sldMk cId="2216936575" sldId="256"/>
        </pc:sldMkLst>
        <pc:spChg chg="mod">
          <ac:chgData name="Liz Clarke" userId="9d7dc064-1a81-40bd-8dd3-d1cb9e1b54e0" providerId="ADAL" clId="{C0EC29B9-D3AF-449C-A794-A7051EFE8749}" dt="2024-09-25T08:01:41.599" v="7" actId="20577"/>
          <ac:spMkLst>
            <pc:docMk/>
            <pc:sldMk cId="2216936575" sldId="256"/>
            <ac:spMk id="3" creationId="{00000000-0000-0000-0000-000000000000}"/>
          </ac:spMkLst>
        </pc:spChg>
      </pc:sldChg>
      <pc:sldChg chg="addSp delSp modSp add del mod">
        <pc:chgData name="Liz Clarke" userId="9d7dc064-1a81-40bd-8dd3-d1cb9e1b54e0" providerId="ADAL" clId="{C0EC29B9-D3AF-449C-A794-A7051EFE8749}" dt="2024-09-25T08:37:54.492" v="756" actId="20577"/>
        <pc:sldMkLst>
          <pc:docMk/>
          <pc:sldMk cId="803619690" sldId="257"/>
        </pc:sldMkLst>
        <pc:spChg chg="add mod">
          <ac:chgData name="Liz Clarke" userId="9d7dc064-1a81-40bd-8dd3-d1cb9e1b54e0" providerId="ADAL" clId="{C0EC29B9-D3AF-449C-A794-A7051EFE8749}" dt="2024-09-25T08:32:53.999" v="616" actId="14100"/>
          <ac:spMkLst>
            <pc:docMk/>
            <pc:sldMk cId="803619690" sldId="257"/>
            <ac:spMk id="2" creationId="{8DA94392-6750-EBA7-A5A6-3A477C7A5B8B}"/>
          </ac:spMkLst>
        </pc:spChg>
        <pc:spChg chg="add del mod">
          <ac:chgData name="Liz Clarke" userId="9d7dc064-1a81-40bd-8dd3-d1cb9e1b54e0" providerId="ADAL" clId="{C0EC29B9-D3AF-449C-A794-A7051EFE8749}" dt="2024-09-25T08:37:54.492" v="756" actId="20577"/>
          <ac:spMkLst>
            <pc:docMk/>
            <pc:sldMk cId="803619690" sldId="257"/>
            <ac:spMk id="5" creationId="{3E1B2368-5305-1174-77BB-E022CBD78DFC}"/>
          </ac:spMkLst>
        </pc:spChg>
      </pc:sldChg>
      <pc:sldChg chg="modSp mod">
        <pc:chgData name="Liz Clarke" userId="9d7dc064-1a81-40bd-8dd3-d1cb9e1b54e0" providerId="ADAL" clId="{C0EC29B9-D3AF-449C-A794-A7051EFE8749}" dt="2024-09-25T08:36:54.143" v="683" actId="6549"/>
        <pc:sldMkLst>
          <pc:docMk/>
          <pc:sldMk cId="2831602696" sldId="258"/>
        </pc:sldMkLst>
        <pc:spChg chg="mod">
          <ac:chgData name="Liz Clarke" userId="9d7dc064-1a81-40bd-8dd3-d1cb9e1b54e0" providerId="ADAL" clId="{C0EC29B9-D3AF-449C-A794-A7051EFE8749}" dt="2024-09-25T08:36:54.143" v="683" actId="6549"/>
          <ac:spMkLst>
            <pc:docMk/>
            <pc:sldMk cId="2831602696" sldId="258"/>
            <ac:spMk id="3" creationId="{00000000-0000-0000-0000-000000000000}"/>
          </ac:spMkLst>
        </pc:spChg>
      </pc:sldChg>
      <pc:sldChg chg="delSp modSp mod">
        <pc:chgData name="Liz Clarke" userId="9d7dc064-1a81-40bd-8dd3-d1cb9e1b54e0" providerId="ADAL" clId="{C0EC29B9-D3AF-449C-A794-A7051EFE8749}" dt="2024-09-25T09:17:00.693" v="832" actId="21"/>
        <pc:sldMkLst>
          <pc:docMk/>
          <pc:sldMk cId="3624722876" sldId="259"/>
        </pc:sldMkLst>
        <pc:spChg chg="del">
          <ac:chgData name="Liz Clarke" userId="9d7dc064-1a81-40bd-8dd3-d1cb9e1b54e0" providerId="ADAL" clId="{C0EC29B9-D3AF-449C-A794-A7051EFE8749}" dt="2024-09-25T09:17:00.693" v="832" actId="21"/>
          <ac:spMkLst>
            <pc:docMk/>
            <pc:sldMk cId="3624722876" sldId="259"/>
            <ac:spMk id="2" creationId="{00000000-0000-0000-0000-000000000000}"/>
          </ac:spMkLst>
        </pc:spChg>
        <pc:spChg chg="mod">
          <ac:chgData name="Liz Clarke" userId="9d7dc064-1a81-40bd-8dd3-d1cb9e1b54e0" providerId="ADAL" clId="{C0EC29B9-D3AF-449C-A794-A7051EFE8749}" dt="2024-09-25T08:39:04.349" v="831" actId="20577"/>
          <ac:spMkLst>
            <pc:docMk/>
            <pc:sldMk cId="3624722876" sldId="259"/>
            <ac:spMk id="3" creationId="{00000000-0000-0000-0000-000000000000}"/>
          </ac:spMkLst>
        </pc:spChg>
      </pc:sldChg>
      <pc:sldChg chg="modSp mod">
        <pc:chgData name="Liz Clarke" userId="9d7dc064-1a81-40bd-8dd3-d1cb9e1b54e0" providerId="ADAL" clId="{C0EC29B9-D3AF-449C-A794-A7051EFE8749}" dt="2024-09-25T08:04:10.381" v="98" actId="207"/>
        <pc:sldMkLst>
          <pc:docMk/>
          <pc:sldMk cId="296795799" sldId="261"/>
        </pc:sldMkLst>
        <pc:spChg chg="mod">
          <ac:chgData name="Liz Clarke" userId="9d7dc064-1a81-40bd-8dd3-d1cb9e1b54e0" providerId="ADAL" clId="{C0EC29B9-D3AF-449C-A794-A7051EFE8749}" dt="2024-09-25T08:04:04.429" v="97" actId="207"/>
          <ac:spMkLst>
            <pc:docMk/>
            <pc:sldMk cId="296795799" sldId="261"/>
            <ac:spMk id="2" creationId="{00000000-0000-0000-0000-000000000000}"/>
          </ac:spMkLst>
        </pc:spChg>
        <pc:spChg chg="mod">
          <ac:chgData name="Liz Clarke" userId="9d7dc064-1a81-40bd-8dd3-d1cb9e1b54e0" providerId="ADAL" clId="{C0EC29B9-D3AF-449C-A794-A7051EFE8749}" dt="2024-09-25T08:04:10.381" v="98" actId="207"/>
          <ac:spMkLst>
            <pc:docMk/>
            <pc:sldMk cId="296795799" sldId="261"/>
            <ac:spMk id="7" creationId="{00000000-0000-0000-0000-000000000000}"/>
          </ac:spMkLst>
        </pc:spChg>
        <pc:graphicFrameChg chg="mod">
          <ac:chgData name="Liz Clarke" userId="9d7dc064-1a81-40bd-8dd3-d1cb9e1b54e0" providerId="ADAL" clId="{C0EC29B9-D3AF-449C-A794-A7051EFE8749}" dt="2024-09-25T08:03:40.007" v="94" actId="1076"/>
          <ac:graphicFrameMkLst>
            <pc:docMk/>
            <pc:sldMk cId="296795799" sldId="261"/>
            <ac:graphicFrameMk id="6" creationId="{00000000-0000-0000-0000-000000000000}"/>
          </ac:graphicFrameMkLst>
        </pc:graphicFrameChg>
      </pc:sldChg>
      <pc:sldChg chg="modSp mod">
        <pc:chgData name="Liz Clarke" userId="9d7dc064-1a81-40bd-8dd3-d1cb9e1b54e0" providerId="ADAL" clId="{C0EC29B9-D3AF-449C-A794-A7051EFE8749}" dt="2024-09-25T08:37:24.484" v="696" actId="20577"/>
        <pc:sldMkLst>
          <pc:docMk/>
          <pc:sldMk cId="990323978" sldId="265"/>
        </pc:sldMkLst>
        <pc:spChg chg="mod">
          <ac:chgData name="Liz Clarke" userId="9d7dc064-1a81-40bd-8dd3-d1cb9e1b54e0" providerId="ADAL" clId="{C0EC29B9-D3AF-449C-A794-A7051EFE8749}" dt="2024-09-25T08:37:24.484" v="696" actId="20577"/>
          <ac:spMkLst>
            <pc:docMk/>
            <pc:sldMk cId="990323978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48EEB-1F4C-4805-A4BC-B1D9EE9AE796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1FE78-6F6C-42FD-B403-A7E489CE57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07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41FE78-6F6C-42FD-B403-A7E489CE57B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136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1FE78-6F6C-42FD-B403-A7E489CE57B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58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1FE78-6F6C-42FD-B403-A7E489CE57B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56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1FE78-6F6C-42FD-B403-A7E489CE57B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04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1FE78-6F6C-42FD-B403-A7E489CE57B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959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1FE78-6F6C-42FD-B403-A7E489CE57B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275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4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0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05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41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52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60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10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64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23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85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47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4100A-B12F-4B0D-81BE-A207A2613691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4CCFC-93C0-4F6B-8872-2C619216E5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2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GB" sz="3000" b="1" dirty="0" err="1"/>
              <a:t>WKRDBES</a:t>
            </a:r>
            <a:r>
              <a:rPr lang="en-GB" sz="3000" b="1" dirty="0"/>
              <a:t>-INTRO </a:t>
            </a:r>
            <a:br>
              <a:rPr lang="en-GB" sz="3000" b="1" dirty="0"/>
            </a:br>
            <a:r>
              <a:rPr lang="en-GB" sz="3000" b="1" dirty="0"/>
              <a:t>Selection Method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err="1"/>
              <a:t>WGCATCH</a:t>
            </a:r>
            <a:r>
              <a:rPr lang="en-GB" dirty="0"/>
              <a:t> Selection Methods Subgroup</a:t>
            </a:r>
          </a:p>
          <a:p>
            <a:r>
              <a:rPr lang="en-GB" dirty="0"/>
              <a:t>Kirsten Birch </a:t>
            </a:r>
            <a:r>
              <a:rPr lang="en-GB" dirty="0" err="1"/>
              <a:t>Hakansson</a:t>
            </a:r>
            <a:r>
              <a:rPr lang="en-GB" dirty="0"/>
              <a:t>, </a:t>
            </a:r>
            <a:r>
              <a:rPr lang="en-GB" dirty="0" err="1"/>
              <a:t>Edvin</a:t>
            </a:r>
            <a:r>
              <a:rPr lang="en-GB" dirty="0"/>
              <a:t> </a:t>
            </a:r>
            <a:r>
              <a:rPr lang="en-GB" dirty="0" err="1"/>
              <a:t>Fuglebakk</a:t>
            </a:r>
            <a:r>
              <a:rPr lang="en-GB" dirty="0"/>
              <a:t>, Annica de Groote, Nuno Prista, </a:t>
            </a:r>
          </a:p>
          <a:p>
            <a:r>
              <a:rPr lang="en-GB" dirty="0"/>
              <a:t>Jon Helge Volstad, Chun Chen, Liz Clarke</a:t>
            </a:r>
          </a:p>
          <a:p>
            <a:endParaRPr lang="en-GB" dirty="0"/>
          </a:p>
          <a:p>
            <a:r>
              <a:rPr lang="en-GB" dirty="0"/>
              <a:t>25/09/2024</a:t>
            </a:r>
          </a:p>
        </p:txBody>
      </p:sp>
    </p:spTree>
    <p:extLst>
      <p:ext uri="{BB962C8B-B14F-4D97-AF65-F5344CB8AC3E}">
        <p14:creationId xmlns:p14="http://schemas.microsoft.com/office/powerpoint/2010/main" val="221693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365125"/>
            <a:ext cx="11515724" cy="1325563"/>
          </a:xfrm>
        </p:spPr>
        <p:txBody>
          <a:bodyPr>
            <a:normAutofit fontScale="90000"/>
          </a:bodyPr>
          <a:lstStyle/>
          <a:p>
            <a:r>
              <a:rPr lang="en-GB" sz="3000" dirty="0"/>
              <a:t>Selection methods are in all the hierarchical tables where sample selection might have taken place</a:t>
            </a:r>
            <a:br>
              <a:rPr lang="en-GB" sz="3000" dirty="0"/>
            </a:br>
            <a:br>
              <a:rPr lang="en-GB" sz="3000" dirty="0"/>
            </a:br>
            <a:r>
              <a:rPr lang="en-GB" sz="3000" dirty="0"/>
              <a:t>For both stratification and clustering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960944"/>
              </p:ext>
            </p:extLst>
          </p:nvPr>
        </p:nvGraphicFramePr>
        <p:xfrm>
          <a:off x="0" y="2648519"/>
          <a:ext cx="11906251" cy="3611966"/>
        </p:xfrm>
        <a:graphic>
          <a:graphicData uri="http://schemas.openxmlformats.org/drawingml/2006/table">
            <a:tbl>
              <a:tblPr/>
              <a:tblGrid>
                <a:gridCol w="434001">
                  <a:extLst>
                    <a:ext uri="{9D8B030D-6E8A-4147-A177-3AD203B41FA5}">
                      <a16:colId xmlns:a16="http://schemas.microsoft.com/office/drawing/2014/main" val="556465976"/>
                    </a:ext>
                  </a:extLst>
                </a:gridCol>
                <a:gridCol w="2625567">
                  <a:extLst>
                    <a:ext uri="{9D8B030D-6E8A-4147-A177-3AD203B41FA5}">
                      <a16:colId xmlns:a16="http://schemas.microsoft.com/office/drawing/2014/main" val="729470495"/>
                    </a:ext>
                  </a:extLst>
                </a:gridCol>
                <a:gridCol w="2318699">
                  <a:extLst>
                    <a:ext uri="{9D8B030D-6E8A-4147-A177-3AD203B41FA5}">
                      <a16:colId xmlns:a16="http://schemas.microsoft.com/office/drawing/2014/main" val="3153246202"/>
                    </a:ext>
                  </a:extLst>
                </a:gridCol>
                <a:gridCol w="1791704">
                  <a:extLst>
                    <a:ext uri="{9D8B030D-6E8A-4147-A177-3AD203B41FA5}">
                      <a16:colId xmlns:a16="http://schemas.microsoft.com/office/drawing/2014/main" val="1512411974"/>
                    </a:ext>
                  </a:extLst>
                </a:gridCol>
                <a:gridCol w="812428">
                  <a:extLst>
                    <a:ext uri="{9D8B030D-6E8A-4147-A177-3AD203B41FA5}">
                      <a16:colId xmlns:a16="http://schemas.microsoft.com/office/drawing/2014/main" val="2249921253"/>
                    </a:ext>
                  </a:extLst>
                </a:gridCol>
                <a:gridCol w="795142">
                  <a:extLst>
                    <a:ext uri="{9D8B030D-6E8A-4147-A177-3AD203B41FA5}">
                      <a16:colId xmlns:a16="http://schemas.microsoft.com/office/drawing/2014/main" val="598765190"/>
                    </a:ext>
                  </a:extLst>
                </a:gridCol>
                <a:gridCol w="881570">
                  <a:extLst>
                    <a:ext uri="{9D8B030D-6E8A-4147-A177-3AD203B41FA5}">
                      <a16:colId xmlns:a16="http://schemas.microsoft.com/office/drawing/2014/main" val="3367504166"/>
                    </a:ext>
                  </a:extLst>
                </a:gridCol>
                <a:gridCol w="2247140">
                  <a:extLst>
                    <a:ext uri="{9D8B030D-6E8A-4147-A177-3AD203B41FA5}">
                      <a16:colId xmlns:a16="http://schemas.microsoft.com/office/drawing/2014/main" val="36800956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Fishing trip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FTnumberTotal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596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Fishing trips sampled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FTnumberSampled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FTnumSamp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8412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 probability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FTselectionProb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FTselProb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8962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Inclusion probability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FTinclusionProb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FTincProb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820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 method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FTselectionMethod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FTselectMeth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list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SelectionMethod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9445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Sampling unit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FTunitName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FTunitName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6818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 method cluster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FTselectionMethodCluster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FTselectMethCluster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list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SelectionMethod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523105"/>
                  </a:ext>
                </a:extLst>
              </a:tr>
              <a:tr h="327746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Fishing trip total clusters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FTnumberTotalClusters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FTnumTotalClusters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2407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Fishing trip sampled clusters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FTnumberSampledClusters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FTnumSampClusters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97982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selection probability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FTselectionProbCluster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FTselProbCluster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71974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Clusters inclusion probability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FTinclusionProbCluster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FTincProbCluster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934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FTsampled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FTsamp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list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YesNoFields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3867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 for not sampling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FTreasonNotSampled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FTnoSampReason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DV, 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list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ReasonForNotSampling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70029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5814" y="2131363"/>
            <a:ext cx="60293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err="1">
                <a:solidFill>
                  <a:schemeClr val="accent1">
                    <a:lumMod val="75000"/>
                  </a:schemeClr>
                </a:solidFill>
              </a:rPr>
              <a:t>e.g</a:t>
            </a: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 Fishing trip table:</a:t>
            </a:r>
          </a:p>
        </p:txBody>
      </p:sp>
    </p:spTree>
    <p:extLst>
      <p:ext uri="{BB962C8B-B14F-4D97-AF65-F5344CB8AC3E}">
        <p14:creationId xmlns:p14="http://schemas.microsoft.com/office/powerpoint/2010/main" val="29679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345634"/>
              </p:ext>
            </p:extLst>
          </p:nvPr>
        </p:nvGraphicFramePr>
        <p:xfrm>
          <a:off x="797915" y="478514"/>
          <a:ext cx="10515600" cy="2532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2273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303327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683797">
                <a:tc>
                  <a:txBody>
                    <a:bodyPr/>
                    <a:lstStyle/>
                    <a:p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Probabilistic</a:t>
                      </a:r>
                      <a:r>
                        <a:rPr lang="en-GB" sz="2800" baseline="0" dirty="0"/>
                        <a:t> Selection Methods</a:t>
                      </a:r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 err="1"/>
                        <a:t>SRSWR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Random Sampling With Replacement 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9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 err="1"/>
                        <a:t>SRSWOR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Random Sampling Without Replacement 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8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 err="1"/>
                        <a:t>UPSWR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Unequal</a:t>
                      </a:r>
                      <a:r>
                        <a:rPr lang="en-GB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Probability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Sampling With Replacement 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12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 err="1"/>
                        <a:t>UPSWOR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Unequal</a:t>
                      </a:r>
                      <a:r>
                        <a:rPr lang="en-GB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Probability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Sampling Without Replacement 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70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 err="1"/>
                        <a:t>SYSS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 Sampling Without Replacement 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64869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DA94392-6750-EBA7-A5A6-3A477C7A5B8B}"/>
              </a:ext>
            </a:extLst>
          </p:cNvPr>
          <p:cNvSpPr/>
          <p:nvPr/>
        </p:nvSpPr>
        <p:spPr>
          <a:xfrm>
            <a:off x="697735" y="3457946"/>
            <a:ext cx="10781841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these codes, sampling follows a formal probabilistic process for selection of units, or, for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start point.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B2368-5305-1174-77BB-E022CBD78DFC}"/>
              </a:ext>
            </a:extLst>
          </p:cNvPr>
          <p:cNvSpPr txBox="1"/>
          <p:nvPr/>
        </p:nvSpPr>
        <p:spPr>
          <a:xfrm>
            <a:off x="808931" y="3972798"/>
            <a:ext cx="11254539" cy="2871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SRSWOR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Randomised vessel selection forms.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UPSWOR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Selecting a sample from a haul based on estimated weight of haul compared to quota (Norwegian pelagic lottery)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 err="1"/>
              <a:t>SYSS</a:t>
            </a:r>
            <a:r>
              <a:rPr lang="en-GB" dirty="0"/>
              <a:t> - Systematic sampling of weeks in a year with a randomised start point. 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 err="1"/>
              <a:t>SYSS</a:t>
            </a:r>
            <a:r>
              <a:rPr lang="en-GB" dirty="0"/>
              <a:t> - Systematic sampling of fish with a random start – e.g. every third fish sampled for age – randomly select fish 1, 2 or 3 to start.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1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11591" y="196948"/>
          <a:ext cx="10587121" cy="633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152325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Non-probabilistic selection methods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 err="1"/>
                        <a:t>NPQSRSWR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Simple Random Sampling With Replacement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to approximate a random selection with replacement.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9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NPQSRSWOR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Simple Random Sampling Without Replacement 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to approximate a random selection without replacement.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8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NPQSYSS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Systematic Sampling Without Replacement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approximate a systematic sample.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4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NPJS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Non-Probabilistic Judgement Sampling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carried out without replacement and considered by expert judgement to include typical units of the population parameter in question.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459091"/>
                  </a:ext>
                </a:extLst>
              </a:tr>
              <a:tr h="207938">
                <a:tc>
                  <a:txBody>
                    <a:bodyPr/>
                    <a:lstStyle/>
                    <a:p>
                      <a:r>
                        <a:rPr lang="en-GB" dirty="0"/>
                        <a:t>NPCS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Non-Probabilistic Convenience</a:t>
                      </a:r>
                      <a:r>
                        <a:rPr lang="en-GB" b="1" baseline="0" dirty="0"/>
                        <a:t> Sampling</a:t>
                      </a:r>
                    </a:p>
                    <a:p>
                      <a:r>
                        <a:rPr lang="en-GB" baseline="0" dirty="0"/>
                        <a:t>The selection is not controlled, or is controlled by the convenience of the sampler, or is collected for other purposes than estimation of parameters for a commercial fishery.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474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NPCLQS</a:t>
                      </a:r>
                      <a:r>
                        <a:rPr lang="en-GB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Cross-Level Quota Sampling at the Trip level </a:t>
                      </a:r>
                    </a:p>
                    <a:p>
                      <a:pPr lvl="0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restricted by a quota at the trip level and not at the level where the unit is selected.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29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NPCLQS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Cross-Level Quota Sampling at levels Other than a trip </a:t>
                      </a:r>
                    </a:p>
                    <a:p>
                      <a:pPr lvl="0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restricted by a quota at a level other than a trip e.g. at the level of species, area and quarter.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77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4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574085"/>
              </p:ext>
            </p:extLst>
          </p:nvPr>
        </p:nvGraphicFramePr>
        <p:xfrm>
          <a:off x="697736" y="501748"/>
          <a:ext cx="10587121" cy="2681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152325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Non-probabilistic selection methods 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 err="1"/>
                        <a:t>NPQSRSWR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Simple Random Sampling With Replacement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to approximate a random selection with replacement.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9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NPQSRSWOR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Simple Random Sampling Without Replacement 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to approximate a random selection without replacement.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8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NPQSYSS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Non-Probabilistic Quasi Systematic Sampling Without Replacement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considered approximate a systematic sample.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486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97735" y="3457946"/>
            <a:ext cx="10587121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these codes, sampling is considered to have approximated a probabilistic method but no formal probabilistic process was put in place that secures 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261" y="4417793"/>
            <a:ext cx="9060107" cy="137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 to attempt to pick a random box at a market or vessels at a port.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GB" dirty="0"/>
              <a:t>Systematic sampling of trips at a market with an approximate random start point. </a:t>
            </a:r>
          </a:p>
        </p:txBody>
      </p:sp>
    </p:spTree>
    <p:extLst>
      <p:ext uri="{BB962C8B-B14F-4D97-AF65-F5344CB8AC3E}">
        <p14:creationId xmlns:p14="http://schemas.microsoft.com/office/powerpoint/2010/main" val="283160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275201"/>
              </p:ext>
            </p:extLst>
          </p:nvPr>
        </p:nvGraphicFramePr>
        <p:xfrm>
          <a:off x="711591" y="196948"/>
          <a:ext cx="10587121" cy="167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152325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Non-probabilistic selection methods</a:t>
                      </a:r>
                      <a:r>
                        <a:rPr lang="en-GB" sz="2800" baseline="0" dirty="0"/>
                        <a:t> … continued …</a:t>
                      </a:r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NPJS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Non-Probabilistic Judgement Sampling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carried out without replacement and considered by expert judgement to include typical units of the population parameter in question.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45909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11590" y="2181722"/>
            <a:ext cx="105871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NPJS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should be used when the sampling institution has a selection protocol that involved a justified reason (other than quasi random sampling) to believe that the selected sample consist of typical sampling units from the sampling frame. 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711590" y="3273864"/>
            <a:ext cx="8432410" cy="218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sampling scheme dividing the fisheries in many small strata based on vessel length, gears, quarters and areas. The selection within strata is not controlled. 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are collected from landings at a particular site. Data analysis indicates these landings are representative of those at other sites.</a:t>
            </a:r>
          </a:p>
        </p:txBody>
      </p:sp>
    </p:spTree>
    <p:extLst>
      <p:ext uri="{BB962C8B-B14F-4D97-AF65-F5344CB8AC3E}">
        <p14:creationId xmlns:p14="http://schemas.microsoft.com/office/powerpoint/2010/main" val="56014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50097"/>
              </p:ext>
            </p:extLst>
          </p:nvPr>
        </p:nvGraphicFramePr>
        <p:xfrm>
          <a:off x="711591" y="196948"/>
          <a:ext cx="10587121" cy="1675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152325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Non-probabilistic selection methods</a:t>
                      </a:r>
                      <a:r>
                        <a:rPr lang="en-GB" sz="2800" baseline="0" dirty="0"/>
                        <a:t> … continued …</a:t>
                      </a:r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207938">
                <a:tc>
                  <a:txBody>
                    <a:bodyPr/>
                    <a:lstStyle/>
                    <a:p>
                      <a:r>
                        <a:rPr lang="en-GB" dirty="0"/>
                        <a:t>NPCS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Non-Probabilistic Convenience</a:t>
                      </a:r>
                      <a:r>
                        <a:rPr lang="en-GB" b="1" baseline="0" dirty="0"/>
                        <a:t> Sampling</a:t>
                      </a:r>
                    </a:p>
                    <a:p>
                      <a:r>
                        <a:rPr lang="en-GB" baseline="0" dirty="0"/>
                        <a:t>The selection is not controlled, or is controlled by the convenience of the sampler, or is collected for other purposes than estimation of parameters for a commercial fishery.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474125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11591" y="2139519"/>
            <a:ext cx="105871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Convenience sampling samples the part of the population that is easily or cheaply accessible, without attending to its “</a:t>
            </a:r>
            <a:r>
              <a:rPr lang="en-GB" dirty="0" err="1"/>
              <a:t>representativity</a:t>
            </a:r>
            <a:r>
              <a:rPr lang="en-GB" dirty="0"/>
              <a:t>”, resulting in possible bias. The code NPCS indicates that either there has been no attempt at mitigating the convenience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1591" y="3329850"/>
            <a:ext cx="8432410" cy="2974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+mj-lt"/>
              <a:buAutoNum type="alphaLcParenR"/>
            </a:pPr>
            <a:r>
              <a:rPr lang="en-GB" dirty="0"/>
              <a:t>Samples collected from self-recruited or volunteer fleets.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lphaLcParenR"/>
            </a:pPr>
            <a:r>
              <a:rPr lang="en-GB" dirty="0"/>
              <a:t>An institution can only afford to visit landing sites in the immediate vicinity.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lphaLcParenR"/>
            </a:pPr>
            <a:r>
              <a:rPr lang="en-GB" dirty="0"/>
              <a:t>An institution receives discard-samples from a control agency, which select fishing operations where they expect a lot of bycatch. 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lphaLcParenR"/>
            </a:pPr>
            <a:r>
              <a:rPr lang="en-GB" dirty="0"/>
              <a:t>Observers at a market select the most readily available boxes.</a:t>
            </a:r>
          </a:p>
          <a:p>
            <a:pPr lvl="0">
              <a:spcBef>
                <a:spcPts val="1200"/>
              </a:spcBef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 and lots more!</a:t>
            </a:r>
          </a:p>
        </p:txBody>
      </p:sp>
    </p:spTree>
    <p:extLst>
      <p:ext uri="{BB962C8B-B14F-4D97-AF65-F5344CB8AC3E}">
        <p14:creationId xmlns:p14="http://schemas.microsoft.com/office/powerpoint/2010/main" val="99032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899968"/>
              </p:ext>
            </p:extLst>
          </p:nvPr>
        </p:nvGraphicFramePr>
        <p:xfrm>
          <a:off x="711591" y="196948"/>
          <a:ext cx="10587121" cy="2589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796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9152325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Non-probabilistic selection methods</a:t>
                      </a:r>
                      <a:r>
                        <a:rPr lang="en-GB" sz="2800" baseline="0" dirty="0"/>
                        <a:t> … continued.</a:t>
                      </a:r>
                      <a:endParaRPr lang="en-GB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NPCLQS</a:t>
                      </a:r>
                      <a:r>
                        <a:rPr lang="en-GB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-T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Cross-Level Quota Sampling at the Trip level </a:t>
                      </a:r>
                    </a:p>
                    <a:p>
                      <a:pPr lvl="0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restricted by a quota at the trip level and not at the level where the unit is selected.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29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NPCLQS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Cross-Level Quota Sampling at levels Other than a trip </a:t>
                      </a:r>
                    </a:p>
                    <a:p>
                      <a:pPr lvl="0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selection is restricted by a quota at a level other than a trip e.g. at the level of species, area and quarter.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7712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11590" y="2967335"/>
            <a:ext cx="10587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special case of quota sampling is the kind of quota sampling that is not contained to a certain sampling unit specified in the hierarchy. Once the quota is reached the sampling stops.</a:t>
            </a:r>
          </a:p>
          <a:p>
            <a:endParaRPr lang="en-GB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/>
              <a:t>This type of sampling is prevalent in historical data.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11590" y="4446555"/>
            <a:ext cx="8376139" cy="1596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Sampling of 3 otoliths per length class within a trip (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NPCLQS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-T)</a:t>
            </a:r>
          </a:p>
          <a:p>
            <a:pPr marL="34290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Sampling of 3 otoliths per length class within an quarter and area (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NPCLQS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-O)</a:t>
            </a:r>
          </a:p>
        </p:txBody>
      </p:sp>
    </p:spTree>
    <p:extLst>
      <p:ext uri="{BB962C8B-B14F-4D97-AF65-F5344CB8AC3E}">
        <p14:creationId xmlns:p14="http://schemas.microsoft.com/office/powerpoint/2010/main" val="3149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8853"/>
              </p:ext>
            </p:extLst>
          </p:nvPr>
        </p:nvGraphicFramePr>
        <p:xfrm>
          <a:off x="706582" y="196948"/>
          <a:ext cx="10592130" cy="3889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670">
                  <a:extLst>
                    <a:ext uri="{9D8B030D-6E8A-4147-A177-3AD203B41FA5}">
                      <a16:colId xmlns:a16="http://schemas.microsoft.com/office/drawing/2014/main" val="723566971"/>
                    </a:ext>
                  </a:extLst>
                </a:gridCol>
                <a:gridCol w="8752460">
                  <a:extLst>
                    <a:ext uri="{9D8B030D-6E8A-4147-A177-3AD203B41FA5}">
                      <a16:colId xmlns:a16="http://schemas.microsoft.com/office/drawing/2014/main" val="1167492310"/>
                    </a:ext>
                  </a:extLst>
                </a:gridCol>
              </a:tblGrid>
              <a:tr h="76117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94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/>
                        <a:t>CENSUS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Census</a:t>
                      </a:r>
                    </a:p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sample corresponds to the full set of units in the population</a:t>
                      </a:r>
                      <a:endParaRPr lang="en-GB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35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Sample</a:t>
                      </a:r>
                    </a:p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for fixed sampling designs. When a sample is selected once and then reused for subsequent occasions.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9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/>
                        <a:t>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Unknown</a:t>
                      </a:r>
                    </a:p>
                    <a:p>
                      <a:pPr lvl="0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in cases where selection method is not known (e.g. historical records).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869856"/>
                  </a:ext>
                </a:extLst>
              </a:tr>
              <a:tr h="933987">
                <a:tc>
                  <a:txBody>
                    <a:bodyPr/>
                    <a:lstStyle/>
                    <a:p>
                      <a:r>
                        <a:rPr lang="en-GB" b="0" dirty="0" err="1"/>
                        <a:t>NotApplicable</a:t>
                      </a:r>
                      <a:endParaRPr lang="en-GB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GB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Applicable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in cases where a selection does not take place (e.g., when a stratum is not sampled)</a:t>
                      </a:r>
                      <a:endParaRPr lang="en-GB" b="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4869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06582" y="4721089"/>
            <a:ext cx="9830120" cy="1322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FIXED - Reference fleet retained over several years.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FIXED - Visiting a market on Tuesdays &amp; Thursdays over several years.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FIXED - Revisiting the same randomly selected markets for logistic reasons.</a:t>
            </a:r>
          </a:p>
        </p:txBody>
      </p:sp>
    </p:spTree>
    <p:extLst>
      <p:ext uri="{BB962C8B-B14F-4D97-AF65-F5344CB8AC3E}">
        <p14:creationId xmlns:p14="http://schemas.microsoft.com/office/powerpoint/2010/main" val="3624722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5313c0-c1e6-4122-afa9-da1ccdba405d"/>
    <TaxCatchAllLabel xmlns="4d5313c0-c1e6-4122-afa9-da1ccdba405d"/>
    <TaxKeywordTaxHTField xmlns="4d5313c0-c1e6-4122-afa9-da1ccdba405d">
      <Terms xmlns="http://schemas.microsoft.com/office/infopath/2007/PartnerControls"/>
    </TaxKeyword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8B484055E284C84386157274E17E1" ma:contentTypeVersion="1" ma:contentTypeDescription="Create a new document." ma:contentTypeScope="" ma:versionID="70f45ad91d3bcde0200e23bbdb530ae9">
  <xsd:schema xmlns:xsd="http://www.w3.org/2001/XMLSchema" xmlns:xs="http://www.w3.org/2001/XMLSchema" xmlns:p="http://schemas.microsoft.com/office/2006/metadata/properties" xmlns:ns2="4d5313c0-c1e6-4122-afa9-da1ccdba405d" xmlns:ns3="362c980f-4e38-4cca-bd06-5104ee5993c5" targetNamespace="http://schemas.microsoft.com/office/2006/metadata/properties" ma:root="true" ma:fieldsID="9f98ca6881a668db0da870722b40e1ec" ns2:_="" ns3:_="">
    <xsd:import namespace="4d5313c0-c1e6-4122-afa9-da1ccdba405d"/>
    <xsd:import namespace="362c980f-4e38-4cca-bd06-5104ee5993c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TaxCatchAllLabel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13c0-c1e6-4122-afa9-da1ccdba405d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readOnly="false" ma:fieldId="{23f27201-bee3-471e-b2e7-b64fd8b7ca38}" ma:taxonomyMulti="true" ma:sspId="d535ea34-4ec8-4f57-b85b-d8a79460f02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b2cc2698-5fc4-4ff6-b1d3-64e75efa1efc}" ma:internalName="TaxCatchAll" ma:readOnly="false" ma:showField="CatchAllData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b2cc2698-5fc4-4ff6-b1d3-64e75efa1efc}" ma:internalName="TaxCatchAllLabel" ma:readOnly="false" ma:showField="CatchAllDataLabel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c980f-4e38-4cca-bd06-5104ee5993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B03878-C491-4918-BEEC-4709415725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C55B9-CEBC-42BC-9091-CD75A4E9FEC3}">
  <ds:schemaRefs>
    <ds:schemaRef ds:uri="http://schemas.microsoft.com/office/2006/metadata/properties"/>
    <ds:schemaRef ds:uri="http://schemas.microsoft.com/office/infopath/2007/PartnerControls"/>
    <ds:schemaRef ds:uri="4d5313c0-c1e6-4122-afa9-da1ccdba405d"/>
  </ds:schemaRefs>
</ds:datastoreItem>
</file>

<file path=customXml/itemProps3.xml><?xml version="1.0" encoding="utf-8"?>
<ds:datastoreItem xmlns:ds="http://schemas.openxmlformats.org/officeDocument/2006/customXml" ds:itemID="{FA06E49A-8820-4BEA-BC68-42B6BC5ABD04}"/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1206</Words>
  <Application>Microsoft Office PowerPoint</Application>
  <PresentationFormat>Widescreen</PresentationFormat>
  <Paragraphs>219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WKRDBES-INTRO  Selection Method Codes</vt:lpstr>
      <vt:lpstr>Selection methods are in all the hierarchical tables where sample selection might have taken place  For both stratification and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Scottish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 Clarke</dc:creator>
  <cp:lastModifiedBy>Liz Clarke</cp:lastModifiedBy>
  <cp:revision>15</cp:revision>
  <dcterms:created xsi:type="dcterms:W3CDTF">2021-06-14T07:33:33Z</dcterms:created>
  <dcterms:modified xsi:type="dcterms:W3CDTF">2024-09-25T09:17:02Z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0x0101005518B484055E284C84386157274E17E1</vt:lpwstr>
  </property>
  <property fmtid="{D5CDD505-2E9C-101B-9397-08002B2CF9AE}" pid="3" name="TaxKeyword">
    <vt:lpwstr/>
  </property>
</Properties>
</file>