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handoutMasterIdLst>
    <p:handoutMasterId r:id="rId21"/>
  </p:handoutMasterIdLst>
  <p:sldIdLst>
    <p:sldId id="257" r:id="rId5"/>
    <p:sldId id="259" r:id="rId6"/>
    <p:sldId id="270" r:id="rId7"/>
    <p:sldId id="264" r:id="rId8"/>
    <p:sldId id="267" r:id="rId9"/>
    <p:sldId id="277" r:id="rId10"/>
    <p:sldId id="261" r:id="rId11"/>
    <p:sldId id="272" r:id="rId12"/>
    <p:sldId id="279" r:id="rId13"/>
    <p:sldId id="278" r:id="rId14"/>
    <p:sldId id="281" r:id="rId15"/>
    <p:sldId id="280" r:id="rId16"/>
    <p:sldId id="282" r:id="rId17"/>
    <p:sldId id="269" r:id="rId18"/>
    <p:sldId id="268" r:id="rId19"/>
    <p:sldId id="266" r:id="rId20"/>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537A2F-CEE0-4CB7-A359-62C0BABAC317}" v="61" dt="2024-09-24T18:15:47.5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0" d="100"/>
          <a:sy n="80" d="100"/>
        </p:scale>
        <p:origin x="662" y="58"/>
      </p:cViewPr>
      <p:guideLst/>
    </p:cSldViewPr>
  </p:slideViewPr>
  <p:notesTextViewPr>
    <p:cViewPr>
      <p:scale>
        <a:sx n="3" d="2"/>
        <a:sy n="3" d="2"/>
      </p:scale>
      <p:origin x="0" y="0"/>
    </p:cViewPr>
  </p:notesTextViewPr>
  <p:notesViewPr>
    <p:cSldViewPr snapToGrid="0">
      <p:cViewPr varScale="1">
        <p:scale>
          <a:sx n="87" d="100"/>
          <a:sy n="87" d="100"/>
        </p:scale>
        <p:origin x="278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BE9A814-A834-4F3D-A75E-497F7D80622D}" type="doc">
      <dgm:prSet loTypeId="urn:microsoft.com/office/officeart/2005/8/layout/arrow5" loCatId="relationship" qsTypeId="urn:microsoft.com/office/officeart/2005/8/quickstyle/simple1" qsCatId="simple" csTypeId="urn:microsoft.com/office/officeart/2005/8/colors/accent1_2" csCatId="accent1" phldr="1"/>
      <dgm:spPr/>
      <dgm:t>
        <a:bodyPr/>
        <a:lstStyle/>
        <a:p>
          <a:endParaRPr lang="en-US"/>
        </a:p>
      </dgm:t>
    </dgm:pt>
    <dgm:pt modelId="{3EDE06A0-5436-4F82-8113-EC71644FACD3}">
      <dgm:prSet phldrT="[Text]"/>
      <dgm:spPr/>
      <dgm:t>
        <a:bodyPr/>
        <a:lstStyle/>
        <a:p>
          <a:r>
            <a:rPr lang="en-US" dirty="0"/>
            <a:t>Documentation of corrections in TAF</a:t>
          </a:r>
        </a:p>
      </dgm:t>
    </dgm:pt>
    <dgm:pt modelId="{A48C6DA2-1FFD-408C-B18A-B35CAB23385C}" type="parTrans" cxnId="{6B5C6B47-FD50-40D7-A470-3124395B5DED}">
      <dgm:prSet/>
      <dgm:spPr/>
      <dgm:t>
        <a:bodyPr/>
        <a:lstStyle/>
        <a:p>
          <a:endParaRPr lang="en-US"/>
        </a:p>
      </dgm:t>
    </dgm:pt>
    <dgm:pt modelId="{B5954F14-F6CC-47F3-A5D9-BBD73AB55AA6}" type="sibTrans" cxnId="{6B5C6B47-FD50-40D7-A470-3124395B5DED}">
      <dgm:prSet/>
      <dgm:spPr/>
      <dgm:t>
        <a:bodyPr/>
        <a:lstStyle/>
        <a:p>
          <a:endParaRPr lang="en-US"/>
        </a:p>
      </dgm:t>
    </dgm:pt>
    <dgm:pt modelId="{E8D724B8-2CD9-4AB3-AD69-1EAB6FE4E765}">
      <dgm:prSet phldrT="[Text]"/>
      <dgm:spPr/>
      <dgm:t>
        <a:bodyPr/>
        <a:lstStyle/>
        <a:p>
          <a:r>
            <a:rPr lang="en-US" noProof="0" dirty="0"/>
            <a:t>Scientific values available in CL &amp; CE</a:t>
          </a:r>
        </a:p>
      </dgm:t>
    </dgm:pt>
    <dgm:pt modelId="{BCD24A61-6B9D-4C29-AF36-E61945C4996E}" type="parTrans" cxnId="{067133D6-F146-4B08-9E6D-06E232B42C97}">
      <dgm:prSet/>
      <dgm:spPr/>
      <dgm:t>
        <a:bodyPr/>
        <a:lstStyle/>
        <a:p>
          <a:endParaRPr lang="en-US"/>
        </a:p>
      </dgm:t>
    </dgm:pt>
    <dgm:pt modelId="{1A56EB1D-0990-4CBE-865A-46F3E385E92E}" type="sibTrans" cxnId="{067133D6-F146-4B08-9E6D-06E232B42C97}">
      <dgm:prSet/>
      <dgm:spPr/>
      <dgm:t>
        <a:bodyPr/>
        <a:lstStyle/>
        <a:p>
          <a:endParaRPr lang="en-US"/>
        </a:p>
      </dgm:t>
    </dgm:pt>
    <dgm:pt modelId="{6AD549EF-FD5A-4B46-ABFB-AF54A66F8EA9}" type="pres">
      <dgm:prSet presAssocID="{3BE9A814-A834-4F3D-A75E-497F7D80622D}" presName="diagram" presStyleCnt="0">
        <dgm:presLayoutVars>
          <dgm:dir/>
          <dgm:resizeHandles val="exact"/>
        </dgm:presLayoutVars>
      </dgm:prSet>
      <dgm:spPr/>
    </dgm:pt>
    <dgm:pt modelId="{6B79334C-0A9E-4469-9DDA-2774B06C8C7F}" type="pres">
      <dgm:prSet presAssocID="{3EDE06A0-5436-4F82-8113-EC71644FACD3}" presName="arrow" presStyleLbl="node1" presStyleIdx="0" presStyleCnt="2">
        <dgm:presLayoutVars>
          <dgm:bulletEnabled val="1"/>
        </dgm:presLayoutVars>
      </dgm:prSet>
      <dgm:spPr/>
    </dgm:pt>
    <dgm:pt modelId="{53336C8A-F3A0-4157-A051-7993F67A65A9}" type="pres">
      <dgm:prSet presAssocID="{E8D724B8-2CD9-4AB3-AD69-1EAB6FE4E765}" presName="arrow" presStyleLbl="node1" presStyleIdx="1" presStyleCnt="2">
        <dgm:presLayoutVars>
          <dgm:bulletEnabled val="1"/>
        </dgm:presLayoutVars>
      </dgm:prSet>
      <dgm:spPr/>
    </dgm:pt>
  </dgm:ptLst>
  <dgm:cxnLst>
    <dgm:cxn modelId="{E3380923-0AD7-4CEC-9A64-87A8EB0E86F5}" type="presOf" srcId="{E8D724B8-2CD9-4AB3-AD69-1EAB6FE4E765}" destId="{53336C8A-F3A0-4157-A051-7993F67A65A9}" srcOrd="0" destOrd="0" presId="urn:microsoft.com/office/officeart/2005/8/layout/arrow5"/>
    <dgm:cxn modelId="{6B5C6B47-FD50-40D7-A470-3124395B5DED}" srcId="{3BE9A814-A834-4F3D-A75E-497F7D80622D}" destId="{3EDE06A0-5436-4F82-8113-EC71644FACD3}" srcOrd="0" destOrd="0" parTransId="{A48C6DA2-1FFD-408C-B18A-B35CAB23385C}" sibTransId="{B5954F14-F6CC-47F3-A5D9-BBD73AB55AA6}"/>
    <dgm:cxn modelId="{34298CCC-3A2B-42D3-A4EC-EA7CA1332165}" type="presOf" srcId="{3BE9A814-A834-4F3D-A75E-497F7D80622D}" destId="{6AD549EF-FD5A-4B46-ABFB-AF54A66F8EA9}" srcOrd="0" destOrd="0" presId="urn:microsoft.com/office/officeart/2005/8/layout/arrow5"/>
    <dgm:cxn modelId="{067133D6-F146-4B08-9E6D-06E232B42C97}" srcId="{3BE9A814-A834-4F3D-A75E-497F7D80622D}" destId="{E8D724B8-2CD9-4AB3-AD69-1EAB6FE4E765}" srcOrd="1" destOrd="0" parTransId="{BCD24A61-6B9D-4C29-AF36-E61945C4996E}" sibTransId="{1A56EB1D-0990-4CBE-865A-46F3E385E92E}"/>
    <dgm:cxn modelId="{96BD8CF9-90EB-4B91-B176-6A239E19BE42}" type="presOf" srcId="{3EDE06A0-5436-4F82-8113-EC71644FACD3}" destId="{6B79334C-0A9E-4469-9DDA-2774B06C8C7F}" srcOrd="0" destOrd="0" presId="urn:microsoft.com/office/officeart/2005/8/layout/arrow5"/>
    <dgm:cxn modelId="{C26F6D73-FCC0-4F99-80EB-B7883ACB4FB0}" type="presParOf" srcId="{6AD549EF-FD5A-4B46-ABFB-AF54A66F8EA9}" destId="{6B79334C-0A9E-4469-9DDA-2774B06C8C7F}" srcOrd="0" destOrd="0" presId="urn:microsoft.com/office/officeart/2005/8/layout/arrow5"/>
    <dgm:cxn modelId="{07F087B9-37A5-493D-9B9F-58D2376ADB38}" type="presParOf" srcId="{6AD549EF-FD5A-4B46-ABFB-AF54A66F8EA9}" destId="{53336C8A-F3A0-4157-A051-7993F67A65A9}" srcOrd="1"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79334C-0A9E-4469-9DDA-2774B06C8C7F}">
      <dsp:nvSpPr>
        <dsp:cNvPr id="0" name=""/>
        <dsp:cNvSpPr/>
      </dsp:nvSpPr>
      <dsp:spPr>
        <a:xfrm rot="16200000">
          <a:off x="491" y="657240"/>
          <a:ext cx="1708118" cy="1708118"/>
        </a:xfrm>
        <a:prstGeom prst="down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t>Documentation of corrections in TAF</a:t>
          </a:r>
        </a:p>
      </dsp:txBody>
      <dsp:txXfrm rot="5400000">
        <a:off x="491" y="1084269"/>
        <a:ext cx="1409197" cy="854059"/>
      </dsp:txXfrm>
    </dsp:sp>
    <dsp:sp modelId="{53336C8A-F3A0-4157-A051-7993F67A65A9}">
      <dsp:nvSpPr>
        <dsp:cNvPr id="0" name=""/>
        <dsp:cNvSpPr/>
      </dsp:nvSpPr>
      <dsp:spPr>
        <a:xfrm rot="5400000">
          <a:off x="1853739" y="657240"/>
          <a:ext cx="1708118" cy="1708118"/>
        </a:xfrm>
        <a:prstGeom prst="down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noProof="0" dirty="0"/>
            <a:t>Scientific values available in CL &amp; CE</a:t>
          </a:r>
        </a:p>
      </dsp:txBody>
      <dsp:txXfrm rot="-5400000">
        <a:off x="2152660" y="1084270"/>
        <a:ext cx="1409197" cy="854059"/>
      </dsp:txXfrm>
    </dsp:sp>
  </dsp:spTree>
</dsp:drawing>
</file>

<file path=ppt/diagrams/layout1.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D66E911-F793-4838-A7E0-22F5DC2E219F}" type="datetimeFigureOut">
              <a:rPr lang="da-DK" smtClean="0"/>
              <a:t>25-09-2024</a:t>
            </a:fld>
            <a:endParaRPr lang="da-DK"/>
          </a:p>
        </p:txBody>
      </p:sp>
      <p:sp>
        <p:nvSpPr>
          <p:cNvPr id="4" name="Pladsholder til sidefod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Pladsholder til slide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9DA88-E9CB-4BD6-A3AA-E9F01D61D701}" type="slidenum">
              <a:rPr lang="da-DK" smtClean="0"/>
              <a:t>‹#›</a:t>
            </a:fld>
            <a:endParaRPr lang="da-DK"/>
          </a:p>
        </p:txBody>
      </p:sp>
    </p:spTree>
    <p:extLst>
      <p:ext uri="{BB962C8B-B14F-4D97-AF65-F5344CB8AC3E}">
        <p14:creationId xmlns:p14="http://schemas.microsoft.com/office/powerpoint/2010/main" val="138649551"/>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3209F14E-8D1D-40C6-A539-73D6BEFEED78}"/>
              </a:ext>
            </a:extLst>
          </p:cNvPr>
          <p:cNvSpPr>
            <a:spLocks noGrp="1"/>
          </p:cNvSpPr>
          <p:nvPr>
            <p:ph type="title" hasCustomPrompt="1"/>
          </p:nvPr>
        </p:nvSpPr>
        <p:spPr>
          <a:xfrm>
            <a:off x="638174" y="769938"/>
            <a:ext cx="9220202" cy="2323445"/>
          </a:xfrm>
        </p:spPr>
        <p:txBody>
          <a:bodyPr anchor="b">
            <a:noAutofit/>
          </a:bodyPr>
          <a:lstStyle>
            <a:lvl1pPr>
              <a:defRPr sz="5400" b="0">
                <a:solidFill>
                  <a:schemeClr val="bg2"/>
                </a:solidFill>
              </a:defRPr>
            </a:lvl1pPr>
          </a:lstStyle>
          <a:p>
            <a:r>
              <a:rPr lang="en-US" dirty="0"/>
              <a:t>Click to add title</a:t>
            </a:r>
            <a:endParaRPr lang="en-GB" dirty="0"/>
          </a:p>
        </p:txBody>
      </p:sp>
      <p:sp>
        <p:nvSpPr>
          <p:cNvPr id="8" name="Pladsholder til tekst 18">
            <a:extLst>
              <a:ext uri="{FF2B5EF4-FFF2-40B4-BE49-F238E27FC236}">
                <a16:creationId xmlns:a16="http://schemas.microsoft.com/office/drawing/2014/main" id="{4AAD550C-3146-4C57-AB2D-C76A65C79F41}"/>
              </a:ext>
            </a:extLst>
          </p:cNvPr>
          <p:cNvSpPr>
            <a:spLocks noGrp="1"/>
          </p:cNvSpPr>
          <p:nvPr>
            <p:ph type="body" sz="quarter" idx="12" hasCustomPrompt="1"/>
          </p:nvPr>
        </p:nvSpPr>
        <p:spPr>
          <a:xfrm>
            <a:off x="676276" y="3093383"/>
            <a:ext cx="9182100" cy="1349223"/>
          </a:xfrm>
        </p:spPr>
        <p:txBody>
          <a:bodyPr/>
          <a:lstStyle>
            <a:lvl1pPr marL="0" indent="0">
              <a:buNone/>
              <a:defRPr>
                <a:solidFill>
                  <a:schemeClr val="bg1">
                    <a:lumMod val="85000"/>
                  </a:schemeClr>
                </a:solidFill>
              </a:defRPr>
            </a:lvl1pPr>
          </a:lstStyle>
          <a:p>
            <a:pPr lvl="0"/>
            <a:r>
              <a:rPr lang="en-GB" dirty="0"/>
              <a:t>Click to add </a:t>
            </a:r>
            <a:r>
              <a:rPr lang="en-GB" dirty="0" err="1"/>
              <a:t>subheader</a:t>
            </a:r>
            <a:endParaRPr lang="en-GB" dirty="0"/>
          </a:p>
        </p:txBody>
      </p:sp>
      <p:pic>
        <p:nvPicPr>
          <p:cNvPr id="7" name="Billed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6275" y="5345359"/>
            <a:ext cx="1724025" cy="898278"/>
          </a:xfrm>
          <a:prstGeom prst="rect">
            <a:avLst/>
          </a:prstGeom>
        </p:spPr>
      </p:pic>
      <p:pic>
        <p:nvPicPr>
          <p:cNvPr id="9" name="Billed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42383" y="6195173"/>
            <a:ext cx="2560542" cy="384081"/>
          </a:xfrm>
          <a:prstGeom prst="rect">
            <a:avLst/>
          </a:prstGeom>
        </p:spPr>
      </p:pic>
    </p:spTree>
    <p:extLst>
      <p:ext uri="{BB962C8B-B14F-4D97-AF65-F5344CB8AC3E}">
        <p14:creationId xmlns:p14="http://schemas.microsoft.com/office/powerpoint/2010/main" val="2301310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6C7311DF-2A29-4CE6-AEB9-357814EE58BD}"/>
              </a:ext>
            </a:extLst>
          </p:cNvPr>
          <p:cNvSpPr>
            <a:spLocks noGrp="1"/>
          </p:cNvSpPr>
          <p:nvPr>
            <p:ph type="title" hasCustomPrompt="1"/>
          </p:nvPr>
        </p:nvSpPr>
        <p:spPr>
          <a:xfrm>
            <a:off x="638174" y="769938"/>
            <a:ext cx="9220202" cy="2323445"/>
          </a:xfrm>
        </p:spPr>
        <p:txBody>
          <a:bodyPr anchor="b">
            <a:noAutofit/>
          </a:bodyPr>
          <a:lstStyle>
            <a:lvl1pPr>
              <a:defRPr sz="5400" b="0">
                <a:solidFill>
                  <a:schemeClr val="bg2"/>
                </a:solidFill>
              </a:defRPr>
            </a:lvl1pPr>
          </a:lstStyle>
          <a:p>
            <a:r>
              <a:rPr lang="en-US" dirty="0"/>
              <a:t>Click to add title</a:t>
            </a:r>
            <a:endParaRPr lang="en-GB" dirty="0"/>
          </a:p>
        </p:txBody>
      </p:sp>
      <p:sp>
        <p:nvSpPr>
          <p:cNvPr id="10" name="Pladsholder til tekst 18">
            <a:extLst>
              <a:ext uri="{FF2B5EF4-FFF2-40B4-BE49-F238E27FC236}">
                <a16:creationId xmlns:a16="http://schemas.microsoft.com/office/drawing/2014/main" id="{4A07E728-4615-42A6-B1E8-908674A12F99}"/>
              </a:ext>
            </a:extLst>
          </p:cNvPr>
          <p:cNvSpPr>
            <a:spLocks noGrp="1"/>
          </p:cNvSpPr>
          <p:nvPr>
            <p:ph type="body" sz="quarter" idx="12" hasCustomPrompt="1"/>
          </p:nvPr>
        </p:nvSpPr>
        <p:spPr>
          <a:xfrm>
            <a:off x="676276" y="3093383"/>
            <a:ext cx="9182100" cy="1349223"/>
          </a:xfrm>
        </p:spPr>
        <p:txBody>
          <a:bodyPr/>
          <a:lstStyle>
            <a:lvl1pPr marL="0" indent="0">
              <a:buNone/>
              <a:defRPr>
                <a:solidFill>
                  <a:schemeClr val="bg1">
                    <a:lumMod val="85000"/>
                  </a:schemeClr>
                </a:solidFill>
              </a:defRPr>
            </a:lvl1pPr>
          </a:lstStyle>
          <a:p>
            <a:pPr lvl="0"/>
            <a:r>
              <a:rPr lang="en-GB" dirty="0"/>
              <a:t>Click to add </a:t>
            </a:r>
            <a:r>
              <a:rPr lang="en-GB" dirty="0" err="1"/>
              <a:t>subheader</a:t>
            </a:r>
            <a:endParaRPr lang="en-GB" dirty="0"/>
          </a:p>
        </p:txBody>
      </p:sp>
      <p:pic>
        <p:nvPicPr>
          <p:cNvPr id="7" name="Billed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6275" y="5345359"/>
            <a:ext cx="1724025" cy="898278"/>
          </a:xfrm>
          <a:prstGeom prst="rect">
            <a:avLst/>
          </a:prstGeom>
        </p:spPr>
      </p:pic>
      <p:pic>
        <p:nvPicPr>
          <p:cNvPr id="9" name="Billed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42383" y="6195173"/>
            <a:ext cx="2560542" cy="384081"/>
          </a:xfrm>
          <a:prstGeom prst="rect">
            <a:avLst/>
          </a:prstGeom>
        </p:spPr>
      </p:pic>
    </p:spTree>
    <p:extLst>
      <p:ext uri="{BB962C8B-B14F-4D97-AF65-F5344CB8AC3E}">
        <p14:creationId xmlns:p14="http://schemas.microsoft.com/office/powerpoint/2010/main" val="802804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itel 1"/>
          <p:cNvSpPr>
            <a:spLocks noGrp="1"/>
          </p:cNvSpPr>
          <p:nvPr>
            <p:ph type="title"/>
          </p:nvPr>
        </p:nvSpPr>
        <p:spPr>
          <a:xfrm>
            <a:off x="647700" y="427037"/>
            <a:ext cx="9343323" cy="1063625"/>
          </a:xfrm>
        </p:spPr>
        <p:txBody>
          <a:bodyPr>
            <a:normAutofit/>
          </a:bodyPr>
          <a:lstStyle>
            <a:lvl1pPr>
              <a:defRPr sz="4000" b="1">
                <a:solidFill>
                  <a:srgbClr val="00265A"/>
                </a:solidFill>
                <a:latin typeface="+mn-lt"/>
              </a:defRPr>
            </a:lvl1pPr>
          </a:lstStyle>
          <a:p>
            <a:endParaRPr lang="en-GB" dirty="0"/>
          </a:p>
        </p:txBody>
      </p:sp>
      <p:pic>
        <p:nvPicPr>
          <p:cNvPr id="6" name="Billed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
        <p:nvSpPr>
          <p:cNvPr id="3" name="Content Placeholder 2">
            <a:extLst>
              <a:ext uri="{FF2B5EF4-FFF2-40B4-BE49-F238E27FC236}">
                <a16:creationId xmlns:a16="http://schemas.microsoft.com/office/drawing/2014/main" id="{C1969C79-234C-42BF-93BB-D4FFA57123F8}"/>
              </a:ext>
            </a:extLst>
          </p:cNvPr>
          <p:cNvSpPr>
            <a:spLocks noGrp="1"/>
          </p:cNvSpPr>
          <p:nvPr>
            <p:ph sz="quarter" idx="11" hasCustomPrompt="1"/>
          </p:nvPr>
        </p:nvSpPr>
        <p:spPr>
          <a:xfrm>
            <a:off x="647700" y="1825200"/>
            <a:ext cx="10763249" cy="4400349"/>
          </a:xfrm>
        </p:spPr>
        <p:txBody>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770801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objects - Blue">
    <p:spTree>
      <p:nvGrpSpPr>
        <p:cNvPr id="1" name=""/>
        <p:cNvGrpSpPr/>
        <p:nvPr/>
      </p:nvGrpSpPr>
      <p:grpSpPr>
        <a:xfrm>
          <a:off x="0" y="0"/>
          <a:ext cx="0" cy="0"/>
          <a:chOff x="0" y="0"/>
          <a:chExt cx="0" cy="0"/>
        </a:xfrm>
      </p:grpSpPr>
      <p:sp>
        <p:nvSpPr>
          <p:cNvPr id="11" name="Titel 1"/>
          <p:cNvSpPr>
            <a:spLocks noGrp="1"/>
          </p:cNvSpPr>
          <p:nvPr>
            <p:ph type="title"/>
          </p:nvPr>
        </p:nvSpPr>
        <p:spPr>
          <a:xfrm>
            <a:off x="647700" y="427037"/>
            <a:ext cx="9343323" cy="1063625"/>
          </a:xfrm>
        </p:spPr>
        <p:txBody>
          <a:bodyPr>
            <a:normAutofit/>
          </a:bodyPr>
          <a:lstStyle>
            <a:lvl1pPr>
              <a:defRPr sz="4000" b="1">
                <a:solidFill>
                  <a:srgbClr val="00265A"/>
                </a:solidFill>
                <a:latin typeface="+mn-lt"/>
              </a:defRPr>
            </a:lvl1pPr>
          </a:lstStyle>
          <a:p>
            <a:endParaRPr lang="en-GB" dirty="0"/>
          </a:p>
        </p:txBody>
      </p:sp>
      <p:sp>
        <p:nvSpPr>
          <p:cNvPr id="3" name="Content Placeholder 2">
            <a:extLst>
              <a:ext uri="{FF2B5EF4-FFF2-40B4-BE49-F238E27FC236}">
                <a16:creationId xmlns:a16="http://schemas.microsoft.com/office/drawing/2014/main" id="{022021D9-F37F-4846-AD9E-FB2231C6F2F9}"/>
              </a:ext>
            </a:extLst>
          </p:cNvPr>
          <p:cNvSpPr>
            <a:spLocks noGrp="1"/>
          </p:cNvSpPr>
          <p:nvPr>
            <p:ph sz="quarter" idx="12" hasCustomPrompt="1"/>
          </p:nvPr>
        </p:nvSpPr>
        <p:spPr>
          <a:xfrm>
            <a:off x="647700" y="1825625"/>
            <a:ext cx="3792220" cy="4226259"/>
          </a:xfrm>
        </p:spPr>
        <p:txBody>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Content Placeholder 5">
            <a:extLst>
              <a:ext uri="{FF2B5EF4-FFF2-40B4-BE49-F238E27FC236}">
                <a16:creationId xmlns:a16="http://schemas.microsoft.com/office/drawing/2014/main" id="{7B841EB9-3042-4108-98CF-EA57B3983B88}"/>
              </a:ext>
            </a:extLst>
          </p:cNvPr>
          <p:cNvSpPr>
            <a:spLocks noGrp="1"/>
          </p:cNvSpPr>
          <p:nvPr>
            <p:ph sz="quarter" idx="13" hasCustomPrompt="1"/>
          </p:nvPr>
        </p:nvSpPr>
        <p:spPr>
          <a:xfrm>
            <a:off x="5810250" y="1825624"/>
            <a:ext cx="5600700" cy="3739133"/>
          </a:xfrm>
        </p:spPr>
        <p:txBody>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Rektangel 8"/>
          <p:cNvSpPr/>
          <p:nvPr userDrawn="1"/>
        </p:nvSpPr>
        <p:spPr>
          <a:xfrm>
            <a:off x="-1" y="6296025"/>
            <a:ext cx="12192001" cy="561975"/>
          </a:xfrm>
          <a:prstGeom prst="rect">
            <a:avLst/>
          </a:prstGeom>
          <a:solidFill>
            <a:srgbClr val="0026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2" name="Billed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Tree>
    <p:extLst>
      <p:ext uri="{BB962C8B-B14F-4D97-AF65-F5344CB8AC3E}">
        <p14:creationId xmlns:p14="http://schemas.microsoft.com/office/powerpoint/2010/main" val="1995038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objects - Orange">
    <p:spTree>
      <p:nvGrpSpPr>
        <p:cNvPr id="1" name=""/>
        <p:cNvGrpSpPr/>
        <p:nvPr/>
      </p:nvGrpSpPr>
      <p:grpSpPr>
        <a:xfrm>
          <a:off x="0" y="0"/>
          <a:ext cx="0" cy="0"/>
          <a:chOff x="0" y="0"/>
          <a:chExt cx="0" cy="0"/>
        </a:xfrm>
      </p:grpSpPr>
      <p:sp>
        <p:nvSpPr>
          <p:cNvPr id="11" name="Titel 1"/>
          <p:cNvSpPr>
            <a:spLocks noGrp="1"/>
          </p:cNvSpPr>
          <p:nvPr>
            <p:ph type="title"/>
          </p:nvPr>
        </p:nvSpPr>
        <p:spPr>
          <a:xfrm>
            <a:off x="647700" y="427037"/>
            <a:ext cx="9343323" cy="1063625"/>
          </a:xfrm>
        </p:spPr>
        <p:txBody>
          <a:bodyPr>
            <a:normAutofit/>
          </a:bodyPr>
          <a:lstStyle>
            <a:lvl1pPr>
              <a:defRPr sz="4000" b="1">
                <a:solidFill>
                  <a:srgbClr val="00265A"/>
                </a:solidFill>
                <a:latin typeface="+mn-lt"/>
              </a:defRPr>
            </a:lvl1pPr>
          </a:lstStyle>
          <a:p>
            <a:endParaRPr lang="en-GB" dirty="0"/>
          </a:p>
        </p:txBody>
      </p:sp>
      <p:sp>
        <p:nvSpPr>
          <p:cNvPr id="13" name="Content Placeholder 2">
            <a:extLst>
              <a:ext uri="{FF2B5EF4-FFF2-40B4-BE49-F238E27FC236}">
                <a16:creationId xmlns:a16="http://schemas.microsoft.com/office/drawing/2014/main" id="{F4463921-33CB-4908-B5A9-1060D340A507}"/>
              </a:ext>
            </a:extLst>
          </p:cNvPr>
          <p:cNvSpPr>
            <a:spLocks noGrp="1"/>
          </p:cNvSpPr>
          <p:nvPr>
            <p:ph sz="quarter" idx="12" hasCustomPrompt="1"/>
          </p:nvPr>
        </p:nvSpPr>
        <p:spPr>
          <a:xfrm>
            <a:off x="647700" y="1825625"/>
            <a:ext cx="3792220" cy="4226259"/>
          </a:xfrm>
        </p:spPr>
        <p:txBody>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4" name="Content Placeholder 5">
            <a:extLst>
              <a:ext uri="{FF2B5EF4-FFF2-40B4-BE49-F238E27FC236}">
                <a16:creationId xmlns:a16="http://schemas.microsoft.com/office/drawing/2014/main" id="{116F9FD3-3D16-4DB5-AD5C-E8098D87A875}"/>
              </a:ext>
            </a:extLst>
          </p:cNvPr>
          <p:cNvSpPr>
            <a:spLocks noGrp="1"/>
          </p:cNvSpPr>
          <p:nvPr>
            <p:ph sz="quarter" idx="13" hasCustomPrompt="1"/>
          </p:nvPr>
        </p:nvSpPr>
        <p:spPr>
          <a:xfrm>
            <a:off x="5810250" y="1825624"/>
            <a:ext cx="5600700" cy="3739133"/>
          </a:xfrm>
        </p:spPr>
        <p:txBody>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Rektangel 11"/>
          <p:cNvSpPr/>
          <p:nvPr userDrawn="1"/>
        </p:nvSpPr>
        <p:spPr>
          <a:xfrm>
            <a:off x="-1" y="6296025"/>
            <a:ext cx="12192001" cy="561975"/>
          </a:xfrm>
          <a:prstGeom prst="rect">
            <a:avLst/>
          </a:prstGeom>
          <a:solidFill>
            <a:srgbClr val="EC52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9" name="Billed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Tree>
    <p:extLst>
      <p:ext uri="{BB962C8B-B14F-4D97-AF65-F5344CB8AC3E}">
        <p14:creationId xmlns:p14="http://schemas.microsoft.com/office/powerpoint/2010/main" val="1725370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objects - Turquoise">
    <p:spTree>
      <p:nvGrpSpPr>
        <p:cNvPr id="1" name=""/>
        <p:cNvGrpSpPr/>
        <p:nvPr/>
      </p:nvGrpSpPr>
      <p:grpSpPr>
        <a:xfrm>
          <a:off x="0" y="0"/>
          <a:ext cx="0" cy="0"/>
          <a:chOff x="0" y="0"/>
          <a:chExt cx="0" cy="0"/>
        </a:xfrm>
      </p:grpSpPr>
      <p:sp>
        <p:nvSpPr>
          <p:cNvPr id="11" name="Titel 1"/>
          <p:cNvSpPr>
            <a:spLocks noGrp="1"/>
          </p:cNvSpPr>
          <p:nvPr>
            <p:ph type="title"/>
          </p:nvPr>
        </p:nvSpPr>
        <p:spPr>
          <a:xfrm>
            <a:off x="647700" y="427037"/>
            <a:ext cx="9343323" cy="1063625"/>
          </a:xfrm>
        </p:spPr>
        <p:txBody>
          <a:bodyPr>
            <a:normAutofit/>
          </a:bodyPr>
          <a:lstStyle>
            <a:lvl1pPr>
              <a:defRPr sz="4000" b="1">
                <a:solidFill>
                  <a:srgbClr val="00265A"/>
                </a:solidFill>
                <a:latin typeface="+mn-lt"/>
              </a:defRPr>
            </a:lvl1pPr>
          </a:lstStyle>
          <a:p>
            <a:endParaRPr lang="en-GB" dirty="0"/>
          </a:p>
        </p:txBody>
      </p:sp>
      <p:sp>
        <p:nvSpPr>
          <p:cNvPr id="15" name="Content Placeholder 2">
            <a:extLst>
              <a:ext uri="{FF2B5EF4-FFF2-40B4-BE49-F238E27FC236}">
                <a16:creationId xmlns:a16="http://schemas.microsoft.com/office/drawing/2014/main" id="{721D465C-25A6-4B18-9B14-0DBDE3EF4677}"/>
              </a:ext>
            </a:extLst>
          </p:cNvPr>
          <p:cNvSpPr>
            <a:spLocks noGrp="1"/>
          </p:cNvSpPr>
          <p:nvPr>
            <p:ph sz="quarter" idx="12" hasCustomPrompt="1"/>
          </p:nvPr>
        </p:nvSpPr>
        <p:spPr>
          <a:xfrm>
            <a:off x="647700" y="1825625"/>
            <a:ext cx="3792220" cy="4226259"/>
          </a:xfrm>
        </p:spPr>
        <p:txBody>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Content Placeholder 5">
            <a:extLst>
              <a:ext uri="{FF2B5EF4-FFF2-40B4-BE49-F238E27FC236}">
                <a16:creationId xmlns:a16="http://schemas.microsoft.com/office/drawing/2014/main" id="{F222F2F0-F6B4-4E5B-8718-B38DF1BB96E1}"/>
              </a:ext>
            </a:extLst>
          </p:cNvPr>
          <p:cNvSpPr>
            <a:spLocks noGrp="1"/>
          </p:cNvSpPr>
          <p:nvPr>
            <p:ph sz="quarter" idx="13" hasCustomPrompt="1"/>
          </p:nvPr>
        </p:nvSpPr>
        <p:spPr>
          <a:xfrm>
            <a:off x="5810250" y="1825624"/>
            <a:ext cx="5600700" cy="3739133"/>
          </a:xfrm>
        </p:spPr>
        <p:txBody>
          <a:bodyPr/>
          <a:lstStyle>
            <a:lvl1pP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Rektangel 11"/>
          <p:cNvSpPr/>
          <p:nvPr userDrawn="1"/>
        </p:nvSpPr>
        <p:spPr>
          <a:xfrm>
            <a:off x="-1" y="6296025"/>
            <a:ext cx="12192001" cy="561975"/>
          </a:xfrm>
          <a:prstGeom prst="rect">
            <a:avLst/>
          </a:prstGeom>
          <a:solidFill>
            <a:srgbClr val="00A6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9" name="Billed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57733" y="6418914"/>
            <a:ext cx="2560542" cy="384081"/>
          </a:xfrm>
          <a:prstGeom prst="rect">
            <a:avLst/>
          </a:prstGeom>
        </p:spPr>
      </p:pic>
    </p:spTree>
    <p:extLst>
      <p:ext uri="{BB962C8B-B14F-4D97-AF65-F5344CB8AC3E}">
        <p14:creationId xmlns:p14="http://schemas.microsoft.com/office/powerpoint/2010/main" val="2798265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7" name="Titel 1"/>
          <p:cNvSpPr>
            <a:spLocks noGrp="1"/>
          </p:cNvSpPr>
          <p:nvPr>
            <p:ph type="title"/>
          </p:nvPr>
        </p:nvSpPr>
        <p:spPr>
          <a:xfrm>
            <a:off x="647700" y="427037"/>
            <a:ext cx="9343323" cy="1063625"/>
          </a:xfrm>
        </p:spPr>
        <p:txBody>
          <a:bodyPr>
            <a:normAutofit/>
          </a:bodyPr>
          <a:lstStyle>
            <a:lvl1pPr>
              <a:defRPr sz="4000" b="1">
                <a:solidFill>
                  <a:srgbClr val="00265A"/>
                </a:solidFill>
                <a:latin typeface="+mn-lt"/>
              </a:defRPr>
            </a:lvl1pPr>
          </a:lstStyle>
          <a:p>
            <a:endParaRPr lang="en-GB" dirty="0"/>
          </a:p>
        </p:txBody>
      </p:sp>
    </p:spTree>
    <p:extLst>
      <p:ext uri="{BB962C8B-B14F-4D97-AF65-F5344CB8AC3E}">
        <p14:creationId xmlns:p14="http://schemas.microsoft.com/office/powerpoint/2010/main" val="2781100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6141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On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8A0E3C-0CE1-4BBF-A912-5A81BF3B7BCA}"/>
              </a:ext>
            </a:extLst>
          </p:cNvPr>
          <p:cNvSpPr>
            <a:spLocks noGrp="1"/>
          </p:cNvSpPr>
          <p:nvPr>
            <p:ph type="title"/>
          </p:nvPr>
        </p:nvSpPr>
        <p:spPr/>
        <p:txBody>
          <a:bodyPr/>
          <a:lstStyle/>
          <a:p>
            <a:r>
              <a:rPr lang="da-DK" dirty="0"/>
              <a:t>Click to edit Master title style</a:t>
            </a:r>
            <a:endParaRPr lang="da-DK"/>
          </a:p>
        </p:txBody>
      </p:sp>
      <p:sp>
        <p:nvSpPr>
          <p:cNvPr id="3" name="Content Placeholder 2"/>
          <p:cNvSpPr>
            <a:spLocks noGrp="1"/>
          </p:cNvSpPr>
          <p:nvPr>
            <p:ph idx="1"/>
          </p:nvPr>
        </p:nvSpPr>
        <p:spPr/>
        <p:txBody>
          <a:bodyPr/>
          <a:lstStyle/>
          <a:p>
            <a:pPr lvl="0"/>
            <a:r>
              <a:rPr lang="da-DK"/>
              <a:t>Edit Master text styles</a:t>
            </a:r>
          </a:p>
          <a:p>
            <a:pPr lvl="1"/>
            <a:r>
              <a:rPr lang="da-DK"/>
              <a:t>Second level</a:t>
            </a:r>
          </a:p>
          <a:p>
            <a:pPr lvl="2"/>
            <a:r>
              <a:rPr lang="da-DK"/>
              <a:t>Third level</a:t>
            </a:r>
          </a:p>
          <a:p>
            <a:pPr lvl="3"/>
            <a:r>
              <a:rPr lang="da-DK"/>
              <a:t>Fourth level</a:t>
            </a:r>
          </a:p>
          <a:p>
            <a:pPr lvl="4"/>
            <a:r>
              <a:rPr lang="da-DK"/>
              <a:t>Fifth level</a:t>
            </a:r>
            <a:endParaRPr lang="da-DK" dirty="0"/>
          </a:p>
        </p:txBody>
      </p:sp>
      <p:sp>
        <p:nvSpPr>
          <p:cNvPr id="2" name="Footer Placeholder 1">
            <a:extLst>
              <a:ext uri="{FF2B5EF4-FFF2-40B4-BE49-F238E27FC236}">
                <a16:creationId xmlns:a16="http://schemas.microsoft.com/office/drawing/2014/main" id="{1FCA8860-CDAD-4F91-9292-2B11655C191E}"/>
              </a:ext>
            </a:extLst>
          </p:cNvPr>
          <p:cNvSpPr>
            <a:spLocks noGrp="1"/>
          </p:cNvSpPr>
          <p:nvPr>
            <p:ph type="ftr" sz="quarter" idx="10"/>
          </p:nvPr>
        </p:nvSpPr>
        <p:spPr/>
        <p:txBody>
          <a:bodyPr/>
          <a:lstStyle/>
          <a:p>
            <a:endParaRPr lang="da-DK" dirty="0"/>
          </a:p>
        </p:txBody>
      </p:sp>
      <p:sp>
        <p:nvSpPr>
          <p:cNvPr id="6" name="Slide Number Placeholder 5">
            <a:extLst>
              <a:ext uri="{FF2B5EF4-FFF2-40B4-BE49-F238E27FC236}">
                <a16:creationId xmlns:a16="http://schemas.microsoft.com/office/drawing/2014/main" id="{88C7A21B-9B48-4777-BF0D-9FB95719C2E7}"/>
              </a:ext>
            </a:extLst>
          </p:cNvPr>
          <p:cNvSpPr>
            <a:spLocks noGrp="1"/>
          </p:cNvSpPr>
          <p:nvPr>
            <p:ph type="sldNum" sz="quarter" idx="11"/>
          </p:nvPr>
        </p:nvSpPr>
        <p:spPr/>
        <p:txBody>
          <a:bodyPr/>
          <a:lstStyle/>
          <a:p>
            <a:fld id="{103EA872-A674-449B-A120-B97244F8E91D}" type="slidenum">
              <a:rPr lang="da-DK" smtClean="0"/>
              <a:pPr/>
              <a:t>‹#›</a:t>
            </a:fld>
            <a:endParaRPr lang="da-DK" dirty="0"/>
          </a:p>
        </p:txBody>
      </p:sp>
    </p:spTree>
    <p:extLst>
      <p:ext uri="{BB962C8B-B14F-4D97-AF65-F5344CB8AC3E}">
        <p14:creationId xmlns:p14="http://schemas.microsoft.com/office/powerpoint/2010/main" val="160387554"/>
      </p:ext>
    </p:extLst>
  </p:cSld>
  <p:clrMapOvr>
    <a:masterClrMapping/>
  </p:clrMapOvr>
  <p:extLst>
    <p:ext uri="{DCECCB84-F9BA-43D5-87BE-67443E8EF086}">
      <p15:sldGuideLst xmlns:p15="http://schemas.microsoft.com/office/powerpoint/2012/main">
        <p15:guide id="1" pos="6984">
          <p15:clr>
            <a:srgbClr val="F26B43"/>
          </p15:clr>
        </p15:guide>
        <p15:guide id="2" pos="1117">
          <p15:clr>
            <a:srgbClr val="F26B43"/>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838200" y="365125"/>
            <a:ext cx="9135979" cy="1325563"/>
          </a:xfrm>
          <a:prstGeom prst="rect">
            <a:avLst/>
          </a:prstGeom>
        </p:spPr>
        <p:txBody>
          <a:bodyPr vert="horz" lIns="91440" tIns="45720" rIns="91440" bIns="45720" rtlCol="0" anchor="ctr">
            <a:normAutofit/>
          </a:bodyPr>
          <a:lstStyle/>
          <a:p>
            <a:r>
              <a:rPr lang="en-GB" dirty="0" err="1"/>
              <a:t>Klik</a:t>
            </a:r>
            <a:r>
              <a:rPr lang="en-GB" dirty="0"/>
              <a:t> for at </a:t>
            </a:r>
            <a:r>
              <a:rPr lang="en-GB" dirty="0" err="1"/>
              <a:t>redigere</a:t>
            </a:r>
            <a:r>
              <a:rPr lang="en-GB" dirty="0"/>
              <a:t> </a:t>
            </a:r>
            <a:r>
              <a:rPr lang="en-GB" dirty="0" err="1"/>
              <a:t>i</a:t>
            </a:r>
            <a:r>
              <a:rPr lang="en-GB" dirty="0"/>
              <a:t> master</a:t>
            </a:r>
          </a:p>
        </p:txBody>
      </p:sp>
      <p:sp>
        <p:nvSpPr>
          <p:cNvPr id="3" name="Pladsholder til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err="1"/>
              <a:t>Klik</a:t>
            </a:r>
            <a:r>
              <a:rPr lang="en-GB" dirty="0"/>
              <a:t> for at </a:t>
            </a:r>
            <a:r>
              <a:rPr lang="en-GB" dirty="0" err="1"/>
              <a:t>redigere</a:t>
            </a:r>
            <a:r>
              <a:rPr lang="en-GB" dirty="0"/>
              <a:t> </a:t>
            </a:r>
            <a:r>
              <a:rPr lang="en-GB" dirty="0" err="1"/>
              <a:t>i</a:t>
            </a:r>
            <a:r>
              <a:rPr lang="en-GB" dirty="0"/>
              <a:t> master</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err="1"/>
              <a:t>Fjerde</a:t>
            </a:r>
            <a:r>
              <a:rPr lang="en-GB" dirty="0"/>
              <a:t> </a:t>
            </a:r>
            <a:r>
              <a:rPr lang="en-GB" dirty="0" err="1"/>
              <a:t>niveau</a:t>
            </a:r>
            <a:endParaRPr lang="en-GB" dirty="0"/>
          </a:p>
          <a:p>
            <a:pPr lvl="4"/>
            <a:r>
              <a:rPr lang="en-GB" dirty="0" err="1"/>
              <a:t>Femte</a:t>
            </a:r>
            <a:r>
              <a:rPr lang="en-GB" dirty="0"/>
              <a:t> </a:t>
            </a:r>
            <a:r>
              <a:rPr lang="en-GB" dirty="0" err="1"/>
              <a:t>niveau</a:t>
            </a:r>
            <a:endParaRPr lang="en-GB" dirty="0"/>
          </a:p>
          <a:p>
            <a:pPr lvl="5"/>
            <a:r>
              <a:rPr lang="en-GB" dirty="0"/>
              <a:t>6</a:t>
            </a:r>
          </a:p>
          <a:p>
            <a:pPr lvl="6"/>
            <a:r>
              <a:rPr lang="en-GB" dirty="0"/>
              <a:t>7</a:t>
            </a:r>
          </a:p>
          <a:p>
            <a:pPr lvl="7"/>
            <a:r>
              <a:rPr lang="en-GB" dirty="0"/>
              <a:t>8</a:t>
            </a:r>
          </a:p>
          <a:p>
            <a:pPr lvl="8"/>
            <a:r>
              <a:rPr lang="en-GB" dirty="0"/>
              <a:t>9</a:t>
            </a:r>
          </a:p>
        </p:txBody>
      </p:sp>
      <p:sp>
        <p:nvSpPr>
          <p:cNvPr id="4" name="Pladsholder til dato 3"/>
          <p:cNvSpPr>
            <a:spLocks noGrp="1"/>
          </p:cNvSpPr>
          <p:nvPr>
            <p:ph type="dt" sz="half" idx="2"/>
          </p:nvPr>
        </p:nvSpPr>
        <p:spPr>
          <a:xfrm>
            <a:off x="0" y="6858000"/>
            <a:ext cx="0" cy="0"/>
          </a:xfrm>
          <a:prstGeom prst="rect">
            <a:avLst/>
          </a:prstGeom>
        </p:spPr>
        <p:txBody>
          <a:bodyPr vert="horz" lIns="91440" tIns="45720" rIns="91440" bIns="45720" rtlCol="0" anchor="ctr"/>
          <a:lstStyle>
            <a:lvl1pPr algn="l">
              <a:defRPr sz="100">
                <a:solidFill>
                  <a:schemeClr val="tx1">
                    <a:tint val="75000"/>
                  </a:schemeClr>
                </a:solidFill>
              </a:defRPr>
            </a:lvl1pPr>
          </a:lstStyle>
          <a:p>
            <a:r>
              <a:rPr lang="en-GB" dirty="0"/>
              <a:t>.</a:t>
            </a:r>
          </a:p>
        </p:txBody>
      </p:sp>
      <p:sp>
        <p:nvSpPr>
          <p:cNvPr id="5" name="Pladsholder til sidefod 4"/>
          <p:cNvSpPr>
            <a:spLocks noGrp="1"/>
          </p:cNvSpPr>
          <p:nvPr>
            <p:ph type="ftr" sz="quarter" idx="3"/>
          </p:nvPr>
        </p:nvSpPr>
        <p:spPr>
          <a:xfrm>
            <a:off x="0" y="6858000"/>
            <a:ext cx="0" cy="0"/>
          </a:xfrm>
          <a:prstGeom prst="rect">
            <a:avLst/>
          </a:prstGeom>
        </p:spPr>
        <p:txBody>
          <a:bodyPr vert="horz" lIns="91440" tIns="45720" rIns="91440" bIns="45720" rtlCol="0" anchor="ctr"/>
          <a:lstStyle>
            <a:lvl1pPr algn="ctr">
              <a:defRPr sz="100">
                <a:solidFill>
                  <a:schemeClr val="tx1">
                    <a:tint val="75000"/>
                  </a:schemeClr>
                </a:solidFill>
              </a:defRPr>
            </a:lvl1pPr>
          </a:lstStyle>
          <a:p>
            <a:r>
              <a:rPr lang="en-GB" dirty="0"/>
              <a:t>.</a:t>
            </a:r>
          </a:p>
        </p:txBody>
      </p:sp>
      <p:sp>
        <p:nvSpPr>
          <p:cNvPr id="6" name="Pladsholder til slidenummer 5"/>
          <p:cNvSpPr>
            <a:spLocks noGrp="1"/>
          </p:cNvSpPr>
          <p:nvPr>
            <p:ph type="sldNum" sz="quarter" idx="4"/>
          </p:nvPr>
        </p:nvSpPr>
        <p:spPr>
          <a:xfrm>
            <a:off x="0" y="6858000"/>
            <a:ext cx="0" cy="0"/>
          </a:xfrm>
          <a:prstGeom prst="rect">
            <a:avLst/>
          </a:prstGeom>
        </p:spPr>
        <p:txBody>
          <a:bodyPr vert="horz" lIns="91440" tIns="45720" rIns="91440" bIns="45720" rtlCol="0" anchor="ctr"/>
          <a:lstStyle>
            <a:lvl1pPr algn="r">
              <a:defRPr sz="100">
                <a:noFill/>
              </a:defRPr>
            </a:lvl1pPr>
          </a:lstStyle>
          <a:p>
            <a:endParaRPr lang="en-GB" dirty="0"/>
          </a:p>
        </p:txBody>
      </p:sp>
      <p:pic>
        <p:nvPicPr>
          <p:cNvPr id="7" name="Billede 6">
            <a:extLst>
              <a:ext uri="{FF2B5EF4-FFF2-40B4-BE49-F238E27FC236}">
                <a16:creationId xmlns:a16="http://schemas.microsoft.com/office/drawing/2014/main" id="{5501499D-F55E-49F4-B2E9-CBEF800A0415}"/>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10163174" y="627063"/>
            <a:ext cx="1247775" cy="561975"/>
          </a:xfrm>
          <a:prstGeom prst="rect">
            <a:avLst/>
          </a:prstGeom>
        </p:spPr>
      </p:pic>
    </p:spTree>
    <p:extLst>
      <p:ext uri="{BB962C8B-B14F-4D97-AF65-F5344CB8AC3E}">
        <p14:creationId xmlns:p14="http://schemas.microsoft.com/office/powerpoint/2010/main" val="2069487236"/>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2" r:id="rId4"/>
    <p:sldLayoutId id="2147483661" r:id="rId5"/>
    <p:sldLayoutId id="2147483662" r:id="rId6"/>
    <p:sldLayoutId id="2147483654" r:id="rId7"/>
    <p:sldLayoutId id="2147483655" r:id="rId8"/>
    <p:sldLayoutId id="2147483663" r:id="rId9"/>
  </p:sldLayoutIdLst>
  <p:txStyles>
    <p:titleStyle>
      <a:lvl1pPr algn="l" defTabSz="914400" rtl="0" eaLnBrk="1" latinLnBrk="0" hangingPunct="1">
        <a:lnSpc>
          <a:spcPct val="90000"/>
        </a:lnSpc>
        <a:spcBef>
          <a:spcPct val="0"/>
        </a:spcBef>
        <a:buNone/>
        <a:defRPr sz="4400" b="1" kern="1200">
          <a:solidFill>
            <a:schemeClr val="accent1"/>
          </a:solidFill>
          <a:latin typeface="+mj-lt"/>
          <a:ea typeface="+mj-ea"/>
          <a:cs typeface="+mj-cs"/>
        </a:defRPr>
      </a:lvl1pPr>
    </p:titleStyle>
    <p:bodyStyle>
      <a:lvl1pPr marL="180000" indent="-180000" algn="l" defTabSz="914400" rtl="0" eaLnBrk="1" latinLnBrk="0" hangingPunct="1">
        <a:lnSpc>
          <a:spcPct val="90000"/>
        </a:lnSpc>
        <a:spcBef>
          <a:spcPts val="600"/>
        </a:spcBef>
        <a:buFont typeface="Arial" panose="020B0604020202020204" pitchFamily="34" charset="0"/>
        <a:buChar char="•"/>
        <a:defRPr sz="2000" kern="1200">
          <a:solidFill>
            <a:schemeClr val="accent1"/>
          </a:solidFill>
          <a:latin typeface="+mn-lt"/>
          <a:ea typeface="+mn-ea"/>
          <a:cs typeface="+mn-cs"/>
        </a:defRPr>
      </a:lvl1pPr>
      <a:lvl2pPr marL="360000" indent="-180000" algn="l" defTabSz="914400" rtl="0" eaLnBrk="1" latinLnBrk="0" hangingPunct="1">
        <a:lnSpc>
          <a:spcPct val="100000"/>
        </a:lnSpc>
        <a:spcBef>
          <a:spcPts val="600"/>
        </a:spcBef>
        <a:spcAft>
          <a:spcPts val="0"/>
        </a:spcAft>
        <a:buFont typeface="Arial" panose="020B0604020202020204" pitchFamily="34" charset="0"/>
        <a:buChar char="•"/>
        <a:defRPr sz="1800" kern="1200">
          <a:solidFill>
            <a:schemeClr val="accent1"/>
          </a:solidFill>
          <a:latin typeface="+mn-lt"/>
          <a:ea typeface="+mn-ea"/>
          <a:cs typeface="+mn-cs"/>
        </a:defRPr>
      </a:lvl2pPr>
      <a:lvl3pPr marL="540000" indent="-180000" algn="l" defTabSz="914400" rtl="0" eaLnBrk="1" latinLnBrk="0" hangingPunct="1">
        <a:lnSpc>
          <a:spcPct val="100000"/>
        </a:lnSpc>
        <a:spcBef>
          <a:spcPts val="600"/>
        </a:spcBef>
        <a:spcAft>
          <a:spcPts val="0"/>
        </a:spcAft>
        <a:buFont typeface="Arial" panose="020B0604020202020204" pitchFamily="34" charset="0"/>
        <a:buChar char="•"/>
        <a:defRPr sz="1600" kern="1200">
          <a:solidFill>
            <a:schemeClr val="accent1"/>
          </a:solidFill>
          <a:latin typeface="+mn-lt"/>
          <a:ea typeface="+mn-ea"/>
          <a:cs typeface="+mn-cs"/>
        </a:defRPr>
      </a:lvl3pPr>
      <a:lvl4pPr marL="72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4pPr>
      <a:lvl5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5pPr>
      <a:lvl6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6pPr>
      <a:lvl7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7pPr>
      <a:lvl8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8pPr>
      <a:lvl9pPr marL="900000" indent="-180000" algn="l" defTabSz="914400" rtl="0" eaLnBrk="1" latinLnBrk="0" hangingPunct="1">
        <a:lnSpc>
          <a:spcPct val="100000"/>
        </a:lnSpc>
        <a:spcBef>
          <a:spcPts val="600"/>
        </a:spcBef>
        <a:spcAft>
          <a:spcPts val="0"/>
        </a:spcAft>
        <a:buFont typeface="Arial" panose="020B0604020202020204" pitchFamily="34" charset="0"/>
        <a:buChar char="•"/>
        <a:defRPr sz="1400" kern="1200">
          <a:solidFill>
            <a:schemeClr val="accent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ices-tools-dev/RDBES/blob/master/Documents/RDBES%20Data%20Model%20CL%20CE.xlsx" TargetMode="External"/><Relationship Id="rId2" Type="http://schemas.openxmlformats.org/officeDocument/2006/relationships/hyperlink" Target="https://github.com/ices-tools-dev/RDBES/tree/master/Documents" TargetMode="Externa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hyperlink" Target="https://vocab.ices.dk/" TargetMode="External"/><Relationship Id="rId4" Type="http://schemas.openxmlformats.org/officeDocument/2006/relationships/hyperlink" Target="https://github.com/ices-tools-dev/RDBES/blob/master/Documents/RDBES%20Documentation%20of%20the%20Data%20Model.docx"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hyperlink" Target="https://data.europa.eu/doi/10.2788/042271" TargetMode="Externa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ices-tools-dev/RDBES/blob/master/Documents/RDBES%20Documentation%20of%20the%20Data%20Model.docx" TargetMode="External"/><Relationship Id="rId2" Type="http://schemas.openxmlformats.org/officeDocument/2006/relationships/hyperlink" Target="https://data.europa.eu/doi/10.2788/042271" TargetMode="External"/><Relationship Id="rId1" Type="http://schemas.openxmlformats.org/officeDocument/2006/relationships/slideLayout" Target="../slideLayouts/slideLayout3.xml"/><Relationship Id="rId5" Type="http://schemas.openxmlformats.org/officeDocument/2006/relationships/hyperlink" Target="mailto:jsv@aqua.dtu.dk" TargetMode="External"/><Relationship Id="rId4" Type="http://schemas.openxmlformats.org/officeDocument/2006/relationships/hyperlink" Target="http://dcallnet.jrc.ec.europa.eu/gitlab/r-packages/fecR.git"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ices-eg/RCGs/tree/master/Metiers" TargetMode="External"/><Relationship Id="rId2" Type="http://schemas.openxmlformats.org/officeDocument/2006/relationships/hyperlink" Target="mailto:jsv@aqua.dtu.dk"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0.pn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1A1C458-7B80-44E1-A4F2-09E73FF56CAC}"/>
              </a:ext>
            </a:extLst>
          </p:cNvPr>
          <p:cNvSpPr>
            <a:spLocks noGrp="1"/>
          </p:cNvSpPr>
          <p:nvPr>
            <p:ph type="title"/>
          </p:nvPr>
        </p:nvSpPr>
        <p:spPr/>
        <p:txBody>
          <a:bodyPr/>
          <a:lstStyle/>
          <a:p>
            <a:r>
              <a:rPr lang="da-DK" dirty="0"/>
              <a:t>RDBES </a:t>
            </a:r>
            <a:r>
              <a:rPr lang="da-DK" dirty="0" err="1"/>
              <a:t>Effort</a:t>
            </a:r>
            <a:r>
              <a:rPr lang="da-DK" dirty="0"/>
              <a:t> (CE) and landings (CL) </a:t>
            </a:r>
            <a:r>
              <a:rPr lang="da-DK" dirty="0" err="1"/>
              <a:t>tables</a:t>
            </a:r>
            <a:endParaRPr lang="en-GB" dirty="0"/>
          </a:p>
        </p:txBody>
      </p:sp>
      <p:sp>
        <p:nvSpPr>
          <p:cNvPr id="7" name="Text Placeholder 6">
            <a:extLst>
              <a:ext uri="{FF2B5EF4-FFF2-40B4-BE49-F238E27FC236}">
                <a16:creationId xmlns:a16="http://schemas.microsoft.com/office/drawing/2014/main" id="{655F2DF7-8E3D-4DFE-B339-34EE2A297312}"/>
              </a:ext>
            </a:extLst>
          </p:cNvPr>
          <p:cNvSpPr>
            <a:spLocks noGrp="1"/>
          </p:cNvSpPr>
          <p:nvPr>
            <p:ph type="body" sz="quarter" idx="12"/>
          </p:nvPr>
        </p:nvSpPr>
        <p:spPr/>
        <p:txBody>
          <a:bodyPr/>
          <a:lstStyle/>
          <a:p>
            <a:r>
              <a:rPr lang="da-DK" dirty="0"/>
              <a:t>Presentation by Josefine Egekvist, DTU Aqua, Denmark for WKRDBES-INTRO2 2023</a:t>
            </a:r>
          </a:p>
          <a:p>
            <a:r>
              <a:rPr lang="en-GB" dirty="0"/>
              <a:t>Updated for </a:t>
            </a:r>
            <a:r>
              <a:rPr lang="da-DK" dirty="0"/>
              <a:t>WKRDBES-INTRO3 2024 and </a:t>
            </a:r>
            <a:r>
              <a:rPr lang="da-DK" dirty="0" err="1"/>
              <a:t>presented</a:t>
            </a:r>
            <a:r>
              <a:rPr lang="da-DK" dirty="0"/>
              <a:t> by Kirsten Birch Håkansson, DTU Aqua</a:t>
            </a:r>
            <a:endParaRPr lang="en-GB" dirty="0"/>
          </a:p>
        </p:txBody>
      </p:sp>
    </p:spTree>
    <p:extLst>
      <p:ext uri="{BB962C8B-B14F-4D97-AF65-F5344CB8AC3E}">
        <p14:creationId xmlns:p14="http://schemas.microsoft.com/office/powerpoint/2010/main" val="559743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FFE10-FF12-4545-B6E8-8FF3072D9188}"/>
              </a:ext>
            </a:extLst>
          </p:cNvPr>
          <p:cNvSpPr>
            <a:spLocks noGrp="1"/>
          </p:cNvSpPr>
          <p:nvPr>
            <p:ph type="title"/>
          </p:nvPr>
        </p:nvSpPr>
        <p:spPr/>
        <p:txBody>
          <a:bodyPr>
            <a:normAutofit fontScale="90000"/>
          </a:bodyPr>
          <a:lstStyle/>
          <a:p>
            <a:r>
              <a:rPr lang="da-DK" dirty="0"/>
              <a:t>Data format </a:t>
            </a:r>
            <a:r>
              <a:rPr lang="da-DK" dirty="0" err="1"/>
              <a:t>description</a:t>
            </a:r>
            <a:r>
              <a:rPr lang="da-DK" dirty="0"/>
              <a:t> and </a:t>
            </a:r>
            <a:r>
              <a:rPr lang="da-DK" dirty="0" err="1"/>
              <a:t>documentation</a:t>
            </a:r>
            <a:endParaRPr lang="en-GB" dirty="0"/>
          </a:p>
        </p:txBody>
      </p:sp>
      <p:sp>
        <p:nvSpPr>
          <p:cNvPr id="3" name="Content Placeholder 2">
            <a:extLst>
              <a:ext uri="{FF2B5EF4-FFF2-40B4-BE49-F238E27FC236}">
                <a16:creationId xmlns:a16="http://schemas.microsoft.com/office/drawing/2014/main" id="{CB378C82-2B3F-4998-AD43-F6F7F2D1FF2E}"/>
              </a:ext>
            </a:extLst>
          </p:cNvPr>
          <p:cNvSpPr>
            <a:spLocks noGrp="1"/>
          </p:cNvSpPr>
          <p:nvPr>
            <p:ph sz="quarter" idx="12"/>
          </p:nvPr>
        </p:nvSpPr>
        <p:spPr>
          <a:xfrm>
            <a:off x="647700" y="1490662"/>
            <a:ext cx="9521536" cy="4533513"/>
          </a:xfrm>
        </p:spPr>
        <p:txBody>
          <a:bodyPr>
            <a:normAutofit fontScale="85000" lnSpcReduction="10000"/>
          </a:bodyPr>
          <a:lstStyle/>
          <a:p>
            <a:pPr marL="0" indent="0">
              <a:buNone/>
            </a:pPr>
            <a:r>
              <a:rPr lang="da-DK" b="1" dirty="0"/>
              <a:t>CL</a:t>
            </a:r>
            <a:r>
              <a:rPr lang="da-DK" dirty="0"/>
              <a:t>=RDBES Commercial landings data</a:t>
            </a:r>
            <a:endParaRPr lang="en-GB" dirty="0"/>
          </a:p>
          <a:p>
            <a:pPr marL="0" indent="0">
              <a:buNone/>
            </a:pPr>
            <a:r>
              <a:rPr lang="da-DK" b="1" dirty="0"/>
              <a:t>CE</a:t>
            </a:r>
            <a:r>
              <a:rPr lang="da-DK" dirty="0"/>
              <a:t>=REBES Commercial </a:t>
            </a:r>
            <a:r>
              <a:rPr lang="da-DK" dirty="0" err="1"/>
              <a:t>effort</a:t>
            </a:r>
            <a:r>
              <a:rPr lang="da-DK" dirty="0"/>
              <a:t> data</a:t>
            </a:r>
          </a:p>
          <a:p>
            <a:endParaRPr lang="da-DK" dirty="0"/>
          </a:p>
          <a:p>
            <a:pPr marL="0" indent="0">
              <a:buNone/>
            </a:pPr>
            <a:r>
              <a:rPr lang="da-DK" dirty="0" err="1"/>
              <a:t>Description</a:t>
            </a:r>
            <a:r>
              <a:rPr lang="da-DK" dirty="0"/>
              <a:t> of the format </a:t>
            </a:r>
            <a:r>
              <a:rPr lang="da-DK" dirty="0" err="1"/>
              <a:t>can</a:t>
            </a:r>
            <a:r>
              <a:rPr lang="da-DK" dirty="0"/>
              <a:t> </a:t>
            </a:r>
            <a:r>
              <a:rPr lang="da-DK" dirty="0" err="1"/>
              <a:t>be</a:t>
            </a:r>
            <a:r>
              <a:rPr lang="da-DK" dirty="0"/>
              <a:t> </a:t>
            </a:r>
            <a:r>
              <a:rPr lang="da-DK" dirty="0" err="1"/>
              <a:t>found</a:t>
            </a:r>
            <a:r>
              <a:rPr lang="da-DK" dirty="0"/>
              <a:t> at:</a:t>
            </a:r>
            <a:endParaRPr lang="da-DK" dirty="0">
              <a:hlinkClick r:id="rId2"/>
            </a:endParaRPr>
          </a:p>
          <a:p>
            <a:r>
              <a:rPr lang="da-DK" dirty="0">
                <a:hlinkClick r:id="rId2"/>
              </a:rPr>
              <a:t>https://github.com/ices-tools-dev/RDBES/tree/master/Documents</a:t>
            </a:r>
            <a:endParaRPr lang="da-DK" dirty="0"/>
          </a:p>
          <a:p>
            <a:endParaRPr lang="da-DK" dirty="0"/>
          </a:p>
          <a:p>
            <a:pPr marL="0" indent="0">
              <a:buNone/>
            </a:pPr>
            <a:r>
              <a:rPr lang="da-DK" dirty="0"/>
              <a:t>Data format </a:t>
            </a:r>
            <a:r>
              <a:rPr lang="da-DK" dirty="0" err="1"/>
              <a:t>specification</a:t>
            </a:r>
            <a:r>
              <a:rPr lang="da-DK" dirty="0"/>
              <a:t>:</a:t>
            </a:r>
          </a:p>
          <a:p>
            <a:r>
              <a:rPr lang="en-GB" dirty="0">
                <a:hlinkClick r:id="rId3" tooltip="RDBES Data Model CL CE.xlsx"/>
              </a:rPr>
              <a:t>RDBES Data Model CL CE.xlsx</a:t>
            </a:r>
            <a:r>
              <a:rPr lang="en-GB" dirty="0"/>
              <a:t>, </a:t>
            </a:r>
            <a:r>
              <a:rPr lang="en-GB" dirty="0">
                <a:highlight>
                  <a:srgbClr val="FFFF00"/>
                </a:highlight>
              </a:rPr>
              <a:t>Cells with changes to the format are marked with yellow</a:t>
            </a:r>
            <a:endParaRPr lang="da-DK" dirty="0">
              <a:highlight>
                <a:srgbClr val="FFFF00"/>
              </a:highlight>
            </a:endParaRPr>
          </a:p>
          <a:p>
            <a:endParaRPr lang="da-DK" dirty="0"/>
          </a:p>
          <a:p>
            <a:pPr marL="0" indent="0">
              <a:buNone/>
            </a:pPr>
            <a:r>
              <a:rPr lang="da-DK" dirty="0" err="1"/>
              <a:t>Documentation</a:t>
            </a:r>
            <a:r>
              <a:rPr lang="da-DK" dirty="0"/>
              <a:t>:</a:t>
            </a:r>
          </a:p>
          <a:p>
            <a:r>
              <a:rPr lang="en-US" dirty="0">
                <a:hlinkClick r:id="rId4" tooltip="RDBES Documentation of the Data Model.docx"/>
              </a:rPr>
              <a:t>RDBES Documentation of the Data Model.docx</a:t>
            </a:r>
            <a:r>
              <a:rPr lang="en-US" dirty="0"/>
              <a:t>, </a:t>
            </a:r>
          </a:p>
          <a:p>
            <a:endParaRPr lang="en-US" dirty="0"/>
          </a:p>
          <a:p>
            <a:pPr marL="0" indent="0">
              <a:buNone/>
            </a:pPr>
            <a:r>
              <a:rPr lang="en-US" dirty="0"/>
              <a:t>Note: use codes in the ICES Vocabulary (</a:t>
            </a:r>
            <a:r>
              <a:rPr lang="en-US" dirty="0">
                <a:hlinkClick r:id="rId5"/>
              </a:rPr>
              <a:t>https://vocab.ices.dk/</a:t>
            </a:r>
            <a:r>
              <a:rPr lang="en-US" dirty="0"/>
              <a:t>), the ones in the format description are examples. Links to ICES vocabulary can be found in the Vocabulary Code Type field.</a:t>
            </a:r>
          </a:p>
          <a:p>
            <a:pPr marL="0" indent="0">
              <a:buNone/>
            </a:pPr>
            <a:endParaRPr lang="en-US" dirty="0"/>
          </a:p>
          <a:p>
            <a:pPr marL="0" indent="0">
              <a:buNone/>
            </a:pPr>
            <a:r>
              <a:rPr lang="da-DK" dirty="0" err="1"/>
              <a:t>Filenames</a:t>
            </a:r>
            <a:r>
              <a:rPr lang="da-DK" dirty="0"/>
              <a:t> </a:t>
            </a:r>
            <a:r>
              <a:rPr lang="da-DK" dirty="0" err="1"/>
              <a:t>should</a:t>
            </a:r>
            <a:r>
              <a:rPr lang="da-DK" dirty="0"/>
              <a:t> have the </a:t>
            </a:r>
            <a:r>
              <a:rPr lang="da-DK" dirty="0" err="1"/>
              <a:t>suffix</a:t>
            </a:r>
            <a:r>
              <a:rPr lang="da-DK" dirty="0"/>
              <a:t> CL or CE</a:t>
            </a:r>
          </a:p>
          <a:p>
            <a:endParaRPr lang="en-GB" dirty="0"/>
          </a:p>
        </p:txBody>
      </p:sp>
      <p:pic>
        <p:nvPicPr>
          <p:cNvPr id="5" name="Picture 4">
            <a:extLst>
              <a:ext uri="{FF2B5EF4-FFF2-40B4-BE49-F238E27FC236}">
                <a16:creationId xmlns:a16="http://schemas.microsoft.com/office/drawing/2014/main" id="{E12F3E71-E6BB-956D-6CEC-2449C246D623}"/>
              </a:ext>
            </a:extLst>
          </p:cNvPr>
          <p:cNvPicPr>
            <a:picLocks noChangeAspect="1"/>
          </p:cNvPicPr>
          <p:nvPr/>
        </p:nvPicPr>
        <p:blipFill>
          <a:blip r:embed="rId6"/>
          <a:stretch>
            <a:fillRect/>
          </a:stretch>
        </p:blipFill>
        <p:spPr>
          <a:xfrm>
            <a:off x="8130446" y="1348995"/>
            <a:ext cx="3721154" cy="1922140"/>
          </a:xfrm>
          <a:prstGeom prst="rect">
            <a:avLst/>
          </a:prstGeom>
        </p:spPr>
      </p:pic>
    </p:spTree>
    <p:extLst>
      <p:ext uri="{BB962C8B-B14F-4D97-AF65-F5344CB8AC3E}">
        <p14:creationId xmlns:p14="http://schemas.microsoft.com/office/powerpoint/2010/main" val="3693820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FFE10-FF12-4545-B6E8-8FF3072D9188}"/>
              </a:ext>
            </a:extLst>
          </p:cNvPr>
          <p:cNvSpPr>
            <a:spLocks noGrp="1"/>
          </p:cNvSpPr>
          <p:nvPr>
            <p:ph type="title"/>
          </p:nvPr>
        </p:nvSpPr>
        <p:spPr/>
        <p:txBody>
          <a:bodyPr/>
          <a:lstStyle/>
          <a:p>
            <a:r>
              <a:rPr lang="da-DK" dirty="0">
                <a:highlight>
                  <a:srgbClr val="FFFF00"/>
                </a:highlight>
              </a:rPr>
              <a:t>Updates</a:t>
            </a:r>
            <a:r>
              <a:rPr lang="da-DK" dirty="0"/>
              <a:t> in the 2024 data </a:t>
            </a:r>
            <a:r>
              <a:rPr lang="da-DK" dirty="0" err="1"/>
              <a:t>call</a:t>
            </a:r>
            <a:endParaRPr lang="en-GB" dirty="0"/>
          </a:p>
        </p:txBody>
      </p:sp>
      <p:sp>
        <p:nvSpPr>
          <p:cNvPr id="3" name="Content Placeholder 2">
            <a:extLst>
              <a:ext uri="{FF2B5EF4-FFF2-40B4-BE49-F238E27FC236}">
                <a16:creationId xmlns:a16="http://schemas.microsoft.com/office/drawing/2014/main" id="{CB378C82-2B3F-4998-AD43-F6F7F2D1FF2E}"/>
              </a:ext>
            </a:extLst>
          </p:cNvPr>
          <p:cNvSpPr>
            <a:spLocks noGrp="1"/>
          </p:cNvSpPr>
          <p:nvPr>
            <p:ph sz="quarter" idx="12"/>
          </p:nvPr>
        </p:nvSpPr>
        <p:spPr>
          <a:xfrm>
            <a:off x="647700" y="1490662"/>
            <a:ext cx="9521536" cy="4533513"/>
          </a:xfrm>
        </p:spPr>
        <p:txBody>
          <a:bodyPr/>
          <a:lstStyle/>
          <a:p>
            <a:r>
              <a:rPr lang="en-US" noProof="0" dirty="0"/>
              <a:t>The FDI variables are now a part of the unique key</a:t>
            </a:r>
            <a:endParaRPr lang="en-US" sz="2000" noProof="0" dirty="0"/>
          </a:p>
          <a:p>
            <a:endParaRPr lang="en-US" noProof="0" dirty="0"/>
          </a:p>
          <a:p>
            <a:r>
              <a:rPr lang="en-US" noProof="0" dirty="0"/>
              <a:t>CL official weight was made optional (it will turn mandatory for next data call)</a:t>
            </a:r>
          </a:p>
          <a:p>
            <a:endParaRPr lang="en-US" noProof="0" dirty="0"/>
          </a:p>
          <a:p>
            <a:r>
              <a:rPr lang="en-US" noProof="0" dirty="0"/>
              <a:t>CE Official days at sea and Official fishing days were made optional</a:t>
            </a:r>
          </a:p>
          <a:p>
            <a:endParaRPr lang="en-US" noProof="0" dirty="0"/>
          </a:p>
          <a:p>
            <a:r>
              <a:rPr lang="en-US" noProof="0" dirty="0"/>
              <a:t>Minor updates of names and descriptions</a:t>
            </a:r>
          </a:p>
        </p:txBody>
      </p:sp>
    </p:spTree>
    <p:extLst>
      <p:ext uri="{BB962C8B-B14F-4D97-AF65-F5344CB8AC3E}">
        <p14:creationId xmlns:p14="http://schemas.microsoft.com/office/powerpoint/2010/main" val="582029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dirty="0"/>
              <a:t>Principles in the CL and CE data formats</a:t>
            </a:r>
            <a:endParaRPr lang="en-GB" dirty="0"/>
          </a:p>
        </p:txBody>
      </p:sp>
      <p:sp>
        <p:nvSpPr>
          <p:cNvPr id="3" name="Pladsholder til indhold 2"/>
          <p:cNvSpPr>
            <a:spLocks noGrp="1"/>
          </p:cNvSpPr>
          <p:nvPr>
            <p:ph idx="1"/>
          </p:nvPr>
        </p:nvSpPr>
        <p:spPr/>
        <p:txBody>
          <a:bodyPr>
            <a:normAutofit/>
          </a:bodyPr>
          <a:lstStyle/>
          <a:p>
            <a:r>
              <a:rPr lang="da-DK" dirty="0"/>
              <a:t>The ICES data center and the RDBES core </a:t>
            </a:r>
            <a:r>
              <a:rPr lang="da-DK" dirty="0" err="1"/>
              <a:t>group</a:t>
            </a:r>
            <a:r>
              <a:rPr lang="da-DK" dirty="0"/>
              <a:t> have </a:t>
            </a:r>
            <a:r>
              <a:rPr lang="da-DK" dirty="0" err="1"/>
              <a:t>worked</a:t>
            </a:r>
            <a:r>
              <a:rPr lang="da-DK" dirty="0"/>
              <a:t> on </a:t>
            </a:r>
            <a:r>
              <a:rPr lang="da-DK" dirty="0" err="1"/>
              <a:t>developing</a:t>
            </a:r>
            <a:r>
              <a:rPr lang="da-DK" dirty="0"/>
              <a:t> the format with inputs from </a:t>
            </a:r>
            <a:r>
              <a:rPr lang="da-DK" dirty="0" err="1"/>
              <a:t>other</a:t>
            </a:r>
            <a:r>
              <a:rPr lang="da-DK" dirty="0"/>
              <a:t> </a:t>
            </a:r>
            <a:r>
              <a:rPr lang="da-DK" dirty="0" err="1"/>
              <a:t>experts</a:t>
            </a:r>
            <a:endParaRPr lang="da-DK" dirty="0"/>
          </a:p>
          <a:p>
            <a:endParaRPr lang="da-DK" dirty="0"/>
          </a:p>
          <a:p>
            <a:r>
              <a:rPr lang="da-DK" dirty="0"/>
              <a:t>It is </a:t>
            </a:r>
            <a:r>
              <a:rPr lang="da-DK" dirty="0" err="1"/>
              <a:t>possible</a:t>
            </a:r>
            <a:r>
              <a:rPr lang="da-DK" dirty="0"/>
              <a:t> to </a:t>
            </a:r>
            <a:r>
              <a:rPr lang="da-DK" dirty="0" err="1"/>
              <a:t>report</a:t>
            </a:r>
            <a:r>
              <a:rPr lang="da-DK" dirty="0"/>
              <a:t> </a:t>
            </a:r>
            <a:r>
              <a:rPr lang="da-DK" dirty="0" err="1"/>
              <a:t>both</a:t>
            </a:r>
            <a:r>
              <a:rPr lang="da-DK" dirty="0"/>
              <a:t> official and </a:t>
            </a:r>
            <a:r>
              <a:rPr lang="da-DK" dirty="0" err="1"/>
              <a:t>scientific</a:t>
            </a:r>
            <a:r>
              <a:rPr lang="da-DK" dirty="0"/>
              <a:t> </a:t>
            </a:r>
            <a:r>
              <a:rPr lang="da-DK" dirty="0" err="1"/>
              <a:t>estimates</a:t>
            </a:r>
            <a:r>
              <a:rPr lang="da-DK" dirty="0"/>
              <a:t> of landings and </a:t>
            </a:r>
            <a:r>
              <a:rPr lang="da-DK" dirty="0" err="1"/>
              <a:t>effort</a:t>
            </a:r>
            <a:endParaRPr lang="da-DK" dirty="0"/>
          </a:p>
          <a:p>
            <a:endParaRPr lang="da-DK" dirty="0"/>
          </a:p>
          <a:p>
            <a:r>
              <a:rPr lang="da-DK" dirty="0" err="1"/>
              <a:t>Effort</a:t>
            </a:r>
            <a:r>
              <a:rPr lang="da-DK" dirty="0"/>
              <a:t> </a:t>
            </a:r>
            <a:r>
              <a:rPr lang="da-DK" dirty="0" err="1"/>
              <a:t>calculations</a:t>
            </a:r>
            <a:r>
              <a:rPr lang="da-DK" dirty="0"/>
              <a:t> </a:t>
            </a:r>
            <a:r>
              <a:rPr lang="da-DK" dirty="0" err="1"/>
              <a:t>should</a:t>
            </a:r>
            <a:r>
              <a:rPr lang="da-DK" dirty="0"/>
              <a:t> </a:t>
            </a:r>
            <a:r>
              <a:rPr lang="da-DK" dirty="0" err="1"/>
              <a:t>follow</a:t>
            </a:r>
            <a:r>
              <a:rPr lang="da-DK" dirty="0"/>
              <a:t> </a:t>
            </a:r>
            <a:r>
              <a:rPr lang="da-DK" dirty="0" err="1"/>
              <a:t>recommendations</a:t>
            </a:r>
            <a:r>
              <a:rPr lang="da-DK" dirty="0"/>
              <a:t> from </a:t>
            </a:r>
            <a:r>
              <a:rPr lang="en-GB" dirty="0"/>
              <a:t>2</a:t>
            </a:r>
            <a:r>
              <a:rPr lang="en-GB" baseline="30000" dirty="0"/>
              <a:t>nd</a:t>
            </a:r>
            <a:r>
              <a:rPr lang="en-GB" dirty="0"/>
              <a:t> Workshop on Transversal Variables in Nicosia </a:t>
            </a:r>
            <a:r>
              <a:rPr lang="da-DK"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https://data.europa.eu/doi/10.2788/042271</a:t>
            </a:r>
            <a:endParaRPr lang="en-GB" dirty="0"/>
          </a:p>
          <a:p>
            <a:endParaRPr lang="en-GB" dirty="0"/>
          </a:p>
          <a:p>
            <a:r>
              <a:rPr lang="en-GB" dirty="0"/>
              <a:t>Extra optional fields have been included in the RDBES that should make it possible to use the data to consider future ICES data needs and preferably also the STECF FDI data call</a:t>
            </a:r>
          </a:p>
          <a:p>
            <a:endParaRPr lang="da-DK" dirty="0"/>
          </a:p>
          <a:p>
            <a:endParaRPr lang="en-GB" dirty="0"/>
          </a:p>
        </p:txBody>
      </p:sp>
      <p:sp>
        <p:nvSpPr>
          <p:cNvPr id="4" name="Pladsholder til sidefod 3"/>
          <p:cNvSpPr>
            <a:spLocks noGrp="1"/>
          </p:cNvSpPr>
          <p:nvPr>
            <p:ph type="ftr" sz="quarter" idx="10"/>
          </p:nvPr>
        </p:nvSpPr>
        <p:spPr/>
        <p:txBody>
          <a:bodyPr/>
          <a:lstStyle/>
          <a:p>
            <a:endParaRPr lang="da-DK" dirty="0"/>
          </a:p>
        </p:txBody>
      </p:sp>
      <p:sp>
        <p:nvSpPr>
          <p:cNvPr id="5" name="Pladsholder til slidenummer 4"/>
          <p:cNvSpPr>
            <a:spLocks noGrp="1"/>
          </p:cNvSpPr>
          <p:nvPr>
            <p:ph type="sldNum" sz="quarter" idx="11"/>
          </p:nvPr>
        </p:nvSpPr>
        <p:spPr/>
        <p:txBody>
          <a:bodyPr/>
          <a:lstStyle/>
          <a:p>
            <a:fld id="{103EA872-A674-449B-A120-B97244F8E91D}" type="slidenum">
              <a:rPr lang="da-DK" smtClean="0"/>
              <a:pPr/>
              <a:t>4</a:t>
            </a:fld>
            <a:endParaRPr lang="da-DK" dirty="0"/>
          </a:p>
        </p:txBody>
      </p:sp>
    </p:spTree>
    <p:extLst>
      <p:ext uri="{BB962C8B-B14F-4D97-AF65-F5344CB8AC3E}">
        <p14:creationId xmlns:p14="http://schemas.microsoft.com/office/powerpoint/2010/main" val="405243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C5D0B-6FE8-6B4D-1927-5B397AD1DE3E}"/>
              </a:ext>
            </a:extLst>
          </p:cNvPr>
          <p:cNvSpPr>
            <a:spLocks noGrp="1"/>
          </p:cNvSpPr>
          <p:nvPr>
            <p:ph type="title"/>
          </p:nvPr>
        </p:nvSpPr>
        <p:spPr/>
        <p:txBody>
          <a:bodyPr/>
          <a:lstStyle/>
          <a:p>
            <a:r>
              <a:rPr lang="en-US" dirty="0"/>
              <a:t>Calculation of effort</a:t>
            </a:r>
          </a:p>
        </p:txBody>
      </p:sp>
      <p:sp>
        <p:nvSpPr>
          <p:cNvPr id="5" name="Content Placeholder 4">
            <a:extLst>
              <a:ext uri="{FF2B5EF4-FFF2-40B4-BE49-F238E27FC236}">
                <a16:creationId xmlns:a16="http://schemas.microsoft.com/office/drawing/2014/main" id="{E9F649AD-0037-FA46-EAB7-B030181E391E}"/>
              </a:ext>
            </a:extLst>
          </p:cNvPr>
          <p:cNvSpPr>
            <a:spLocks noGrp="1"/>
          </p:cNvSpPr>
          <p:nvPr>
            <p:ph sz="quarter" idx="11"/>
          </p:nvPr>
        </p:nvSpPr>
        <p:spPr/>
        <p:txBody>
          <a:bodyPr/>
          <a:lstStyle/>
          <a:p>
            <a:pPr marL="0" indent="0">
              <a:buNone/>
            </a:pPr>
            <a:r>
              <a:rPr lang="da-DK" dirty="0" err="1"/>
              <a:t>Effort</a:t>
            </a:r>
            <a:r>
              <a:rPr lang="da-DK" dirty="0"/>
              <a:t> </a:t>
            </a:r>
            <a:r>
              <a:rPr lang="da-DK" dirty="0" err="1"/>
              <a:t>calculations</a:t>
            </a:r>
            <a:r>
              <a:rPr lang="da-DK" dirty="0"/>
              <a:t> </a:t>
            </a:r>
            <a:r>
              <a:rPr lang="da-DK" dirty="0" err="1"/>
              <a:t>should</a:t>
            </a:r>
            <a:r>
              <a:rPr lang="da-DK" dirty="0"/>
              <a:t> </a:t>
            </a:r>
            <a:r>
              <a:rPr lang="da-DK" dirty="0" err="1"/>
              <a:t>follow</a:t>
            </a:r>
            <a:r>
              <a:rPr lang="da-DK" dirty="0"/>
              <a:t> </a:t>
            </a:r>
            <a:r>
              <a:rPr lang="da-DK" dirty="0" err="1"/>
              <a:t>recommendations</a:t>
            </a:r>
            <a:r>
              <a:rPr lang="da-DK" dirty="0"/>
              <a:t> from </a:t>
            </a:r>
            <a:r>
              <a:rPr lang="en-GB" dirty="0"/>
              <a:t>2</a:t>
            </a:r>
            <a:r>
              <a:rPr lang="en-GB" baseline="30000" dirty="0"/>
              <a:t>nd</a:t>
            </a:r>
            <a:r>
              <a:rPr lang="en-GB" dirty="0"/>
              <a:t> Workshop on Transversal Variables in Nicosia </a:t>
            </a:r>
            <a:r>
              <a:rPr lang="da-DK"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https://data.europa.eu/doi/10.2788/042271</a:t>
            </a:r>
            <a:endParaRPr lang="da-DK" sz="1800"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da-DK" sz="1800" u="sng" dirty="0">
              <a:solidFill>
                <a:srgbClr val="0563C1"/>
              </a:solidFill>
              <a:latin typeface="Calibri" panose="020F0502020204030204" pitchFamily="34" charset="0"/>
              <a:cs typeface="Times New Roman" panose="02020603050405020304" pitchFamily="18" charset="0"/>
            </a:endParaRPr>
          </a:p>
          <a:p>
            <a:pPr marL="0" indent="0">
              <a:buNone/>
            </a:pPr>
            <a:r>
              <a:rPr lang="da-DK" dirty="0" err="1"/>
              <a:t>Examples</a:t>
            </a:r>
            <a:r>
              <a:rPr lang="da-DK" dirty="0"/>
              <a:t> on </a:t>
            </a:r>
            <a:r>
              <a:rPr lang="da-DK" dirty="0" err="1"/>
              <a:t>how</a:t>
            </a:r>
            <a:r>
              <a:rPr lang="da-DK" dirty="0"/>
              <a:t> to </a:t>
            </a:r>
            <a:r>
              <a:rPr lang="da-DK" dirty="0" err="1"/>
              <a:t>calculate</a:t>
            </a:r>
            <a:r>
              <a:rPr lang="da-DK" dirty="0"/>
              <a:t> </a:t>
            </a:r>
            <a:r>
              <a:rPr lang="da-DK" dirty="0" err="1"/>
              <a:t>can</a:t>
            </a:r>
            <a:r>
              <a:rPr lang="da-DK" dirty="0"/>
              <a:t> </a:t>
            </a:r>
            <a:r>
              <a:rPr lang="da-DK" dirty="0" err="1"/>
              <a:t>be</a:t>
            </a:r>
            <a:r>
              <a:rPr lang="da-DK" dirty="0"/>
              <a:t> </a:t>
            </a:r>
            <a:r>
              <a:rPr lang="da-DK" dirty="0" err="1"/>
              <a:t>found</a:t>
            </a:r>
            <a:r>
              <a:rPr lang="da-DK" dirty="0"/>
              <a:t> in the </a:t>
            </a:r>
            <a:r>
              <a:rPr lang="da-DK" dirty="0" err="1"/>
              <a:t>section</a:t>
            </a:r>
            <a:r>
              <a:rPr lang="da-DK" dirty="0"/>
              <a:t> ‘</a:t>
            </a:r>
            <a:r>
              <a:rPr lang="en-GB" dirty="0"/>
              <a:t>Fields in Commercial Effort (CE) data format</a:t>
            </a:r>
            <a:r>
              <a:rPr lang="da-DK" dirty="0"/>
              <a:t>’ in </a:t>
            </a:r>
            <a:r>
              <a:rPr lang="en-US" sz="1800" dirty="0">
                <a:hlinkClick r:id="rId3" tooltip="RDBES Documentation of the Data Model.docx"/>
              </a:rPr>
              <a:t>RDBES Documentation of the Data Model.docx</a:t>
            </a:r>
            <a:endParaRPr lang="en-US" sz="1800" dirty="0"/>
          </a:p>
          <a:p>
            <a:pPr marL="0" indent="0">
              <a:buNone/>
            </a:pPr>
            <a:endParaRPr lang="en-US" sz="1800" dirty="0">
              <a:solidFill>
                <a:srgbClr val="0563C1"/>
              </a:solidFill>
              <a:latin typeface="Calibri" panose="020F0502020204030204" pitchFamily="34" charset="0"/>
              <a:cs typeface="Times New Roman" panose="02020603050405020304" pitchFamily="18" charset="0"/>
            </a:endParaRPr>
          </a:p>
          <a:p>
            <a:pPr marL="0" indent="0">
              <a:buNone/>
            </a:pPr>
            <a:r>
              <a:rPr lang="da-DK" sz="1800" dirty="0">
                <a:solidFill>
                  <a:schemeClr val="tx1"/>
                </a:solidFill>
                <a:latin typeface="Calibri" panose="020F0502020204030204" pitchFamily="34" charset="0"/>
                <a:cs typeface="Times New Roman" panose="02020603050405020304" pitchFamily="18" charset="0"/>
              </a:rPr>
              <a:t>RCG ISSG on Metier and transversal variables </a:t>
            </a:r>
            <a:r>
              <a:rPr lang="da-DK" sz="1800" dirty="0" err="1">
                <a:solidFill>
                  <a:schemeClr val="tx1"/>
                </a:solidFill>
                <a:latin typeface="Calibri" panose="020F0502020204030204" pitchFamily="34" charset="0"/>
                <a:cs typeface="Times New Roman" panose="02020603050405020304" pitchFamily="18" charset="0"/>
              </a:rPr>
              <a:t>are</a:t>
            </a:r>
            <a:r>
              <a:rPr lang="da-DK" sz="1800" dirty="0">
                <a:solidFill>
                  <a:schemeClr val="tx1"/>
                </a:solidFill>
                <a:latin typeface="Calibri" panose="020F0502020204030204" pitchFamily="34" charset="0"/>
                <a:cs typeface="Times New Roman" panose="02020603050405020304" pitchFamily="18" charset="0"/>
              </a:rPr>
              <a:t> </a:t>
            </a:r>
            <a:r>
              <a:rPr lang="da-DK" sz="1800" dirty="0" err="1">
                <a:solidFill>
                  <a:schemeClr val="tx1"/>
                </a:solidFill>
                <a:latin typeface="Calibri" panose="020F0502020204030204" pitchFamily="34" charset="0"/>
                <a:cs typeface="Times New Roman" panose="02020603050405020304" pitchFamily="18" charset="0"/>
              </a:rPr>
              <a:t>working</a:t>
            </a:r>
            <a:r>
              <a:rPr lang="da-DK" sz="1800" dirty="0">
                <a:solidFill>
                  <a:schemeClr val="tx1"/>
                </a:solidFill>
                <a:latin typeface="Calibri" panose="020F0502020204030204" pitchFamily="34" charset="0"/>
                <a:cs typeface="Times New Roman" panose="02020603050405020304" pitchFamily="18" charset="0"/>
              </a:rPr>
              <a:t> on </a:t>
            </a:r>
            <a:r>
              <a:rPr lang="da-DK" sz="1800" dirty="0" err="1">
                <a:solidFill>
                  <a:schemeClr val="tx1"/>
                </a:solidFill>
                <a:latin typeface="Calibri" panose="020F0502020204030204" pitchFamily="34" charset="0"/>
                <a:cs typeface="Times New Roman" panose="02020603050405020304" pitchFamily="18" charset="0"/>
              </a:rPr>
              <a:t>updating</a:t>
            </a:r>
            <a:r>
              <a:rPr lang="da-DK" sz="1800" dirty="0">
                <a:solidFill>
                  <a:schemeClr val="tx1"/>
                </a:solidFill>
                <a:latin typeface="Calibri" panose="020F0502020204030204" pitchFamily="34" charset="0"/>
                <a:cs typeface="Times New Roman" panose="02020603050405020304" pitchFamily="18" charset="0"/>
              </a:rPr>
              <a:t> the R-script </a:t>
            </a:r>
            <a:r>
              <a:rPr lang="da-DK" sz="1800" dirty="0" err="1">
                <a:solidFill>
                  <a:schemeClr val="tx1"/>
                </a:solidFill>
                <a:latin typeface="Calibri" panose="020F0502020204030204" pitchFamily="34" charset="0"/>
                <a:cs typeface="Times New Roman" panose="02020603050405020304" pitchFamily="18" charset="0"/>
              </a:rPr>
              <a:t>developed</a:t>
            </a:r>
            <a:r>
              <a:rPr lang="da-DK" sz="1800" dirty="0">
                <a:solidFill>
                  <a:schemeClr val="tx1"/>
                </a:solidFill>
                <a:latin typeface="Calibri" panose="020F0502020204030204" pitchFamily="34" charset="0"/>
                <a:cs typeface="Times New Roman" panose="02020603050405020304" pitchFamily="18" charset="0"/>
              </a:rPr>
              <a:t> to </a:t>
            </a:r>
            <a:r>
              <a:rPr lang="da-DK" sz="1800" dirty="0" err="1">
                <a:solidFill>
                  <a:schemeClr val="tx1"/>
                </a:solidFill>
                <a:latin typeface="Calibri" panose="020F0502020204030204" pitchFamily="34" charset="0"/>
                <a:cs typeface="Times New Roman" panose="02020603050405020304" pitchFamily="18" charset="0"/>
              </a:rPr>
              <a:t>calculate</a:t>
            </a:r>
            <a:r>
              <a:rPr lang="da-DK" sz="1800" dirty="0">
                <a:solidFill>
                  <a:schemeClr val="tx1"/>
                </a:solidFill>
                <a:latin typeface="Calibri" panose="020F0502020204030204" pitchFamily="34" charset="0"/>
                <a:cs typeface="Times New Roman" panose="02020603050405020304" pitchFamily="18" charset="0"/>
              </a:rPr>
              <a:t> </a:t>
            </a:r>
            <a:r>
              <a:rPr lang="da-DK" sz="1800" dirty="0" err="1">
                <a:solidFill>
                  <a:schemeClr val="tx1"/>
                </a:solidFill>
                <a:latin typeface="Calibri" panose="020F0502020204030204" pitchFamily="34" charset="0"/>
                <a:cs typeface="Times New Roman" panose="02020603050405020304" pitchFamily="18" charset="0"/>
              </a:rPr>
              <a:t>fishing</a:t>
            </a:r>
            <a:r>
              <a:rPr lang="da-DK" sz="1800" dirty="0">
                <a:solidFill>
                  <a:schemeClr val="tx1"/>
                </a:solidFill>
                <a:latin typeface="Calibri" panose="020F0502020204030204" pitchFamily="34" charset="0"/>
                <a:cs typeface="Times New Roman" panose="02020603050405020304" pitchFamily="18" charset="0"/>
              </a:rPr>
              <a:t> </a:t>
            </a:r>
            <a:r>
              <a:rPr lang="da-DK" sz="1800" dirty="0" err="1">
                <a:solidFill>
                  <a:schemeClr val="tx1"/>
                </a:solidFill>
                <a:latin typeface="Calibri" panose="020F0502020204030204" pitchFamily="34" charset="0"/>
                <a:cs typeface="Times New Roman" panose="02020603050405020304" pitchFamily="18" charset="0"/>
              </a:rPr>
              <a:t>effort</a:t>
            </a:r>
            <a:r>
              <a:rPr lang="da-DK" sz="1800" dirty="0">
                <a:solidFill>
                  <a:schemeClr val="tx1"/>
                </a:solidFill>
                <a:latin typeface="Calibri" panose="020F0502020204030204" pitchFamily="34" charset="0"/>
                <a:cs typeface="Times New Roman" panose="02020603050405020304" pitchFamily="18" charset="0"/>
              </a:rPr>
              <a:t> (</a:t>
            </a:r>
            <a:r>
              <a:rPr lang="da-DK" sz="1800" dirty="0" err="1">
                <a:solidFill>
                  <a:schemeClr val="tx1"/>
                </a:solidFill>
                <a:latin typeface="Calibri" panose="020F0502020204030204" pitchFamily="34" charset="0"/>
                <a:cs typeface="Times New Roman" panose="02020603050405020304" pitchFamily="18" charset="0"/>
              </a:rPr>
              <a:t>fecR</a:t>
            </a:r>
            <a:r>
              <a:rPr lang="da-DK" sz="1800" dirty="0">
                <a:solidFill>
                  <a:schemeClr val="tx1"/>
                </a:solidFill>
                <a:latin typeface="Calibri" panose="020F0502020204030204" pitchFamily="34" charset="0"/>
                <a:cs typeface="Times New Roman" panose="02020603050405020304" pitchFamily="18" charset="0"/>
              </a:rPr>
              <a:t>). It is </a:t>
            </a:r>
            <a:r>
              <a:rPr lang="da-DK" sz="1800" dirty="0" err="1">
                <a:solidFill>
                  <a:schemeClr val="tx1"/>
                </a:solidFill>
                <a:latin typeface="Calibri" panose="020F0502020204030204" pitchFamily="34" charset="0"/>
                <a:cs typeface="Times New Roman" panose="02020603050405020304" pitchFamily="18" charset="0"/>
              </a:rPr>
              <a:t>available</a:t>
            </a:r>
            <a:r>
              <a:rPr lang="da-DK" sz="1800" dirty="0">
                <a:solidFill>
                  <a:schemeClr val="tx1"/>
                </a:solidFill>
                <a:latin typeface="Calibri" panose="020F0502020204030204" pitchFamily="34" charset="0"/>
                <a:cs typeface="Times New Roman" panose="02020603050405020304" pitchFamily="18" charset="0"/>
              </a:rPr>
              <a:t> on: </a:t>
            </a:r>
            <a:r>
              <a:rPr lang="da-DK" sz="1600" dirty="0">
                <a:solidFill>
                  <a:srgbClr val="0070C0"/>
                </a:solidFill>
                <a:hlinkClick r:id="rId4">
                  <a:extLst>
                    <a:ext uri="{A12FA001-AC4F-418D-AE19-62706E023703}">
                      <ahyp:hlinkClr xmlns:ahyp="http://schemas.microsoft.com/office/drawing/2018/hyperlinkcolor" val="tx"/>
                    </a:ext>
                  </a:extLst>
                </a:hlinkClick>
              </a:rPr>
              <a:t>http://dcallnet.jrc.ec.europa.eu/gitlab/r-packages/fecR.git</a:t>
            </a:r>
            <a:endParaRPr lang="da-DK" sz="1600" dirty="0">
              <a:solidFill>
                <a:srgbClr val="0070C0"/>
              </a:solidFill>
            </a:endParaRPr>
          </a:p>
          <a:p>
            <a:pPr marL="0" indent="0">
              <a:buNone/>
            </a:pPr>
            <a:r>
              <a:rPr lang="da-DK" sz="1600" dirty="0">
                <a:solidFill>
                  <a:schemeClr val="tx1"/>
                </a:solidFill>
                <a:latin typeface="Calibri" panose="020F0502020204030204" pitchFamily="34" charset="0"/>
                <a:cs typeface="Times New Roman" panose="02020603050405020304" pitchFamily="18" charset="0"/>
              </a:rPr>
              <a:t>Chairs: Josefine Egekvist (</a:t>
            </a:r>
            <a:r>
              <a:rPr lang="da-DK" sz="1600" dirty="0">
                <a:solidFill>
                  <a:schemeClr val="tx1"/>
                </a:solidFill>
                <a:latin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jsv@aqua.dtu.dk</a:t>
            </a:r>
            <a:r>
              <a:rPr lang="da-DK" sz="1600" dirty="0">
                <a:solidFill>
                  <a:schemeClr val="tx1"/>
                </a:solidFill>
                <a:latin typeface="Calibri" panose="020F0502020204030204" pitchFamily="34" charset="0"/>
                <a:cs typeface="Times New Roman" panose="02020603050405020304" pitchFamily="18" charset="0"/>
              </a:rPr>
              <a:t>) and </a:t>
            </a:r>
            <a:r>
              <a:rPr lang="da-DK" sz="1600" dirty="0" err="1">
                <a:solidFill>
                  <a:schemeClr val="tx1"/>
                </a:solidFill>
                <a:latin typeface="Calibri" panose="020F0502020204030204" pitchFamily="34" charset="0"/>
                <a:cs typeface="Times New Roman" panose="02020603050405020304" pitchFamily="18" charset="0"/>
              </a:rPr>
              <a:t>Sébastien</a:t>
            </a:r>
            <a:r>
              <a:rPr lang="da-DK" sz="1600" dirty="0">
                <a:solidFill>
                  <a:schemeClr val="tx1"/>
                </a:solidFill>
                <a:latin typeface="Calibri" panose="020F0502020204030204" pitchFamily="34" charset="0"/>
                <a:cs typeface="Times New Roman" panose="02020603050405020304" pitchFamily="18" charset="0"/>
              </a:rPr>
              <a:t> </a:t>
            </a:r>
            <a:r>
              <a:rPr lang="da-DK" sz="1600" dirty="0" err="1">
                <a:solidFill>
                  <a:schemeClr val="tx1"/>
                </a:solidFill>
                <a:latin typeface="Calibri" panose="020F0502020204030204" pitchFamily="34" charset="0"/>
                <a:cs typeface="Times New Roman" panose="02020603050405020304" pitchFamily="18" charset="0"/>
              </a:rPr>
              <a:t>Demaneche</a:t>
            </a:r>
            <a:r>
              <a:rPr lang="da-DK" sz="1600" dirty="0">
                <a:solidFill>
                  <a:schemeClr val="tx1"/>
                </a:solidFill>
                <a:latin typeface="Calibri" panose="020F0502020204030204" pitchFamily="34" charset="0"/>
                <a:cs typeface="Times New Roman" panose="02020603050405020304" pitchFamily="18" charset="0"/>
              </a:rPr>
              <a:t> (</a:t>
            </a:r>
            <a:r>
              <a:rPr lang="es-ES" sz="1600" dirty="0">
                <a:solidFill>
                  <a:schemeClr val="tx1"/>
                </a:solidFill>
                <a:latin typeface="Calibri" panose="020F0502020204030204" pitchFamily="34" charset="0"/>
                <a:cs typeface="Times New Roman" panose="02020603050405020304" pitchFamily="18" charset="0"/>
              </a:rPr>
              <a:t>sebastien.demaneche@ifremer.fr)</a:t>
            </a:r>
            <a:endParaRPr lang="da-DK" sz="1800" dirty="0">
              <a:solidFill>
                <a:schemeClr val="tx1"/>
              </a:solidFill>
              <a:latin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050603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ED7E3-AEB2-CA59-253E-7ECC6D1908E9}"/>
              </a:ext>
            </a:extLst>
          </p:cNvPr>
          <p:cNvSpPr>
            <a:spLocks noGrp="1"/>
          </p:cNvSpPr>
          <p:nvPr>
            <p:ph type="title"/>
          </p:nvPr>
        </p:nvSpPr>
        <p:spPr/>
        <p:txBody>
          <a:bodyPr/>
          <a:lstStyle/>
          <a:p>
            <a:r>
              <a:rPr lang="en-US" dirty="0" err="1"/>
              <a:t>Metier</a:t>
            </a:r>
            <a:r>
              <a:rPr lang="en-US" dirty="0"/>
              <a:t> 6 fishing activity</a:t>
            </a:r>
          </a:p>
        </p:txBody>
      </p:sp>
      <p:sp>
        <p:nvSpPr>
          <p:cNvPr id="3" name="Content Placeholder 2">
            <a:extLst>
              <a:ext uri="{FF2B5EF4-FFF2-40B4-BE49-F238E27FC236}">
                <a16:creationId xmlns:a16="http://schemas.microsoft.com/office/drawing/2014/main" id="{55927DFD-256E-D9C5-065F-CF7D9A2F8B99}"/>
              </a:ext>
            </a:extLst>
          </p:cNvPr>
          <p:cNvSpPr>
            <a:spLocks noGrp="1"/>
          </p:cNvSpPr>
          <p:nvPr>
            <p:ph sz="quarter" idx="11"/>
          </p:nvPr>
        </p:nvSpPr>
        <p:spPr>
          <a:xfrm>
            <a:off x="647700" y="1825200"/>
            <a:ext cx="11285682" cy="4400349"/>
          </a:xfrm>
        </p:spPr>
        <p:txBody>
          <a:bodyPr/>
          <a:lstStyle/>
          <a:p>
            <a:pPr marL="0" indent="0">
              <a:buNone/>
            </a:pPr>
            <a:endParaRPr lang="en-US" dirty="0"/>
          </a:p>
          <a:p>
            <a:pPr marL="0" indent="0">
              <a:buNone/>
            </a:pPr>
            <a:endParaRPr lang="en-US" dirty="0"/>
          </a:p>
          <a:p>
            <a:pPr marL="0" indent="0">
              <a:buNone/>
            </a:pPr>
            <a:r>
              <a:rPr lang="da-DK" dirty="0">
                <a:solidFill>
                  <a:schemeClr val="tx1"/>
                </a:solidFill>
              </a:rPr>
              <a:t>In </a:t>
            </a:r>
            <a:r>
              <a:rPr lang="da-DK" dirty="0" err="1">
                <a:solidFill>
                  <a:schemeClr val="tx1"/>
                </a:solidFill>
              </a:rPr>
              <a:t>need</a:t>
            </a:r>
            <a:r>
              <a:rPr lang="da-DK" dirty="0">
                <a:solidFill>
                  <a:schemeClr val="tx1"/>
                </a:solidFill>
              </a:rPr>
              <a:t> of </a:t>
            </a:r>
            <a:r>
              <a:rPr lang="da-DK" dirty="0" err="1">
                <a:solidFill>
                  <a:schemeClr val="tx1"/>
                </a:solidFill>
              </a:rPr>
              <a:t>help</a:t>
            </a:r>
            <a:r>
              <a:rPr lang="da-DK" dirty="0">
                <a:solidFill>
                  <a:schemeClr val="tx1"/>
                </a:solidFill>
              </a:rPr>
              <a:t>, </a:t>
            </a:r>
            <a:r>
              <a:rPr lang="da-DK" dirty="0" err="1">
                <a:solidFill>
                  <a:schemeClr val="tx1"/>
                </a:solidFill>
              </a:rPr>
              <a:t>then</a:t>
            </a:r>
            <a:r>
              <a:rPr lang="da-DK" dirty="0">
                <a:solidFill>
                  <a:schemeClr val="tx1"/>
                </a:solidFill>
              </a:rPr>
              <a:t> the </a:t>
            </a:r>
            <a:r>
              <a:rPr lang="da-DK" sz="2000" dirty="0">
                <a:solidFill>
                  <a:schemeClr val="tx1"/>
                </a:solidFill>
                <a:latin typeface="Calibri" panose="020F0502020204030204" pitchFamily="34" charset="0"/>
                <a:cs typeface="Times New Roman" panose="02020603050405020304" pitchFamily="18" charset="0"/>
              </a:rPr>
              <a:t>RCG ISSG on Metier and transversal variables </a:t>
            </a:r>
            <a:r>
              <a:rPr lang="da-DK" sz="2000" dirty="0" err="1">
                <a:solidFill>
                  <a:schemeClr val="tx1"/>
                </a:solidFill>
                <a:latin typeface="Calibri" panose="020F0502020204030204" pitchFamily="34" charset="0"/>
                <a:cs typeface="Times New Roman" panose="02020603050405020304" pitchFamily="18" charset="0"/>
              </a:rPr>
              <a:t>are</a:t>
            </a:r>
            <a:r>
              <a:rPr lang="da-DK" sz="2000" dirty="0">
                <a:solidFill>
                  <a:schemeClr val="tx1"/>
                </a:solidFill>
                <a:latin typeface="Calibri" panose="020F0502020204030204" pitchFamily="34" charset="0"/>
                <a:cs typeface="Times New Roman" panose="02020603050405020304" pitchFamily="18" charset="0"/>
              </a:rPr>
              <a:t> </a:t>
            </a:r>
            <a:r>
              <a:rPr lang="da-DK" sz="2000" dirty="0" err="1">
                <a:solidFill>
                  <a:schemeClr val="tx1"/>
                </a:solidFill>
                <a:latin typeface="Calibri" panose="020F0502020204030204" pitchFamily="34" charset="0"/>
                <a:cs typeface="Times New Roman" panose="02020603050405020304" pitchFamily="18" charset="0"/>
              </a:rPr>
              <a:t>working</a:t>
            </a:r>
            <a:r>
              <a:rPr lang="da-DK" sz="2000" dirty="0">
                <a:solidFill>
                  <a:schemeClr val="tx1"/>
                </a:solidFill>
                <a:latin typeface="Calibri" panose="020F0502020204030204" pitchFamily="34" charset="0"/>
                <a:cs typeface="Times New Roman" panose="02020603050405020304" pitchFamily="18" charset="0"/>
              </a:rPr>
              <a:t> </a:t>
            </a:r>
            <a:r>
              <a:rPr lang="da-DK" sz="2000" dirty="0" err="1">
                <a:solidFill>
                  <a:schemeClr val="tx1"/>
                </a:solidFill>
                <a:latin typeface="Calibri" panose="020F0502020204030204" pitchFamily="34" charset="0"/>
                <a:cs typeface="Times New Roman" panose="02020603050405020304" pitchFamily="18" charset="0"/>
              </a:rPr>
              <a:t>maintaining</a:t>
            </a:r>
            <a:r>
              <a:rPr lang="da-DK" sz="2000" dirty="0">
                <a:solidFill>
                  <a:schemeClr val="tx1"/>
                </a:solidFill>
                <a:latin typeface="Calibri" panose="020F0502020204030204" pitchFamily="34" charset="0"/>
                <a:cs typeface="Times New Roman" panose="02020603050405020304" pitchFamily="18" charset="0"/>
              </a:rPr>
              <a:t> métier list, </a:t>
            </a:r>
            <a:r>
              <a:rPr lang="da-DK" sz="2000" dirty="0" err="1">
                <a:solidFill>
                  <a:schemeClr val="tx1"/>
                </a:solidFill>
                <a:latin typeface="Calibri" panose="020F0502020204030204" pitchFamily="34" charset="0"/>
                <a:cs typeface="Times New Roman" panose="02020603050405020304" pitchFamily="18" charset="0"/>
              </a:rPr>
              <a:t>other</a:t>
            </a:r>
            <a:r>
              <a:rPr lang="da-DK" sz="2000" dirty="0">
                <a:solidFill>
                  <a:schemeClr val="tx1"/>
                </a:solidFill>
                <a:latin typeface="Calibri" panose="020F0502020204030204" pitchFamily="34" charset="0"/>
                <a:cs typeface="Times New Roman" panose="02020603050405020304" pitchFamily="18" charset="0"/>
              </a:rPr>
              <a:t> reference lists, script and guidelines. </a:t>
            </a:r>
            <a:r>
              <a:rPr lang="da-DK" sz="2000" dirty="0" err="1">
                <a:solidFill>
                  <a:schemeClr val="tx1"/>
                </a:solidFill>
                <a:latin typeface="Calibri" panose="020F0502020204030204" pitchFamily="34" charset="0"/>
                <a:cs typeface="Times New Roman" panose="02020603050405020304" pitchFamily="18" charset="0"/>
              </a:rPr>
              <a:t>Allocation</a:t>
            </a:r>
            <a:r>
              <a:rPr lang="da-DK" sz="2000" dirty="0">
                <a:solidFill>
                  <a:schemeClr val="tx1"/>
                </a:solidFill>
                <a:latin typeface="Calibri" panose="020F0502020204030204" pitchFamily="34" charset="0"/>
                <a:cs typeface="Times New Roman" panose="02020603050405020304" pitchFamily="18" charset="0"/>
              </a:rPr>
              <a:t> of métier </a:t>
            </a:r>
            <a:r>
              <a:rPr lang="da-DK" sz="2000" dirty="0" err="1">
                <a:solidFill>
                  <a:schemeClr val="tx1"/>
                </a:solidFill>
                <a:latin typeface="Calibri" panose="020F0502020204030204" pitchFamily="34" charset="0"/>
                <a:cs typeface="Times New Roman" panose="02020603050405020304" pitchFamily="18" charset="0"/>
              </a:rPr>
              <a:t>codes</a:t>
            </a:r>
            <a:r>
              <a:rPr lang="da-DK" sz="2000" dirty="0">
                <a:solidFill>
                  <a:schemeClr val="tx1"/>
                </a:solidFill>
                <a:latin typeface="Calibri" panose="020F0502020204030204" pitchFamily="34" charset="0"/>
                <a:cs typeface="Times New Roman" panose="02020603050405020304" pitchFamily="18" charset="0"/>
              </a:rPr>
              <a:t> to transversal data </a:t>
            </a:r>
            <a:r>
              <a:rPr lang="da-DK" sz="2000" dirty="0" err="1">
                <a:solidFill>
                  <a:schemeClr val="tx1"/>
                </a:solidFill>
                <a:latin typeface="Calibri" panose="020F0502020204030204" pitchFamily="34" charset="0"/>
                <a:cs typeface="Times New Roman" panose="02020603050405020304" pitchFamily="18" charset="0"/>
              </a:rPr>
              <a:t>should</a:t>
            </a:r>
            <a:r>
              <a:rPr lang="da-DK" sz="2000" dirty="0">
                <a:solidFill>
                  <a:schemeClr val="tx1"/>
                </a:solidFill>
                <a:latin typeface="Calibri" panose="020F0502020204030204" pitchFamily="34" charset="0"/>
                <a:cs typeface="Times New Roman" panose="02020603050405020304" pitchFamily="18" charset="0"/>
              </a:rPr>
              <a:t> </a:t>
            </a:r>
            <a:r>
              <a:rPr lang="da-DK" sz="2000" dirty="0" err="1">
                <a:solidFill>
                  <a:schemeClr val="tx1"/>
                </a:solidFill>
                <a:latin typeface="Calibri" panose="020F0502020204030204" pitchFamily="34" charset="0"/>
                <a:cs typeface="Times New Roman" panose="02020603050405020304" pitchFamily="18" charset="0"/>
              </a:rPr>
              <a:t>be</a:t>
            </a:r>
            <a:r>
              <a:rPr lang="da-DK" sz="2000" dirty="0">
                <a:solidFill>
                  <a:schemeClr val="tx1"/>
                </a:solidFill>
                <a:latin typeface="Calibri" panose="020F0502020204030204" pitchFamily="34" charset="0"/>
                <a:cs typeface="Times New Roman" panose="02020603050405020304" pitchFamily="18" charset="0"/>
              </a:rPr>
              <a:t> </a:t>
            </a:r>
            <a:r>
              <a:rPr lang="da-DK" sz="2000" dirty="0" err="1">
                <a:solidFill>
                  <a:schemeClr val="tx1"/>
                </a:solidFill>
                <a:latin typeface="Calibri" panose="020F0502020204030204" pitchFamily="34" charset="0"/>
                <a:cs typeface="Times New Roman" panose="02020603050405020304" pitchFamily="18" charset="0"/>
              </a:rPr>
              <a:t>aligned</a:t>
            </a:r>
            <a:r>
              <a:rPr lang="da-DK" sz="2000" dirty="0">
                <a:solidFill>
                  <a:schemeClr val="tx1"/>
                </a:solidFill>
                <a:latin typeface="Calibri" panose="020F0502020204030204" pitchFamily="34" charset="0"/>
                <a:cs typeface="Times New Roman" panose="02020603050405020304" pitchFamily="18" charset="0"/>
              </a:rPr>
              <a:t> </a:t>
            </a:r>
            <a:r>
              <a:rPr lang="da-DK" sz="2000" dirty="0" err="1">
                <a:solidFill>
                  <a:schemeClr val="tx1"/>
                </a:solidFill>
                <a:latin typeface="Calibri" panose="020F0502020204030204" pitchFamily="34" charset="0"/>
                <a:cs typeface="Times New Roman" panose="02020603050405020304" pitchFamily="18" charset="0"/>
              </a:rPr>
              <a:t>between</a:t>
            </a:r>
            <a:r>
              <a:rPr lang="da-DK" sz="2000" dirty="0">
                <a:solidFill>
                  <a:schemeClr val="tx1"/>
                </a:solidFill>
                <a:latin typeface="Calibri" panose="020F0502020204030204" pitchFamily="34" charset="0"/>
                <a:cs typeface="Times New Roman" panose="02020603050405020304" pitchFamily="18" charset="0"/>
              </a:rPr>
              <a:t> data </a:t>
            </a:r>
            <a:r>
              <a:rPr lang="da-DK" sz="2000" dirty="0" err="1">
                <a:solidFill>
                  <a:schemeClr val="tx1"/>
                </a:solidFill>
                <a:latin typeface="Calibri" panose="020F0502020204030204" pitchFamily="34" charset="0"/>
                <a:cs typeface="Times New Roman" panose="02020603050405020304" pitchFamily="18" charset="0"/>
              </a:rPr>
              <a:t>calls</a:t>
            </a:r>
            <a:r>
              <a:rPr lang="da-DK" sz="2000" dirty="0">
                <a:solidFill>
                  <a:schemeClr val="tx1"/>
                </a:solidFill>
                <a:latin typeface="Calibri" panose="020F0502020204030204" pitchFamily="34" charset="0"/>
                <a:cs typeface="Times New Roman" panose="02020603050405020304" pitchFamily="18" charset="0"/>
              </a:rPr>
              <a:t> (RDBES, EU FDI, ICES VMS/Logbook)</a:t>
            </a:r>
          </a:p>
          <a:p>
            <a:pPr marL="0" indent="0">
              <a:buNone/>
            </a:pPr>
            <a:r>
              <a:rPr lang="da-DK" sz="2000" dirty="0">
                <a:solidFill>
                  <a:schemeClr val="tx1"/>
                </a:solidFill>
                <a:latin typeface="Calibri" panose="020F0502020204030204" pitchFamily="34" charset="0"/>
                <a:cs typeface="Times New Roman" panose="02020603050405020304" pitchFamily="18" charset="0"/>
              </a:rPr>
              <a:t>Chairs: Josefine Egekvist (</a:t>
            </a:r>
            <a:r>
              <a:rPr lang="da-DK" sz="2000" dirty="0">
                <a:solidFill>
                  <a:schemeClr val="tx1"/>
                </a:solidFill>
                <a:latin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jsv@aqua.dtu.dk</a:t>
            </a:r>
            <a:r>
              <a:rPr lang="da-DK" sz="2000" dirty="0">
                <a:solidFill>
                  <a:schemeClr val="tx1"/>
                </a:solidFill>
                <a:latin typeface="Calibri" panose="020F0502020204030204" pitchFamily="34" charset="0"/>
                <a:cs typeface="Times New Roman" panose="02020603050405020304" pitchFamily="18" charset="0"/>
              </a:rPr>
              <a:t>) and </a:t>
            </a:r>
            <a:r>
              <a:rPr lang="da-DK" sz="2000" dirty="0" err="1">
                <a:solidFill>
                  <a:schemeClr val="tx1"/>
                </a:solidFill>
                <a:latin typeface="Calibri" panose="020F0502020204030204" pitchFamily="34" charset="0"/>
                <a:cs typeface="Times New Roman" panose="02020603050405020304" pitchFamily="18" charset="0"/>
              </a:rPr>
              <a:t>Sébastien</a:t>
            </a:r>
            <a:r>
              <a:rPr lang="da-DK" sz="2000" dirty="0">
                <a:solidFill>
                  <a:schemeClr val="tx1"/>
                </a:solidFill>
                <a:latin typeface="Calibri" panose="020F0502020204030204" pitchFamily="34" charset="0"/>
                <a:cs typeface="Times New Roman" panose="02020603050405020304" pitchFamily="18" charset="0"/>
              </a:rPr>
              <a:t> </a:t>
            </a:r>
            <a:r>
              <a:rPr lang="da-DK" sz="2000" dirty="0" err="1">
                <a:solidFill>
                  <a:schemeClr val="tx1"/>
                </a:solidFill>
                <a:latin typeface="Calibri" panose="020F0502020204030204" pitchFamily="34" charset="0"/>
                <a:cs typeface="Times New Roman" panose="02020603050405020304" pitchFamily="18" charset="0"/>
              </a:rPr>
              <a:t>Demaneche</a:t>
            </a:r>
            <a:r>
              <a:rPr lang="da-DK" sz="2000" dirty="0">
                <a:solidFill>
                  <a:schemeClr val="tx1"/>
                </a:solidFill>
                <a:latin typeface="Calibri" panose="020F0502020204030204" pitchFamily="34" charset="0"/>
                <a:cs typeface="Times New Roman" panose="02020603050405020304" pitchFamily="18" charset="0"/>
              </a:rPr>
              <a:t> (</a:t>
            </a:r>
            <a:r>
              <a:rPr lang="es-ES" sz="2000" dirty="0">
                <a:solidFill>
                  <a:schemeClr val="tx1"/>
                </a:solidFill>
                <a:latin typeface="Calibri" panose="020F0502020204030204" pitchFamily="34" charset="0"/>
                <a:cs typeface="Times New Roman" panose="02020603050405020304" pitchFamily="18" charset="0"/>
              </a:rPr>
              <a:t>sebastien.demaneche@ifremer.fr)</a:t>
            </a:r>
            <a:endParaRPr lang="da-DK" sz="2400" dirty="0">
              <a:solidFill>
                <a:schemeClr val="tx1"/>
              </a:solidFill>
              <a:latin typeface="Calibri" panose="020F0502020204030204" pitchFamily="34" charset="0"/>
              <a:cs typeface="Times New Roman" panose="02020603050405020304" pitchFamily="18" charset="0"/>
            </a:endParaRPr>
          </a:p>
          <a:p>
            <a:pPr marL="0" indent="0">
              <a:buNone/>
            </a:pPr>
            <a:endParaRPr lang="da-DK" sz="2000" dirty="0">
              <a:solidFill>
                <a:srgbClr val="0563C1"/>
              </a:solidFill>
              <a:latin typeface="Calibri" panose="020F0502020204030204" pitchFamily="34" charset="0"/>
              <a:cs typeface="Times New Roman" panose="02020603050405020304" pitchFamily="18" charset="0"/>
            </a:endParaRPr>
          </a:p>
          <a:p>
            <a:pPr marL="0" indent="0">
              <a:buNone/>
            </a:pPr>
            <a:r>
              <a:rPr lang="da-DK" sz="2000" u="sng" dirty="0">
                <a:solidFill>
                  <a:srgbClr val="467886"/>
                </a:solidFill>
                <a:effectLst/>
                <a:latin typeface="Aptos" panose="020B0004020202020204" pitchFamily="34" charset="0"/>
                <a:ea typeface="Aptos" panose="020B0004020202020204" pitchFamily="34" charset="0"/>
                <a:cs typeface="Aptos" panose="020B0004020202020204" pitchFamily="34" charset="0"/>
                <a:hlinkClick r:id="rId3"/>
              </a:rPr>
              <a:t>https://github.com/ices-eg/RCGs/tree/master/Metiers</a:t>
            </a:r>
            <a:endParaRPr lang="en-US" sz="2000" u="sng" dirty="0">
              <a:solidFill>
                <a:srgbClr val="467886"/>
              </a:solidFill>
              <a:effectLst/>
              <a:latin typeface="Aptos" panose="020B0004020202020204" pitchFamily="34" charset="0"/>
              <a:ea typeface="Aptos" panose="020B0004020202020204" pitchFamily="34" charset="0"/>
              <a:cs typeface="Aptos" panose="020B0004020202020204" pitchFamily="34" charset="0"/>
            </a:endParaRPr>
          </a:p>
          <a:p>
            <a:pPr marL="0" indent="0">
              <a:buNone/>
            </a:pPr>
            <a:endParaRPr lang="en-US" dirty="0"/>
          </a:p>
        </p:txBody>
      </p:sp>
    </p:spTree>
    <p:extLst>
      <p:ext uri="{BB962C8B-B14F-4D97-AF65-F5344CB8AC3E}">
        <p14:creationId xmlns:p14="http://schemas.microsoft.com/office/powerpoint/2010/main" val="1083448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FFE10-FF12-4545-B6E8-8FF3072D9188}"/>
              </a:ext>
            </a:extLst>
          </p:cNvPr>
          <p:cNvSpPr>
            <a:spLocks noGrp="1"/>
          </p:cNvSpPr>
          <p:nvPr>
            <p:ph type="title"/>
          </p:nvPr>
        </p:nvSpPr>
        <p:spPr/>
        <p:txBody>
          <a:bodyPr/>
          <a:lstStyle/>
          <a:p>
            <a:r>
              <a:rPr lang="da-DK" dirty="0"/>
              <a:t>Official vs. </a:t>
            </a:r>
            <a:r>
              <a:rPr lang="da-DK" dirty="0" err="1"/>
              <a:t>scientific</a:t>
            </a:r>
            <a:r>
              <a:rPr lang="da-DK" dirty="0"/>
              <a:t> </a:t>
            </a:r>
            <a:r>
              <a:rPr lang="da-DK" dirty="0" err="1"/>
              <a:t>effort</a:t>
            </a:r>
            <a:r>
              <a:rPr lang="da-DK" dirty="0"/>
              <a:t> and landings</a:t>
            </a:r>
            <a:endParaRPr lang="en-GB" dirty="0"/>
          </a:p>
        </p:txBody>
      </p:sp>
      <p:graphicFrame>
        <p:nvGraphicFramePr>
          <p:cNvPr id="5" name="Content Placeholder 4">
            <a:extLst>
              <a:ext uri="{FF2B5EF4-FFF2-40B4-BE49-F238E27FC236}">
                <a16:creationId xmlns:a16="http://schemas.microsoft.com/office/drawing/2014/main" id="{AD9BB785-D6FD-3ECE-7150-22202E5D3C3B}"/>
              </a:ext>
            </a:extLst>
          </p:cNvPr>
          <p:cNvGraphicFramePr>
            <a:graphicFrameLocks noGrp="1"/>
          </p:cNvGraphicFramePr>
          <p:nvPr>
            <p:ph sz="quarter" idx="12"/>
            <p:extLst>
              <p:ext uri="{D42A27DB-BD31-4B8C-83A1-F6EECF244321}">
                <p14:modId xmlns:p14="http://schemas.microsoft.com/office/powerpoint/2010/main" val="2103721894"/>
              </p:ext>
            </p:extLst>
          </p:nvPr>
        </p:nvGraphicFramePr>
        <p:xfrm>
          <a:off x="781050" y="2661677"/>
          <a:ext cx="3792538" cy="1560357"/>
        </p:xfrm>
        <a:graphic>
          <a:graphicData uri="http://schemas.openxmlformats.org/drawingml/2006/table">
            <a:tbl>
              <a:tblPr>
                <a:tableStyleId>{0505E3EF-67EA-436B-97B2-0124C06EBD24}</a:tableStyleId>
              </a:tblPr>
              <a:tblGrid>
                <a:gridCol w="1830050">
                  <a:extLst>
                    <a:ext uri="{9D8B030D-6E8A-4147-A177-3AD203B41FA5}">
                      <a16:colId xmlns:a16="http://schemas.microsoft.com/office/drawing/2014/main" val="775337998"/>
                    </a:ext>
                  </a:extLst>
                </a:gridCol>
                <a:gridCol w="1962488">
                  <a:extLst>
                    <a:ext uri="{9D8B030D-6E8A-4147-A177-3AD203B41FA5}">
                      <a16:colId xmlns:a16="http://schemas.microsoft.com/office/drawing/2014/main" val="1173630270"/>
                    </a:ext>
                  </a:extLst>
                </a:gridCol>
              </a:tblGrid>
              <a:tr h="173373">
                <a:tc>
                  <a:txBody>
                    <a:bodyPr/>
                    <a:lstStyle/>
                    <a:p>
                      <a:pPr algn="l" fontAlgn="b"/>
                      <a:r>
                        <a:rPr lang="da-DK" sz="1000" b="1" u="none" strike="noStrike">
                          <a:effectLst/>
                        </a:rPr>
                        <a:t>CLofficialWeight</a:t>
                      </a:r>
                      <a:endParaRPr lang="da-DK" sz="1000" b="1" i="0" u="none" strike="noStrike">
                        <a:solidFill>
                          <a:srgbClr val="000000"/>
                        </a:solidFill>
                        <a:effectLst/>
                        <a:latin typeface="Calibri" panose="020F0502020204030204" pitchFamily="34" charset="0"/>
                      </a:endParaRPr>
                    </a:p>
                  </a:txBody>
                  <a:tcPr marL="7224" marR="7224" marT="7224" marB="0" anchor="b"/>
                </a:tc>
                <a:tc>
                  <a:txBody>
                    <a:bodyPr/>
                    <a:lstStyle/>
                    <a:p>
                      <a:pPr algn="l" fontAlgn="b"/>
                      <a:r>
                        <a:rPr lang="da-DK" sz="1000" b="1" u="none" strike="noStrike">
                          <a:effectLst/>
                        </a:rPr>
                        <a:t>CLscientificWeight</a:t>
                      </a:r>
                      <a:endParaRPr lang="da-DK" sz="1000" b="1" i="0" u="none" strike="noStrike">
                        <a:solidFill>
                          <a:srgbClr val="000000"/>
                        </a:solidFill>
                        <a:effectLst/>
                        <a:latin typeface="Calibri" panose="020F0502020204030204" pitchFamily="34" charset="0"/>
                      </a:endParaRPr>
                    </a:p>
                  </a:txBody>
                  <a:tcPr marL="7224" marR="7224" marT="7224" marB="0" anchor="b"/>
                </a:tc>
                <a:extLst>
                  <a:ext uri="{0D108BD9-81ED-4DB2-BD59-A6C34878D82A}">
                    <a16:rowId xmlns:a16="http://schemas.microsoft.com/office/drawing/2014/main" val="2793036255"/>
                  </a:ext>
                </a:extLst>
              </a:tr>
              <a:tr h="173373">
                <a:tc>
                  <a:txBody>
                    <a:bodyPr/>
                    <a:lstStyle/>
                    <a:p>
                      <a:pPr algn="l" fontAlgn="b"/>
                      <a:r>
                        <a:rPr lang="da-DK" sz="1000" b="1" u="none" strike="noStrike">
                          <a:effectLst/>
                        </a:rPr>
                        <a:t>CEofficialDaysAtSea</a:t>
                      </a:r>
                      <a:endParaRPr lang="da-DK" sz="1000" b="1" i="0" u="none" strike="noStrike">
                        <a:solidFill>
                          <a:srgbClr val="000000"/>
                        </a:solidFill>
                        <a:effectLst/>
                        <a:latin typeface="Calibri" panose="020F0502020204030204" pitchFamily="34" charset="0"/>
                      </a:endParaRPr>
                    </a:p>
                  </a:txBody>
                  <a:tcPr marL="7224" marR="7224" marT="7224" marB="0" anchor="b"/>
                </a:tc>
                <a:tc>
                  <a:txBody>
                    <a:bodyPr/>
                    <a:lstStyle/>
                    <a:p>
                      <a:pPr algn="l" fontAlgn="b"/>
                      <a:r>
                        <a:rPr lang="da-DK" sz="1000" b="1" u="none" strike="noStrike">
                          <a:effectLst/>
                        </a:rPr>
                        <a:t>CEScientificDaysAtSea</a:t>
                      </a:r>
                      <a:endParaRPr lang="da-DK" sz="1000" b="1" i="0" u="none" strike="noStrike">
                        <a:solidFill>
                          <a:srgbClr val="000000"/>
                        </a:solidFill>
                        <a:effectLst/>
                        <a:latin typeface="Calibri" panose="020F0502020204030204" pitchFamily="34" charset="0"/>
                      </a:endParaRPr>
                    </a:p>
                  </a:txBody>
                  <a:tcPr marL="7224" marR="7224" marT="7224" marB="0" anchor="b"/>
                </a:tc>
                <a:extLst>
                  <a:ext uri="{0D108BD9-81ED-4DB2-BD59-A6C34878D82A}">
                    <a16:rowId xmlns:a16="http://schemas.microsoft.com/office/drawing/2014/main" val="1333932200"/>
                  </a:ext>
                </a:extLst>
              </a:tr>
              <a:tr h="173373">
                <a:tc>
                  <a:txBody>
                    <a:bodyPr/>
                    <a:lstStyle/>
                    <a:p>
                      <a:pPr algn="l" fontAlgn="b"/>
                      <a:r>
                        <a:rPr lang="da-DK" sz="1000" b="1" u="none" strike="noStrike">
                          <a:effectLst/>
                        </a:rPr>
                        <a:t>CEofficialFishingDays</a:t>
                      </a:r>
                      <a:endParaRPr lang="da-DK" sz="1000" b="1" i="0" u="none" strike="noStrike">
                        <a:solidFill>
                          <a:srgbClr val="000000"/>
                        </a:solidFill>
                        <a:effectLst/>
                        <a:latin typeface="Calibri" panose="020F0502020204030204" pitchFamily="34" charset="0"/>
                      </a:endParaRPr>
                    </a:p>
                  </a:txBody>
                  <a:tcPr marL="7224" marR="7224" marT="7224" marB="0" anchor="b"/>
                </a:tc>
                <a:tc>
                  <a:txBody>
                    <a:bodyPr/>
                    <a:lstStyle/>
                    <a:p>
                      <a:pPr algn="l" fontAlgn="b"/>
                      <a:r>
                        <a:rPr lang="da-DK" sz="1000" b="1" u="none" strike="noStrike">
                          <a:effectLst/>
                        </a:rPr>
                        <a:t>CEscientificFishingDays</a:t>
                      </a:r>
                      <a:endParaRPr lang="da-DK" sz="1000" b="1" i="0" u="none" strike="noStrike">
                        <a:solidFill>
                          <a:srgbClr val="000000"/>
                        </a:solidFill>
                        <a:effectLst/>
                        <a:latin typeface="Calibri" panose="020F0502020204030204" pitchFamily="34" charset="0"/>
                      </a:endParaRPr>
                    </a:p>
                  </a:txBody>
                  <a:tcPr marL="7224" marR="7224" marT="7224" marB="0" anchor="b"/>
                </a:tc>
                <a:extLst>
                  <a:ext uri="{0D108BD9-81ED-4DB2-BD59-A6C34878D82A}">
                    <a16:rowId xmlns:a16="http://schemas.microsoft.com/office/drawing/2014/main" val="1902324715"/>
                  </a:ext>
                </a:extLst>
              </a:tr>
              <a:tr h="173373">
                <a:tc>
                  <a:txBody>
                    <a:bodyPr/>
                    <a:lstStyle/>
                    <a:p>
                      <a:pPr algn="l" fontAlgn="b"/>
                      <a:r>
                        <a:rPr lang="da-DK" sz="1000" b="1" u="none" strike="noStrike">
                          <a:effectLst/>
                        </a:rPr>
                        <a:t>CEofficialkWDaysAtSea</a:t>
                      </a:r>
                      <a:endParaRPr lang="da-DK" sz="1000" b="1" i="0" u="none" strike="noStrike">
                        <a:solidFill>
                          <a:srgbClr val="000000"/>
                        </a:solidFill>
                        <a:effectLst/>
                        <a:latin typeface="Calibri" panose="020F0502020204030204" pitchFamily="34" charset="0"/>
                      </a:endParaRPr>
                    </a:p>
                  </a:txBody>
                  <a:tcPr marL="7224" marR="7224" marT="7224" marB="0" anchor="b"/>
                </a:tc>
                <a:tc>
                  <a:txBody>
                    <a:bodyPr/>
                    <a:lstStyle/>
                    <a:p>
                      <a:pPr algn="l" fontAlgn="b"/>
                      <a:r>
                        <a:rPr lang="da-DK" sz="1000" b="1" u="none" strike="noStrike">
                          <a:effectLst/>
                        </a:rPr>
                        <a:t>CEscientifickWDaysAtSea</a:t>
                      </a:r>
                      <a:endParaRPr lang="da-DK" sz="1000" b="1" i="0" u="none" strike="noStrike">
                        <a:solidFill>
                          <a:srgbClr val="000000"/>
                        </a:solidFill>
                        <a:effectLst/>
                        <a:latin typeface="Calibri" panose="020F0502020204030204" pitchFamily="34" charset="0"/>
                      </a:endParaRPr>
                    </a:p>
                  </a:txBody>
                  <a:tcPr marL="7224" marR="7224" marT="7224" marB="0" anchor="b"/>
                </a:tc>
                <a:extLst>
                  <a:ext uri="{0D108BD9-81ED-4DB2-BD59-A6C34878D82A}">
                    <a16:rowId xmlns:a16="http://schemas.microsoft.com/office/drawing/2014/main" val="2958228041"/>
                  </a:ext>
                </a:extLst>
              </a:tr>
              <a:tr h="173373">
                <a:tc>
                  <a:txBody>
                    <a:bodyPr/>
                    <a:lstStyle/>
                    <a:p>
                      <a:pPr algn="l" fontAlgn="b"/>
                      <a:r>
                        <a:rPr lang="da-DK" sz="1000" b="1" u="none" strike="noStrike">
                          <a:effectLst/>
                        </a:rPr>
                        <a:t>CEofficialkWFishingDays</a:t>
                      </a:r>
                      <a:endParaRPr lang="da-DK" sz="1000" b="1" i="0" u="none" strike="noStrike">
                        <a:solidFill>
                          <a:srgbClr val="000000"/>
                        </a:solidFill>
                        <a:effectLst/>
                        <a:latin typeface="Calibri" panose="020F0502020204030204" pitchFamily="34" charset="0"/>
                      </a:endParaRPr>
                    </a:p>
                  </a:txBody>
                  <a:tcPr marL="7224" marR="7224" marT="7224" marB="0" anchor="b"/>
                </a:tc>
                <a:tc>
                  <a:txBody>
                    <a:bodyPr/>
                    <a:lstStyle/>
                    <a:p>
                      <a:pPr algn="l" fontAlgn="b"/>
                      <a:r>
                        <a:rPr lang="da-DK" sz="1000" b="1" u="none" strike="noStrike">
                          <a:effectLst/>
                        </a:rPr>
                        <a:t>CEscientifickWFishingDays</a:t>
                      </a:r>
                      <a:endParaRPr lang="da-DK" sz="1000" b="1" i="0" u="none" strike="noStrike">
                        <a:solidFill>
                          <a:srgbClr val="000000"/>
                        </a:solidFill>
                        <a:effectLst/>
                        <a:latin typeface="Calibri" panose="020F0502020204030204" pitchFamily="34" charset="0"/>
                      </a:endParaRPr>
                    </a:p>
                  </a:txBody>
                  <a:tcPr marL="7224" marR="7224" marT="7224" marB="0" anchor="b"/>
                </a:tc>
                <a:extLst>
                  <a:ext uri="{0D108BD9-81ED-4DB2-BD59-A6C34878D82A}">
                    <a16:rowId xmlns:a16="http://schemas.microsoft.com/office/drawing/2014/main" val="3390829096"/>
                  </a:ext>
                </a:extLst>
              </a:tr>
              <a:tr h="173373">
                <a:tc>
                  <a:txBody>
                    <a:bodyPr/>
                    <a:lstStyle/>
                    <a:p>
                      <a:pPr algn="l" fontAlgn="b"/>
                      <a:r>
                        <a:rPr lang="da-DK" sz="1000" b="1" u="none" strike="noStrike">
                          <a:effectLst/>
                        </a:rPr>
                        <a:t>CEOfficialkWFishingHours</a:t>
                      </a:r>
                      <a:endParaRPr lang="da-DK" sz="1000" b="1" i="0" u="none" strike="noStrike">
                        <a:solidFill>
                          <a:srgbClr val="000000"/>
                        </a:solidFill>
                        <a:effectLst/>
                        <a:latin typeface="Calibri" panose="020F0502020204030204" pitchFamily="34" charset="0"/>
                      </a:endParaRPr>
                    </a:p>
                  </a:txBody>
                  <a:tcPr marL="7224" marR="7224" marT="7224" marB="0" anchor="b"/>
                </a:tc>
                <a:tc>
                  <a:txBody>
                    <a:bodyPr/>
                    <a:lstStyle/>
                    <a:p>
                      <a:pPr algn="l" fontAlgn="b"/>
                      <a:r>
                        <a:rPr lang="da-DK" sz="1000" b="1" u="none" strike="noStrike">
                          <a:effectLst/>
                        </a:rPr>
                        <a:t>CEscientifickWFishingHours</a:t>
                      </a:r>
                      <a:endParaRPr lang="da-DK" sz="1000" b="1" i="0" u="none" strike="noStrike">
                        <a:solidFill>
                          <a:srgbClr val="000000"/>
                        </a:solidFill>
                        <a:effectLst/>
                        <a:latin typeface="Calibri" panose="020F0502020204030204" pitchFamily="34" charset="0"/>
                      </a:endParaRPr>
                    </a:p>
                  </a:txBody>
                  <a:tcPr marL="7224" marR="7224" marT="7224" marB="0" anchor="b"/>
                </a:tc>
                <a:extLst>
                  <a:ext uri="{0D108BD9-81ED-4DB2-BD59-A6C34878D82A}">
                    <a16:rowId xmlns:a16="http://schemas.microsoft.com/office/drawing/2014/main" val="4187466777"/>
                  </a:ext>
                </a:extLst>
              </a:tr>
              <a:tr h="173373">
                <a:tc>
                  <a:txBody>
                    <a:bodyPr/>
                    <a:lstStyle/>
                    <a:p>
                      <a:pPr algn="l" fontAlgn="b"/>
                      <a:r>
                        <a:rPr lang="da-DK" sz="1000" b="1" u="none" strike="noStrike">
                          <a:effectLst/>
                        </a:rPr>
                        <a:t>CEofficialNumberOfHaulsOrSets</a:t>
                      </a:r>
                      <a:endParaRPr lang="da-DK" sz="1000" b="1" i="0" u="none" strike="noStrike">
                        <a:solidFill>
                          <a:srgbClr val="000000"/>
                        </a:solidFill>
                        <a:effectLst/>
                        <a:latin typeface="Calibri" panose="020F0502020204030204" pitchFamily="34" charset="0"/>
                      </a:endParaRPr>
                    </a:p>
                  </a:txBody>
                  <a:tcPr marL="7224" marR="7224" marT="7224" marB="0" anchor="b"/>
                </a:tc>
                <a:tc>
                  <a:txBody>
                    <a:bodyPr/>
                    <a:lstStyle/>
                    <a:p>
                      <a:pPr algn="l" fontAlgn="b"/>
                      <a:r>
                        <a:rPr lang="da-DK" sz="1000" b="1" u="none" strike="noStrike">
                          <a:effectLst/>
                        </a:rPr>
                        <a:t>CEScientificNumberOfHaulsOrSets</a:t>
                      </a:r>
                      <a:endParaRPr lang="da-DK" sz="1000" b="1" i="0" u="none" strike="noStrike">
                        <a:solidFill>
                          <a:srgbClr val="000000"/>
                        </a:solidFill>
                        <a:effectLst/>
                        <a:latin typeface="Calibri" panose="020F0502020204030204" pitchFamily="34" charset="0"/>
                      </a:endParaRPr>
                    </a:p>
                  </a:txBody>
                  <a:tcPr marL="7224" marR="7224" marT="7224" marB="0" anchor="b"/>
                </a:tc>
                <a:extLst>
                  <a:ext uri="{0D108BD9-81ED-4DB2-BD59-A6C34878D82A}">
                    <a16:rowId xmlns:a16="http://schemas.microsoft.com/office/drawing/2014/main" val="2872628321"/>
                  </a:ext>
                </a:extLst>
              </a:tr>
              <a:tr h="173373">
                <a:tc>
                  <a:txBody>
                    <a:bodyPr/>
                    <a:lstStyle/>
                    <a:p>
                      <a:pPr algn="l" fontAlgn="b"/>
                      <a:r>
                        <a:rPr lang="da-DK" sz="1000" b="1" u="none" strike="noStrike">
                          <a:effectLst/>
                        </a:rPr>
                        <a:t>CEofficialSoakingMeterHour</a:t>
                      </a:r>
                      <a:endParaRPr lang="da-DK" sz="1000" b="1" i="0" u="none" strike="noStrike">
                        <a:solidFill>
                          <a:srgbClr val="000000"/>
                        </a:solidFill>
                        <a:effectLst/>
                        <a:latin typeface="Calibri" panose="020F0502020204030204" pitchFamily="34" charset="0"/>
                      </a:endParaRPr>
                    </a:p>
                  </a:txBody>
                  <a:tcPr marL="7224" marR="7224" marT="7224" marB="0" anchor="b"/>
                </a:tc>
                <a:tc>
                  <a:txBody>
                    <a:bodyPr/>
                    <a:lstStyle/>
                    <a:p>
                      <a:pPr algn="l" fontAlgn="b"/>
                      <a:r>
                        <a:rPr lang="da-DK" sz="1000" b="1" u="none" strike="noStrike">
                          <a:effectLst/>
                        </a:rPr>
                        <a:t>CEscientificSoakingMeterHour</a:t>
                      </a:r>
                      <a:endParaRPr lang="da-DK" sz="1000" b="1" i="0" u="none" strike="noStrike">
                        <a:solidFill>
                          <a:srgbClr val="000000"/>
                        </a:solidFill>
                        <a:effectLst/>
                        <a:latin typeface="Calibri" panose="020F0502020204030204" pitchFamily="34" charset="0"/>
                      </a:endParaRPr>
                    </a:p>
                  </a:txBody>
                  <a:tcPr marL="7224" marR="7224" marT="7224" marB="0" anchor="b"/>
                </a:tc>
                <a:extLst>
                  <a:ext uri="{0D108BD9-81ED-4DB2-BD59-A6C34878D82A}">
                    <a16:rowId xmlns:a16="http://schemas.microsoft.com/office/drawing/2014/main" val="896471264"/>
                  </a:ext>
                </a:extLst>
              </a:tr>
              <a:tr h="173373">
                <a:tc>
                  <a:txBody>
                    <a:bodyPr/>
                    <a:lstStyle/>
                    <a:p>
                      <a:pPr algn="l" fontAlgn="b"/>
                      <a:r>
                        <a:rPr lang="da-DK" sz="1000" b="1" u="none" strike="noStrike">
                          <a:effectLst/>
                        </a:rPr>
                        <a:t>CEofficialVesselFishingHour</a:t>
                      </a:r>
                      <a:endParaRPr lang="da-DK" sz="1000" b="1" i="0" u="none" strike="noStrike">
                        <a:solidFill>
                          <a:srgbClr val="000000"/>
                        </a:solidFill>
                        <a:effectLst/>
                        <a:latin typeface="Calibri" panose="020F0502020204030204" pitchFamily="34" charset="0"/>
                      </a:endParaRPr>
                    </a:p>
                  </a:txBody>
                  <a:tcPr marL="7224" marR="7224" marT="7224" marB="0" anchor="b"/>
                </a:tc>
                <a:tc>
                  <a:txBody>
                    <a:bodyPr/>
                    <a:lstStyle/>
                    <a:p>
                      <a:pPr algn="l" fontAlgn="b"/>
                      <a:r>
                        <a:rPr lang="da-DK" sz="1000" b="1" u="none" strike="noStrike" dirty="0" err="1">
                          <a:effectLst/>
                        </a:rPr>
                        <a:t>CEscientificVesselFishingHour</a:t>
                      </a:r>
                      <a:endParaRPr lang="da-DK" sz="1000" b="1" i="0" u="none" strike="noStrike" dirty="0">
                        <a:solidFill>
                          <a:srgbClr val="000000"/>
                        </a:solidFill>
                        <a:effectLst/>
                        <a:latin typeface="Calibri" panose="020F0502020204030204" pitchFamily="34" charset="0"/>
                      </a:endParaRPr>
                    </a:p>
                  </a:txBody>
                  <a:tcPr marL="7224" marR="7224" marT="7224" marB="0" anchor="b"/>
                </a:tc>
                <a:extLst>
                  <a:ext uri="{0D108BD9-81ED-4DB2-BD59-A6C34878D82A}">
                    <a16:rowId xmlns:a16="http://schemas.microsoft.com/office/drawing/2014/main" val="2323232581"/>
                  </a:ext>
                </a:extLst>
              </a:tr>
            </a:tbl>
          </a:graphicData>
        </a:graphic>
      </p:graphicFrame>
      <p:sp>
        <p:nvSpPr>
          <p:cNvPr id="4" name="Content Placeholder 3">
            <a:extLst>
              <a:ext uri="{FF2B5EF4-FFF2-40B4-BE49-F238E27FC236}">
                <a16:creationId xmlns:a16="http://schemas.microsoft.com/office/drawing/2014/main" id="{0D3E1684-0CF2-82EC-B9FF-DFB696E3E7B3}"/>
              </a:ext>
            </a:extLst>
          </p:cNvPr>
          <p:cNvSpPr>
            <a:spLocks noGrp="1"/>
          </p:cNvSpPr>
          <p:nvPr>
            <p:ph sz="quarter" idx="13"/>
          </p:nvPr>
        </p:nvSpPr>
        <p:spPr>
          <a:xfrm>
            <a:off x="4829175" y="1825624"/>
            <a:ext cx="6581775" cy="4079876"/>
          </a:xfrm>
        </p:spPr>
        <p:txBody>
          <a:bodyPr>
            <a:normAutofit fontScale="92500" lnSpcReduction="10000"/>
          </a:bodyPr>
          <a:lstStyle/>
          <a:p>
            <a:r>
              <a:rPr lang="da-DK" dirty="0"/>
              <a:t>From the data </a:t>
            </a:r>
            <a:r>
              <a:rPr lang="da-DK" dirty="0" err="1"/>
              <a:t>uploaded</a:t>
            </a:r>
            <a:r>
              <a:rPr lang="da-DK" dirty="0"/>
              <a:t>, </a:t>
            </a:r>
            <a:r>
              <a:rPr lang="da-DK" dirty="0" err="1"/>
              <a:t>we</a:t>
            </a:r>
            <a:r>
              <a:rPr lang="da-DK" dirty="0"/>
              <a:t> </a:t>
            </a:r>
            <a:r>
              <a:rPr lang="da-DK" dirty="0" err="1"/>
              <a:t>can</a:t>
            </a:r>
            <a:r>
              <a:rPr lang="da-DK" dirty="0"/>
              <a:t> </a:t>
            </a:r>
            <a:r>
              <a:rPr lang="da-DK" dirty="0" err="1"/>
              <a:t>see</a:t>
            </a:r>
            <a:r>
              <a:rPr lang="da-DK" dirty="0"/>
              <a:t> </a:t>
            </a:r>
            <a:r>
              <a:rPr lang="da-DK" dirty="0" err="1"/>
              <a:t>that</a:t>
            </a:r>
            <a:r>
              <a:rPr lang="da-DK" dirty="0"/>
              <a:t> the option to </a:t>
            </a:r>
            <a:r>
              <a:rPr lang="da-DK" dirty="0" err="1"/>
              <a:t>distinguish</a:t>
            </a:r>
            <a:r>
              <a:rPr lang="da-DK" dirty="0"/>
              <a:t> </a:t>
            </a:r>
            <a:r>
              <a:rPr lang="da-DK" dirty="0" err="1"/>
              <a:t>between</a:t>
            </a:r>
            <a:r>
              <a:rPr lang="da-DK" dirty="0"/>
              <a:t> official and </a:t>
            </a:r>
            <a:r>
              <a:rPr lang="da-DK" dirty="0" err="1"/>
              <a:t>scientific</a:t>
            </a:r>
            <a:r>
              <a:rPr lang="da-DK" dirty="0"/>
              <a:t> </a:t>
            </a:r>
            <a:r>
              <a:rPr lang="da-DK" dirty="0" err="1"/>
              <a:t>effort</a:t>
            </a:r>
            <a:r>
              <a:rPr lang="da-DK" dirty="0"/>
              <a:t> and landings have not </a:t>
            </a:r>
            <a:r>
              <a:rPr lang="da-DK" dirty="0" err="1"/>
              <a:t>been</a:t>
            </a:r>
            <a:r>
              <a:rPr lang="da-DK" dirty="0"/>
              <a:t> </a:t>
            </a:r>
            <a:r>
              <a:rPr lang="da-DK" dirty="0" err="1"/>
              <a:t>used</a:t>
            </a:r>
            <a:r>
              <a:rPr lang="da-DK" dirty="0"/>
              <a:t>, </a:t>
            </a:r>
            <a:r>
              <a:rPr lang="da-DK" dirty="0" err="1"/>
              <a:t>therefore</a:t>
            </a:r>
            <a:r>
              <a:rPr lang="da-DK" dirty="0"/>
              <a:t> a </a:t>
            </a:r>
            <a:r>
              <a:rPr lang="da-DK" dirty="0" err="1"/>
              <a:t>subgroup</a:t>
            </a:r>
            <a:r>
              <a:rPr lang="da-DK" dirty="0"/>
              <a:t> with RDBES core </a:t>
            </a:r>
            <a:r>
              <a:rPr lang="da-DK" dirty="0" err="1"/>
              <a:t>group</a:t>
            </a:r>
            <a:r>
              <a:rPr lang="da-DK" dirty="0"/>
              <a:t> and ICES WGCATCH </a:t>
            </a:r>
            <a:r>
              <a:rPr lang="da-DK" dirty="0" err="1"/>
              <a:t>members</a:t>
            </a:r>
            <a:r>
              <a:rPr lang="da-DK" dirty="0"/>
              <a:t> has </a:t>
            </a:r>
            <a:r>
              <a:rPr lang="da-DK" dirty="0" err="1"/>
              <a:t>discussed</a:t>
            </a:r>
            <a:r>
              <a:rPr lang="da-DK" dirty="0"/>
              <a:t> the </a:t>
            </a:r>
            <a:r>
              <a:rPr lang="da-DK" dirty="0" err="1"/>
              <a:t>use</a:t>
            </a:r>
            <a:r>
              <a:rPr lang="da-DK" dirty="0"/>
              <a:t> of official </a:t>
            </a:r>
            <a:r>
              <a:rPr lang="da-DK" dirty="0" err="1"/>
              <a:t>vs</a:t>
            </a:r>
            <a:r>
              <a:rPr lang="da-DK" dirty="0"/>
              <a:t> </a:t>
            </a:r>
            <a:r>
              <a:rPr lang="da-DK" dirty="0" err="1"/>
              <a:t>scientific</a:t>
            </a:r>
            <a:r>
              <a:rPr lang="da-DK" dirty="0"/>
              <a:t> </a:t>
            </a:r>
            <a:r>
              <a:rPr lang="da-DK" dirty="0" err="1"/>
              <a:t>effort</a:t>
            </a:r>
            <a:r>
              <a:rPr lang="da-DK" dirty="0"/>
              <a:t> and landings.</a:t>
            </a:r>
          </a:p>
          <a:p>
            <a:endParaRPr lang="da-DK" dirty="0"/>
          </a:p>
          <a:p>
            <a:r>
              <a:rPr lang="da-DK" dirty="0"/>
              <a:t>The </a:t>
            </a:r>
            <a:r>
              <a:rPr lang="da-DK" dirty="0" err="1"/>
              <a:t>scientific</a:t>
            </a:r>
            <a:r>
              <a:rPr lang="da-DK" dirty="0"/>
              <a:t> landings and </a:t>
            </a:r>
            <a:r>
              <a:rPr lang="da-DK" dirty="0" err="1"/>
              <a:t>effort</a:t>
            </a:r>
            <a:r>
              <a:rPr lang="da-DK" dirty="0"/>
              <a:t> is the </a:t>
            </a:r>
            <a:r>
              <a:rPr lang="da-DK" dirty="0" err="1"/>
              <a:t>best</a:t>
            </a:r>
            <a:r>
              <a:rPr lang="da-DK" dirty="0"/>
              <a:t> </a:t>
            </a:r>
            <a:r>
              <a:rPr lang="da-DK" dirty="0" err="1"/>
              <a:t>scientific</a:t>
            </a:r>
            <a:r>
              <a:rPr lang="da-DK" dirty="0"/>
              <a:t> </a:t>
            </a:r>
            <a:r>
              <a:rPr lang="da-DK" dirty="0" err="1"/>
              <a:t>estimate</a:t>
            </a:r>
            <a:r>
              <a:rPr lang="da-DK" dirty="0"/>
              <a:t> of landings and </a:t>
            </a:r>
            <a:r>
              <a:rPr lang="da-DK" dirty="0" err="1"/>
              <a:t>effort</a:t>
            </a:r>
            <a:r>
              <a:rPr lang="da-DK" dirty="0"/>
              <a:t>, and </a:t>
            </a:r>
            <a:r>
              <a:rPr lang="da-DK" dirty="0" err="1"/>
              <a:t>will</a:t>
            </a:r>
            <a:r>
              <a:rPr lang="da-DK" dirty="0"/>
              <a:t> </a:t>
            </a:r>
            <a:r>
              <a:rPr lang="da-DK" dirty="0" err="1"/>
              <a:t>be</a:t>
            </a:r>
            <a:r>
              <a:rPr lang="da-DK" dirty="0"/>
              <a:t> </a:t>
            </a:r>
            <a:r>
              <a:rPr lang="da-DK" dirty="0" err="1"/>
              <a:t>used</a:t>
            </a:r>
            <a:r>
              <a:rPr lang="da-DK" dirty="0"/>
              <a:t> for </a:t>
            </a:r>
            <a:r>
              <a:rPr lang="da-DK" dirty="0" err="1"/>
              <a:t>stock</a:t>
            </a:r>
            <a:r>
              <a:rPr lang="da-DK" dirty="0"/>
              <a:t> assessment etc.</a:t>
            </a:r>
          </a:p>
          <a:p>
            <a:endParaRPr lang="da-DK" dirty="0"/>
          </a:p>
          <a:p>
            <a:r>
              <a:rPr lang="da-DK" dirty="0"/>
              <a:t>Official landings </a:t>
            </a:r>
            <a:r>
              <a:rPr lang="da-DK" dirty="0" err="1"/>
              <a:t>will</a:t>
            </a:r>
            <a:r>
              <a:rPr lang="da-DK" dirty="0"/>
              <a:t> </a:t>
            </a:r>
            <a:r>
              <a:rPr lang="da-DK" dirty="0" err="1"/>
              <a:t>be</a:t>
            </a:r>
            <a:r>
              <a:rPr lang="da-DK" dirty="0"/>
              <a:t> </a:t>
            </a:r>
            <a:r>
              <a:rPr lang="da-DK" dirty="0" err="1"/>
              <a:t>used</a:t>
            </a:r>
            <a:r>
              <a:rPr lang="da-DK" dirty="0"/>
              <a:t> to </a:t>
            </a:r>
            <a:r>
              <a:rPr lang="da-DK" dirty="0" err="1"/>
              <a:t>assess</a:t>
            </a:r>
            <a:r>
              <a:rPr lang="da-DK" dirty="0"/>
              <a:t> data </a:t>
            </a:r>
            <a:r>
              <a:rPr lang="da-DK" dirty="0" err="1"/>
              <a:t>completeness</a:t>
            </a:r>
            <a:r>
              <a:rPr lang="da-DK" dirty="0"/>
              <a:t> and to </a:t>
            </a:r>
            <a:r>
              <a:rPr lang="da-DK" dirty="0" err="1"/>
              <a:t>know</a:t>
            </a:r>
            <a:r>
              <a:rPr lang="da-DK" dirty="0"/>
              <a:t> </a:t>
            </a:r>
            <a:r>
              <a:rPr lang="da-DK" dirty="0" err="1"/>
              <a:t>how</a:t>
            </a:r>
            <a:r>
              <a:rPr lang="da-DK" dirty="0"/>
              <a:t> </a:t>
            </a:r>
            <a:r>
              <a:rPr lang="da-DK" dirty="0" err="1"/>
              <a:t>much</a:t>
            </a:r>
            <a:r>
              <a:rPr lang="da-DK" dirty="0"/>
              <a:t> </a:t>
            </a:r>
            <a:r>
              <a:rPr lang="da-DK" dirty="0" err="1"/>
              <a:t>they</a:t>
            </a:r>
            <a:r>
              <a:rPr lang="da-DK" dirty="0"/>
              <a:t> </a:t>
            </a:r>
            <a:r>
              <a:rPr lang="da-DK" dirty="0" err="1"/>
              <a:t>differ</a:t>
            </a:r>
            <a:r>
              <a:rPr lang="da-DK" dirty="0"/>
              <a:t> from </a:t>
            </a:r>
            <a:r>
              <a:rPr lang="da-DK" dirty="0" err="1"/>
              <a:t>scientific</a:t>
            </a:r>
            <a:r>
              <a:rPr lang="da-DK" dirty="0"/>
              <a:t> </a:t>
            </a:r>
            <a:r>
              <a:rPr lang="da-DK" dirty="0" err="1"/>
              <a:t>estimates</a:t>
            </a:r>
            <a:r>
              <a:rPr lang="da-DK" dirty="0"/>
              <a:t>.</a:t>
            </a:r>
          </a:p>
          <a:p>
            <a:endParaRPr lang="da-DK" dirty="0"/>
          </a:p>
          <a:p>
            <a:r>
              <a:rPr lang="en-US" noProof="0" dirty="0"/>
              <a:t>Official landings will be used by the RCG, e.g., as input to RWP/NWP table 2.1.</a:t>
            </a:r>
            <a:endParaRPr lang="da-DK" dirty="0"/>
          </a:p>
        </p:txBody>
      </p:sp>
    </p:spTree>
    <p:extLst>
      <p:ext uri="{BB962C8B-B14F-4D97-AF65-F5344CB8AC3E}">
        <p14:creationId xmlns:p14="http://schemas.microsoft.com/office/powerpoint/2010/main" val="31014760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E7461-5D84-D5B0-D345-28509AA0A85D}"/>
              </a:ext>
            </a:extLst>
          </p:cNvPr>
          <p:cNvSpPr>
            <a:spLocks noGrp="1"/>
          </p:cNvSpPr>
          <p:nvPr>
            <p:ph type="title"/>
          </p:nvPr>
        </p:nvSpPr>
        <p:spPr/>
        <p:txBody>
          <a:bodyPr>
            <a:normAutofit fontScale="90000"/>
          </a:bodyPr>
          <a:lstStyle/>
          <a:p>
            <a:r>
              <a:rPr lang="en-US" noProof="0" dirty="0"/>
              <a:t>Official vs. Scientific values in CL and CE</a:t>
            </a:r>
            <a:br>
              <a:rPr lang="en-US" noProof="0" dirty="0"/>
            </a:br>
            <a:r>
              <a:rPr lang="en-US" noProof="0" dirty="0"/>
              <a:t>- What is it exactly?</a:t>
            </a:r>
          </a:p>
        </p:txBody>
      </p:sp>
      <p:pic>
        <p:nvPicPr>
          <p:cNvPr id="23" name="Content Placeholder 22">
            <a:extLst>
              <a:ext uri="{FF2B5EF4-FFF2-40B4-BE49-F238E27FC236}">
                <a16:creationId xmlns:a16="http://schemas.microsoft.com/office/drawing/2014/main" id="{04D2E1FF-6633-9A1E-C8CF-27A47DC45835}"/>
              </a:ext>
            </a:extLst>
          </p:cNvPr>
          <p:cNvPicPr>
            <a:picLocks noGrp="1" noChangeAspect="1"/>
          </p:cNvPicPr>
          <p:nvPr>
            <p:ph sz="quarter" idx="12"/>
          </p:nvPr>
        </p:nvPicPr>
        <p:blipFill>
          <a:blip r:embed="rId2"/>
          <a:stretch>
            <a:fillRect/>
          </a:stretch>
        </p:blipFill>
        <p:spPr>
          <a:xfrm>
            <a:off x="647700" y="2329560"/>
            <a:ext cx="3792538" cy="2934167"/>
          </a:xfrm>
        </p:spPr>
      </p:pic>
      <p:sp>
        <p:nvSpPr>
          <p:cNvPr id="21" name="Content Placeholder 20">
            <a:extLst>
              <a:ext uri="{FF2B5EF4-FFF2-40B4-BE49-F238E27FC236}">
                <a16:creationId xmlns:a16="http://schemas.microsoft.com/office/drawing/2014/main" id="{81F13D16-703B-EE6E-E440-E2BC607C5FED}"/>
              </a:ext>
            </a:extLst>
          </p:cNvPr>
          <p:cNvSpPr>
            <a:spLocks noGrp="1"/>
          </p:cNvSpPr>
          <p:nvPr>
            <p:ph sz="quarter" idx="13"/>
          </p:nvPr>
        </p:nvSpPr>
        <p:spPr>
          <a:xfrm>
            <a:off x="4522304" y="1490662"/>
            <a:ext cx="6888646" cy="4611964"/>
          </a:xfrm>
        </p:spPr>
        <p:txBody>
          <a:bodyPr>
            <a:normAutofit fontScale="92500" lnSpcReduction="10000"/>
          </a:bodyPr>
          <a:lstStyle/>
          <a:p>
            <a:pPr marL="0" indent="0" algn="ctr">
              <a:buNone/>
            </a:pPr>
            <a:r>
              <a:rPr lang="en-US" sz="2000" b="1" noProof="0" dirty="0">
                <a:solidFill>
                  <a:schemeClr val="accent1"/>
                </a:solidFill>
              </a:rPr>
              <a:t>The </a:t>
            </a:r>
            <a:r>
              <a:rPr lang="en-US" sz="2000" b="1" dirty="0">
                <a:solidFill>
                  <a:schemeClr val="accent1"/>
                </a:solidFill>
              </a:rPr>
              <a:t>scientific landings and effort are the best scientific estimates of landings and effort, and will be used for stock assessment etc., but whatever these equal the scientific values in the CL and CE is another question?</a:t>
            </a:r>
          </a:p>
          <a:p>
            <a:pPr marL="0" indent="0" algn="ctr">
              <a:buNone/>
            </a:pPr>
            <a:endParaRPr lang="en-US" sz="2000" dirty="0">
              <a:solidFill>
                <a:schemeClr val="accent1"/>
              </a:solidFill>
            </a:endParaRPr>
          </a:p>
          <a:p>
            <a:r>
              <a:rPr lang="en-US" sz="2000" dirty="0">
                <a:solidFill>
                  <a:schemeClr val="accent1"/>
                </a:solidFill>
              </a:rPr>
              <a:t>Corrections can be done by multiple organizations and in multiple places in the process from reported, over official to scientific values</a:t>
            </a:r>
          </a:p>
          <a:p>
            <a:r>
              <a:rPr lang="en-US" sz="2000" dirty="0">
                <a:solidFill>
                  <a:schemeClr val="accent1"/>
                </a:solidFill>
              </a:rPr>
              <a:t>Corrections require different additional data, e.g., VMS and samples data, which may not be available within the RDBES</a:t>
            </a:r>
          </a:p>
          <a:p>
            <a:r>
              <a:rPr lang="en-US" sz="2000" dirty="0">
                <a:solidFill>
                  <a:schemeClr val="accent1"/>
                </a:solidFill>
              </a:rPr>
              <a:t>Different affiliation of the data submitters</a:t>
            </a:r>
          </a:p>
          <a:p>
            <a:pPr lvl="1"/>
            <a:r>
              <a:rPr lang="en-US" dirty="0"/>
              <a:t>Administration uploads CE and CL directly, without possibility for scientific input. </a:t>
            </a:r>
          </a:p>
          <a:p>
            <a:pPr lvl="1"/>
            <a:r>
              <a:rPr lang="en-US" dirty="0"/>
              <a:t>Collaboration between ministry and scientific institutes on the best combined database, and all data are reported from that. </a:t>
            </a:r>
          </a:p>
          <a:p>
            <a:pPr lvl="1"/>
            <a:r>
              <a:rPr lang="en-US" dirty="0"/>
              <a:t>Official data are transferred to the scientific institutes that combines data and submit for CE and CL.</a:t>
            </a:r>
            <a:endParaRPr lang="en-US" dirty="0">
              <a:solidFill>
                <a:schemeClr val="accent1"/>
              </a:solidFill>
            </a:endParaRPr>
          </a:p>
          <a:p>
            <a:endParaRPr lang="en-US" sz="2000" dirty="0">
              <a:solidFill>
                <a:schemeClr val="accent1"/>
              </a:solidFill>
            </a:endParaRPr>
          </a:p>
          <a:p>
            <a:pPr marL="0" indent="0">
              <a:buNone/>
            </a:pPr>
            <a:endParaRPr lang="en-US" dirty="0"/>
          </a:p>
        </p:txBody>
      </p:sp>
    </p:spTree>
    <p:extLst>
      <p:ext uri="{BB962C8B-B14F-4D97-AF65-F5344CB8AC3E}">
        <p14:creationId xmlns:p14="http://schemas.microsoft.com/office/powerpoint/2010/main" val="1487487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A4952-7BF1-8056-941E-5C5349B7DBA0}"/>
              </a:ext>
            </a:extLst>
          </p:cNvPr>
          <p:cNvSpPr>
            <a:spLocks noGrp="1"/>
          </p:cNvSpPr>
          <p:nvPr>
            <p:ph type="title"/>
          </p:nvPr>
        </p:nvSpPr>
        <p:spPr/>
        <p:txBody>
          <a:bodyPr>
            <a:normAutofit fontScale="90000"/>
          </a:bodyPr>
          <a:lstStyle/>
          <a:p>
            <a:r>
              <a:rPr lang="da-DK" dirty="0"/>
              <a:t>Official vs. </a:t>
            </a:r>
            <a:r>
              <a:rPr lang="da-DK" dirty="0" err="1"/>
              <a:t>scientific</a:t>
            </a:r>
            <a:r>
              <a:rPr lang="da-DK" dirty="0"/>
              <a:t> </a:t>
            </a:r>
            <a:r>
              <a:rPr lang="da-DK" dirty="0" err="1"/>
              <a:t>effort</a:t>
            </a:r>
            <a:br>
              <a:rPr lang="da-DK" dirty="0"/>
            </a:br>
            <a:r>
              <a:rPr lang="da-DK" dirty="0"/>
              <a:t>- </a:t>
            </a:r>
            <a:r>
              <a:rPr lang="da-DK" dirty="0" err="1"/>
              <a:t>Some</a:t>
            </a:r>
            <a:r>
              <a:rPr lang="da-DK" dirty="0"/>
              <a:t> guidance</a:t>
            </a:r>
            <a:endParaRPr lang="en-US" dirty="0"/>
          </a:p>
        </p:txBody>
      </p:sp>
      <p:sp>
        <p:nvSpPr>
          <p:cNvPr id="3" name="Content Placeholder 2">
            <a:extLst>
              <a:ext uri="{FF2B5EF4-FFF2-40B4-BE49-F238E27FC236}">
                <a16:creationId xmlns:a16="http://schemas.microsoft.com/office/drawing/2014/main" id="{93595130-D88B-2FB5-F1A7-4F91E8E4EAE7}"/>
              </a:ext>
            </a:extLst>
          </p:cNvPr>
          <p:cNvSpPr>
            <a:spLocks noGrp="1"/>
          </p:cNvSpPr>
          <p:nvPr>
            <p:ph sz="quarter" idx="12"/>
          </p:nvPr>
        </p:nvSpPr>
        <p:spPr>
          <a:xfrm>
            <a:off x="647700" y="1825625"/>
            <a:ext cx="6667500" cy="4226259"/>
          </a:xfrm>
        </p:spPr>
        <p:txBody>
          <a:bodyPr>
            <a:normAutofit fontScale="92500" lnSpcReduction="20000"/>
          </a:bodyPr>
          <a:lstStyle/>
          <a:p>
            <a:r>
              <a:rPr lang="en-US" sz="2000" dirty="0"/>
              <a:t>Corrections should as far as possible be done, and thereby documented, within TAF</a:t>
            </a:r>
          </a:p>
          <a:p>
            <a:r>
              <a:rPr lang="en-US" sz="2000" dirty="0"/>
              <a:t>Corrections before submission should be documented elsewhere </a:t>
            </a:r>
            <a:r>
              <a:rPr lang="en-US" sz="2000" i="1" dirty="0"/>
              <a:t>(Template under development)</a:t>
            </a:r>
            <a:endParaRPr lang="en-US" sz="2000" dirty="0"/>
          </a:p>
          <a:p>
            <a:r>
              <a:rPr lang="en-US" sz="2000" dirty="0"/>
              <a:t>For effort data, official effort can be considered what is reported in logbooks, and scientific effort can in general be what is estimated based on other data sources e.g., sales notes, position data etc.</a:t>
            </a:r>
          </a:p>
          <a:p>
            <a:endParaRPr lang="en-US" dirty="0"/>
          </a:p>
          <a:p>
            <a:endParaRPr lang="en-US" dirty="0"/>
          </a:p>
          <a:p>
            <a:pPr marL="0" indent="0" algn="ctr">
              <a:buNone/>
            </a:pPr>
            <a:r>
              <a:rPr lang="en-US" b="1" i="1" dirty="0"/>
              <a:t>This means that scientific estimates for e.g., stock assessment, still need to go through a national estimator and can not be taken directly from the CL and CE. </a:t>
            </a:r>
          </a:p>
          <a:p>
            <a:pPr marL="0" indent="0" algn="ctr">
              <a:buNone/>
            </a:pPr>
            <a:endParaRPr lang="en-US" b="1" i="1" dirty="0"/>
          </a:p>
          <a:p>
            <a:pPr marL="0" indent="0" algn="ctr">
              <a:buNone/>
            </a:pPr>
            <a:r>
              <a:rPr lang="en-US" b="1" i="1" dirty="0"/>
              <a:t>It may be difficult for AWG’s and RCG to use the scientific values in CL and CE directly</a:t>
            </a:r>
          </a:p>
          <a:p>
            <a:pPr marL="0" indent="0">
              <a:buNone/>
            </a:pPr>
            <a:endParaRPr lang="en-US" dirty="0"/>
          </a:p>
        </p:txBody>
      </p:sp>
      <p:graphicFrame>
        <p:nvGraphicFramePr>
          <p:cNvPr id="5" name="Content Placeholder 8">
            <a:extLst>
              <a:ext uri="{FF2B5EF4-FFF2-40B4-BE49-F238E27FC236}">
                <a16:creationId xmlns:a16="http://schemas.microsoft.com/office/drawing/2014/main" id="{38E0CD4C-FBAE-4070-7DD8-80315B941168}"/>
              </a:ext>
            </a:extLst>
          </p:cNvPr>
          <p:cNvGraphicFramePr>
            <a:graphicFrameLocks/>
          </p:cNvGraphicFramePr>
          <p:nvPr>
            <p:extLst>
              <p:ext uri="{D42A27DB-BD31-4B8C-83A1-F6EECF244321}">
                <p14:modId xmlns:p14="http://schemas.microsoft.com/office/powerpoint/2010/main" val="4054380246"/>
              </p:ext>
            </p:extLst>
          </p:nvPr>
        </p:nvGraphicFramePr>
        <p:xfrm>
          <a:off x="8020050" y="1130301"/>
          <a:ext cx="3562350" cy="3022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Content Placeholder 7">
            <a:extLst>
              <a:ext uri="{FF2B5EF4-FFF2-40B4-BE49-F238E27FC236}">
                <a16:creationId xmlns:a16="http://schemas.microsoft.com/office/drawing/2014/main" id="{A38F74CE-6CDD-B093-483C-F1C58B7C6508}"/>
              </a:ext>
            </a:extLst>
          </p:cNvPr>
          <p:cNvPicPr>
            <a:picLocks noGrp="1"/>
          </p:cNvPicPr>
          <p:nvPr>
            <p:ph sz="quarter" idx="13"/>
          </p:nvPr>
        </p:nvPicPr>
        <p:blipFill>
          <a:blip r:embed="rId7">
            <a:extLst>
              <a:ext uri="{28A0092B-C50C-407E-A947-70E740481C1C}">
                <a14:useLocalDpi xmlns:a14="http://schemas.microsoft.com/office/drawing/2010/main" val="0"/>
              </a:ext>
            </a:extLst>
          </a:blip>
          <a:srcRect t="2648" r="19303"/>
          <a:stretch/>
        </p:blipFill>
        <p:spPr bwMode="auto">
          <a:xfrm>
            <a:off x="7410450" y="3551237"/>
            <a:ext cx="4562475" cy="2500647"/>
          </a:xfrm>
          <a:prstGeom prst="rect">
            <a:avLst/>
          </a:prstGeom>
          <a:noFill/>
          <a:ln>
            <a:noFill/>
          </a:ln>
        </p:spPr>
      </p:pic>
    </p:spTree>
    <p:extLst>
      <p:ext uri="{BB962C8B-B14F-4D97-AF65-F5344CB8AC3E}">
        <p14:creationId xmlns:p14="http://schemas.microsoft.com/office/powerpoint/2010/main" val="1789155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365E8E-A25B-2443-0DD8-80019D6C6A8F}"/>
              </a:ext>
            </a:extLst>
          </p:cNvPr>
          <p:cNvSpPr>
            <a:spLocks noGrp="1"/>
          </p:cNvSpPr>
          <p:nvPr>
            <p:ph type="title"/>
          </p:nvPr>
        </p:nvSpPr>
        <p:spPr/>
        <p:txBody>
          <a:bodyPr>
            <a:normAutofit fontScale="90000"/>
          </a:bodyPr>
          <a:lstStyle/>
          <a:p>
            <a:r>
              <a:rPr lang="da-DK" dirty="0"/>
              <a:t>Official vs. </a:t>
            </a:r>
            <a:r>
              <a:rPr lang="da-DK" dirty="0" err="1"/>
              <a:t>scientific</a:t>
            </a:r>
            <a:r>
              <a:rPr lang="da-DK" dirty="0"/>
              <a:t> </a:t>
            </a:r>
            <a:r>
              <a:rPr lang="da-DK" dirty="0" err="1"/>
              <a:t>effort</a:t>
            </a:r>
            <a:br>
              <a:rPr lang="da-DK" dirty="0"/>
            </a:br>
            <a:r>
              <a:rPr lang="da-DK" dirty="0"/>
              <a:t>- </a:t>
            </a:r>
            <a:r>
              <a:rPr lang="da-DK" dirty="0" err="1"/>
              <a:t>Some</a:t>
            </a:r>
            <a:r>
              <a:rPr lang="da-DK" dirty="0"/>
              <a:t> guidance</a:t>
            </a:r>
            <a:endParaRPr lang="en-US" dirty="0"/>
          </a:p>
        </p:txBody>
      </p:sp>
      <p:sp>
        <p:nvSpPr>
          <p:cNvPr id="9" name="Content Placeholder 8">
            <a:extLst>
              <a:ext uri="{FF2B5EF4-FFF2-40B4-BE49-F238E27FC236}">
                <a16:creationId xmlns:a16="http://schemas.microsoft.com/office/drawing/2014/main" id="{9CB98658-046E-2D6C-217A-B038C195D6E5}"/>
              </a:ext>
            </a:extLst>
          </p:cNvPr>
          <p:cNvSpPr>
            <a:spLocks noGrp="1"/>
          </p:cNvSpPr>
          <p:nvPr>
            <p:ph sz="quarter" idx="12"/>
          </p:nvPr>
        </p:nvSpPr>
        <p:spPr>
          <a:xfrm>
            <a:off x="647699" y="1825625"/>
            <a:ext cx="5007665" cy="4226259"/>
          </a:xfrm>
        </p:spPr>
        <p:txBody>
          <a:bodyPr/>
          <a:lstStyle/>
          <a:p>
            <a:pPr marL="0" indent="0">
              <a:buNone/>
            </a:pPr>
            <a:endParaRPr lang="en-US" dirty="0"/>
          </a:p>
          <a:p>
            <a:pPr marL="0" indent="0">
              <a:buNone/>
            </a:pPr>
            <a:r>
              <a:rPr lang="en-US" noProof="0" dirty="0"/>
              <a:t>A template suggested by </a:t>
            </a:r>
            <a:r>
              <a:rPr lang="en-US" sz="2000" noProof="0" dirty="0" err="1">
                <a:effectLst/>
                <a:latin typeface="Aptos" panose="020B0004020202020204" pitchFamily="34" charset="0"/>
                <a:ea typeface="Aptos" panose="020B0004020202020204" pitchFamily="34" charset="0"/>
                <a:cs typeface="Aptos" panose="020B0004020202020204" pitchFamily="34" charset="0"/>
              </a:rPr>
              <a:t>NANSEA&amp;Baltic</a:t>
            </a:r>
            <a:r>
              <a:rPr lang="en-US" sz="2000" noProof="0" dirty="0">
                <a:effectLst/>
                <a:latin typeface="Aptos" panose="020B0004020202020204" pitchFamily="34" charset="0"/>
                <a:ea typeface="Aptos" panose="020B0004020202020204" pitchFamily="34" charset="0"/>
                <a:cs typeface="Aptos" panose="020B0004020202020204" pitchFamily="34" charset="0"/>
              </a:rPr>
              <a:t> and up for review by ISSG SSF,  ISSG ETP, ICES WGCATCH and ICES WGBYC, and then WGRDBESGOV</a:t>
            </a:r>
          </a:p>
          <a:p>
            <a:pPr marL="0" indent="0">
              <a:buNone/>
            </a:pPr>
            <a:endParaRPr lang="en-US" noProof="0" dirty="0">
              <a:latin typeface="Aptos" panose="020B0004020202020204" pitchFamily="34" charset="0"/>
            </a:endParaRPr>
          </a:p>
          <a:p>
            <a:pPr marL="0" indent="0">
              <a:buNone/>
            </a:pPr>
            <a:r>
              <a:rPr lang="en-US" noProof="0" dirty="0">
                <a:latin typeface="Aptos" panose="020B0004020202020204" pitchFamily="34" charset="0"/>
              </a:rPr>
              <a:t>A template for documenting the methodologies used for estimation and correction of official and scientific values</a:t>
            </a:r>
            <a:endParaRPr lang="en-US" noProof="0" dirty="0"/>
          </a:p>
          <a:p>
            <a:pPr marL="0" indent="0">
              <a:buNone/>
            </a:pPr>
            <a:endParaRPr lang="en-US" dirty="0"/>
          </a:p>
        </p:txBody>
      </p:sp>
      <p:sp>
        <p:nvSpPr>
          <p:cNvPr id="10" name="Content Placeholder 9">
            <a:extLst>
              <a:ext uri="{FF2B5EF4-FFF2-40B4-BE49-F238E27FC236}">
                <a16:creationId xmlns:a16="http://schemas.microsoft.com/office/drawing/2014/main" id="{08696E2E-E3ED-97D5-A2ED-D3D49A1C9FCB}"/>
              </a:ext>
            </a:extLst>
          </p:cNvPr>
          <p:cNvSpPr>
            <a:spLocks noGrp="1"/>
          </p:cNvSpPr>
          <p:nvPr>
            <p:ph sz="quarter" idx="13"/>
          </p:nvPr>
        </p:nvSpPr>
        <p:spPr/>
        <p:txBody>
          <a:bodyPr/>
          <a:lstStyle/>
          <a:p>
            <a:pPr marL="0" indent="0">
              <a:buNone/>
            </a:pPr>
            <a:endParaRPr lang="en-US" dirty="0"/>
          </a:p>
        </p:txBody>
      </p:sp>
      <p:pic>
        <p:nvPicPr>
          <p:cNvPr id="8" name="Picture 7">
            <a:extLst>
              <a:ext uri="{FF2B5EF4-FFF2-40B4-BE49-F238E27FC236}">
                <a16:creationId xmlns:a16="http://schemas.microsoft.com/office/drawing/2014/main" id="{DDA651F3-DAB9-0B33-EB92-04EEB3AF5602}"/>
              </a:ext>
            </a:extLst>
          </p:cNvPr>
          <p:cNvPicPr>
            <a:picLocks noChangeAspect="1"/>
          </p:cNvPicPr>
          <p:nvPr/>
        </p:nvPicPr>
        <p:blipFill>
          <a:blip r:embed="rId2"/>
          <a:stretch>
            <a:fillRect/>
          </a:stretch>
        </p:blipFill>
        <p:spPr>
          <a:xfrm>
            <a:off x="5810250" y="1825624"/>
            <a:ext cx="5328727" cy="4402824"/>
          </a:xfrm>
          <a:prstGeom prst="rect">
            <a:avLst/>
          </a:prstGeom>
        </p:spPr>
      </p:pic>
    </p:spTree>
    <p:extLst>
      <p:ext uri="{BB962C8B-B14F-4D97-AF65-F5344CB8AC3E}">
        <p14:creationId xmlns:p14="http://schemas.microsoft.com/office/powerpoint/2010/main" val="23722695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FFE10-FF12-4545-B6E8-8FF3072D9188}"/>
              </a:ext>
            </a:extLst>
          </p:cNvPr>
          <p:cNvSpPr>
            <a:spLocks noGrp="1"/>
          </p:cNvSpPr>
          <p:nvPr>
            <p:ph type="title"/>
          </p:nvPr>
        </p:nvSpPr>
        <p:spPr/>
        <p:txBody>
          <a:bodyPr/>
          <a:lstStyle/>
          <a:p>
            <a:r>
              <a:rPr lang="da-DK" dirty="0"/>
              <a:t>Official vs. </a:t>
            </a:r>
            <a:r>
              <a:rPr lang="da-DK" dirty="0" err="1"/>
              <a:t>scientific</a:t>
            </a:r>
            <a:r>
              <a:rPr lang="da-DK" dirty="0"/>
              <a:t> </a:t>
            </a:r>
            <a:r>
              <a:rPr lang="da-DK" dirty="0" err="1"/>
              <a:t>effort</a:t>
            </a:r>
            <a:r>
              <a:rPr lang="da-DK" dirty="0"/>
              <a:t> and landings</a:t>
            </a:r>
            <a:endParaRPr lang="en-GB" dirty="0"/>
          </a:p>
        </p:txBody>
      </p:sp>
      <p:sp>
        <p:nvSpPr>
          <p:cNvPr id="3" name="Content Placeholder 2">
            <a:extLst>
              <a:ext uri="{FF2B5EF4-FFF2-40B4-BE49-F238E27FC236}">
                <a16:creationId xmlns:a16="http://schemas.microsoft.com/office/drawing/2014/main" id="{CB378C82-2B3F-4998-AD43-F6F7F2D1FF2E}"/>
              </a:ext>
            </a:extLst>
          </p:cNvPr>
          <p:cNvSpPr>
            <a:spLocks noGrp="1"/>
          </p:cNvSpPr>
          <p:nvPr>
            <p:ph sz="quarter" idx="12"/>
          </p:nvPr>
        </p:nvSpPr>
        <p:spPr>
          <a:xfrm>
            <a:off x="647700" y="1273908"/>
            <a:ext cx="9521536" cy="4750267"/>
          </a:xfrm>
        </p:spPr>
        <p:txBody>
          <a:bodyPr/>
          <a:lstStyle/>
          <a:p>
            <a:pPr marL="0" indent="0">
              <a:buNone/>
            </a:pPr>
            <a:r>
              <a:rPr lang="da-DK" dirty="0" err="1"/>
              <a:t>Example</a:t>
            </a:r>
            <a:r>
              <a:rPr lang="da-DK" dirty="0"/>
              <a:t> of </a:t>
            </a:r>
            <a:r>
              <a:rPr lang="da-DK" dirty="0" err="1"/>
              <a:t>use</a:t>
            </a:r>
            <a:r>
              <a:rPr lang="da-DK" dirty="0"/>
              <a:t> of </a:t>
            </a:r>
            <a:r>
              <a:rPr lang="da-DK" dirty="0" err="1"/>
              <a:t>scientific</a:t>
            </a:r>
            <a:r>
              <a:rPr lang="da-DK" dirty="0"/>
              <a:t> </a:t>
            </a:r>
            <a:r>
              <a:rPr lang="da-DK" dirty="0" err="1"/>
              <a:t>effort</a:t>
            </a:r>
            <a:endParaRPr lang="da-DK" dirty="0"/>
          </a:p>
          <a:p>
            <a:endParaRPr lang="en-GB" dirty="0"/>
          </a:p>
        </p:txBody>
      </p:sp>
      <p:graphicFrame>
        <p:nvGraphicFramePr>
          <p:cNvPr id="4" name="Table 3">
            <a:extLst>
              <a:ext uri="{FF2B5EF4-FFF2-40B4-BE49-F238E27FC236}">
                <a16:creationId xmlns:a16="http://schemas.microsoft.com/office/drawing/2014/main" id="{19B33B91-2F01-8F01-82AC-524C37BC693E}"/>
              </a:ext>
            </a:extLst>
          </p:cNvPr>
          <p:cNvGraphicFramePr>
            <a:graphicFrameLocks noGrp="1"/>
          </p:cNvGraphicFramePr>
          <p:nvPr/>
        </p:nvGraphicFramePr>
        <p:xfrm>
          <a:off x="734646" y="1602155"/>
          <a:ext cx="10511690" cy="4303886"/>
        </p:xfrm>
        <a:graphic>
          <a:graphicData uri="http://schemas.openxmlformats.org/drawingml/2006/table">
            <a:tbl>
              <a:tblPr firstRow="1" firstCol="1" bandRow="1">
                <a:tableStyleId>{5C22544A-7EE6-4342-B048-85BDC9FD1C3A}</a:tableStyleId>
              </a:tblPr>
              <a:tblGrid>
                <a:gridCol w="2102338">
                  <a:extLst>
                    <a:ext uri="{9D8B030D-6E8A-4147-A177-3AD203B41FA5}">
                      <a16:colId xmlns:a16="http://schemas.microsoft.com/office/drawing/2014/main" val="1840445612"/>
                    </a:ext>
                  </a:extLst>
                </a:gridCol>
                <a:gridCol w="2102338">
                  <a:extLst>
                    <a:ext uri="{9D8B030D-6E8A-4147-A177-3AD203B41FA5}">
                      <a16:colId xmlns:a16="http://schemas.microsoft.com/office/drawing/2014/main" val="3212277054"/>
                    </a:ext>
                  </a:extLst>
                </a:gridCol>
                <a:gridCol w="2102338">
                  <a:extLst>
                    <a:ext uri="{9D8B030D-6E8A-4147-A177-3AD203B41FA5}">
                      <a16:colId xmlns:a16="http://schemas.microsoft.com/office/drawing/2014/main" val="1493746595"/>
                    </a:ext>
                  </a:extLst>
                </a:gridCol>
                <a:gridCol w="2102338">
                  <a:extLst>
                    <a:ext uri="{9D8B030D-6E8A-4147-A177-3AD203B41FA5}">
                      <a16:colId xmlns:a16="http://schemas.microsoft.com/office/drawing/2014/main" val="1903162482"/>
                    </a:ext>
                  </a:extLst>
                </a:gridCol>
                <a:gridCol w="2102338">
                  <a:extLst>
                    <a:ext uri="{9D8B030D-6E8A-4147-A177-3AD203B41FA5}">
                      <a16:colId xmlns:a16="http://schemas.microsoft.com/office/drawing/2014/main" val="1753184989"/>
                    </a:ext>
                  </a:extLst>
                </a:gridCol>
              </a:tblGrid>
              <a:tr h="359091">
                <a:tc>
                  <a:txBody>
                    <a:bodyPr/>
                    <a:lstStyle/>
                    <a:p>
                      <a:pPr>
                        <a:lnSpc>
                          <a:spcPct val="107000"/>
                        </a:lnSpc>
                        <a:spcAft>
                          <a:spcPts val="800"/>
                        </a:spcAft>
                      </a:pPr>
                      <a:r>
                        <a:rPr lang="en-GB" sz="1050">
                          <a:effectLst/>
                        </a:rPr>
                        <a:t>Effort field</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Official effort where logbook is available</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Official effort where logbook is not available</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Scientific effort where logbook is available</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Scientific effort where logbook is not available</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extLst>
                  <a:ext uri="{0D108BD9-81ED-4DB2-BD59-A6C34878D82A}">
                    <a16:rowId xmlns:a16="http://schemas.microsoft.com/office/drawing/2014/main" val="2574813560"/>
                  </a:ext>
                </a:extLst>
              </a:tr>
              <a:tr h="602059">
                <a:tc>
                  <a:txBody>
                    <a:bodyPr/>
                    <a:lstStyle/>
                    <a:p>
                      <a:pPr>
                        <a:lnSpc>
                          <a:spcPct val="107000"/>
                        </a:lnSpc>
                        <a:spcAft>
                          <a:spcPts val="800"/>
                        </a:spcAft>
                      </a:pPr>
                      <a:r>
                        <a:rPr lang="en-GB" sz="1050">
                          <a:effectLst/>
                        </a:rPr>
                        <a:t>Days at sea (M)</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Logbook arrival time – departure time divided by 24 and rounded up to integer</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0</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Logbook arrival time – departure time divided by 24 and rounded up to integer</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Based on sales notes. </a:t>
                      </a:r>
                      <a:r>
                        <a:rPr lang="en-US" sz="1050">
                          <a:effectLst/>
                        </a:rPr>
                        <a:t>1 sale note (vessel id+date) = 1 day at sea</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extLst>
                  <a:ext uri="{0D108BD9-81ED-4DB2-BD59-A6C34878D82A}">
                    <a16:rowId xmlns:a16="http://schemas.microsoft.com/office/drawing/2014/main" val="2813806461"/>
                  </a:ext>
                </a:extLst>
              </a:tr>
              <a:tr h="480575">
                <a:tc>
                  <a:txBody>
                    <a:bodyPr/>
                    <a:lstStyle/>
                    <a:p>
                      <a:pPr>
                        <a:lnSpc>
                          <a:spcPct val="107000"/>
                        </a:lnSpc>
                        <a:spcAft>
                          <a:spcPts val="800"/>
                        </a:spcAft>
                      </a:pPr>
                      <a:r>
                        <a:rPr lang="en-GB" sz="1050">
                          <a:effectLst/>
                        </a:rPr>
                        <a:t>Fishing days (M)</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Logbook number of catch dates</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0</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Logbook number of catch dates</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Based on sales notes. </a:t>
                      </a:r>
                      <a:r>
                        <a:rPr lang="en-US" sz="1050">
                          <a:effectLst/>
                        </a:rPr>
                        <a:t>1 sale note (vessel id+date) = 1 fishing day</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extLst>
                  <a:ext uri="{0D108BD9-81ED-4DB2-BD59-A6C34878D82A}">
                    <a16:rowId xmlns:a16="http://schemas.microsoft.com/office/drawing/2014/main" val="4210919528"/>
                  </a:ext>
                </a:extLst>
              </a:tr>
              <a:tr h="1172105">
                <a:tc>
                  <a:txBody>
                    <a:bodyPr/>
                    <a:lstStyle/>
                    <a:p>
                      <a:pPr>
                        <a:lnSpc>
                          <a:spcPct val="107000"/>
                        </a:lnSpc>
                        <a:spcAft>
                          <a:spcPts val="800"/>
                        </a:spcAft>
                      </a:pPr>
                      <a:r>
                        <a:rPr lang="en-GB" sz="1050">
                          <a:effectLst/>
                        </a:rPr>
                        <a:t>Number of hauls/sets (O)</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Based on logbook registration of hauls if reported. </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 </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dirty="0">
                          <a:effectLst/>
                        </a:rPr>
                        <a:t>Based on logbook registration of hauls if reported.</a:t>
                      </a:r>
                      <a:endParaRPr lang="da-DK" sz="1100" dirty="0">
                        <a:effectLst/>
                      </a:endParaRPr>
                    </a:p>
                    <a:p>
                      <a:pPr>
                        <a:lnSpc>
                          <a:spcPct val="107000"/>
                        </a:lnSpc>
                        <a:spcAft>
                          <a:spcPts val="800"/>
                        </a:spcAft>
                      </a:pPr>
                      <a:r>
                        <a:rPr lang="en-GB" sz="1050" dirty="0">
                          <a:effectLst/>
                        </a:rPr>
                        <a:t>If logbooks are available but not reported by haul, it is set to 1 for each logbook </a:t>
                      </a:r>
                      <a:r>
                        <a:rPr lang="en-GB" sz="1050" dirty="0" err="1">
                          <a:effectLst/>
                        </a:rPr>
                        <a:t>id+catch</a:t>
                      </a:r>
                      <a:r>
                        <a:rPr lang="en-GB" sz="1050" dirty="0">
                          <a:effectLst/>
                        </a:rPr>
                        <a:t> </a:t>
                      </a:r>
                      <a:r>
                        <a:rPr lang="en-GB" sz="1050" dirty="0" err="1">
                          <a:effectLst/>
                        </a:rPr>
                        <a:t>date+ICES</a:t>
                      </a:r>
                      <a:r>
                        <a:rPr lang="en-GB" sz="1050" dirty="0">
                          <a:effectLst/>
                        </a:rPr>
                        <a:t> rectangle.</a:t>
                      </a:r>
                      <a:endParaRPr lang="da-DK"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If logbooks are not available (SSF) the scientific number of hauls are set to 1 for each sales note (vessel id+date)</a:t>
                      </a:r>
                      <a:endParaRPr lang="da-DK" sz="1100">
                        <a:effectLst/>
                      </a:endParaRPr>
                    </a:p>
                    <a:p>
                      <a:pPr>
                        <a:lnSpc>
                          <a:spcPct val="107000"/>
                        </a:lnSpc>
                        <a:spcAft>
                          <a:spcPts val="800"/>
                        </a:spcAft>
                      </a:pPr>
                      <a:r>
                        <a:rPr lang="en-GB" sz="1050">
                          <a:effectLst/>
                        </a:rPr>
                        <a:t> </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extLst>
                  <a:ext uri="{0D108BD9-81ED-4DB2-BD59-A6C34878D82A}">
                    <a16:rowId xmlns:a16="http://schemas.microsoft.com/office/drawing/2014/main" val="2489050098"/>
                  </a:ext>
                </a:extLst>
              </a:tr>
              <a:tr h="723544">
                <a:tc>
                  <a:txBody>
                    <a:bodyPr/>
                    <a:lstStyle/>
                    <a:p>
                      <a:pPr>
                        <a:lnSpc>
                          <a:spcPct val="107000"/>
                        </a:lnSpc>
                        <a:spcAft>
                          <a:spcPts val="800"/>
                        </a:spcAft>
                      </a:pPr>
                      <a:r>
                        <a:rPr lang="en-GB" sz="1050" dirty="0">
                          <a:effectLst/>
                        </a:rPr>
                        <a:t>Vessel fishing hour (O)</a:t>
                      </a:r>
                      <a:endParaRPr lang="da-DK"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dirty="0">
                          <a:effectLst/>
                        </a:rPr>
                        <a:t>If logbook reporting is by haul, the official vessel fishing hour can be calculated from start and end of haul time.</a:t>
                      </a:r>
                      <a:endParaRPr lang="da-DK"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 </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If logbook reporting is by haul, the official vessel fishing hour can be calculated from start and end of haul time.</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If position data are available (VMS/AIS/EM) the fishing hours can be estimated using e.g., a speed filter.</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extLst>
                  <a:ext uri="{0D108BD9-81ED-4DB2-BD59-A6C34878D82A}">
                    <a16:rowId xmlns:a16="http://schemas.microsoft.com/office/drawing/2014/main" val="1344678596"/>
                  </a:ext>
                </a:extLst>
              </a:tr>
              <a:tr h="966512">
                <a:tc>
                  <a:txBody>
                    <a:bodyPr/>
                    <a:lstStyle/>
                    <a:p>
                      <a:pPr>
                        <a:lnSpc>
                          <a:spcPct val="107000"/>
                        </a:lnSpc>
                        <a:spcAft>
                          <a:spcPts val="800"/>
                        </a:spcAft>
                      </a:pPr>
                      <a:r>
                        <a:rPr lang="en-GB" sz="1050">
                          <a:effectLst/>
                        </a:rPr>
                        <a:t>Soaking meter hour (O)</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dirty="0">
                          <a:effectLst/>
                        </a:rPr>
                        <a:t>If total net length and soaking time is reported in the logbooks, the soaking meter hour can be calculated.</a:t>
                      </a:r>
                      <a:endParaRPr lang="da-DK"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 </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a:effectLst/>
                        </a:rPr>
                        <a:t>If total net length and soaking time is reported in the logbooks, the soaking meter hour can be calculated.</a:t>
                      </a:r>
                      <a:endParaRPr lang="da-DK" sz="110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tc>
                  <a:txBody>
                    <a:bodyPr/>
                    <a:lstStyle/>
                    <a:p>
                      <a:pPr>
                        <a:lnSpc>
                          <a:spcPct val="107000"/>
                        </a:lnSpc>
                        <a:spcAft>
                          <a:spcPts val="800"/>
                        </a:spcAft>
                      </a:pPr>
                      <a:r>
                        <a:rPr lang="en-GB" sz="1050" dirty="0">
                          <a:effectLst/>
                        </a:rPr>
                        <a:t>If high-resolution position data are available (AIS/EM), methods can be developed to estimate net length and soaking time (see ICES WKSSFGEO2).</a:t>
                      </a:r>
                      <a:endParaRPr lang="da-DK"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57399" marR="57399" marT="0" marB="0"/>
                </a:tc>
                <a:extLst>
                  <a:ext uri="{0D108BD9-81ED-4DB2-BD59-A6C34878D82A}">
                    <a16:rowId xmlns:a16="http://schemas.microsoft.com/office/drawing/2014/main" val="3558452063"/>
                  </a:ext>
                </a:extLst>
              </a:tr>
            </a:tbl>
          </a:graphicData>
        </a:graphic>
      </p:graphicFrame>
    </p:spTree>
    <p:extLst>
      <p:ext uri="{BB962C8B-B14F-4D97-AF65-F5344CB8AC3E}">
        <p14:creationId xmlns:p14="http://schemas.microsoft.com/office/powerpoint/2010/main" val="3553589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8A4D1-CA6D-4B26-6F30-017937130C90}"/>
              </a:ext>
            </a:extLst>
          </p:cNvPr>
          <p:cNvSpPr>
            <a:spLocks noGrp="1"/>
          </p:cNvSpPr>
          <p:nvPr>
            <p:ph type="title"/>
          </p:nvPr>
        </p:nvSpPr>
        <p:spPr/>
        <p:txBody>
          <a:bodyPr/>
          <a:lstStyle/>
          <a:p>
            <a:r>
              <a:rPr lang="da-DK" dirty="0"/>
              <a:t>Official vs. </a:t>
            </a:r>
            <a:r>
              <a:rPr lang="da-DK" dirty="0" err="1"/>
              <a:t>scientific</a:t>
            </a:r>
            <a:r>
              <a:rPr lang="da-DK" dirty="0"/>
              <a:t> </a:t>
            </a:r>
            <a:r>
              <a:rPr lang="da-DK" dirty="0" err="1"/>
              <a:t>effort</a:t>
            </a:r>
            <a:r>
              <a:rPr lang="da-DK" dirty="0"/>
              <a:t> and landings</a:t>
            </a:r>
            <a:endParaRPr lang="en-US" dirty="0"/>
          </a:p>
        </p:txBody>
      </p:sp>
      <p:sp>
        <p:nvSpPr>
          <p:cNvPr id="3" name="Content Placeholder 2">
            <a:extLst>
              <a:ext uri="{FF2B5EF4-FFF2-40B4-BE49-F238E27FC236}">
                <a16:creationId xmlns:a16="http://schemas.microsoft.com/office/drawing/2014/main" id="{CA4A8F4B-667C-7895-FF2F-0B4E67550CE2}"/>
              </a:ext>
            </a:extLst>
          </p:cNvPr>
          <p:cNvSpPr>
            <a:spLocks noGrp="1"/>
          </p:cNvSpPr>
          <p:nvPr>
            <p:ph sz="quarter" idx="11"/>
          </p:nvPr>
        </p:nvSpPr>
        <p:spPr/>
        <p:txBody>
          <a:bodyPr/>
          <a:lstStyle/>
          <a:p>
            <a:pPr marL="0" indent="0">
              <a:buNone/>
            </a:pPr>
            <a:r>
              <a:rPr lang="da-DK" dirty="0" err="1"/>
              <a:t>Example</a:t>
            </a:r>
            <a:r>
              <a:rPr lang="da-DK" dirty="0"/>
              <a:t> of species </a:t>
            </a:r>
            <a:r>
              <a:rPr lang="da-DK" dirty="0" err="1"/>
              <a:t>corrections</a:t>
            </a:r>
            <a:r>
              <a:rPr lang="da-DK" dirty="0"/>
              <a:t> </a:t>
            </a:r>
            <a:r>
              <a:rPr lang="da-DK" dirty="0" err="1"/>
              <a:t>that</a:t>
            </a:r>
            <a:r>
              <a:rPr lang="da-DK" dirty="0"/>
              <a:t> </a:t>
            </a:r>
            <a:r>
              <a:rPr lang="da-DK" dirty="0" err="1"/>
              <a:t>can</a:t>
            </a:r>
            <a:r>
              <a:rPr lang="da-DK" dirty="0"/>
              <a:t> </a:t>
            </a:r>
            <a:r>
              <a:rPr lang="da-DK" dirty="0" err="1"/>
              <a:t>be</a:t>
            </a:r>
            <a:r>
              <a:rPr lang="da-DK" dirty="0"/>
              <a:t> </a:t>
            </a:r>
            <a:r>
              <a:rPr lang="da-DK" dirty="0" err="1"/>
              <a:t>reported</a:t>
            </a:r>
            <a:r>
              <a:rPr lang="da-DK" dirty="0"/>
              <a:t> in CL</a:t>
            </a:r>
          </a:p>
          <a:p>
            <a:pPr marL="0" indent="0">
              <a:buNone/>
            </a:pPr>
            <a:r>
              <a:rPr lang="da-DK" dirty="0" err="1"/>
              <a:t>Anglerfish</a:t>
            </a:r>
            <a:endParaRPr lang="da-DK" dirty="0"/>
          </a:p>
          <a:p>
            <a:pPr marL="0" indent="0">
              <a:buNone/>
            </a:pPr>
            <a:endParaRPr lang="da-DK" dirty="0"/>
          </a:p>
          <a:p>
            <a:pPr marL="0" indent="0">
              <a:buNone/>
            </a:pPr>
            <a:endParaRPr lang="da-DK" dirty="0"/>
          </a:p>
          <a:p>
            <a:pPr marL="0" indent="0">
              <a:buNone/>
            </a:pPr>
            <a:endParaRPr lang="da-DK" dirty="0"/>
          </a:p>
          <a:p>
            <a:pPr marL="0" indent="0">
              <a:buNone/>
            </a:pPr>
            <a:endParaRPr lang="da-DK" dirty="0"/>
          </a:p>
          <a:p>
            <a:pPr marL="0" indent="0">
              <a:buNone/>
            </a:pPr>
            <a:r>
              <a:rPr lang="en-US" dirty="0"/>
              <a:t>Smooth-hounds</a:t>
            </a:r>
          </a:p>
          <a:p>
            <a:pPr marL="0" indent="0">
              <a:buNone/>
            </a:pPr>
            <a:endParaRPr lang="en-US" dirty="0"/>
          </a:p>
          <a:p>
            <a:pPr marL="0" indent="0">
              <a:buNone/>
            </a:pPr>
            <a:endParaRPr lang="en-US" dirty="0"/>
          </a:p>
          <a:p>
            <a:pPr marL="0" indent="0">
              <a:buNone/>
            </a:pPr>
            <a:endParaRPr lang="en-US" dirty="0"/>
          </a:p>
          <a:p>
            <a:pPr marL="0" indent="0" algn="ctr">
              <a:buNone/>
            </a:pPr>
            <a:r>
              <a:rPr lang="en-US" b="1" i="1" dirty="0"/>
              <a:t>This should be done within TAF for proper </a:t>
            </a:r>
            <a:r>
              <a:rPr lang="en-US" b="1" i="1" dirty="0" err="1"/>
              <a:t>ducumentation</a:t>
            </a:r>
            <a:endParaRPr lang="en-US" b="1" i="1" dirty="0"/>
          </a:p>
        </p:txBody>
      </p:sp>
      <p:graphicFrame>
        <p:nvGraphicFramePr>
          <p:cNvPr id="4" name="Table 3">
            <a:extLst>
              <a:ext uri="{FF2B5EF4-FFF2-40B4-BE49-F238E27FC236}">
                <a16:creationId xmlns:a16="http://schemas.microsoft.com/office/drawing/2014/main" id="{D05A9F44-4195-4035-0D93-3E8D128ABF2E}"/>
              </a:ext>
            </a:extLst>
          </p:cNvPr>
          <p:cNvGraphicFramePr>
            <a:graphicFrameLocks noGrp="1"/>
          </p:cNvGraphicFramePr>
          <p:nvPr>
            <p:extLst>
              <p:ext uri="{D42A27DB-BD31-4B8C-83A1-F6EECF244321}">
                <p14:modId xmlns:p14="http://schemas.microsoft.com/office/powerpoint/2010/main" val="1685206410"/>
              </p:ext>
            </p:extLst>
          </p:nvPr>
        </p:nvGraphicFramePr>
        <p:xfrm>
          <a:off x="771523" y="2657475"/>
          <a:ext cx="10515601" cy="692228"/>
        </p:xfrm>
        <a:graphic>
          <a:graphicData uri="http://schemas.openxmlformats.org/drawingml/2006/table">
            <a:tbl>
              <a:tblPr>
                <a:tableStyleId>{1FECB4D8-DB02-4DC6-A0A2-4F2EBAE1DC90}</a:tableStyleId>
              </a:tblPr>
              <a:tblGrid>
                <a:gridCol w="1706532">
                  <a:extLst>
                    <a:ext uri="{9D8B030D-6E8A-4147-A177-3AD203B41FA5}">
                      <a16:colId xmlns:a16="http://schemas.microsoft.com/office/drawing/2014/main" val="425369164"/>
                    </a:ext>
                  </a:extLst>
                </a:gridCol>
                <a:gridCol w="1826710">
                  <a:extLst>
                    <a:ext uri="{9D8B030D-6E8A-4147-A177-3AD203B41FA5}">
                      <a16:colId xmlns:a16="http://schemas.microsoft.com/office/drawing/2014/main" val="2087769526"/>
                    </a:ext>
                  </a:extLst>
                </a:gridCol>
                <a:gridCol w="1826710">
                  <a:extLst>
                    <a:ext uri="{9D8B030D-6E8A-4147-A177-3AD203B41FA5}">
                      <a16:colId xmlns:a16="http://schemas.microsoft.com/office/drawing/2014/main" val="980960720"/>
                    </a:ext>
                  </a:extLst>
                </a:gridCol>
                <a:gridCol w="901337">
                  <a:extLst>
                    <a:ext uri="{9D8B030D-6E8A-4147-A177-3AD203B41FA5}">
                      <a16:colId xmlns:a16="http://schemas.microsoft.com/office/drawing/2014/main" val="2455218861"/>
                    </a:ext>
                  </a:extLst>
                </a:gridCol>
                <a:gridCol w="1105640">
                  <a:extLst>
                    <a:ext uri="{9D8B030D-6E8A-4147-A177-3AD203B41FA5}">
                      <a16:colId xmlns:a16="http://schemas.microsoft.com/office/drawing/2014/main" val="689334800"/>
                    </a:ext>
                  </a:extLst>
                </a:gridCol>
                <a:gridCol w="937391">
                  <a:extLst>
                    <a:ext uri="{9D8B030D-6E8A-4147-A177-3AD203B41FA5}">
                      <a16:colId xmlns:a16="http://schemas.microsoft.com/office/drawing/2014/main" val="1446275640"/>
                    </a:ext>
                  </a:extLst>
                </a:gridCol>
                <a:gridCol w="1069587">
                  <a:extLst>
                    <a:ext uri="{9D8B030D-6E8A-4147-A177-3AD203B41FA5}">
                      <a16:colId xmlns:a16="http://schemas.microsoft.com/office/drawing/2014/main" val="14009144"/>
                    </a:ext>
                  </a:extLst>
                </a:gridCol>
                <a:gridCol w="1141694">
                  <a:extLst>
                    <a:ext uri="{9D8B030D-6E8A-4147-A177-3AD203B41FA5}">
                      <a16:colId xmlns:a16="http://schemas.microsoft.com/office/drawing/2014/main" val="2203946895"/>
                    </a:ext>
                  </a:extLst>
                </a:gridCol>
              </a:tblGrid>
              <a:tr h="173057">
                <a:tc>
                  <a:txBody>
                    <a:bodyPr/>
                    <a:lstStyle/>
                    <a:p>
                      <a:pPr algn="l" fontAlgn="b"/>
                      <a:r>
                        <a:rPr lang="da-DK" sz="1000" b="1" u="none" strike="noStrike">
                          <a:effectLst/>
                        </a:rPr>
                        <a:t>CLdataTypeOfScientificWeight</a:t>
                      </a:r>
                      <a:endParaRPr lang="da-DK" sz="1000" b="1"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b="1" u="none" strike="noStrike">
                          <a:effectLst/>
                        </a:rPr>
                        <a:t>CLdataSourceOfScientificWeight</a:t>
                      </a:r>
                      <a:endParaRPr lang="da-DK" sz="1000" b="1"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b="1" u="none" strike="noStrike" dirty="0" err="1">
                          <a:effectLst/>
                        </a:rPr>
                        <a:t>CLsamplingScheme</a:t>
                      </a:r>
                      <a:endParaRPr lang="da-DK" sz="1000" b="1" i="0" u="none" strike="noStrike" dirty="0">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b="1" u="none" strike="noStrike">
                          <a:effectLst/>
                        </a:rPr>
                        <a:t>CLspeciesCode</a:t>
                      </a:r>
                      <a:endParaRPr lang="da-DK" sz="1000" b="1"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b="1" u="none" strike="noStrike">
                          <a:effectLst/>
                        </a:rPr>
                        <a:t>CLspeciesFaoCode</a:t>
                      </a:r>
                      <a:endParaRPr lang="da-DK" sz="1000" b="1"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b="1" u="none" strike="noStrike">
                          <a:effectLst/>
                        </a:rPr>
                        <a:t>CLofficialWeight</a:t>
                      </a:r>
                      <a:endParaRPr lang="da-DK" sz="1000" b="1"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b="1" u="none" strike="noStrike">
                          <a:effectLst/>
                        </a:rPr>
                        <a:t>CLscientificWeight</a:t>
                      </a:r>
                      <a:endParaRPr lang="da-DK" sz="1000" b="1"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b="1" u="none" strike="noStrike" dirty="0" err="1">
                          <a:effectLst/>
                        </a:rPr>
                        <a:t>CLexplainDifference</a:t>
                      </a:r>
                      <a:endParaRPr lang="da-DK" sz="1000" b="1" i="0" u="none" strike="noStrike" dirty="0">
                        <a:solidFill>
                          <a:srgbClr val="000000"/>
                        </a:solidFill>
                        <a:effectLst/>
                        <a:latin typeface="Aptos Narrow" panose="020B0004020202020204" pitchFamily="34" charset="0"/>
                      </a:endParaRPr>
                    </a:p>
                  </a:txBody>
                  <a:tcPr marL="7211" marR="7211" marT="7211" marB="0" anchor="b"/>
                </a:tc>
                <a:extLst>
                  <a:ext uri="{0D108BD9-81ED-4DB2-BD59-A6C34878D82A}">
                    <a16:rowId xmlns:a16="http://schemas.microsoft.com/office/drawing/2014/main" val="1188855670"/>
                  </a:ext>
                </a:extLst>
              </a:tr>
              <a:tr h="173057">
                <a:tc>
                  <a:txBody>
                    <a:bodyPr/>
                    <a:lstStyle/>
                    <a:p>
                      <a:pPr algn="l" fontAlgn="b"/>
                      <a:r>
                        <a:rPr lang="da-DK" sz="1000" u="none" strike="noStrike">
                          <a:effectLst/>
                        </a:rPr>
                        <a:t>Estimate</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a:effectLst/>
                        </a:rPr>
                        <a:t>Sampld</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a:effectLst/>
                        </a:rPr>
                        <a:t>Lophius sampling</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126555</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a:effectLst/>
                        </a:rPr>
                        <a:t>MON</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0</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750</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dirty="0">
                          <a:effectLst/>
                        </a:rPr>
                        <a:t>Species</a:t>
                      </a:r>
                      <a:endParaRPr lang="da-DK" sz="1000" b="0" i="0" u="none" strike="noStrike" dirty="0">
                        <a:solidFill>
                          <a:srgbClr val="000000"/>
                        </a:solidFill>
                        <a:effectLst/>
                        <a:latin typeface="Aptos Narrow" panose="020B0004020202020204" pitchFamily="34" charset="0"/>
                      </a:endParaRPr>
                    </a:p>
                  </a:txBody>
                  <a:tcPr marL="7211" marR="7211" marT="7211" marB="0" anchor="b"/>
                </a:tc>
                <a:extLst>
                  <a:ext uri="{0D108BD9-81ED-4DB2-BD59-A6C34878D82A}">
                    <a16:rowId xmlns:a16="http://schemas.microsoft.com/office/drawing/2014/main" val="1962092786"/>
                  </a:ext>
                </a:extLst>
              </a:tr>
              <a:tr h="173057">
                <a:tc>
                  <a:txBody>
                    <a:bodyPr/>
                    <a:lstStyle/>
                    <a:p>
                      <a:pPr algn="l" fontAlgn="b"/>
                      <a:r>
                        <a:rPr lang="da-DK" sz="1000" u="none" strike="noStrike">
                          <a:effectLst/>
                        </a:rPr>
                        <a:t>Estimate</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a:effectLst/>
                        </a:rPr>
                        <a:t>Sampld</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a:effectLst/>
                        </a:rPr>
                        <a:t>Lophius sampling</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126554</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a:effectLst/>
                        </a:rPr>
                        <a:t>ANK</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0</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250</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a:effectLst/>
                        </a:rPr>
                        <a:t>Species</a:t>
                      </a:r>
                      <a:endParaRPr lang="da-DK" sz="1000" b="0" i="0" u="none" strike="noStrike">
                        <a:solidFill>
                          <a:srgbClr val="000000"/>
                        </a:solidFill>
                        <a:effectLst/>
                        <a:latin typeface="Aptos Narrow" panose="020B0004020202020204" pitchFamily="34" charset="0"/>
                      </a:endParaRPr>
                    </a:p>
                  </a:txBody>
                  <a:tcPr marL="7211" marR="7211" marT="7211" marB="0" anchor="b"/>
                </a:tc>
                <a:extLst>
                  <a:ext uri="{0D108BD9-81ED-4DB2-BD59-A6C34878D82A}">
                    <a16:rowId xmlns:a16="http://schemas.microsoft.com/office/drawing/2014/main" val="4290345055"/>
                  </a:ext>
                </a:extLst>
              </a:tr>
              <a:tr h="173057">
                <a:tc>
                  <a:txBody>
                    <a:bodyPr/>
                    <a:lstStyle/>
                    <a:p>
                      <a:pPr algn="l" fontAlgn="b"/>
                      <a:r>
                        <a:rPr lang="da-DK" sz="1000" u="none" strike="noStrike">
                          <a:effectLst/>
                        </a:rPr>
                        <a:t>Official</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a:effectLst/>
                        </a:rPr>
                        <a:t>Saln</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125802</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a:effectLst/>
                        </a:rPr>
                        <a:t>MNZ</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1000</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0</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dirty="0">
                          <a:effectLst/>
                        </a:rPr>
                        <a:t>Species</a:t>
                      </a:r>
                      <a:endParaRPr lang="da-DK" sz="1000" b="0" i="0" u="none" strike="noStrike" dirty="0">
                        <a:solidFill>
                          <a:srgbClr val="000000"/>
                        </a:solidFill>
                        <a:effectLst/>
                        <a:latin typeface="Aptos Narrow" panose="020B0004020202020204" pitchFamily="34" charset="0"/>
                      </a:endParaRPr>
                    </a:p>
                  </a:txBody>
                  <a:tcPr marL="7211" marR="7211" marT="7211" marB="0" anchor="b"/>
                </a:tc>
                <a:extLst>
                  <a:ext uri="{0D108BD9-81ED-4DB2-BD59-A6C34878D82A}">
                    <a16:rowId xmlns:a16="http://schemas.microsoft.com/office/drawing/2014/main" val="2330844198"/>
                  </a:ext>
                </a:extLst>
              </a:tr>
            </a:tbl>
          </a:graphicData>
        </a:graphic>
      </p:graphicFrame>
      <p:graphicFrame>
        <p:nvGraphicFramePr>
          <p:cNvPr id="5" name="Table 4">
            <a:extLst>
              <a:ext uri="{FF2B5EF4-FFF2-40B4-BE49-F238E27FC236}">
                <a16:creationId xmlns:a16="http://schemas.microsoft.com/office/drawing/2014/main" id="{8AE156A1-BC2C-48F4-16F3-EC1AF2E679C7}"/>
              </a:ext>
            </a:extLst>
          </p:cNvPr>
          <p:cNvGraphicFramePr>
            <a:graphicFrameLocks noGrp="1"/>
          </p:cNvGraphicFramePr>
          <p:nvPr>
            <p:extLst>
              <p:ext uri="{D42A27DB-BD31-4B8C-83A1-F6EECF244321}">
                <p14:modId xmlns:p14="http://schemas.microsoft.com/office/powerpoint/2010/main" val="1477431193"/>
              </p:ext>
            </p:extLst>
          </p:nvPr>
        </p:nvGraphicFramePr>
        <p:xfrm>
          <a:off x="781051" y="4324853"/>
          <a:ext cx="10515601" cy="692228"/>
        </p:xfrm>
        <a:graphic>
          <a:graphicData uri="http://schemas.openxmlformats.org/drawingml/2006/table">
            <a:tbl>
              <a:tblPr>
                <a:tableStyleId>{B301B821-A1FF-4177-AEE7-76D212191A09}</a:tableStyleId>
              </a:tblPr>
              <a:tblGrid>
                <a:gridCol w="1706532">
                  <a:extLst>
                    <a:ext uri="{9D8B030D-6E8A-4147-A177-3AD203B41FA5}">
                      <a16:colId xmlns:a16="http://schemas.microsoft.com/office/drawing/2014/main" val="540492498"/>
                    </a:ext>
                  </a:extLst>
                </a:gridCol>
                <a:gridCol w="1826710">
                  <a:extLst>
                    <a:ext uri="{9D8B030D-6E8A-4147-A177-3AD203B41FA5}">
                      <a16:colId xmlns:a16="http://schemas.microsoft.com/office/drawing/2014/main" val="152996945"/>
                    </a:ext>
                  </a:extLst>
                </a:gridCol>
                <a:gridCol w="1826710">
                  <a:extLst>
                    <a:ext uri="{9D8B030D-6E8A-4147-A177-3AD203B41FA5}">
                      <a16:colId xmlns:a16="http://schemas.microsoft.com/office/drawing/2014/main" val="3896217016"/>
                    </a:ext>
                  </a:extLst>
                </a:gridCol>
                <a:gridCol w="901337">
                  <a:extLst>
                    <a:ext uri="{9D8B030D-6E8A-4147-A177-3AD203B41FA5}">
                      <a16:colId xmlns:a16="http://schemas.microsoft.com/office/drawing/2014/main" val="359202274"/>
                    </a:ext>
                  </a:extLst>
                </a:gridCol>
                <a:gridCol w="1105640">
                  <a:extLst>
                    <a:ext uri="{9D8B030D-6E8A-4147-A177-3AD203B41FA5}">
                      <a16:colId xmlns:a16="http://schemas.microsoft.com/office/drawing/2014/main" val="1893859570"/>
                    </a:ext>
                  </a:extLst>
                </a:gridCol>
                <a:gridCol w="937391">
                  <a:extLst>
                    <a:ext uri="{9D8B030D-6E8A-4147-A177-3AD203B41FA5}">
                      <a16:colId xmlns:a16="http://schemas.microsoft.com/office/drawing/2014/main" val="2242845500"/>
                    </a:ext>
                  </a:extLst>
                </a:gridCol>
                <a:gridCol w="1069587">
                  <a:extLst>
                    <a:ext uri="{9D8B030D-6E8A-4147-A177-3AD203B41FA5}">
                      <a16:colId xmlns:a16="http://schemas.microsoft.com/office/drawing/2014/main" val="834174854"/>
                    </a:ext>
                  </a:extLst>
                </a:gridCol>
                <a:gridCol w="1141694">
                  <a:extLst>
                    <a:ext uri="{9D8B030D-6E8A-4147-A177-3AD203B41FA5}">
                      <a16:colId xmlns:a16="http://schemas.microsoft.com/office/drawing/2014/main" val="2226342854"/>
                    </a:ext>
                  </a:extLst>
                </a:gridCol>
              </a:tblGrid>
              <a:tr h="173057">
                <a:tc>
                  <a:txBody>
                    <a:bodyPr/>
                    <a:lstStyle/>
                    <a:p>
                      <a:pPr algn="l" fontAlgn="b"/>
                      <a:r>
                        <a:rPr lang="da-DK" sz="1000" b="1" u="none" strike="noStrike">
                          <a:effectLst/>
                        </a:rPr>
                        <a:t>CLdataTypeOfScientificWeight</a:t>
                      </a:r>
                      <a:endParaRPr lang="da-DK" sz="1000" b="1"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b="1" u="none" strike="noStrike" dirty="0" err="1">
                          <a:effectLst/>
                        </a:rPr>
                        <a:t>CLdataSourceOfScientificWeight</a:t>
                      </a:r>
                      <a:endParaRPr lang="da-DK" sz="1000" b="1" i="0" u="none" strike="noStrike" dirty="0">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b="1" u="none" strike="noStrike">
                          <a:effectLst/>
                        </a:rPr>
                        <a:t>CLsamplingScheme</a:t>
                      </a:r>
                      <a:endParaRPr lang="da-DK" sz="1000" b="1"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b="1" u="none" strike="noStrike">
                          <a:effectLst/>
                        </a:rPr>
                        <a:t>CLspeciesCode</a:t>
                      </a:r>
                      <a:endParaRPr lang="da-DK" sz="1000" b="1"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b="1" u="none" strike="noStrike">
                          <a:effectLst/>
                        </a:rPr>
                        <a:t>CLspeciesFaoCode</a:t>
                      </a:r>
                      <a:endParaRPr lang="da-DK" sz="1000" b="1"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b="1" u="none" strike="noStrike">
                          <a:effectLst/>
                        </a:rPr>
                        <a:t>CLofficialWeight</a:t>
                      </a:r>
                      <a:endParaRPr lang="da-DK" sz="1000" b="1"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b="1" u="none" strike="noStrike">
                          <a:effectLst/>
                        </a:rPr>
                        <a:t>CLscientificWeight</a:t>
                      </a:r>
                      <a:endParaRPr lang="da-DK" sz="1000" b="1"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b="1" u="none" strike="noStrike" dirty="0" err="1">
                          <a:effectLst/>
                        </a:rPr>
                        <a:t>CLexplainDifference</a:t>
                      </a:r>
                      <a:endParaRPr lang="da-DK" sz="1000" b="1" i="0" u="none" strike="noStrike" dirty="0">
                        <a:solidFill>
                          <a:srgbClr val="000000"/>
                        </a:solidFill>
                        <a:effectLst/>
                        <a:latin typeface="Aptos Narrow" panose="020B0004020202020204" pitchFamily="34" charset="0"/>
                      </a:endParaRPr>
                    </a:p>
                  </a:txBody>
                  <a:tcPr marL="7211" marR="7211" marT="7211" marB="0" anchor="b"/>
                </a:tc>
                <a:extLst>
                  <a:ext uri="{0D108BD9-81ED-4DB2-BD59-A6C34878D82A}">
                    <a16:rowId xmlns:a16="http://schemas.microsoft.com/office/drawing/2014/main" val="3708048540"/>
                  </a:ext>
                </a:extLst>
              </a:tr>
              <a:tr h="173057">
                <a:tc>
                  <a:txBody>
                    <a:bodyPr/>
                    <a:lstStyle/>
                    <a:p>
                      <a:pPr algn="l" fontAlgn="b"/>
                      <a:r>
                        <a:rPr lang="da-DK" sz="1000" u="none" strike="noStrike">
                          <a:effectLst/>
                        </a:rPr>
                        <a:t>Official</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dirty="0" err="1">
                          <a:effectLst/>
                        </a:rPr>
                        <a:t>Saln</a:t>
                      </a:r>
                      <a:endParaRPr lang="da-DK" sz="1000" b="0" i="0" u="none" strike="noStrike" dirty="0">
                        <a:solidFill>
                          <a:srgbClr val="000000"/>
                        </a:solidFill>
                        <a:effectLst/>
                        <a:latin typeface="Aptos Narrow" panose="020B0004020202020204" pitchFamily="34" charset="0"/>
                      </a:endParaRPr>
                    </a:p>
                  </a:txBody>
                  <a:tcPr marL="7211" marR="7211" marT="7211" marB="0" anchor="b"/>
                </a:tc>
                <a:tc>
                  <a:txBody>
                    <a:bodyPr/>
                    <a:lstStyle/>
                    <a:p>
                      <a:pPr algn="l" fontAlgn="b"/>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105821</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a:effectLst/>
                        </a:rPr>
                        <a:t>SDS</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750</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0</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dirty="0">
                          <a:effectLst/>
                        </a:rPr>
                        <a:t>Species</a:t>
                      </a:r>
                      <a:endParaRPr lang="da-DK" sz="1000" b="0" i="0" u="none" strike="noStrike" dirty="0">
                        <a:solidFill>
                          <a:srgbClr val="000000"/>
                        </a:solidFill>
                        <a:effectLst/>
                        <a:latin typeface="Aptos Narrow" panose="020B0004020202020204" pitchFamily="34" charset="0"/>
                      </a:endParaRPr>
                    </a:p>
                  </a:txBody>
                  <a:tcPr marL="7211" marR="7211" marT="7211" marB="0" anchor="b"/>
                </a:tc>
                <a:extLst>
                  <a:ext uri="{0D108BD9-81ED-4DB2-BD59-A6C34878D82A}">
                    <a16:rowId xmlns:a16="http://schemas.microsoft.com/office/drawing/2014/main" val="4043231073"/>
                  </a:ext>
                </a:extLst>
              </a:tr>
              <a:tr h="173057">
                <a:tc>
                  <a:txBody>
                    <a:bodyPr/>
                    <a:lstStyle/>
                    <a:p>
                      <a:pPr algn="l" fontAlgn="b"/>
                      <a:r>
                        <a:rPr lang="da-DK" sz="1000" u="none" strike="noStrike">
                          <a:effectLst/>
                        </a:rPr>
                        <a:t>Official</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dirty="0" err="1">
                          <a:effectLst/>
                        </a:rPr>
                        <a:t>Saln</a:t>
                      </a:r>
                      <a:endParaRPr lang="da-DK" sz="1000" b="0" i="0" u="none" strike="noStrike" dirty="0">
                        <a:solidFill>
                          <a:srgbClr val="000000"/>
                        </a:solidFill>
                        <a:effectLst/>
                        <a:latin typeface="Aptos Narrow" panose="020B0004020202020204" pitchFamily="34" charset="0"/>
                      </a:endParaRPr>
                    </a:p>
                  </a:txBody>
                  <a:tcPr marL="7211" marR="7211" marT="7211" marB="0" anchor="b"/>
                </a:tc>
                <a:tc>
                  <a:txBody>
                    <a:bodyPr/>
                    <a:lstStyle/>
                    <a:p>
                      <a:pPr algn="l" fontAlgn="b"/>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105822</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a:effectLst/>
                        </a:rPr>
                        <a:t>SMD</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250</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0</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a:effectLst/>
                        </a:rPr>
                        <a:t>Species</a:t>
                      </a:r>
                      <a:endParaRPr lang="da-DK" sz="1000" b="0" i="0" u="none" strike="noStrike">
                        <a:solidFill>
                          <a:srgbClr val="000000"/>
                        </a:solidFill>
                        <a:effectLst/>
                        <a:latin typeface="Aptos Narrow" panose="020B0004020202020204" pitchFamily="34" charset="0"/>
                      </a:endParaRPr>
                    </a:p>
                  </a:txBody>
                  <a:tcPr marL="7211" marR="7211" marT="7211" marB="0" anchor="b"/>
                </a:tc>
                <a:extLst>
                  <a:ext uri="{0D108BD9-81ED-4DB2-BD59-A6C34878D82A}">
                    <a16:rowId xmlns:a16="http://schemas.microsoft.com/office/drawing/2014/main" val="3962078716"/>
                  </a:ext>
                </a:extLst>
              </a:tr>
              <a:tr h="173057">
                <a:tc>
                  <a:txBody>
                    <a:bodyPr/>
                    <a:lstStyle/>
                    <a:p>
                      <a:pPr algn="l" fontAlgn="b"/>
                      <a:r>
                        <a:rPr lang="da-DK" sz="1000" u="none" strike="noStrike">
                          <a:effectLst/>
                        </a:rPr>
                        <a:t>Estimate</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a:effectLst/>
                        </a:rPr>
                        <a:t>ExpertEval</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105732</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a:effectLst/>
                        </a:rPr>
                        <a:t>SDV</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0</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r" fontAlgn="b"/>
                      <a:r>
                        <a:rPr lang="da-DK" sz="1000" u="none" strike="noStrike">
                          <a:effectLst/>
                        </a:rPr>
                        <a:t>1000</a:t>
                      </a:r>
                      <a:endParaRPr lang="da-DK" sz="1000" b="0" i="0" u="none" strike="noStrike">
                        <a:solidFill>
                          <a:srgbClr val="000000"/>
                        </a:solidFill>
                        <a:effectLst/>
                        <a:latin typeface="Aptos Narrow" panose="020B0004020202020204" pitchFamily="34" charset="0"/>
                      </a:endParaRPr>
                    </a:p>
                  </a:txBody>
                  <a:tcPr marL="7211" marR="7211" marT="7211" marB="0" anchor="b"/>
                </a:tc>
                <a:tc>
                  <a:txBody>
                    <a:bodyPr/>
                    <a:lstStyle/>
                    <a:p>
                      <a:pPr algn="l" fontAlgn="b"/>
                      <a:r>
                        <a:rPr lang="da-DK" sz="1000" u="none" strike="noStrike" dirty="0">
                          <a:effectLst/>
                        </a:rPr>
                        <a:t>Species</a:t>
                      </a:r>
                      <a:endParaRPr lang="da-DK" sz="1000" b="0" i="0" u="none" strike="noStrike" dirty="0">
                        <a:solidFill>
                          <a:srgbClr val="000000"/>
                        </a:solidFill>
                        <a:effectLst/>
                        <a:latin typeface="Aptos Narrow" panose="020B0004020202020204" pitchFamily="34" charset="0"/>
                      </a:endParaRPr>
                    </a:p>
                  </a:txBody>
                  <a:tcPr marL="7211" marR="7211" marT="7211" marB="0" anchor="b"/>
                </a:tc>
                <a:extLst>
                  <a:ext uri="{0D108BD9-81ED-4DB2-BD59-A6C34878D82A}">
                    <a16:rowId xmlns:a16="http://schemas.microsoft.com/office/drawing/2014/main" val="891513476"/>
                  </a:ext>
                </a:extLst>
              </a:tr>
            </a:tbl>
          </a:graphicData>
        </a:graphic>
      </p:graphicFrame>
    </p:spTree>
    <p:extLst>
      <p:ext uri="{BB962C8B-B14F-4D97-AF65-F5344CB8AC3E}">
        <p14:creationId xmlns:p14="http://schemas.microsoft.com/office/powerpoint/2010/main" val="2429552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8A4D1-CA6D-4B26-6F30-017937130C90}"/>
              </a:ext>
            </a:extLst>
          </p:cNvPr>
          <p:cNvSpPr>
            <a:spLocks noGrp="1"/>
          </p:cNvSpPr>
          <p:nvPr>
            <p:ph type="title"/>
          </p:nvPr>
        </p:nvSpPr>
        <p:spPr/>
        <p:txBody>
          <a:bodyPr/>
          <a:lstStyle/>
          <a:p>
            <a:r>
              <a:rPr lang="da-DK" dirty="0"/>
              <a:t>Official vs. </a:t>
            </a:r>
            <a:r>
              <a:rPr lang="da-DK" dirty="0" err="1"/>
              <a:t>scientific</a:t>
            </a:r>
            <a:r>
              <a:rPr lang="da-DK" dirty="0"/>
              <a:t> </a:t>
            </a:r>
            <a:r>
              <a:rPr lang="da-DK" dirty="0" err="1"/>
              <a:t>effort</a:t>
            </a:r>
            <a:r>
              <a:rPr lang="da-DK" dirty="0"/>
              <a:t> and landings</a:t>
            </a:r>
            <a:endParaRPr lang="en-US" dirty="0"/>
          </a:p>
        </p:txBody>
      </p:sp>
      <p:sp>
        <p:nvSpPr>
          <p:cNvPr id="3" name="Content Placeholder 2">
            <a:extLst>
              <a:ext uri="{FF2B5EF4-FFF2-40B4-BE49-F238E27FC236}">
                <a16:creationId xmlns:a16="http://schemas.microsoft.com/office/drawing/2014/main" id="{CA4A8F4B-667C-7895-FF2F-0B4E67550CE2}"/>
              </a:ext>
            </a:extLst>
          </p:cNvPr>
          <p:cNvSpPr>
            <a:spLocks noGrp="1"/>
          </p:cNvSpPr>
          <p:nvPr>
            <p:ph sz="quarter" idx="11"/>
          </p:nvPr>
        </p:nvSpPr>
        <p:spPr/>
        <p:txBody>
          <a:bodyPr/>
          <a:lstStyle/>
          <a:p>
            <a:pPr marL="0" indent="0">
              <a:buNone/>
            </a:pPr>
            <a:r>
              <a:rPr lang="da-DK" b="1" dirty="0" err="1"/>
              <a:t>Example</a:t>
            </a:r>
            <a:r>
              <a:rPr lang="da-DK" b="1" dirty="0"/>
              <a:t>: Stock splitting</a:t>
            </a:r>
            <a:r>
              <a:rPr lang="da-DK" dirty="0"/>
              <a:t> </a:t>
            </a:r>
          </a:p>
          <a:p>
            <a:pPr marL="0" indent="0">
              <a:buNone/>
            </a:pPr>
            <a:endParaRPr lang="da-DK" dirty="0"/>
          </a:p>
          <a:p>
            <a:pPr marL="0" indent="0">
              <a:buNone/>
            </a:pPr>
            <a:r>
              <a:rPr lang="da-DK" b="1" dirty="0"/>
              <a:t>Stock splitting </a:t>
            </a:r>
            <a:r>
              <a:rPr lang="da-DK" b="1" dirty="0" err="1"/>
              <a:t>before</a:t>
            </a:r>
            <a:r>
              <a:rPr lang="da-DK" b="1" dirty="0"/>
              <a:t> submission to AWG, </a:t>
            </a:r>
            <a:r>
              <a:rPr lang="da-DK" b="1" dirty="0" err="1"/>
              <a:t>e.g</a:t>
            </a:r>
            <a:r>
              <a:rPr lang="da-DK" b="1" dirty="0"/>
              <a:t>., Norwegian spring-</a:t>
            </a:r>
            <a:r>
              <a:rPr lang="da-DK" b="1" dirty="0" err="1"/>
              <a:t>spawning</a:t>
            </a:r>
            <a:r>
              <a:rPr lang="da-DK" b="1" dirty="0"/>
              <a:t> </a:t>
            </a:r>
            <a:r>
              <a:rPr lang="da-DK" b="1" dirty="0" err="1"/>
              <a:t>herring</a:t>
            </a:r>
            <a:endParaRPr lang="da-DK" b="1" dirty="0"/>
          </a:p>
          <a:p>
            <a:pPr marL="0" indent="0">
              <a:buNone/>
            </a:pPr>
            <a:endParaRPr lang="da-DK" dirty="0"/>
          </a:p>
          <a:p>
            <a:pPr marL="0" indent="0">
              <a:buNone/>
            </a:pPr>
            <a:r>
              <a:rPr lang="da-DK" dirty="0"/>
              <a:t>As </a:t>
            </a:r>
            <a:r>
              <a:rPr lang="da-DK" dirty="0" err="1"/>
              <a:t>today</a:t>
            </a:r>
            <a:r>
              <a:rPr lang="da-DK" dirty="0"/>
              <a:t>, national </a:t>
            </a:r>
            <a:r>
              <a:rPr lang="da-DK" dirty="0" err="1"/>
              <a:t>estimators</a:t>
            </a:r>
            <a:r>
              <a:rPr lang="da-DK" dirty="0"/>
              <a:t> </a:t>
            </a:r>
            <a:r>
              <a:rPr lang="da-DK" dirty="0" err="1"/>
              <a:t>will</a:t>
            </a:r>
            <a:r>
              <a:rPr lang="da-DK" dirty="0"/>
              <a:t> </a:t>
            </a:r>
            <a:r>
              <a:rPr lang="da-DK" dirty="0" err="1"/>
              <a:t>be</a:t>
            </a:r>
            <a:r>
              <a:rPr lang="da-DK" dirty="0"/>
              <a:t> </a:t>
            </a:r>
            <a:r>
              <a:rPr lang="da-DK" dirty="0" err="1"/>
              <a:t>responsible</a:t>
            </a:r>
            <a:r>
              <a:rPr lang="da-DK" dirty="0"/>
              <a:t> for the </a:t>
            </a:r>
            <a:r>
              <a:rPr lang="da-DK" dirty="0" err="1"/>
              <a:t>stock</a:t>
            </a:r>
            <a:r>
              <a:rPr lang="da-DK" dirty="0"/>
              <a:t> splitting. The </a:t>
            </a:r>
            <a:r>
              <a:rPr lang="da-DK" dirty="0" err="1"/>
              <a:t>stock</a:t>
            </a:r>
            <a:r>
              <a:rPr lang="da-DK" dirty="0"/>
              <a:t> splitting  </a:t>
            </a:r>
            <a:r>
              <a:rPr lang="da-DK" dirty="0" err="1"/>
              <a:t>should</a:t>
            </a:r>
            <a:r>
              <a:rPr lang="da-DK" dirty="0"/>
              <a:t> </a:t>
            </a:r>
            <a:r>
              <a:rPr lang="da-DK" dirty="0" err="1"/>
              <a:t>be</a:t>
            </a:r>
            <a:r>
              <a:rPr lang="da-DK" dirty="0"/>
              <a:t> done, and </a:t>
            </a:r>
            <a:r>
              <a:rPr lang="da-DK" dirty="0" err="1"/>
              <a:t>documented</a:t>
            </a:r>
            <a:r>
              <a:rPr lang="da-DK" dirty="0"/>
              <a:t>,  in TAF. The RDBES CL do not support information </a:t>
            </a:r>
            <a:r>
              <a:rPr lang="da-DK" dirty="0" err="1"/>
              <a:t>about</a:t>
            </a:r>
            <a:r>
              <a:rPr lang="da-DK" dirty="0"/>
              <a:t> </a:t>
            </a:r>
            <a:r>
              <a:rPr lang="da-DK" dirty="0" err="1"/>
              <a:t>stock</a:t>
            </a:r>
            <a:r>
              <a:rPr lang="da-DK" dirty="0"/>
              <a:t>.</a:t>
            </a:r>
          </a:p>
          <a:p>
            <a:pPr marL="0" indent="0">
              <a:buNone/>
            </a:pPr>
            <a:endParaRPr lang="da-DK" dirty="0"/>
          </a:p>
          <a:p>
            <a:pPr marL="0" indent="0">
              <a:buNone/>
            </a:pPr>
            <a:r>
              <a:rPr lang="da-DK" b="1" dirty="0"/>
              <a:t>Stock splitting </a:t>
            </a:r>
            <a:r>
              <a:rPr lang="da-DK" b="1" dirty="0" err="1"/>
              <a:t>within</a:t>
            </a:r>
            <a:r>
              <a:rPr lang="da-DK" b="1" dirty="0"/>
              <a:t> AWG, </a:t>
            </a:r>
            <a:r>
              <a:rPr lang="da-DK" b="1" dirty="0" err="1"/>
              <a:t>e.g</a:t>
            </a:r>
            <a:r>
              <a:rPr lang="da-DK" b="1" dirty="0"/>
              <a:t>., Western </a:t>
            </a:r>
            <a:r>
              <a:rPr lang="da-DK" b="1" dirty="0" err="1"/>
              <a:t>Baltic</a:t>
            </a:r>
            <a:r>
              <a:rPr lang="da-DK" b="1" dirty="0"/>
              <a:t> spring-</a:t>
            </a:r>
            <a:r>
              <a:rPr lang="da-DK" b="1" dirty="0" err="1"/>
              <a:t>spawning</a:t>
            </a:r>
            <a:r>
              <a:rPr lang="da-DK" b="1" dirty="0"/>
              <a:t> </a:t>
            </a:r>
            <a:r>
              <a:rPr lang="da-DK" b="1" dirty="0" err="1"/>
              <a:t>herring</a:t>
            </a:r>
            <a:endParaRPr lang="da-DK" b="1" dirty="0"/>
          </a:p>
          <a:p>
            <a:pPr marL="0" indent="0">
              <a:buNone/>
            </a:pPr>
            <a:r>
              <a:rPr lang="da-DK" dirty="0"/>
              <a:t>Stock </a:t>
            </a:r>
            <a:r>
              <a:rPr lang="da-DK" dirty="0" err="1"/>
              <a:t>coordinator</a:t>
            </a:r>
            <a:r>
              <a:rPr lang="da-DK" dirty="0"/>
              <a:t> </a:t>
            </a:r>
            <a:r>
              <a:rPr lang="da-DK" dirty="0" err="1"/>
              <a:t>will</a:t>
            </a:r>
            <a:r>
              <a:rPr lang="da-DK" dirty="0"/>
              <a:t> </a:t>
            </a:r>
            <a:r>
              <a:rPr lang="da-DK" dirty="0" err="1"/>
              <a:t>be</a:t>
            </a:r>
            <a:r>
              <a:rPr lang="da-DK" dirty="0"/>
              <a:t> </a:t>
            </a:r>
            <a:r>
              <a:rPr lang="da-DK" dirty="0" err="1"/>
              <a:t>responsible</a:t>
            </a:r>
            <a:r>
              <a:rPr lang="da-DK" dirty="0"/>
              <a:t> for the </a:t>
            </a:r>
            <a:r>
              <a:rPr lang="da-DK" dirty="0" err="1"/>
              <a:t>stock</a:t>
            </a:r>
            <a:r>
              <a:rPr lang="da-DK" dirty="0"/>
              <a:t> splitting. The </a:t>
            </a:r>
            <a:r>
              <a:rPr lang="da-DK" dirty="0" err="1"/>
              <a:t>stock</a:t>
            </a:r>
            <a:r>
              <a:rPr lang="da-DK" dirty="0"/>
              <a:t> splitting  </a:t>
            </a:r>
            <a:r>
              <a:rPr lang="da-DK" dirty="0" err="1"/>
              <a:t>should</a:t>
            </a:r>
            <a:r>
              <a:rPr lang="da-DK" dirty="0"/>
              <a:t> </a:t>
            </a:r>
            <a:r>
              <a:rPr lang="da-DK" dirty="0" err="1"/>
              <a:t>be</a:t>
            </a:r>
            <a:r>
              <a:rPr lang="da-DK" dirty="0"/>
              <a:t> done, and </a:t>
            </a:r>
            <a:r>
              <a:rPr lang="da-DK" dirty="0" err="1"/>
              <a:t>documented</a:t>
            </a:r>
            <a:r>
              <a:rPr lang="da-DK" dirty="0"/>
              <a:t>,  in TAF.  </a:t>
            </a:r>
          </a:p>
          <a:p>
            <a:pPr marL="0" indent="0">
              <a:buNone/>
            </a:pPr>
            <a:endParaRPr lang="da-DK" dirty="0"/>
          </a:p>
          <a:p>
            <a:pPr marL="0" indent="0">
              <a:buNone/>
            </a:pPr>
            <a:endParaRPr lang="da-DK" dirty="0"/>
          </a:p>
          <a:p>
            <a:pPr marL="0" indent="0">
              <a:buNone/>
            </a:pPr>
            <a:endParaRPr lang="en-US" dirty="0"/>
          </a:p>
        </p:txBody>
      </p:sp>
    </p:spTree>
    <p:extLst>
      <p:ext uri="{BB962C8B-B14F-4D97-AF65-F5344CB8AC3E}">
        <p14:creationId xmlns:p14="http://schemas.microsoft.com/office/powerpoint/2010/main" val="768240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FFE10-FF12-4545-B6E8-8FF3072D9188}"/>
              </a:ext>
            </a:extLst>
          </p:cNvPr>
          <p:cNvSpPr>
            <a:spLocks noGrp="1"/>
          </p:cNvSpPr>
          <p:nvPr>
            <p:ph type="title"/>
          </p:nvPr>
        </p:nvSpPr>
        <p:spPr/>
        <p:txBody>
          <a:bodyPr/>
          <a:lstStyle/>
          <a:p>
            <a:r>
              <a:rPr lang="da-DK" dirty="0"/>
              <a:t>Official vs. </a:t>
            </a:r>
            <a:r>
              <a:rPr lang="da-DK" dirty="0" err="1"/>
              <a:t>scientific</a:t>
            </a:r>
            <a:r>
              <a:rPr lang="da-DK" dirty="0"/>
              <a:t> </a:t>
            </a:r>
            <a:r>
              <a:rPr lang="da-DK" dirty="0" err="1"/>
              <a:t>effort</a:t>
            </a:r>
            <a:r>
              <a:rPr lang="da-DK" dirty="0"/>
              <a:t> and landings</a:t>
            </a:r>
            <a:endParaRPr lang="en-GB" dirty="0"/>
          </a:p>
        </p:txBody>
      </p:sp>
      <p:sp>
        <p:nvSpPr>
          <p:cNvPr id="3" name="Content Placeholder 2">
            <a:extLst>
              <a:ext uri="{FF2B5EF4-FFF2-40B4-BE49-F238E27FC236}">
                <a16:creationId xmlns:a16="http://schemas.microsoft.com/office/drawing/2014/main" id="{CB378C82-2B3F-4998-AD43-F6F7F2D1FF2E}"/>
              </a:ext>
            </a:extLst>
          </p:cNvPr>
          <p:cNvSpPr>
            <a:spLocks noGrp="1"/>
          </p:cNvSpPr>
          <p:nvPr>
            <p:ph sz="quarter" idx="12"/>
          </p:nvPr>
        </p:nvSpPr>
        <p:spPr/>
        <p:txBody>
          <a:bodyPr/>
          <a:lstStyle/>
          <a:p>
            <a:pPr marL="0" indent="0">
              <a:buNone/>
            </a:pPr>
            <a:endParaRPr lang="da-DK" dirty="0"/>
          </a:p>
          <a:p>
            <a:pPr marL="0" indent="0">
              <a:buNone/>
            </a:pPr>
            <a:r>
              <a:rPr lang="da-DK" dirty="0"/>
              <a:t>In the </a:t>
            </a:r>
            <a:r>
              <a:rPr lang="da-DK" dirty="0" err="1"/>
              <a:t>field</a:t>
            </a:r>
            <a:r>
              <a:rPr lang="da-DK" dirty="0"/>
              <a:t> ‘</a:t>
            </a:r>
            <a:r>
              <a:rPr lang="da-DK" dirty="0" err="1"/>
              <a:t>DifferenceReason</a:t>
            </a:r>
            <a:r>
              <a:rPr lang="da-DK" dirty="0"/>
              <a:t>’ in CL </a:t>
            </a:r>
            <a:r>
              <a:rPr lang="da-DK" dirty="0" err="1"/>
              <a:t>there</a:t>
            </a:r>
            <a:r>
              <a:rPr lang="da-DK" dirty="0"/>
              <a:t> </a:t>
            </a:r>
            <a:r>
              <a:rPr lang="da-DK" dirty="0" err="1"/>
              <a:t>are</a:t>
            </a:r>
            <a:r>
              <a:rPr lang="da-DK" dirty="0"/>
              <a:t> </a:t>
            </a:r>
            <a:r>
              <a:rPr lang="da-DK" dirty="0" err="1"/>
              <a:t>different</a:t>
            </a:r>
            <a:r>
              <a:rPr lang="da-DK" dirty="0"/>
              <a:t> options to </a:t>
            </a:r>
            <a:r>
              <a:rPr lang="da-DK" dirty="0" err="1"/>
              <a:t>specifiy</a:t>
            </a:r>
            <a:r>
              <a:rPr lang="da-DK" dirty="0"/>
              <a:t> the </a:t>
            </a:r>
            <a:r>
              <a:rPr lang="da-DK" dirty="0" err="1"/>
              <a:t>reason</a:t>
            </a:r>
            <a:r>
              <a:rPr lang="da-DK" dirty="0"/>
              <a:t> for a difference </a:t>
            </a:r>
            <a:r>
              <a:rPr lang="da-DK" dirty="0" err="1"/>
              <a:t>between</a:t>
            </a:r>
            <a:r>
              <a:rPr lang="da-DK" dirty="0"/>
              <a:t> official and </a:t>
            </a:r>
            <a:r>
              <a:rPr lang="da-DK" dirty="0" err="1"/>
              <a:t>scientific</a:t>
            </a:r>
            <a:r>
              <a:rPr lang="da-DK" dirty="0"/>
              <a:t> landings. </a:t>
            </a:r>
          </a:p>
          <a:p>
            <a:endParaRPr lang="en-GB" dirty="0"/>
          </a:p>
        </p:txBody>
      </p:sp>
      <p:sp>
        <p:nvSpPr>
          <p:cNvPr id="7" name="Content Placeholder 6">
            <a:extLst>
              <a:ext uri="{FF2B5EF4-FFF2-40B4-BE49-F238E27FC236}">
                <a16:creationId xmlns:a16="http://schemas.microsoft.com/office/drawing/2014/main" id="{4DBFC647-5ABC-94E7-F7A3-EFE51497406F}"/>
              </a:ext>
            </a:extLst>
          </p:cNvPr>
          <p:cNvSpPr>
            <a:spLocks noGrp="1"/>
          </p:cNvSpPr>
          <p:nvPr>
            <p:ph sz="quarter" idx="13"/>
          </p:nvPr>
        </p:nvSpPr>
        <p:spPr/>
        <p:txBody>
          <a:bodyPr/>
          <a:lstStyle/>
          <a:p>
            <a:endParaRPr lang="en-US"/>
          </a:p>
        </p:txBody>
      </p:sp>
      <p:pic>
        <p:nvPicPr>
          <p:cNvPr id="6" name="Picture 5">
            <a:extLst>
              <a:ext uri="{FF2B5EF4-FFF2-40B4-BE49-F238E27FC236}">
                <a16:creationId xmlns:a16="http://schemas.microsoft.com/office/drawing/2014/main" id="{4D5DF939-1BB0-93AD-01F9-A14292BDAD89}"/>
              </a:ext>
            </a:extLst>
          </p:cNvPr>
          <p:cNvPicPr>
            <a:picLocks noChangeAspect="1"/>
          </p:cNvPicPr>
          <p:nvPr/>
        </p:nvPicPr>
        <p:blipFill>
          <a:blip r:embed="rId2"/>
          <a:stretch>
            <a:fillRect/>
          </a:stretch>
        </p:blipFill>
        <p:spPr>
          <a:xfrm>
            <a:off x="5810251" y="1825624"/>
            <a:ext cx="5600700" cy="4171279"/>
          </a:xfrm>
          <a:prstGeom prst="rect">
            <a:avLst/>
          </a:prstGeom>
        </p:spPr>
      </p:pic>
    </p:spTree>
    <p:extLst>
      <p:ext uri="{BB962C8B-B14F-4D97-AF65-F5344CB8AC3E}">
        <p14:creationId xmlns:p14="http://schemas.microsoft.com/office/powerpoint/2010/main" val="580436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FE7A9-DF4D-D7BF-4E6D-4498DC4DBA24}"/>
              </a:ext>
            </a:extLst>
          </p:cNvPr>
          <p:cNvSpPr>
            <a:spLocks noGrp="1"/>
          </p:cNvSpPr>
          <p:nvPr>
            <p:ph type="title"/>
          </p:nvPr>
        </p:nvSpPr>
        <p:spPr/>
        <p:txBody>
          <a:bodyPr>
            <a:normAutofit fontScale="90000"/>
          </a:bodyPr>
          <a:lstStyle/>
          <a:p>
            <a:r>
              <a:rPr lang="en-US" dirty="0"/>
              <a:t>Overwriting rules</a:t>
            </a:r>
            <a:br>
              <a:rPr lang="en-US" dirty="0"/>
            </a:br>
            <a:r>
              <a:rPr lang="en-US" dirty="0"/>
              <a:t>- Beware</a:t>
            </a:r>
          </a:p>
        </p:txBody>
      </p:sp>
      <p:sp>
        <p:nvSpPr>
          <p:cNvPr id="3" name="Content Placeholder 2">
            <a:extLst>
              <a:ext uri="{FF2B5EF4-FFF2-40B4-BE49-F238E27FC236}">
                <a16:creationId xmlns:a16="http://schemas.microsoft.com/office/drawing/2014/main" id="{BAB1CA15-CA1F-6A77-4DEE-37B6EFE54B42}"/>
              </a:ext>
            </a:extLst>
          </p:cNvPr>
          <p:cNvSpPr>
            <a:spLocks noGrp="1"/>
          </p:cNvSpPr>
          <p:nvPr>
            <p:ph sz="quarter" idx="12"/>
          </p:nvPr>
        </p:nvSpPr>
        <p:spPr/>
        <p:txBody>
          <a:bodyPr>
            <a:normAutofit lnSpcReduction="10000"/>
          </a:bodyPr>
          <a:lstStyle/>
          <a:p>
            <a:pPr marL="0" indent="0">
              <a:lnSpc>
                <a:spcPct val="107000"/>
              </a:lnSpc>
              <a:spcAft>
                <a:spcPts val="800"/>
              </a:spcAft>
              <a:buNone/>
            </a:pPr>
            <a:r>
              <a:rPr lang="en-GB" sz="2000" b="1" dirty="0">
                <a:effectLst/>
                <a:latin typeface="Calibri" panose="020F0502020204030204" pitchFamily="34" charset="0"/>
                <a:ea typeface="Calibri" panose="020F0502020204030204" pitchFamily="34" charset="0"/>
                <a:cs typeface="Times New Roman" panose="02020603050405020304" pitchFamily="18" charset="0"/>
              </a:rPr>
              <a:t>“Commercial Landing and Effort data</a:t>
            </a:r>
            <a:endParaRPr lang="da-DK"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GB" sz="2000" dirty="0">
                <a:effectLst/>
                <a:latin typeface="Calibri" panose="020F0502020204030204" pitchFamily="34" charset="0"/>
                <a:ea typeface="Calibri" panose="020F0502020204030204" pitchFamily="34" charset="0"/>
                <a:cs typeface="Times New Roman" panose="02020603050405020304" pitchFamily="18" charset="0"/>
              </a:rPr>
              <a:t>For data corrections for Commercial Landing and Effort data, data will be overwritten with the latest data upload with a combination of all the key fields:</a:t>
            </a:r>
            <a:endParaRPr lang="da-DK" sz="20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pPr>
            <a:r>
              <a:rPr lang="en-GB" sz="2000" dirty="0">
                <a:effectLst/>
                <a:latin typeface="Calibri" panose="020F0502020204030204" pitchFamily="34" charset="0"/>
                <a:ea typeface="Calibri" panose="020F0502020204030204" pitchFamily="34" charset="0"/>
                <a:cs typeface="Times New Roman" panose="02020603050405020304" pitchFamily="18" charset="0"/>
              </a:rPr>
              <a:t>See all key fields for CL and CE”</a:t>
            </a:r>
          </a:p>
          <a:p>
            <a:pPr marL="0" lvl="0" indent="0">
              <a:lnSpc>
                <a:spcPct val="107000"/>
              </a:lnSpc>
              <a:spcAft>
                <a:spcPts val="800"/>
              </a:spcAft>
              <a:buNone/>
            </a:pPr>
            <a:endParaRPr lang="en-GB" dirty="0">
              <a:latin typeface="Calibri" panose="020F0502020204030204" pitchFamily="34" charset="0"/>
              <a:ea typeface="Calibri" panose="020F0502020204030204" pitchFamily="34" charset="0"/>
              <a:cs typeface="Times New Roman" panose="02020603050405020304" pitchFamily="18" charset="0"/>
            </a:endParaRPr>
          </a:p>
          <a:p>
            <a:pPr marL="0" lvl="0" indent="0">
              <a:lnSpc>
                <a:spcPct val="107000"/>
              </a:lnSpc>
              <a:spcAft>
                <a:spcPts val="800"/>
              </a:spcAft>
              <a:buNone/>
            </a:pPr>
            <a:r>
              <a:rPr lang="en-GB" sz="2000" dirty="0">
                <a:effectLst/>
                <a:latin typeface="Calibri" panose="020F0502020204030204" pitchFamily="34" charset="0"/>
                <a:ea typeface="Calibri" panose="020F0502020204030204" pitchFamily="34" charset="0"/>
                <a:cs typeface="Times New Roman" panose="02020603050405020304" pitchFamily="18" charset="0"/>
              </a:rPr>
              <a:t>To be on the safe side</a:t>
            </a:r>
            <a:r>
              <a:rPr lang="en-GB" dirty="0">
                <a:latin typeface="Calibri" panose="020F0502020204030204" pitchFamily="34" charset="0"/>
                <a:ea typeface="Calibri" panose="020F0502020204030204" pitchFamily="34" charset="0"/>
                <a:cs typeface="Times New Roman" panose="02020603050405020304" pitchFamily="18" charset="0"/>
              </a:rPr>
              <a:t>, then </a:t>
            </a:r>
            <a:r>
              <a:rPr lang="en-GB" b="1" dirty="0">
                <a:latin typeface="Calibri" panose="020F0502020204030204" pitchFamily="34" charset="0"/>
                <a:ea typeface="Calibri" panose="020F0502020204030204" pitchFamily="34" charset="0"/>
                <a:cs typeface="Times New Roman" panose="02020603050405020304" pitchFamily="18" charset="0"/>
              </a:rPr>
              <a:t>delete </a:t>
            </a:r>
            <a:r>
              <a:rPr lang="en-GB" dirty="0">
                <a:latin typeface="Calibri" panose="020F0502020204030204" pitchFamily="34" charset="0"/>
                <a:ea typeface="Calibri" panose="020F0502020204030204" pitchFamily="34" charset="0"/>
                <a:cs typeface="Times New Roman" panose="02020603050405020304" pitchFamily="18" charset="0"/>
              </a:rPr>
              <a:t>before updating</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29BAC915-5E89-8C72-B542-68F1474B9147}"/>
              </a:ext>
            </a:extLst>
          </p:cNvPr>
          <p:cNvSpPr>
            <a:spLocks noGrp="1"/>
          </p:cNvSpPr>
          <p:nvPr>
            <p:ph sz="quarter" idx="13"/>
          </p:nvPr>
        </p:nvSpPr>
        <p:spPr/>
        <p:txBody>
          <a:bodyPr/>
          <a:lstStyle/>
          <a:p>
            <a:endParaRPr lang="en-US" dirty="0"/>
          </a:p>
        </p:txBody>
      </p:sp>
      <p:graphicFrame>
        <p:nvGraphicFramePr>
          <p:cNvPr id="7" name="Content Placeholder 7">
            <a:extLst>
              <a:ext uri="{FF2B5EF4-FFF2-40B4-BE49-F238E27FC236}">
                <a16:creationId xmlns:a16="http://schemas.microsoft.com/office/drawing/2014/main" id="{0CEA5F40-E85D-B1A9-C532-C81D3B33D6E2}"/>
              </a:ext>
            </a:extLst>
          </p:cNvPr>
          <p:cNvGraphicFramePr>
            <a:graphicFrameLocks/>
          </p:cNvGraphicFramePr>
          <p:nvPr/>
        </p:nvGraphicFramePr>
        <p:xfrm>
          <a:off x="5810250" y="624264"/>
          <a:ext cx="3600399" cy="5427620"/>
        </p:xfrm>
        <a:graphic>
          <a:graphicData uri="http://schemas.openxmlformats.org/drawingml/2006/table">
            <a:tbl>
              <a:tblPr>
                <a:tableStyleId>{00A15C55-8517-42AA-B614-E9B94910E393}</a:tableStyleId>
              </a:tblPr>
              <a:tblGrid>
                <a:gridCol w="709171">
                  <a:extLst>
                    <a:ext uri="{9D8B030D-6E8A-4147-A177-3AD203B41FA5}">
                      <a16:colId xmlns:a16="http://schemas.microsoft.com/office/drawing/2014/main" val="696138807"/>
                    </a:ext>
                  </a:extLst>
                </a:gridCol>
                <a:gridCol w="1159220">
                  <a:extLst>
                    <a:ext uri="{9D8B030D-6E8A-4147-A177-3AD203B41FA5}">
                      <a16:colId xmlns:a16="http://schemas.microsoft.com/office/drawing/2014/main" val="1471778548"/>
                    </a:ext>
                  </a:extLst>
                </a:gridCol>
                <a:gridCol w="1732008">
                  <a:extLst>
                    <a:ext uri="{9D8B030D-6E8A-4147-A177-3AD203B41FA5}">
                      <a16:colId xmlns:a16="http://schemas.microsoft.com/office/drawing/2014/main" val="2527667678"/>
                    </a:ext>
                  </a:extLst>
                </a:gridCol>
              </a:tblGrid>
              <a:tr h="36000">
                <a:tc>
                  <a:txBody>
                    <a:bodyPr/>
                    <a:lstStyle/>
                    <a:p>
                      <a:pPr algn="l" fontAlgn="b"/>
                      <a:r>
                        <a:rPr lang="da-DK" sz="800" u="none" strike="noStrike">
                          <a:effectLst/>
                        </a:rPr>
                        <a:t>Unique combination of fields</a:t>
                      </a:r>
                      <a:endParaRPr lang="da-DK" sz="800" b="1" i="0" u="none" strike="noStrike">
                        <a:solidFill>
                          <a:srgbClr val="000000"/>
                        </a:solidFill>
                        <a:effectLst/>
                        <a:latin typeface="Calibri" panose="020F0502020204030204" pitchFamily="34" charset="0"/>
                      </a:endParaRPr>
                    </a:p>
                  </a:txBody>
                  <a:tcPr marL="1804" marR="1804" marT="1804" marB="0" anchor="b"/>
                </a:tc>
                <a:tc>
                  <a:txBody>
                    <a:bodyPr/>
                    <a:lstStyle/>
                    <a:p>
                      <a:pPr algn="l" fontAlgn="b"/>
                      <a:r>
                        <a:rPr lang="da-DK" sz="800" u="none" strike="noStrike">
                          <a:effectLst/>
                        </a:rPr>
                        <a:t>Field Name Description</a:t>
                      </a:r>
                      <a:endParaRPr lang="da-DK" sz="800" b="1" i="0" u="none" strike="noStrike">
                        <a:solidFill>
                          <a:srgbClr val="000000"/>
                        </a:solidFill>
                        <a:effectLst/>
                        <a:latin typeface="Calibri" panose="020F0502020204030204" pitchFamily="34" charset="0"/>
                      </a:endParaRPr>
                    </a:p>
                  </a:txBody>
                  <a:tcPr marL="1804" marR="1804" marT="1804" marB="0" anchor="b"/>
                </a:tc>
                <a:tc>
                  <a:txBody>
                    <a:bodyPr/>
                    <a:lstStyle/>
                    <a:p>
                      <a:pPr algn="l" fontAlgn="b"/>
                      <a:r>
                        <a:rPr lang="da-DK" sz="800" u="none" strike="noStrike">
                          <a:effectLst/>
                        </a:rPr>
                        <a:t>Field Name</a:t>
                      </a:r>
                      <a:endParaRPr lang="da-DK" sz="800" b="1" i="0" u="none" strike="noStrike">
                        <a:solidFill>
                          <a:srgbClr val="000000"/>
                        </a:solidFill>
                        <a:effectLst/>
                        <a:latin typeface="Calibri" panose="020F0502020204030204" pitchFamily="34" charset="0"/>
                      </a:endParaRPr>
                    </a:p>
                  </a:txBody>
                  <a:tcPr marL="1804" marR="1804" marT="1804" marB="0" anchor="b"/>
                </a:tc>
                <a:extLst>
                  <a:ext uri="{0D108BD9-81ED-4DB2-BD59-A6C34878D82A}">
                    <a16:rowId xmlns:a16="http://schemas.microsoft.com/office/drawing/2014/main" val="1924443937"/>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en-US" sz="800" u="none" strike="noStrike" dirty="0">
                          <a:effectLst/>
                        </a:rPr>
                        <a:t>Data type of scientific weight</a:t>
                      </a:r>
                      <a:endParaRPr lang="en-US" sz="800" b="0" i="0" u="none" strike="noStrike" dirty="0">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CLdataTypeOfScientificWeight</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1808088872"/>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en-US" sz="800" u="none" strike="noStrike">
                          <a:effectLst/>
                        </a:rPr>
                        <a:t>Data source of scientific weight</a:t>
                      </a:r>
                      <a:endParaRPr lang="en-US"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CLdataSourceOfScientificWeight</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2207156375"/>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b"/>
                      <a:r>
                        <a:rPr lang="da-DK" sz="800" u="none" strike="noStrike">
                          <a:effectLst/>
                        </a:rPr>
                        <a:t>Sampling scheme</a:t>
                      </a:r>
                      <a:endParaRPr lang="da-DK" sz="800" b="0" i="0" u="none" strike="noStrike">
                        <a:solidFill>
                          <a:srgbClr val="000000"/>
                        </a:solidFill>
                        <a:effectLst/>
                        <a:latin typeface="Calibri" panose="020F0502020204030204" pitchFamily="34" charset="0"/>
                      </a:endParaRPr>
                    </a:p>
                  </a:txBody>
                  <a:tcPr marL="1804" marR="1804" marT="1804" marB="0" anchor="b"/>
                </a:tc>
                <a:tc>
                  <a:txBody>
                    <a:bodyPr/>
                    <a:lstStyle/>
                    <a:p>
                      <a:pPr algn="l" fontAlgn="b"/>
                      <a:r>
                        <a:rPr lang="da-DK" sz="800" u="none" strike="noStrike">
                          <a:effectLst/>
                        </a:rPr>
                        <a:t>CLsamplingScheme</a:t>
                      </a:r>
                      <a:endParaRPr lang="da-DK" sz="800" b="0" i="0" u="none" strike="noStrike">
                        <a:solidFill>
                          <a:srgbClr val="000000"/>
                        </a:solidFill>
                        <a:effectLst/>
                        <a:latin typeface="Calibri" panose="020F0502020204030204" pitchFamily="34" charset="0"/>
                      </a:endParaRPr>
                    </a:p>
                  </a:txBody>
                  <a:tcPr marL="1804" marR="1804" marT="1804" marB="0" anchor="b"/>
                </a:tc>
                <a:extLst>
                  <a:ext uri="{0D108BD9-81ED-4DB2-BD59-A6C34878D82A}">
                    <a16:rowId xmlns:a16="http://schemas.microsoft.com/office/drawing/2014/main" val="2369841020"/>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Data source landings value</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CLdataSourceLandingsValue</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2244229783"/>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Landing country</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CLlandingCountry</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3332240196"/>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Vessel flag country</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CLvesselFlagCountry</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1245225785"/>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Year</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CLyear</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3140383885"/>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Quarter</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CLquarter</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2758575112"/>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Month</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CLmonth</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1728726531"/>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Area</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CLarea</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69976639"/>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Statistical rectangle</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CLstatisticalRectangle</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2519885985"/>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Fisheries management unit</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CLfisheriesManagementUnit</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2194123505"/>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GSA subarea</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CLgsaSubarea</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2613637253"/>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Jurisdiction area</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CLjurisdictionArea</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1179751960"/>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Fishing area category </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CLfishingAreaCategory</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1235500501"/>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Fresh water name</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CLfreshWaterName</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2073130373"/>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Exclusive Economic Zone</a:t>
                      </a:r>
                      <a:r>
                        <a:rPr lang="da-DK" sz="800" u="none" strike="sngStrike">
                          <a:effectLst/>
                        </a:rPr>
                        <a:t> </a:t>
                      </a:r>
                      <a:r>
                        <a:rPr lang="da-DK" sz="800" u="none" strike="noStrike">
                          <a:effectLst/>
                        </a:rPr>
                        <a:t>(EEZ)</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CLexclusiveEconomicZone</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1410048755"/>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Species code</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CLspeciesCode</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4265430801"/>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Landing category</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CLlandingCategory</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2107294384"/>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Catch category</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CLcatchCategory</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2419271816"/>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Logbook registered discard category</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CLregDisCategory</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2568052159"/>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Commercial  size category scale</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CLcommercialSizeCategoryScale</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3051106129"/>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Commercial size category</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CLcommercialSizeCategory</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1792876092"/>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National fishing activity</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CLnationalFishingActivity</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2642755166"/>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Metier 6 fishing activity</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CLmetier6</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614273930"/>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en-US" sz="800" u="none" strike="noStrike">
                          <a:effectLst/>
                        </a:rPr>
                        <a:t>Incidential by catch mitigation device</a:t>
                      </a:r>
                      <a:endParaRPr lang="en-US"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CLincidentalByCatchMitigationDevice</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189335693"/>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Landing location</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CLlandingLocation</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4255687545"/>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Vessel length category</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CLvesselLengthCategory</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2061099789"/>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Fishing Technique</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CLfishingTechnique</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3706481059"/>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Mesh size range</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CLmeshSizeRange</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4103042169"/>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Supra Region</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CLsupraRegion</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2638231526"/>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Geographical indicator</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CLgeoIndicator</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2332252216"/>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en-US" sz="800" u="none" strike="noStrike">
                          <a:effectLst/>
                        </a:rPr>
                        <a:t>Specific conditions to technical measures</a:t>
                      </a:r>
                      <a:endParaRPr lang="en-US"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a:effectLst/>
                        </a:rPr>
                        <a:t>CLspecificConditionsTechnical</a:t>
                      </a:r>
                      <a:endParaRPr lang="da-DK" sz="800" b="0" i="0" u="none" strike="noStrike">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4088364393"/>
                  </a:ext>
                </a:extLst>
              </a:tr>
              <a:tr h="3600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1804" marR="1804" marT="1804" marB="0" anchor="b"/>
                </a:tc>
                <a:tc>
                  <a:txBody>
                    <a:bodyPr/>
                    <a:lstStyle/>
                    <a:p>
                      <a:pPr algn="l" fontAlgn="ctr"/>
                      <a:r>
                        <a:rPr lang="da-DK" sz="800" u="none" strike="noStrike">
                          <a:effectLst/>
                        </a:rPr>
                        <a:t>Deep Sea Regulation</a:t>
                      </a:r>
                      <a:endParaRPr lang="da-DK" sz="800" b="0" i="0" u="none" strike="noStrike">
                        <a:solidFill>
                          <a:srgbClr val="000000"/>
                        </a:solidFill>
                        <a:effectLst/>
                        <a:latin typeface="Calibri Light" panose="020F0302020204030204" pitchFamily="34" charset="0"/>
                      </a:endParaRPr>
                    </a:p>
                  </a:txBody>
                  <a:tcPr marL="1804" marR="1804" marT="1804" marB="0" anchor="ctr"/>
                </a:tc>
                <a:tc>
                  <a:txBody>
                    <a:bodyPr/>
                    <a:lstStyle/>
                    <a:p>
                      <a:pPr algn="l" fontAlgn="ctr"/>
                      <a:r>
                        <a:rPr lang="da-DK" sz="800" u="none" strike="noStrike" dirty="0" err="1">
                          <a:effectLst/>
                        </a:rPr>
                        <a:t>CLdeepSeaRegulation</a:t>
                      </a:r>
                      <a:endParaRPr lang="da-DK" sz="800" b="0" i="0" u="none" strike="noStrike" dirty="0">
                        <a:solidFill>
                          <a:srgbClr val="000000"/>
                        </a:solidFill>
                        <a:effectLst/>
                        <a:latin typeface="Calibri Light" panose="020F0302020204030204" pitchFamily="34" charset="0"/>
                      </a:endParaRPr>
                    </a:p>
                  </a:txBody>
                  <a:tcPr marL="1804" marR="1804" marT="1804" marB="0" anchor="ctr"/>
                </a:tc>
                <a:extLst>
                  <a:ext uri="{0D108BD9-81ED-4DB2-BD59-A6C34878D82A}">
                    <a16:rowId xmlns:a16="http://schemas.microsoft.com/office/drawing/2014/main" val="3886470467"/>
                  </a:ext>
                </a:extLst>
              </a:tr>
            </a:tbl>
          </a:graphicData>
        </a:graphic>
      </p:graphicFrame>
      <p:graphicFrame>
        <p:nvGraphicFramePr>
          <p:cNvPr id="8" name="Table 7">
            <a:extLst>
              <a:ext uri="{FF2B5EF4-FFF2-40B4-BE49-F238E27FC236}">
                <a16:creationId xmlns:a16="http://schemas.microsoft.com/office/drawing/2014/main" id="{EA9A5337-F332-1C63-AB05-92C71BCE39F3}"/>
              </a:ext>
            </a:extLst>
          </p:cNvPr>
          <p:cNvGraphicFramePr>
            <a:graphicFrameLocks noGrp="1"/>
          </p:cNvGraphicFramePr>
          <p:nvPr/>
        </p:nvGraphicFramePr>
        <p:xfrm>
          <a:off x="8467423" y="1841750"/>
          <a:ext cx="3076877" cy="4210134"/>
        </p:xfrm>
        <a:graphic>
          <a:graphicData uri="http://schemas.openxmlformats.org/drawingml/2006/table">
            <a:tbl>
              <a:tblPr>
                <a:tableStyleId>{93296810-A885-4BE3-A3E7-6D5BEEA58F35}</a:tableStyleId>
              </a:tblPr>
              <a:tblGrid>
                <a:gridCol w="642130">
                  <a:extLst>
                    <a:ext uri="{9D8B030D-6E8A-4147-A177-3AD203B41FA5}">
                      <a16:colId xmlns:a16="http://schemas.microsoft.com/office/drawing/2014/main" val="1276392474"/>
                    </a:ext>
                  </a:extLst>
                </a:gridCol>
                <a:gridCol w="976575">
                  <a:extLst>
                    <a:ext uri="{9D8B030D-6E8A-4147-A177-3AD203B41FA5}">
                      <a16:colId xmlns:a16="http://schemas.microsoft.com/office/drawing/2014/main" val="1604171477"/>
                    </a:ext>
                  </a:extLst>
                </a:gridCol>
                <a:gridCol w="1458172">
                  <a:extLst>
                    <a:ext uri="{9D8B030D-6E8A-4147-A177-3AD203B41FA5}">
                      <a16:colId xmlns:a16="http://schemas.microsoft.com/office/drawing/2014/main" val="2804354133"/>
                    </a:ext>
                  </a:extLst>
                </a:gridCol>
              </a:tblGrid>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a:effectLst/>
                        </a:rPr>
                        <a:t>Record type</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b"/>
                      <a:r>
                        <a:rPr lang="da-DK" sz="800" u="none" strike="noStrike">
                          <a:effectLst/>
                        </a:rPr>
                        <a:t>CErecordType</a:t>
                      </a:r>
                      <a:endParaRPr lang="da-DK" sz="800" b="0" i="0" u="none" strike="noStrike">
                        <a:solidFill>
                          <a:srgbClr val="000000"/>
                        </a:solidFill>
                        <a:effectLst/>
                        <a:latin typeface="Calibri" panose="020F0502020204030204" pitchFamily="34" charset="0"/>
                      </a:endParaRPr>
                    </a:p>
                  </a:txBody>
                  <a:tcPr marL="2402" marR="2402" marT="2402" marB="0" anchor="b"/>
                </a:tc>
                <a:extLst>
                  <a:ext uri="{0D108BD9-81ED-4DB2-BD59-A6C34878D82A}">
                    <a16:rowId xmlns:a16="http://schemas.microsoft.com/office/drawing/2014/main" val="3137851230"/>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en-US" sz="800" u="none" strike="noStrike">
                          <a:effectLst/>
                        </a:rPr>
                        <a:t>Data type of scientific effort</a:t>
                      </a:r>
                      <a:endParaRPr lang="en-US"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CEdataTypeOfScientificEffort</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1891202885"/>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en-US" sz="800" u="none" strike="noStrike">
                          <a:effectLst/>
                        </a:rPr>
                        <a:t>Data source of scientific effort</a:t>
                      </a:r>
                      <a:endParaRPr lang="en-US"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CEdataSourceOfScientificEffort</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762466253"/>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b"/>
                      <a:r>
                        <a:rPr lang="da-DK" sz="800" u="none" strike="noStrike">
                          <a:effectLst/>
                        </a:rPr>
                        <a:t>Sampling scheme</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b"/>
                      <a:r>
                        <a:rPr lang="da-DK" sz="800" u="none" strike="noStrike">
                          <a:effectLst/>
                        </a:rPr>
                        <a:t>CEsamplingScheme</a:t>
                      </a:r>
                      <a:endParaRPr lang="da-DK" sz="800" b="0" i="0" u="none" strike="noStrike">
                        <a:solidFill>
                          <a:srgbClr val="000000"/>
                        </a:solidFill>
                        <a:effectLst/>
                        <a:latin typeface="Calibri" panose="020F0502020204030204" pitchFamily="34" charset="0"/>
                      </a:endParaRPr>
                    </a:p>
                  </a:txBody>
                  <a:tcPr marL="2402" marR="2402" marT="2402" marB="0" anchor="b"/>
                </a:tc>
                <a:extLst>
                  <a:ext uri="{0D108BD9-81ED-4DB2-BD59-A6C34878D82A}">
                    <a16:rowId xmlns:a16="http://schemas.microsoft.com/office/drawing/2014/main" val="1172117909"/>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a:effectLst/>
                        </a:rPr>
                        <a:t>Vessel flag country</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CEvesselFlagCountry</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2126479896"/>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a:effectLst/>
                        </a:rPr>
                        <a:t>Year</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CEyear</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2766224097"/>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a:effectLst/>
                        </a:rPr>
                        <a:t>Quarter</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CEquarter</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873201441"/>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a:effectLst/>
                        </a:rPr>
                        <a:t>Month</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CEMonth</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1170038869"/>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dirty="0" err="1">
                          <a:effectLst/>
                        </a:rPr>
                        <a:t>Area</a:t>
                      </a:r>
                      <a:endParaRPr lang="da-DK" sz="800" b="0" i="0" u="none" strike="noStrike" dirty="0">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CEArea</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1963712054"/>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a:effectLst/>
                        </a:rPr>
                        <a:t>Statistical rectangle</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CEStatisticalRectangle</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2472589575"/>
                  </a:ext>
                </a:extLst>
              </a:tr>
              <a:tr h="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2402" marR="2402" marT="2402" marB="0" anchor="b"/>
                </a:tc>
                <a:tc>
                  <a:txBody>
                    <a:bodyPr/>
                    <a:lstStyle/>
                    <a:p>
                      <a:pPr algn="l" fontAlgn="ctr"/>
                      <a:r>
                        <a:rPr lang="da-DK" sz="800" u="none" strike="noStrike">
                          <a:effectLst/>
                        </a:rPr>
                        <a:t>Fisheries management unit</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dirty="0" err="1">
                          <a:effectLst/>
                        </a:rPr>
                        <a:t>CEfisheriesManagementUnit</a:t>
                      </a:r>
                      <a:endParaRPr lang="da-DK" sz="800" b="0" i="0" u="none" strike="noStrike" dirty="0">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2316526237"/>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a:effectLst/>
                        </a:rPr>
                        <a:t>GSA subarea</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CEgsaSubarea</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1755243941"/>
                  </a:ext>
                </a:extLst>
              </a:tr>
              <a:tr h="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2402" marR="2402" marT="2402" marB="0" anchor="b"/>
                </a:tc>
                <a:tc>
                  <a:txBody>
                    <a:bodyPr/>
                    <a:lstStyle/>
                    <a:p>
                      <a:pPr algn="l" fontAlgn="ctr"/>
                      <a:r>
                        <a:rPr lang="da-DK" sz="800" u="none" strike="noStrike">
                          <a:effectLst/>
                        </a:rPr>
                        <a:t>Jurisdiction area</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CEjurisdictionArea</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3665483325"/>
                  </a:ext>
                </a:extLst>
              </a:tr>
              <a:tr h="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2402" marR="2402" marT="2402" marB="0" anchor="b"/>
                </a:tc>
                <a:tc>
                  <a:txBody>
                    <a:bodyPr/>
                    <a:lstStyle/>
                    <a:p>
                      <a:pPr algn="l" fontAlgn="ctr"/>
                      <a:r>
                        <a:rPr lang="da-DK" sz="800" u="none" strike="noStrike">
                          <a:effectLst/>
                        </a:rPr>
                        <a:t>Fishing area category </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CEfishingAreaCategory</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3060715839"/>
                  </a:ext>
                </a:extLst>
              </a:tr>
              <a:tr h="0">
                <a:tc>
                  <a:txBody>
                    <a:bodyPr/>
                    <a:lstStyle/>
                    <a:p>
                      <a:pPr algn="l" fontAlgn="b"/>
                      <a:r>
                        <a:rPr lang="da-DK" sz="800" u="none" strike="noStrike">
                          <a:effectLst/>
                        </a:rPr>
                        <a:t>UK</a:t>
                      </a:r>
                      <a:endParaRPr lang="da-DK" sz="800" b="0" i="0" u="none" strike="noStrike">
                        <a:solidFill>
                          <a:srgbClr val="000000"/>
                        </a:solidFill>
                        <a:effectLst/>
                        <a:latin typeface="Calibri Light" panose="020F0302020204030204" pitchFamily="34" charset="0"/>
                      </a:endParaRPr>
                    </a:p>
                  </a:txBody>
                  <a:tcPr marL="2402" marR="2402" marT="2402" marB="0" anchor="b"/>
                </a:tc>
                <a:tc>
                  <a:txBody>
                    <a:bodyPr/>
                    <a:lstStyle/>
                    <a:p>
                      <a:pPr algn="l" fontAlgn="ctr"/>
                      <a:r>
                        <a:rPr lang="da-DK" sz="800" u="none" strike="noStrike">
                          <a:effectLst/>
                        </a:rPr>
                        <a:t>Fresh water name</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CEfreshWaterName</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1247821128"/>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dirty="0" err="1">
                          <a:effectLst/>
                        </a:rPr>
                        <a:t>Exclusive</a:t>
                      </a:r>
                      <a:r>
                        <a:rPr lang="da-DK" sz="800" u="none" strike="noStrike" dirty="0">
                          <a:effectLst/>
                        </a:rPr>
                        <a:t> </a:t>
                      </a:r>
                      <a:r>
                        <a:rPr lang="da-DK" sz="800" u="none" strike="noStrike" dirty="0" err="1">
                          <a:effectLst/>
                        </a:rPr>
                        <a:t>Economic</a:t>
                      </a:r>
                      <a:r>
                        <a:rPr lang="da-DK" sz="800" u="none" strike="noStrike" dirty="0">
                          <a:effectLst/>
                        </a:rPr>
                        <a:t> Zone (EEZ)</a:t>
                      </a:r>
                      <a:endParaRPr lang="da-DK" sz="800" b="0" i="0" u="none" strike="noStrike" dirty="0">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CEexclusiveEconomicZone</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3010369146"/>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a:effectLst/>
                        </a:rPr>
                        <a:t>National fishing activity</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CEnationalFishingActivity</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2540297727"/>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a:effectLst/>
                        </a:rPr>
                        <a:t>Metier 6 fishing activity</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CEmetier6</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632604616"/>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en-US" sz="800" u="none" strike="noStrike">
                          <a:effectLst/>
                        </a:rPr>
                        <a:t>Incidential by catch mitigation device</a:t>
                      </a:r>
                      <a:endParaRPr lang="en-US"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CEincidentalByCatchMitigationDevice</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2574635762"/>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a:effectLst/>
                        </a:rPr>
                        <a:t>Landing location</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CElandingLocation</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3707401962"/>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a:effectLst/>
                        </a:rPr>
                        <a:t>Vessel            length category</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CEvesselLengthCategory</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1865051600"/>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a:effectLst/>
                        </a:rPr>
                        <a:t>Fishing Technique</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CEfishingTechnique</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574472311"/>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a:effectLst/>
                        </a:rPr>
                        <a:t>Mesh size range</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CEmeshSizeRange</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1504342641"/>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a:effectLst/>
                        </a:rPr>
                        <a:t>Supra Region</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CEsupraRegion</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1209327180"/>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a:effectLst/>
                        </a:rPr>
                        <a:t>Geographical indicator</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CEgeoIndicator</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1898311316"/>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en-US" sz="800" u="none" strike="noStrike">
                          <a:effectLst/>
                        </a:rPr>
                        <a:t>Specific conditions to technical measures</a:t>
                      </a:r>
                      <a:endParaRPr lang="en-US"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a:effectLst/>
                        </a:rPr>
                        <a:t>CEspecificConditionsTechnical</a:t>
                      </a:r>
                      <a:endParaRPr lang="da-DK" sz="800" b="0" i="0" u="none" strike="noStrike">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2004276688"/>
                  </a:ext>
                </a:extLst>
              </a:tr>
              <a:tr h="0">
                <a:tc>
                  <a:txBody>
                    <a:bodyPr/>
                    <a:lstStyle/>
                    <a:p>
                      <a:pPr algn="l" fontAlgn="b"/>
                      <a:r>
                        <a:rPr lang="da-DK" sz="800" u="none" strike="noStrike">
                          <a:effectLst/>
                        </a:rPr>
                        <a:t>UK</a:t>
                      </a:r>
                      <a:endParaRPr lang="da-DK" sz="800" b="0" i="0" u="none" strike="noStrike">
                        <a:solidFill>
                          <a:srgbClr val="000000"/>
                        </a:solidFill>
                        <a:effectLst/>
                        <a:latin typeface="Calibri" panose="020F0502020204030204" pitchFamily="34" charset="0"/>
                      </a:endParaRPr>
                    </a:p>
                  </a:txBody>
                  <a:tcPr marL="2402" marR="2402" marT="2402" marB="0" anchor="b"/>
                </a:tc>
                <a:tc>
                  <a:txBody>
                    <a:bodyPr/>
                    <a:lstStyle/>
                    <a:p>
                      <a:pPr algn="l" fontAlgn="ctr"/>
                      <a:r>
                        <a:rPr lang="da-DK" sz="800" u="none" strike="noStrike">
                          <a:effectLst/>
                        </a:rPr>
                        <a:t>Deep Sea Regulation</a:t>
                      </a:r>
                      <a:endParaRPr lang="da-DK" sz="800" b="0" i="0" u="none" strike="noStrike">
                        <a:solidFill>
                          <a:srgbClr val="000000"/>
                        </a:solidFill>
                        <a:effectLst/>
                        <a:latin typeface="Calibri Light" panose="020F0302020204030204" pitchFamily="34" charset="0"/>
                      </a:endParaRPr>
                    </a:p>
                  </a:txBody>
                  <a:tcPr marL="2402" marR="2402" marT="2402" marB="0" anchor="ctr"/>
                </a:tc>
                <a:tc>
                  <a:txBody>
                    <a:bodyPr/>
                    <a:lstStyle/>
                    <a:p>
                      <a:pPr algn="l" fontAlgn="ctr"/>
                      <a:r>
                        <a:rPr lang="da-DK" sz="800" u="none" strike="noStrike" dirty="0" err="1">
                          <a:effectLst/>
                        </a:rPr>
                        <a:t>CEdeepSeaRegulation</a:t>
                      </a:r>
                      <a:endParaRPr lang="da-DK" sz="800" b="0" i="0" u="none" strike="noStrike" dirty="0">
                        <a:solidFill>
                          <a:srgbClr val="000000"/>
                        </a:solidFill>
                        <a:effectLst/>
                        <a:latin typeface="Calibri Light" panose="020F0302020204030204" pitchFamily="34" charset="0"/>
                      </a:endParaRPr>
                    </a:p>
                  </a:txBody>
                  <a:tcPr marL="2402" marR="2402" marT="2402" marB="0" anchor="ctr"/>
                </a:tc>
                <a:extLst>
                  <a:ext uri="{0D108BD9-81ED-4DB2-BD59-A6C34878D82A}">
                    <a16:rowId xmlns:a16="http://schemas.microsoft.com/office/drawing/2014/main" val="994589603"/>
                  </a:ext>
                </a:extLst>
              </a:tr>
            </a:tbl>
          </a:graphicData>
        </a:graphic>
      </p:graphicFrame>
    </p:spTree>
    <p:extLst>
      <p:ext uri="{BB962C8B-B14F-4D97-AF65-F5344CB8AC3E}">
        <p14:creationId xmlns:p14="http://schemas.microsoft.com/office/powerpoint/2010/main" val="2290967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FFE10-FF12-4545-B6E8-8FF3072D9188}"/>
              </a:ext>
            </a:extLst>
          </p:cNvPr>
          <p:cNvSpPr>
            <a:spLocks noGrp="1"/>
          </p:cNvSpPr>
          <p:nvPr>
            <p:ph type="title"/>
          </p:nvPr>
        </p:nvSpPr>
        <p:spPr/>
        <p:txBody>
          <a:bodyPr/>
          <a:lstStyle/>
          <a:p>
            <a:r>
              <a:rPr lang="da-DK" dirty="0" err="1"/>
              <a:t>Questions</a:t>
            </a:r>
            <a:r>
              <a:rPr lang="da-DK" dirty="0"/>
              <a:t> or </a:t>
            </a:r>
            <a:r>
              <a:rPr lang="da-DK" dirty="0" err="1"/>
              <a:t>comments</a:t>
            </a:r>
            <a:r>
              <a:rPr lang="da-DK" dirty="0"/>
              <a:t>?</a:t>
            </a:r>
            <a:endParaRPr lang="en-GB" dirty="0"/>
          </a:p>
        </p:txBody>
      </p:sp>
      <p:sp>
        <p:nvSpPr>
          <p:cNvPr id="3" name="Content Placeholder 2">
            <a:extLst>
              <a:ext uri="{FF2B5EF4-FFF2-40B4-BE49-F238E27FC236}">
                <a16:creationId xmlns:a16="http://schemas.microsoft.com/office/drawing/2014/main" id="{CB378C82-2B3F-4998-AD43-F6F7F2D1FF2E}"/>
              </a:ext>
            </a:extLst>
          </p:cNvPr>
          <p:cNvSpPr>
            <a:spLocks noGrp="1"/>
          </p:cNvSpPr>
          <p:nvPr>
            <p:ph sz="quarter" idx="12"/>
          </p:nvPr>
        </p:nvSpPr>
        <p:spPr>
          <a:xfrm>
            <a:off x="647700" y="1273908"/>
            <a:ext cx="9521536" cy="4750267"/>
          </a:xfrm>
        </p:spPr>
        <p:txBody>
          <a:bodyPr/>
          <a:lstStyle/>
          <a:p>
            <a:pPr marL="0" indent="0">
              <a:buNone/>
            </a:pPr>
            <a:endParaRPr lang="da-DK" dirty="0"/>
          </a:p>
          <a:p>
            <a:endParaRPr lang="en-GB" dirty="0"/>
          </a:p>
        </p:txBody>
      </p:sp>
      <p:pic>
        <p:nvPicPr>
          <p:cNvPr id="6" name="Picture 5">
            <a:extLst>
              <a:ext uri="{FF2B5EF4-FFF2-40B4-BE49-F238E27FC236}">
                <a16:creationId xmlns:a16="http://schemas.microsoft.com/office/drawing/2014/main" id="{A23618BA-A6BE-4C59-3BAC-280C949ABAF4}"/>
              </a:ext>
            </a:extLst>
          </p:cNvPr>
          <p:cNvPicPr>
            <a:picLocks noChangeAspect="1"/>
          </p:cNvPicPr>
          <p:nvPr/>
        </p:nvPicPr>
        <p:blipFill>
          <a:blip r:embed="rId2"/>
          <a:stretch>
            <a:fillRect/>
          </a:stretch>
        </p:blipFill>
        <p:spPr>
          <a:xfrm>
            <a:off x="759853" y="1643532"/>
            <a:ext cx="6460901" cy="3337340"/>
          </a:xfrm>
          <a:prstGeom prst="rect">
            <a:avLst/>
          </a:prstGeom>
        </p:spPr>
      </p:pic>
    </p:spTree>
    <p:extLst>
      <p:ext uri="{BB962C8B-B14F-4D97-AF65-F5344CB8AC3E}">
        <p14:creationId xmlns:p14="http://schemas.microsoft.com/office/powerpoint/2010/main" val="378412496"/>
      </p:ext>
    </p:extLst>
  </p:cSld>
  <p:clrMapOvr>
    <a:masterClrMapping/>
  </p:clrMapOvr>
</p:sld>
</file>

<file path=ppt/theme/theme1.xml><?xml version="1.0" encoding="utf-8"?>
<a:theme xmlns:a="http://schemas.openxmlformats.org/drawingml/2006/main" name="ICES">
  <a:themeElements>
    <a:clrScheme name="ICES">
      <a:dk1>
        <a:sysClr val="windowText" lastClr="000000"/>
      </a:dk1>
      <a:lt1>
        <a:sysClr val="window" lastClr="FFFFFF"/>
      </a:lt1>
      <a:dk2>
        <a:srgbClr val="000000"/>
      </a:dk2>
      <a:lt2>
        <a:srgbClr val="FFFFFF"/>
      </a:lt2>
      <a:accent1>
        <a:srgbClr val="00265A"/>
      </a:accent1>
      <a:accent2>
        <a:srgbClr val="EE522C"/>
      </a:accent2>
      <a:accent3>
        <a:srgbClr val="00A695"/>
      </a:accent3>
      <a:accent4>
        <a:srgbClr val="73A9B9"/>
      </a:accent4>
      <a:accent5>
        <a:srgbClr val="B2CCC4"/>
      </a:accent5>
      <a:accent6>
        <a:srgbClr val="3FB8F3"/>
      </a:accent6>
      <a:hlink>
        <a:srgbClr val="0563C1"/>
      </a:hlink>
      <a:folHlink>
        <a:srgbClr val="954F72"/>
      </a:folHlink>
    </a:clrScheme>
    <a:fontScheme name="ICES">
      <a:majorFont>
        <a:latin typeface="Calibri"/>
        <a:ea typeface=""/>
        <a:cs typeface=""/>
      </a:majorFont>
      <a:minorFont>
        <a:latin typeface="Calibri"/>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solidFill>
            <a:schemeClr val="accent1"/>
          </a:solid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0" tIns="0" rIns="0" bIns="0" rtlCol="0" anchor="t">
        <a:noAutofit/>
      </a:bodyPr>
      <a:lstStyle>
        <a:defPPr algn="l">
          <a:defRPr sz="2000" dirty="0" err="1" smtClean="0">
            <a:solidFill>
              <a:schemeClr val="accent1"/>
            </a:solidFill>
            <a:latin typeface="+mn-lt"/>
          </a:defRPr>
        </a:defPPr>
      </a:lstStyle>
    </a:txDef>
  </a:objectDefaults>
  <a:extraClrSchemeLst/>
  <a:extLst>
    <a:ext uri="{05A4C25C-085E-4340-85A3-A5531E510DB2}">
      <thm15:themeFamily xmlns:thm15="http://schemas.microsoft.com/office/thememl/2012/main" name="ICES PowerPoint template 2019  -  Read-Only" id="{F0025CEB-CD9F-4E8E-9B7A-11B5DFDAEED6}" vid="{78255CA9-5A0D-4AEF-A623-5BD218759A9B}"/>
    </a:ext>
  </a:extLst>
</a:theme>
</file>

<file path=ppt/theme/theme2.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d5313c0-c1e6-4122-afa9-da1ccdba405d"/>
    <TaxCatchAllLabel xmlns="4d5313c0-c1e6-4122-afa9-da1ccdba405d"/>
    <TaxKeywordTaxHTField xmlns="4d5313c0-c1e6-4122-afa9-da1ccdba405d">
      <Terms xmlns="http://schemas.microsoft.com/office/infopath/2007/PartnerControls"/>
    </TaxKeywordTaxHTField>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518B484055E284C84386157274E17E1" ma:contentTypeVersion="1" ma:contentTypeDescription="Create a new document." ma:contentTypeScope="" ma:versionID="70f45ad91d3bcde0200e23bbdb530ae9">
  <xsd:schema xmlns:xsd="http://www.w3.org/2001/XMLSchema" xmlns:xs="http://www.w3.org/2001/XMLSchema" xmlns:p="http://schemas.microsoft.com/office/2006/metadata/properties" xmlns:ns2="4d5313c0-c1e6-4122-afa9-da1ccdba405d" xmlns:ns3="362c980f-4e38-4cca-bd06-5104ee5993c5" targetNamespace="http://schemas.microsoft.com/office/2006/metadata/properties" ma:root="true" ma:fieldsID="9f98ca6881a668db0da870722b40e1ec" ns2:_="" ns3:_="">
    <xsd:import namespace="4d5313c0-c1e6-4122-afa9-da1ccdba405d"/>
    <xsd:import namespace="362c980f-4e38-4cca-bd06-5104ee5993c5"/>
    <xsd:element name="properties">
      <xsd:complexType>
        <xsd:sequence>
          <xsd:element name="documentManagement">
            <xsd:complexType>
              <xsd:all>
                <xsd:element ref="ns2:TaxKeywordTaxHTField" minOccurs="0"/>
                <xsd:element ref="ns2:TaxCatchAll" minOccurs="0"/>
                <xsd:element ref="ns2:TaxCatchAllLabel"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5313c0-c1e6-4122-afa9-da1ccdba405d" elementFormDefault="qualified">
    <xsd:import namespace="http://schemas.microsoft.com/office/2006/documentManagement/types"/>
    <xsd:import namespace="http://schemas.microsoft.com/office/infopath/2007/PartnerControls"/>
    <xsd:element name="TaxKeywordTaxHTField" ma:index="8" nillable="true" ma:taxonomy="true" ma:internalName="TaxKeywordTaxHTField" ma:taxonomyFieldName="TaxKeyword" ma:displayName="Enterprise Keywords" ma:readOnly="false" ma:fieldId="{23f27201-bee3-471e-b2e7-b64fd8b7ca38}" ma:taxonomyMulti="true" ma:sspId="d535ea34-4ec8-4f57-b85b-d8a79460f026" ma:termSetId="00000000-0000-0000-0000-000000000000" ma:anchorId="00000000-0000-0000-0000-000000000000" ma:open="true" ma:isKeyword="true">
      <xsd:complexType>
        <xsd:sequence>
          <xsd:element ref="pc:Terms" minOccurs="0" maxOccurs="1"/>
        </xsd:sequence>
      </xsd:complexType>
    </xsd:element>
    <xsd:element name="TaxCatchAll" ma:index="9" nillable="true" ma:displayName="Taxonomy Catch All Column" ma:hidden="true" ma:list="{b2cc2698-5fc4-4ff6-b1d3-64e75efa1efc}" ma:internalName="TaxCatchAll" ma:readOnly="false" ma:showField="CatchAllData" ma:web="4d5313c0-c1e6-4122-afa9-da1ccdba405d">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b2cc2698-5fc4-4ff6-b1d3-64e75efa1efc}" ma:internalName="TaxCatchAllLabel" ma:readOnly="false" ma:showField="CatchAllDataLabel" ma:web="4d5313c0-c1e6-4122-afa9-da1ccdba405d">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62c980f-4e38-4cca-bd06-5104ee5993c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1FEFB4A-93BB-42CE-991E-3137591E04A2}">
  <ds:schemaRefs>
    <ds:schemaRef ds:uri="http://schemas.microsoft.com/office/2006/metadata/properties"/>
    <ds:schemaRef ds:uri="http://schemas.microsoft.com/office/infopath/2007/PartnerControls"/>
    <ds:schemaRef ds:uri="4d5313c0-c1e6-4122-afa9-da1ccdba405d"/>
  </ds:schemaRefs>
</ds:datastoreItem>
</file>

<file path=customXml/itemProps2.xml><?xml version="1.0" encoding="utf-8"?>
<ds:datastoreItem xmlns:ds="http://schemas.openxmlformats.org/officeDocument/2006/customXml" ds:itemID="{DFDF1DA9-31E5-459F-ABF5-F6AB0042A736}"/>
</file>

<file path=customXml/itemProps3.xml><?xml version="1.0" encoding="utf-8"?>
<ds:datastoreItem xmlns:ds="http://schemas.openxmlformats.org/officeDocument/2006/customXml" ds:itemID="{27766D45-EAD8-4B35-81C7-D364DC0604F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1973</Words>
  <Application>Microsoft Office PowerPoint</Application>
  <PresentationFormat>Widescreen</PresentationFormat>
  <Paragraphs>413</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Narrow</vt:lpstr>
      <vt:lpstr>Arial</vt:lpstr>
      <vt:lpstr>Calibri</vt:lpstr>
      <vt:lpstr>Calibri Light</vt:lpstr>
      <vt:lpstr>ICES</vt:lpstr>
      <vt:lpstr>RDBES Effort (CE) and landings (CL) tables</vt:lpstr>
      <vt:lpstr>Data format description and documentation</vt:lpstr>
      <vt:lpstr>Updates in the 2024 data call</vt:lpstr>
      <vt:lpstr>Principles in the CL and CE data formats</vt:lpstr>
      <vt:lpstr>Calculation of effort</vt:lpstr>
      <vt:lpstr>Metier 6 fishing activity</vt:lpstr>
      <vt:lpstr>Official vs. scientific effort and landings</vt:lpstr>
      <vt:lpstr>Official vs. Scientific values in CL and CE - What is it exactly?</vt:lpstr>
      <vt:lpstr>Official vs. scientific effort - Some guidance</vt:lpstr>
      <vt:lpstr>Official vs. scientific effort - Some guidance</vt:lpstr>
      <vt:lpstr>Official vs. scientific effort and landings</vt:lpstr>
      <vt:lpstr>Official vs. scientific effort and landings</vt:lpstr>
      <vt:lpstr>Official vs. scientific effort and landings</vt:lpstr>
      <vt:lpstr>Official vs. scientific effort and landings</vt:lpstr>
      <vt:lpstr>Overwriting rules - Beware</vt:lpstr>
      <vt:lpstr>Questions or comments?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2019-04-10T07:27:03Z</dcterms:created>
  <dcterms:modified xsi:type="dcterms:W3CDTF">2024-09-25T06:16:46Z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0x0101005518B484055E284C84386157274E17E1</vt:lpwstr>
  </property>
  <property fmtid="{D5CDD505-2E9C-101B-9397-08002B2CF9AE}" pid="3" name="TaxKeyword">
    <vt:lpwstr/>
  </property>
</Properties>
</file>